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3"/>
  </p:notesMasterIdLst>
  <p:sldIdLst>
    <p:sldId id="316" r:id="rId2"/>
    <p:sldId id="630" r:id="rId3"/>
    <p:sldId id="593" r:id="rId4"/>
    <p:sldId id="622" r:id="rId5"/>
    <p:sldId id="623" r:id="rId6"/>
    <p:sldId id="595" r:id="rId7"/>
    <p:sldId id="596" r:id="rId8"/>
    <p:sldId id="597" r:id="rId9"/>
    <p:sldId id="598" r:id="rId10"/>
    <p:sldId id="601" r:id="rId11"/>
    <p:sldId id="603" r:id="rId12"/>
    <p:sldId id="625" r:id="rId13"/>
    <p:sldId id="626" r:id="rId14"/>
    <p:sldId id="631" r:id="rId15"/>
    <p:sldId id="632" r:id="rId16"/>
    <p:sldId id="633" r:id="rId17"/>
    <p:sldId id="635" r:id="rId18"/>
    <p:sldId id="636" r:id="rId19"/>
    <p:sldId id="637" r:id="rId20"/>
    <p:sldId id="638" r:id="rId21"/>
    <p:sldId id="639" r:id="rId22"/>
    <p:sldId id="642" r:id="rId23"/>
    <p:sldId id="640" r:id="rId24"/>
    <p:sldId id="641" r:id="rId25"/>
    <p:sldId id="643" r:id="rId26"/>
    <p:sldId id="644" r:id="rId27"/>
    <p:sldId id="648" r:id="rId28"/>
    <p:sldId id="647" r:id="rId29"/>
    <p:sldId id="649" r:id="rId30"/>
    <p:sldId id="650" r:id="rId31"/>
    <p:sldId id="651" r:id="rId32"/>
    <p:sldId id="652" r:id="rId33"/>
    <p:sldId id="654" r:id="rId34"/>
    <p:sldId id="655" r:id="rId35"/>
    <p:sldId id="656" r:id="rId36"/>
    <p:sldId id="657" r:id="rId37"/>
    <p:sldId id="658" r:id="rId38"/>
    <p:sldId id="659" r:id="rId39"/>
    <p:sldId id="660" r:id="rId40"/>
    <p:sldId id="661" r:id="rId41"/>
    <p:sldId id="662" r:id="rId42"/>
    <p:sldId id="663" r:id="rId43"/>
    <p:sldId id="664" r:id="rId44"/>
    <p:sldId id="665" r:id="rId45"/>
    <p:sldId id="667" r:id="rId46"/>
    <p:sldId id="668" r:id="rId47"/>
    <p:sldId id="669" r:id="rId48"/>
    <p:sldId id="670" r:id="rId49"/>
    <p:sldId id="671" r:id="rId50"/>
    <p:sldId id="674" r:id="rId51"/>
    <p:sldId id="675" r:id="rId52"/>
  </p:sldIdLst>
  <p:sldSz cx="14546263" cy="901858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40AFE5D-B782-4398-B589-EB7C1ACC19DE}">
  <a:tblStyle styleId="{240AFE5D-B782-4398-B589-EB7C1ACC19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038" y="-108"/>
      </p:cViewPr>
      <p:guideLst>
        <p:guide orient="horz" pos="2841"/>
        <p:guide pos="45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4022938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1644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55613" y="768350"/>
            <a:ext cx="6188075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r" rtl="1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4022938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r" rtl="0">
              <a:spcBef>
                <a:spcPts val="0"/>
              </a:spcBef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64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wrap="square" lIns="99025" tIns="49500" rIns="99025" bIns="495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118894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73273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46545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19818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693091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366364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039636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712909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386182" algn="r" defTabSz="1346545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970" y="2801608"/>
            <a:ext cx="12364324" cy="19331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1940" y="5110533"/>
            <a:ext cx="10182384" cy="23047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73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46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19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9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66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39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712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386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75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19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054" y="5795278"/>
            <a:ext cx="12364324" cy="1791192"/>
          </a:xfrm>
        </p:spPr>
        <p:txBody>
          <a:bodyPr anchor="t"/>
          <a:lstStyle>
            <a:lvl1pPr algn="r">
              <a:defRPr sz="5900" b="1" cap="all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9054" y="3822463"/>
            <a:ext cx="12364324" cy="1972815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7327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4654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198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69309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36636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03963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71290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38618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52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313" y="2104338"/>
            <a:ext cx="6424599" cy="5951851"/>
          </a:xfrm>
        </p:spPr>
        <p:txBody>
          <a:bodyPr/>
          <a:lstStyle>
            <a:lvl1pPr>
              <a:defRPr sz="4100"/>
            </a:lvl1pPr>
            <a:lvl2pPr>
              <a:defRPr sz="3500"/>
            </a:lvl2pPr>
            <a:lvl3pPr>
              <a:defRPr sz="29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94351" y="2104338"/>
            <a:ext cx="6424599" cy="5951851"/>
          </a:xfrm>
        </p:spPr>
        <p:txBody>
          <a:bodyPr/>
          <a:lstStyle>
            <a:lvl1pPr>
              <a:defRPr sz="4100"/>
            </a:lvl1pPr>
            <a:lvl2pPr>
              <a:defRPr sz="3500"/>
            </a:lvl2pPr>
            <a:lvl3pPr>
              <a:defRPr sz="29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09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313" y="2018745"/>
            <a:ext cx="6427126" cy="841317"/>
          </a:xfrm>
        </p:spPr>
        <p:txBody>
          <a:bodyPr anchor="b"/>
          <a:lstStyle>
            <a:lvl1pPr marL="0" indent="0">
              <a:buNone/>
              <a:defRPr sz="3500" b="1"/>
            </a:lvl1pPr>
            <a:lvl2pPr marL="673273" indent="0">
              <a:buNone/>
              <a:defRPr sz="2900" b="1"/>
            </a:lvl2pPr>
            <a:lvl3pPr marL="1346545" indent="0">
              <a:buNone/>
              <a:defRPr sz="2700" b="1"/>
            </a:lvl3pPr>
            <a:lvl4pPr marL="2019818" indent="0">
              <a:buNone/>
              <a:defRPr sz="2400" b="1"/>
            </a:lvl4pPr>
            <a:lvl5pPr marL="2693091" indent="0">
              <a:buNone/>
              <a:defRPr sz="2400" b="1"/>
            </a:lvl5pPr>
            <a:lvl6pPr marL="3366364" indent="0">
              <a:buNone/>
              <a:defRPr sz="2400" b="1"/>
            </a:lvl6pPr>
            <a:lvl7pPr marL="4039636" indent="0">
              <a:buNone/>
              <a:defRPr sz="2400" b="1"/>
            </a:lvl7pPr>
            <a:lvl8pPr marL="4712909" indent="0">
              <a:buNone/>
              <a:defRPr sz="2400" b="1"/>
            </a:lvl8pPr>
            <a:lvl9pPr marL="5386182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7313" y="2860061"/>
            <a:ext cx="6427126" cy="5196127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89301" y="2018745"/>
            <a:ext cx="6429650" cy="841317"/>
          </a:xfrm>
        </p:spPr>
        <p:txBody>
          <a:bodyPr anchor="b"/>
          <a:lstStyle>
            <a:lvl1pPr marL="0" indent="0">
              <a:buNone/>
              <a:defRPr sz="3500" b="1"/>
            </a:lvl1pPr>
            <a:lvl2pPr marL="673273" indent="0">
              <a:buNone/>
              <a:defRPr sz="2900" b="1"/>
            </a:lvl2pPr>
            <a:lvl3pPr marL="1346545" indent="0">
              <a:buNone/>
              <a:defRPr sz="2700" b="1"/>
            </a:lvl3pPr>
            <a:lvl4pPr marL="2019818" indent="0">
              <a:buNone/>
              <a:defRPr sz="2400" b="1"/>
            </a:lvl4pPr>
            <a:lvl5pPr marL="2693091" indent="0">
              <a:buNone/>
              <a:defRPr sz="2400" b="1"/>
            </a:lvl5pPr>
            <a:lvl6pPr marL="3366364" indent="0">
              <a:buNone/>
              <a:defRPr sz="2400" b="1"/>
            </a:lvl6pPr>
            <a:lvl7pPr marL="4039636" indent="0">
              <a:buNone/>
              <a:defRPr sz="2400" b="1"/>
            </a:lvl7pPr>
            <a:lvl8pPr marL="4712909" indent="0">
              <a:buNone/>
              <a:defRPr sz="2400" b="1"/>
            </a:lvl8pPr>
            <a:lvl9pPr marL="5386182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89301" y="2860061"/>
            <a:ext cx="6429650" cy="5196127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661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75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7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314" y="359073"/>
            <a:ext cx="4785620" cy="1528150"/>
          </a:xfrm>
        </p:spPr>
        <p:txBody>
          <a:bodyPr anchor="b"/>
          <a:lstStyle>
            <a:lvl1pPr algn="r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7185" y="359074"/>
            <a:ext cx="8131765" cy="7697115"/>
          </a:xfrm>
        </p:spPr>
        <p:txBody>
          <a:bodyPr/>
          <a:lstStyle>
            <a:lvl1pPr>
              <a:defRPr sz="4700"/>
            </a:lvl1pPr>
            <a:lvl2pPr>
              <a:defRPr sz="4100"/>
            </a:lvl2pPr>
            <a:lvl3pPr>
              <a:defRPr sz="35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7314" y="1887224"/>
            <a:ext cx="4785620" cy="6168965"/>
          </a:xfrm>
        </p:spPr>
        <p:txBody>
          <a:bodyPr/>
          <a:lstStyle>
            <a:lvl1pPr marL="0" indent="0">
              <a:buNone/>
              <a:defRPr sz="2100"/>
            </a:lvl1pPr>
            <a:lvl2pPr marL="673273" indent="0">
              <a:buNone/>
              <a:defRPr sz="1800"/>
            </a:lvl2pPr>
            <a:lvl3pPr marL="1346545" indent="0">
              <a:buNone/>
              <a:defRPr sz="1500"/>
            </a:lvl3pPr>
            <a:lvl4pPr marL="2019818" indent="0">
              <a:buNone/>
              <a:defRPr sz="1300"/>
            </a:lvl4pPr>
            <a:lvl5pPr marL="2693091" indent="0">
              <a:buNone/>
              <a:defRPr sz="1300"/>
            </a:lvl5pPr>
            <a:lvl6pPr marL="3366364" indent="0">
              <a:buNone/>
              <a:defRPr sz="1300"/>
            </a:lvl6pPr>
            <a:lvl7pPr marL="4039636" indent="0">
              <a:buNone/>
              <a:defRPr sz="1300"/>
            </a:lvl7pPr>
            <a:lvl8pPr marL="4712909" indent="0">
              <a:buNone/>
              <a:defRPr sz="1300"/>
            </a:lvl8pPr>
            <a:lvl9pPr marL="53861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563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169" y="6313011"/>
            <a:ext cx="8727758" cy="745287"/>
          </a:xfrm>
        </p:spPr>
        <p:txBody>
          <a:bodyPr anchor="b"/>
          <a:lstStyle>
            <a:lvl1pPr algn="r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1169" y="805827"/>
            <a:ext cx="8727758" cy="5411153"/>
          </a:xfrm>
        </p:spPr>
        <p:txBody>
          <a:bodyPr/>
          <a:lstStyle>
            <a:lvl1pPr marL="0" indent="0">
              <a:buNone/>
              <a:defRPr sz="4700"/>
            </a:lvl1pPr>
            <a:lvl2pPr marL="673273" indent="0">
              <a:buNone/>
              <a:defRPr sz="4100"/>
            </a:lvl2pPr>
            <a:lvl3pPr marL="1346545" indent="0">
              <a:buNone/>
              <a:defRPr sz="3500"/>
            </a:lvl3pPr>
            <a:lvl4pPr marL="2019818" indent="0">
              <a:buNone/>
              <a:defRPr sz="2900"/>
            </a:lvl4pPr>
            <a:lvl5pPr marL="2693091" indent="0">
              <a:buNone/>
              <a:defRPr sz="2900"/>
            </a:lvl5pPr>
            <a:lvl6pPr marL="3366364" indent="0">
              <a:buNone/>
              <a:defRPr sz="2900"/>
            </a:lvl6pPr>
            <a:lvl7pPr marL="4039636" indent="0">
              <a:buNone/>
              <a:defRPr sz="2900"/>
            </a:lvl7pPr>
            <a:lvl8pPr marL="4712909" indent="0">
              <a:buNone/>
              <a:defRPr sz="2900"/>
            </a:lvl8pPr>
            <a:lvl9pPr marL="5386182" indent="0">
              <a:buNone/>
              <a:defRPr sz="29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169" y="7058298"/>
            <a:ext cx="8727758" cy="1058431"/>
          </a:xfrm>
        </p:spPr>
        <p:txBody>
          <a:bodyPr/>
          <a:lstStyle>
            <a:lvl1pPr marL="0" indent="0">
              <a:buNone/>
              <a:defRPr sz="2100"/>
            </a:lvl1pPr>
            <a:lvl2pPr marL="673273" indent="0">
              <a:buNone/>
              <a:defRPr sz="1800"/>
            </a:lvl2pPr>
            <a:lvl3pPr marL="1346545" indent="0">
              <a:buNone/>
              <a:defRPr sz="1500"/>
            </a:lvl3pPr>
            <a:lvl4pPr marL="2019818" indent="0">
              <a:buNone/>
              <a:defRPr sz="1300"/>
            </a:lvl4pPr>
            <a:lvl5pPr marL="2693091" indent="0">
              <a:buNone/>
              <a:defRPr sz="1300"/>
            </a:lvl5pPr>
            <a:lvl6pPr marL="3366364" indent="0">
              <a:buNone/>
              <a:defRPr sz="1300"/>
            </a:lvl6pPr>
            <a:lvl7pPr marL="4039636" indent="0">
              <a:buNone/>
              <a:defRPr sz="1300"/>
            </a:lvl7pPr>
            <a:lvl8pPr marL="4712909" indent="0">
              <a:buNone/>
              <a:defRPr sz="1300"/>
            </a:lvl8pPr>
            <a:lvl9pPr marL="53861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933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498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46041" y="361162"/>
            <a:ext cx="3272909" cy="769502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7313" y="361162"/>
            <a:ext cx="9576290" cy="76950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05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313" y="361162"/>
            <a:ext cx="13091637" cy="1503098"/>
          </a:xfrm>
          <a:prstGeom prst="rect">
            <a:avLst/>
          </a:prstGeom>
        </p:spPr>
        <p:txBody>
          <a:bodyPr vert="horz" lIns="134655" tIns="67327" rIns="134655" bIns="67327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313" y="2104338"/>
            <a:ext cx="13091637" cy="5951851"/>
          </a:xfrm>
          <a:prstGeom prst="rect">
            <a:avLst/>
          </a:prstGeom>
        </p:spPr>
        <p:txBody>
          <a:bodyPr vert="horz" lIns="134655" tIns="67327" rIns="134655" bIns="67327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4822" y="8358896"/>
            <a:ext cx="3394128" cy="480156"/>
          </a:xfrm>
          <a:prstGeom prst="rect">
            <a:avLst/>
          </a:prstGeom>
        </p:spPr>
        <p:txBody>
          <a:bodyPr vert="horz" lIns="134655" tIns="67327" rIns="134655" bIns="67327" rtlCol="1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69973" y="8358896"/>
            <a:ext cx="4606317" cy="480156"/>
          </a:xfrm>
          <a:prstGeom prst="rect">
            <a:avLst/>
          </a:prstGeom>
        </p:spPr>
        <p:txBody>
          <a:bodyPr vert="horz" lIns="134655" tIns="67327" rIns="134655" bIns="67327" rtlCol="1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7313" y="8358896"/>
            <a:ext cx="3394128" cy="480156"/>
          </a:xfrm>
          <a:prstGeom prst="rect">
            <a:avLst/>
          </a:prstGeom>
        </p:spPr>
        <p:txBody>
          <a:bodyPr vert="horz" lIns="134655" tIns="67327" rIns="134655" bIns="67327" rtlCol="1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283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1346545" rtl="1" eaLnBrk="1" latinLnBrk="0" hangingPunct="1">
        <a:spcBef>
          <a:spcPct val="0"/>
        </a:spcBef>
        <a:buNone/>
        <a:defRPr sz="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4955" indent="-504955" algn="r" defTabSz="1346545" rtl="1" eaLnBrk="1" latinLnBrk="0" hangingPunct="1">
        <a:spcBef>
          <a:spcPct val="20000"/>
        </a:spcBef>
        <a:buFont typeface="Arial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1pPr>
      <a:lvl2pPr marL="1094068" indent="-420795" algn="r" defTabSz="1346545" rtl="1" eaLnBrk="1" latinLnBrk="0" hangingPunct="1">
        <a:spcBef>
          <a:spcPct val="20000"/>
        </a:spcBef>
        <a:buFont typeface="Arial" pitchFamily="34" charset="0"/>
        <a:buChar char="–"/>
        <a:defRPr sz="4100" kern="1200">
          <a:solidFill>
            <a:schemeClr val="tx1"/>
          </a:solidFill>
          <a:latin typeface="+mn-lt"/>
          <a:ea typeface="+mn-ea"/>
          <a:cs typeface="+mn-cs"/>
        </a:defRPr>
      </a:lvl2pPr>
      <a:lvl3pPr marL="1683182" indent="-336636" algn="r" defTabSz="1346545" rtl="1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356455" indent="-336636" algn="r" defTabSz="1346545" rtl="1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3029727" indent="-336636" algn="r" defTabSz="1346545" rtl="1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703000" indent="-336636" algn="r" defTabSz="1346545" rtl="1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76273" indent="-336636" algn="r" defTabSz="1346545" rtl="1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9545" indent="-336636" algn="r" defTabSz="1346545" rtl="1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22818" indent="-336636" algn="r" defTabSz="1346545" rtl="1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73273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46545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19818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693091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66364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39636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12909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386182" algn="r" defTabSz="1346545" rtl="1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0483" y="2853110"/>
            <a:ext cx="120973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5400" b="1" dirty="0" smtClean="0">
              <a:solidFill>
                <a:srgbClr val="FF0000"/>
              </a:solidFill>
            </a:endParaRPr>
          </a:p>
          <a:p>
            <a:pPr algn="ctr"/>
            <a:r>
              <a:rPr lang="en-US" sz="5400" b="1" dirty="0" smtClean="0">
                <a:solidFill>
                  <a:srgbClr val="0070C0"/>
                </a:solidFill>
              </a:rPr>
              <a:t>Copy </a:t>
            </a:r>
            <a:r>
              <a:rPr lang="en-US" sz="5400" b="1" dirty="0" smtClean="0">
                <a:solidFill>
                  <a:srgbClr val="0070C0"/>
                </a:solidFill>
              </a:rPr>
              <a:t>constructor</a:t>
            </a:r>
          </a:p>
          <a:p>
            <a:pPr algn="ctr"/>
            <a:r>
              <a:rPr lang="en-US" sz="5400" b="1" dirty="0" smtClean="0">
                <a:solidFill>
                  <a:srgbClr val="0070C0"/>
                </a:solidFill>
              </a:rPr>
              <a:t>Anonymous class</a:t>
            </a:r>
          </a:p>
          <a:p>
            <a:pPr algn="ctr"/>
            <a:r>
              <a:rPr lang="en-US" sz="5400" b="1" dirty="0" smtClean="0">
                <a:solidFill>
                  <a:srgbClr val="0070C0"/>
                </a:solidFill>
              </a:rPr>
              <a:t>Lambda expression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4589423" y="1654481"/>
            <a:ext cx="531748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Lecture </a:t>
            </a:r>
            <a:r>
              <a:rPr lang="en-US" sz="8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11</a:t>
            </a:r>
            <a:endParaRPr lang="ar-EG" sz="8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084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72074" y="3595983"/>
            <a:ext cx="8533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Professional Java coding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27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31" y="1340942"/>
            <a:ext cx="7488832" cy="5616625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/>
              <a:t>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</a:t>
            </a:r>
            <a:r>
              <a:rPr lang="en-US" sz="2400" dirty="0" smtClean="0"/>
              <a:t>{</a:t>
            </a:r>
            <a:endParaRPr lang="en-US" sz="2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/>
              <a:t>      </a:t>
            </a:r>
            <a:r>
              <a:rPr lang="en-US" sz="2400" dirty="0" smtClean="0"/>
              <a:t>Student </a:t>
            </a:r>
            <a:r>
              <a:rPr lang="en-US" sz="3200" b="1" dirty="0" smtClean="0">
                <a:solidFill>
                  <a:srgbClr val="00B0F0"/>
                </a:solidFill>
              </a:rPr>
              <a:t>std1</a:t>
            </a:r>
            <a:r>
              <a:rPr lang="en-US" sz="2400" dirty="0" smtClean="0"/>
              <a:t> </a:t>
            </a:r>
            <a:r>
              <a:rPr lang="en-US" sz="2400" dirty="0"/>
              <a:t>= new Student("</a:t>
            </a:r>
            <a:r>
              <a:rPr lang="en-US" sz="2400" dirty="0" err="1"/>
              <a:t>ali</a:t>
            </a:r>
            <a:r>
              <a:rPr lang="en-US" sz="2400" dirty="0"/>
              <a:t>", 20);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 smtClean="0"/>
              <a:t>       </a:t>
            </a:r>
            <a:r>
              <a:rPr lang="en-US" sz="2400" dirty="0" smtClean="0"/>
              <a:t>std1.displayData</a:t>
            </a:r>
            <a:r>
              <a:rPr lang="en-US" sz="2400" dirty="0" smtClean="0"/>
              <a:t>( );</a:t>
            </a:r>
            <a:endParaRPr lang="en-US" sz="2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Student </a:t>
            </a:r>
            <a:r>
              <a:rPr lang="en-US" sz="2400" b="1" dirty="0" err="1">
                <a:solidFill>
                  <a:srgbClr val="7030A0"/>
                </a:solidFill>
              </a:rPr>
              <a:t>copyOfStd</a:t>
            </a:r>
            <a:r>
              <a:rPr lang="en-US" sz="2400" dirty="0">
                <a:solidFill>
                  <a:srgbClr val="FF0000"/>
                </a:solidFill>
              </a:rPr>
              <a:t> = new Student</a:t>
            </a:r>
            <a:r>
              <a:rPr lang="en-US" sz="2400" dirty="0" smtClean="0">
                <a:solidFill>
                  <a:srgbClr val="FF0000"/>
                </a:solidFill>
              </a:rPr>
              <a:t>( ).</a:t>
            </a:r>
            <a:r>
              <a:rPr lang="en-US" sz="2400" b="1" dirty="0" err="1">
                <a:solidFill>
                  <a:srgbClr val="00B050"/>
                </a:solidFill>
              </a:rPr>
              <a:t>copyObject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800" b="1" dirty="0">
                <a:solidFill>
                  <a:srgbClr val="00B0F0"/>
                </a:solidFill>
              </a:rPr>
              <a:t>std1</a:t>
            </a:r>
            <a:r>
              <a:rPr lang="en-US" sz="2000" dirty="0">
                <a:solidFill>
                  <a:srgbClr val="FF0000"/>
                </a:solidFill>
              </a:rPr>
              <a:t>);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// Student </a:t>
            </a:r>
            <a:r>
              <a:rPr lang="en-US" sz="2400" b="1" dirty="0" err="1">
                <a:solidFill>
                  <a:srgbClr val="7030A0"/>
                </a:solidFill>
              </a:rPr>
              <a:t>copyOfStd</a:t>
            </a:r>
            <a:r>
              <a:rPr lang="en-US" sz="2400" dirty="0">
                <a:solidFill>
                  <a:srgbClr val="FF0000"/>
                </a:solidFill>
              </a:rPr>
              <a:t>= new Student</a:t>
            </a:r>
            <a:r>
              <a:rPr lang="en-US" sz="2400" dirty="0" smtClean="0">
                <a:solidFill>
                  <a:srgbClr val="FF0000"/>
                </a:solidFill>
              </a:rPr>
              <a:t>( );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B0F0"/>
                </a:solidFill>
              </a:rPr>
              <a:t>// </a:t>
            </a:r>
            <a:r>
              <a:rPr lang="en-US" sz="2400" b="1" dirty="0" err="1" smtClean="0">
                <a:solidFill>
                  <a:srgbClr val="7030A0"/>
                </a:solidFill>
              </a:rPr>
              <a:t>copyOfStd</a:t>
            </a:r>
            <a:r>
              <a:rPr lang="en-US" sz="2400" dirty="0" err="1" smtClean="0">
                <a:solidFill>
                  <a:srgbClr val="FF0000"/>
                </a:solidFill>
              </a:rPr>
              <a:t>.</a:t>
            </a:r>
            <a:r>
              <a:rPr lang="en-US" sz="2600" b="1" dirty="0" err="1" smtClean="0">
                <a:solidFill>
                  <a:srgbClr val="00B050"/>
                </a:solidFill>
              </a:rPr>
              <a:t>copyObject</a:t>
            </a:r>
            <a:r>
              <a:rPr lang="en-US" sz="2400" dirty="0" smtClean="0">
                <a:solidFill>
                  <a:srgbClr val="FF0000"/>
                </a:solidFill>
              </a:rPr>
              <a:t>(</a:t>
            </a:r>
            <a:r>
              <a:rPr lang="en-US" sz="3200" b="1" dirty="0" smtClean="0">
                <a:solidFill>
                  <a:srgbClr val="00B0F0"/>
                </a:solidFill>
              </a:rPr>
              <a:t>std1</a:t>
            </a:r>
            <a:r>
              <a:rPr lang="en-US" sz="2400" dirty="0" smtClean="0">
                <a:solidFill>
                  <a:srgbClr val="FF0000"/>
                </a:solidFill>
              </a:rPr>
              <a:t>);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b="1" dirty="0" err="1" smtClean="0">
                <a:solidFill>
                  <a:srgbClr val="7030A0"/>
                </a:solidFill>
              </a:rPr>
              <a:t>copyOfStd</a:t>
            </a:r>
            <a:r>
              <a:rPr lang="en-US" sz="2400" dirty="0" err="1" smtClean="0"/>
              <a:t>.displayData</a:t>
            </a:r>
            <a:r>
              <a:rPr lang="en-US" sz="2400" dirty="0" smtClean="0"/>
              <a:t>( );</a:t>
            </a:r>
            <a:endParaRPr lang="en-US" sz="2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2400" dirty="0" smtClean="0"/>
              <a:t>}   }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664185" y="1340942"/>
            <a:ext cx="6737737" cy="7663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cs typeface="+mj-cs"/>
              </a:rPr>
              <a:t>class Student {</a:t>
            </a:r>
          </a:p>
          <a:p>
            <a:r>
              <a:rPr lang="en-US" sz="2400" dirty="0" smtClean="0">
                <a:cs typeface="+mj-cs"/>
              </a:rPr>
              <a:t>	String </a:t>
            </a:r>
            <a:r>
              <a:rPr lang="en-US" sz="2400" dirty="0">
                <a:cs typeface="+mj-cs"/>
              </a:rPr>
              <a:t>name;</a:t>
            </a:r>
          </a:p>
          <a:p>
            <a:r>
              <a:rPr lang="en-US" sz="2400" dirty="0" smtClean="0">
                <a:cs typeface="+mj-cs"/>
              </a:rPr>
              <a:t>	</a:t>
            </a:r>
            <a:r>
              <a:rPr lang="en-US" sz="2400" dirty="0" err="1" smtClean="0">
                <a:cs typeface="+mj-cs"/>
              </a:rPr>
              <a:t>int</a:t>
            </a:r>
            <a:r>
              <a:rPr lang="en-US" sz="2400" dirty="0" smtClean="0">
                <a:cs typeface="+mj-cs"/>
              </a:rPr>
              <a:t> </a:t>
            </a:r>
            <a:r>
              <a:rPr lang="en-US" sz="2400" dirty="0">
                <a:cs typeface="+mj-cs"/>
              </a:rPr>
              <a:t>age;</a:t>
            </a:r>
          </a:p>
          <a:p>
            <a:r>
              <a:rPr lang="en-US" sz="2400" dirty="0">
                <a:cs typeface="+mj-cs"/>
              </a:rPr>
              <a:t>   public Student</a:t>
            </a:r>
            <a:r>
              <a:rPr lang="en-US" sz="2400" dirty="0" smtClean="0">
                <a:cs typeface="+mj-cs"/>
              </a:rPr>
              <a:t>( ){</a:t>
            </a:r>
            <a:endParaRPr lang="en-US" sz="2400" dirty="0">
              <a:cs typeface="+mj-cs"/>
            </a:endParaRPr>
          </a:p>
          <a:p>
            <a:r>
              <a:rPr lang="en-US" sz="2400" dirty="0">
                <a:cs typeface="+mj-cs"/>
              </a:rPr>
              <a:t>   }</a:t>
            </a:r>
          </a:p>
          <a:p>
            <a:r>
              <a:rPr lang="en-US" sz="2400" dirty="0">
                <a:cs typeface="+mj-cs"/>
              </a:rPr>
              <a:t>   public Student(String name, </a:t>
            </a:r>
            <a:r>
              <a:rPr lang="en-US" sz="2400" dirty="0" err="1">
                <a:cs typeface="+mj-cs"/>
              </a:rPr>
              <a:t>int</a:t>
            </a:r>
            <a:r>
              <a:rPr lang="en-US" sz="2400" dirty="0">
                <a:cs typeface="+mj-cs"/>
              </a:rPr>
              <a:t> age){</a:t>
            </a:r>
          </a:p>
          <a:p>
            <a:r>
              <a:rPr lang="en-US" sz="2400" dirty="0">
                <a:cs typeface="+mj-cs"/>
              </a:rPr>
              <a:t>      this.name = name;</a:t>
            </a:r>
          </a:p>
          <a:p>
            <a:r>
              <a:rPr lang="en-US" sz="2400" dirty="0">
                <a:cs typeface="+mj-cs"/>
              </a:rPr>
              <a:t>      </a:t>
            </a:r>
            <a:r>
              <a:rPr lang="en-US" sz="2400" dirty="0" err="1">
                <a:cs typeface="+mj-cs"/>
              </a:rPr>
              <a:t>this.age</a:t>
            </a:r>
            <a:r>
              <a:rPr lang="en-US" sz="2400" dirty="0">
                <a:cs typeface="+mj-cs"/>
              </a:rPr>
              <a:t> = age;</a:t>
            </a:r>
          </a:p>
          <a:p>
            <a:r>
              <a:rPr lang="en-US" sz="2400" dirty="0">
                <a:cs typeface="+mj-cs"/>
              </a:rPr>
              <a:t>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+mj-cs"/>
              </a:rPr>
              <a:t>   public </a:t>
            </a:r>
            <a:r>
              <a:rPr lang="en-US" sz="2400" b="1" dirty="0">
                <a:solidFill>
                  <a:srgbClr val="FF0000"/>
                </a:solidFill>
                <a:cs typeface="+mj-cs"/>
              </a:rPr>
              <a:t>Student</a:t>
            </a:r>
            <a:r>
              <a:rPr lang="en-US" sz="2400" dirty="0">
                <a:cs typeface="+mj-cs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cs typeface="+mj-cs"/>
              </a:rPr>
              <a:t>copyObject</a:t>
            </a:r>
            <a:r>
              <a:rPr lang="en-US" sz="2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en-US" sz="2400" dirty="0" smtClean="0">
                <a:cs typeface="+mj-cs"/>
              </a:rPr>
              <a:t>(</a:t>
            </a:r>
            <a:r>
              <a:rPr lang="en-US" sz="2400" dirty="0">
                <a:cs typeface="+mj-cs"/>
              </a:rPr>
              <a:t>Student </a:t>
            </a:r>
            <a:r>
              <a:rPr lang="en-US" sz="2400" dirty="0" err="1">
                <a:cs typeface="+mj-cs"/>
              </a:rPr>
              <a:t>std</a:t>
            </a:r>
            <a:r>
              <a:rPr lang="en-US" sz="2400" dirty="0" smtClean="0">
                <a:cs typeface="+mj-cs"/>
              </a:rPr>
              <a:t>) {</a:t>
            </a:r>
            <a:endParaRPr lang="en-US" sz="2400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+mj-cs"/>
              </a:rPr>
              <a:t>      </a:t>
            </a:r>
            <a:r>
              <a:rPr lang="en-US" sz="2400" b="1" dirty="0">
                <a:solidFill>
                  <a:srgbClr val="00B050"/>
                </a:solidFill>
                <a:cs typeface="+mj-cs"/>
              </a:rPr>
              <a:t>this.name = std.name;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cs typeface="+mj-cs"/>
              </a:rPr>
              <a:t>      </a:t>
            </a:r>
            <a:r>
              <a:rPr lang="en-US" sz="2400" b="1" dirty="0" err="1">
                <a:solidFill>
                  <a:srgbClr val="00B050"/>
                </a:solidFill>
                <a:cs typeface="+mj-cs"/>
              </a:rPr>
              <a:t>this.age</a:t>
            </a:r>
            <a:r>
              <a:rPr lang="en-US" sz="2400" b="1" dirty="0">
                <a:solidFill>
                  <a:srgbClr val="00B050"/>
                </a:solidFill>
                <a:cs typeface="+mj-cs"/>
              </a:rPr>
              <a:t> = </a:t>
            </a:r>
            <a:r>
              <a:rPr lang="en-US" sz="2400" b="1" dirty="0" err="1">
                <a:solidFill>
                  <a:srgbClr val="00B050"/>
                </a:solidFill>
                <a:cs typeface="+mj-cs"/>
              </a:rPr>
              <a:t>std.age</a:t>
            </a:r>
            <a:r>
              <a:rPr lang="en-US" sz="2400" b="1" dirty="0">
                <a:solidFill>
                  <a:srgbClr val="00B050"/>
                </a:solidFill>
                <a:cs typeface="+mj-cs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cs typeface="+mj-cs"/>
              </a:rPr>
              <a:t>      return </a:t>
            </a:r>
            <a:r>
              <a:rPr lang="en-US" sz="2400" b="1" dirty="0" err="1">
                <a:solidFill>
                  <a:srgbClr val="00B050"/>
                </a:solidFill>
                <a:cs typeface="+mj-cs"/>
              </a:rPr>
              <a:t>std</a:t>
            </a:r>
            <a:r>
              <a:rPr lang="en-US" sz="2400" b="1" dirty="0">
                <a:solidFill>
                  <a:srgbClr val="00B050"/>
                </a:solidFill>
                <a:cs typeface="+mj-cs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+mj-cs"/>
              </a:rPr>
              <a:t>   }</a:t>
            </a:r>
          </a:p>
          <a:p>
            <a:r>
              <a:rPr lang="en-US" sz="2400" dirty="0">
                <a:cs typeface="+mj-cs"/>
              </a:rPr>
              <a:t>   public void </a:t>
            </a:r>
            <a:r>
              <a:rPr lang="en-US" sz="2400" dirty="0" err="1">
                <a:cs typeface="+mj-cs"/>
              </a:rPr>
              <a:t>displayData</a:t>
            </a:r>
            <a:r>
              <a:rPr lang="en-US" sz="2400" dirty="0" smtClean="0">
                <a:cs typeface="+mj-cs"/>
              </a:rPr>
              <a:t>( ){</a:t>
            </a:r>
            <a:endParaRPr lang="en-US" sz="2400" dirty="0">
              <a:cs typeface="+mj-cs"/>
            </a:endParaRPr>
          </a:p>
          <a:p>
            <a:r>
              <a:rPr lang="en-US" sz="2400" dirty="0">
                <a:cs typeface="+mj-cs"/>
              </a:rPr>
              <a:t>      </a:t>
            </a:r>
            <a:r>
              <a:rPr lang="en-US" sz="2400" dirty="0" err="1">
                <a:cs typeface="+mj-cs"/>
              </a:rPr>
              <a:t>System.out.println</a:t>
            </a:r>
            <a:r>
              <a:rPr lang="en-US" sz="2400" dirty="0">
                <a:cs typeface="+mj-cs"/>
              </a:rPr>
              <a:t>("Name : "+this.name);</a:t>
            </a:r>
          </a:p>
          <a:p>
            <a:r>
              <a:rPr lang="en-US" sz="2400" dirty="0">
                <a:cs typeface="+mj-cs"/>
              </a:rPr>
              <a:t>      </a:t>
            </a:r>
            <a:r>
              <a:rPr lang="en-US" sz="2400" dirty="0" err="1">
                <a:cs typeface="+mj-cs"/>
              </a:rPr>
              <a:t>System.out.println</a:t>
            </a:r>
            <a:r>
              <a:rPr lang="en-US" sz="2400" dirty="0">
                <a:cs typeface="+mj-cs"/>
              </a:rPr>
              <a:t>("Age : "+</a:t>
            </a:r>
            <a:r>
              <a:rPr lang="en-US" sz="2400" dirty="0" err="1">
                <a:cs typeface="+mj-cs"/>
              </a:rPr>
              <a:t>this.age</a:t>
            </a:r>
            <a:r>
              <a:rPr lang="en-US" sz="2400" dirty="0">
                <a:cs typeface="+mj-cs"/>
              </a:rPr>
              <a:t>);</a:t>
            </a:r>
          </a:p>
          <a:p>
            <a:r>
              <a:rPr lang="en-US" sz="2400" dirty="0">
                <a:cs typeface="+mj-cs"/>
              </a:rPr>
              <a:t>   </a:t>
            </a:r>
            <a:r>
              <a:rPr lang="en-US" sz="2400" dirty="0" smtClean="0">
                <a:cs typeface="+mj-cs"/>
              </a:rPr>
              <a:t>}}</a:t>
            </a:r>
            <a:endParaRPr lang="ar-EG" sz="2400" dirty="0"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4419" y="7029574"/>
            <a:ext cx="576064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Name : </a:t>
            </a:r>
            <a:r>
              <a:rPr lang="en-US" dirty="0" err="1"/>
              <a:t>ali</a:t>
            </a:r>
            <a:endParaRPr lang="en-US" dirty="0"/>
          </a:p>
          <a:p>
            <a:r>
              <a:rPr lang="en-US" dirty="0"/>
              <a:t>Age : 20</a:t>
            </a:r>
          </a:p>
          <a:p>
            <a:r>
              <a:rPr lang="en-US" dirty="0" smtClean="0"/>
              <a:t>Name </a:t>
            </a:r>
            <a:r>
              <a:rPr lang="en-US" dirty="0"/>
              <a:t>: </a:t>
            </a:r>
            <a:r>
              <a:rPr lang="en-US" dirty="0" err="1"/>
              <a:t>ali</a:t>
            </a:r>
            <a:endParaRPr lang="en-US" dirty="0"/>
          </a:p>
          <a:p>
            <a:r>
              <a:rPr lang="en-US" dirty="0"/>
              <a:t>Age : 20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967559" y="188814"/>
            <a:ext cx="126111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Calling a methods by a created object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4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39" y="2225016"/>
            <a:ext cx="6401802" cy="47525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3200" dirty="0"/>
              <a:t>public static void main(String[] </a:t>
            </a:r>
            <a:r>
              <a:rPr lang="en-US" sz="3200" dirty="0" err="1"/>
              <a:t>args</a:t>
            </a:r>
            <a:r>
              <a:rPr lang="en-US" sz="3200" dirty="0"/>
              <a:t>) {</a:t>
            </a:r>
          </a:p>
          <a:p>
            <a:pPr marL="0" indent="0" algn="l" rtl="0">
              <a:buNone/>
            </a:pPr>
            <a:r>
              <a:rPr lang="en-US" sz="3200" dirty="0"/>
              <a:t>        product A = new product(262);</a:t>
            </a:r>
          </a:p>
          <a:p>
            <a:pPr marL="0" indent="0" algn="l" rtl="0">
              <a:buNone/>
            </a:pPr>
            <a:r>
              <a:rPr lang="en-US" sz="3200" dirty="0"/>
              <a:t>        product B = new product (487);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A.increase</a:t>
            </a:r>
            <a:r>
              <a:rPr lang="en-US" sz="3200" dirty="0"/>
              <a:t>(B);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</a:t>
            </a:r>
            <a:r>
              <a:rPr lang="en-US" sz="3200" dirty="0" err="1"/>
              <a:t>A.price</a:t>
            </a:r>
            <a:r>
              <a:rPr lang="en-US" sz="3200" dirty="0"/>
              <a:t>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</a:t>
            </a:r>
            <a:r>
              <a:rPr lang="en-US" sz="3200" dirty="0" err="1"/>
              <a:t>B.price</a:t>
            </a:r>
            <a:r>
              <a:rPr lang="en-US" sz="3200" dirty="0"/>
              <a:t>);</a:t>
            </a:r>
          </a:p>
          <a:p>
            <a:pPr marL="0" indent="0" algn="l" rtl="0">
              <a:buNone/>
            </a:pPr>
            <a:r>
              <a:rPr lang="en-US" sz="3200" dirty="0"/>
              <a:t>    }</a:t>
            </a:r>
            <a:endParaRPr lang="ar-E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4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21153" y="2205038"/>
            <a:ext cx="6975656" cy="64940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en-US" sz="3200" dirty="0"/>
              <a:t>public class product {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int</a:t>
            </a:r>
            <a:r>
              <a:rPr lang="en-US" sz="3200" dirty="0"/>
              <a:t> id;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int</a:t>
            </a:r>
            <a:r>
              <a:rPr lang="en-US" sz="3200" dirty="0"/>
              <a:t> price;</a:t>
            </a:r>
          </a:p>
          <a:p>
            <a:r>
              <a:rPr lang="en-US" sz="3200" dirty="0"/>
              <a:t>    </a:t>
            </a:r>
          </a:p>
          <a:p>
            <a:r>
              <a:rPr lang="en-US" sz="3200" dirty="0"/>
              <a:t>    public product (</a:t>
            </a:r>
            <a:r>
              <a:rPr lang="en-US" sz="3200" dirty="0" err="1"/>
              <a:t>int</a:t>
            </a:r>
            <a:r>
              <a:rPr lang="en-US" sz="3200" dirty="0"/>
              <a:t> n){</a:t>
            </a:r>
          </a:p>
          <a:p>
            <a:r>
              <a:rPr lang="en-US" sz="3200" dirty="0"/>
              <a:t>        this.id= n;</a:t>
            </a:r>
          </a:p>
          <a:p>
            <a:r>
              <a:rPr lang="en-US" sz="3200" dirty="0"/>
              <a:t>        price= 100;</a:t>
            </a:r>
          </a:p>
          <a:p>
            <a:r>
              <a:rPr lang="en-US" sz="3200" dirty="0"/>
              <a:t>}</a:t>
            </a:r>
          </a:p>
          <a:p>
            <a:r>
              <a:rPr lang="en-US" sz="3200" dirty="0"/>
              <a:t>    public void increase (product p1){</a:t>
            </a:r>
          </a:p>
          <a:p>
            <a:r>
              <a:rPr lang="en-US" sz="3200" dirty="0"/>
              <a:t>        p1.price+= 100;</a:t>
            </a:r>
          </a:p>
          <a:p>
            <a:r>
              <a:rPr lang="en-US" sz="3200" dirty="0"/>
              <a:t>        </a:t>
            </a:r>
            <a:r>
              <a:rPr lang="en-US" sz="3200" dirty="0" err="1"/>
              <a:t>this.price</a:t>
            </a:r>
            <a:r>
              <a:rPr lang="en-US" sz="3200" dirty="0"/>
              <a:t> += 200;</a:t>
            </a:r>
          </a:p>
          <a:p>
            <a:r>
              <a:rPr lang="en-US" sz="3200" dirty="0"/>
              <a:t>    </a:t>
            </a:r>
            <a:r>
              <a:rPr lang="en-US" sz="3200" dirty="0" smtClean="0"/>
              <a:t>}</a:t>
            </a:r>
            <a:endParaRPr lang="en-US" sz="3200" dirty="0"/>
          </a:p>
          <a:p>
            <a:r>
              <a:rPr lang="en-US" sz="3200" dirty="0"/>
              <a:t>}</a:t>
            </a:r>
            <a:endParaRPr lang="ar-EG" sz="3200" dirty="0"/>
          </a:p>
        </p:txBody>
      </p:sp>
      <p:sp>
        <p:nvSpPr>
          <p:cNvPr id="8" name="Rectangle 7"/>
          <p:cNvSpPr/>
          <p:nvPr/>
        </p:nvSpPr>
        <p:spPr>
          <a:xfrm>
            <a:off x="2438034" y="188814"/>
            <a:ext cx="992932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Passing an object to a method called by</a:t>
            </a:r>
          </a:p>
          <a:p>
            <a:pPr algn="ctr"/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another object</a:t>
            </a:r>
            <a:endParaRPr lang="ar-EG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451" y="7389614"/>
            <a:ext cx="3312368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/>
              <a:t>300</a:t>
            </a:r>
          </a:p>
          <a:p>
            <a:r>
              <a:rPr lang="en-US" dirty="0" smtClean="0"/>
              <a:t>200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25830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55" y="1484958"/>
            <a:ext cx="6401802" cy="47525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3200" dirty="0"/>
              <a:t>public static void main(String[] </a:t>
            </a:r>
            <a:r>
              <a:rPr lang="en-US" sz="3200" dirty="0" err="1"/>
              <a:t>args</a:t>
            </a:r>
            <a:r>
              <a:rPr lang="en-US" sz="3200" dirty="0"/>
              <a:t>) {</a:t>
            </a:r>
          </a:p>
          <a:p>
            <a:pPr marL="0" indent="0" algn="l" rtl="0">
              <a:buNone/>
            </a:pPr>
            <a:r>
              <a:rPr lang="en-US" sz="3200" dirty="0"/>
              <a:t>        product </a:t>
            </a:r>
            <a:r>
              <a:rPr lang="en-US" sz="3200" dirty="0" smtClean="0"/>
              <a:t>A </a:t>
            </a:r>
            <a:r>
              <a:rPr lang="en-US" sz="3200" dirty="0"/>
              <a:t>= new product(262);</a:t>
            </a:r>
          </a:p>
          <a:p>
            <a:pPr marL="0" indent="0" algn="l" rtl="0">
              <a:buNone/>
            </a:pPr>
            <a:r>
              <a:rPr lang="en-US" sz="3200" dirty="0"/>
              <a:t>        product </a:t>
            </a:r>
            <a:r>
              <a:rPr lang="en-US" sz="3200" dirty="0" smtClean="0"/>
              <a:t>B </a:t>
            </a:r>
            <a:r>
              <a:rPr lang="en-US" sz="3200" dirty="0"/>
              <a:t>= new product (487);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b="1" dirty="0" err="1">
                <a:solidFill>
                  <a:srgbClr val="0070C0"/>
                </a:solidFill>
              </a:rPr>
              <a:t>A</a:t>
            </a:r>
            <a:r>
              <a:rPr lang="en-US" sz="3200" dirty="0" err="1"/>
              <a:t>.increase</a:t>
            </a:r>
            <a:r>
              <a:rPr lang="en-US" sz="3200" dirty="0"/>
              <a:t>(</a:t>
            </a:r>
            <a:r>
              <a:rPr lang="en-US" sz="3200" b="1" dirty="0">
                <a:solidFill>
                  <a:srgbClr val="FF0000"/>
                </a:solidFill>
              </a:rPr>
              <a:t>B</a:t>
            </a:r>
            <a:r>
              <a:rPr lang="en-US" sz="3200" dirty="0"/>
              <a:t>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</a:t>
            </a:r>
            <a:r>
              <a:rPr lang="en-US" sz="3200" dirty="0" err="1"/>
              <a:t>A.price</a:t>
            </a:r>
            <a:r>
              <a:rPr lang="en-US" sz="3200" dirty="0"/>
              <a:t>);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</a:t>
            </a:r>
            <a:r>
              <a:rPr lang="en-US" sz="3200" dirty="0" err="1"/>
              <a:t>B.price</a:t>
            </a:r>
            <a:r>
              <a:rPr lang="en-US" sz="3200" dirty="0"/>
              <a:t>);</a:t>
            </a:r>
          </a:p>
          <a:p>
            <a:pPr marL="0" indent="0" algn="l" rtl="0">
              <a:buNone/>
            </a:pPr>
            <a:r>
              <a:rPr lang="en-US" sz="3200" dirty="0"/>
              <a:t>    }</a:t>
            </a:r>
            <a:endParaRPr lang="ar-E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5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08584" y="1539281"/>
            <a:ext cx="6975656" cy="50167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en-US" sz="3200" dirty="0"/>
              <a:t>public class product {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int</a:t>
            </a:r>
            <a:r>
              <a:rPr lang="en-US" sz="3200" dirty="0"/>
              <a:t> id;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int</a:t>
            </a:r>
            <a:r>
              <a:rPr lang="en-US" sz="3200" dirty="0"/>
              <a:t> price;</a:t>
            </a:r>
          </a:p>
          <a:p>
            <a:r>
              <a:rPr lang="en-US" sz="3200" dirty="0"/>
              <a:t>    </a:t>
            </a:r>
          </a:p>
          <a:p>
            <a:r>
              <a:rPr lang="en-US" sz="3200" dirty="0"/>
              <a:t>    public product (</a:t>
            </a:r>
            <a:r>
              <a:rPr lang="en-US" sz="3200" dirty="0" err="1"/>
              <a:t>int</a:t>
            </a:r>
            <a:r>
              <a:rPr lang="en-US" sz="3200" dirty="0"/>
              <a:t> n){</a:t>
            </a:r>
          </a:p>
          <a:p>
            <a:r>
              <a:rPr lang="en-US" sz="3200" dirty="0"/>
              <a:t>        this.id= n;</a:t>
            </a:r>
          </a:p>
          <a:p>
            <a:r>
              <a:rPr lang="en-US" sz="3200" dirty="0"/>
              <a:t>        price= 100</a:t>
            </a:r>
            <a:r>
              <a:rPr lang="en-US" sz="3200" dirty="0" smtClean="0"/>
              <a:t>;}</a:t>
            </a:r>
            <a:endParaRPr lang="en-US" sz="3200" dirty="0"/>
          </a:p>
          <a:p>
            <a:r>
              <a:rPr lang="en-US" sz="3200" dirty="0"/>
              <a:t>    public void </a:t>
            </a:r>
            <a:r>
              <a:rPr lang="en-US" sz="3200" b="1" dirty="0">
                <a:solidFill>
                  <a:srgbClr val="00B050"/>
                </a:solidFill>
              </a:rPr>
              <a:t>increase</a:t>
            </a:r>
            <a:r>
              <a:rPr lang="en-US" sz="3200" dirty="0"/>
              <a:t> (product </a:t>
            </a:r>
            <a:r>
              <a:rPr lang="en-US" sz="3200" b="1" dirty="0">
                <a:solidFill>
                  <a:srgbClr val="FF0000"/>
                </a:solidFill>
              </a:rPr>
              <a:t>p1</a:t>
            </a:r>
            <a:r>
              <a:rPr lang="en-US" sz="3200" dirty="0"/>
              <a:t>){</a:t>
            </a:r>
          </a:p>
          <a:p>
            <a:r>
              <a:rPr lang="en-US" sz="3200" dirty="0"/>
              <a:t>        </a:t>
            </a:r>
            <a:r>
              <a:rPr lang="en-US" sz="3200" dirty="0">
                <a:solidFill>
                  <a:srgbClr val="FF0000"/>
                </a:solidFill>
              </a:rPr>
              <a:t>p1</a:t>
            </a:r>
            <a:r>
              <a:rPr lang="en-US" sz="3200" dirty="0"/>
              <a:t>.price+= 100;</a:t>
            </a:r>
          </a:p>
          <a:p>
            <a:r>
              <a:rPr lang="en-US" sz="3200" dirty="0"/>
              <a:t>        </a:t>
            </a:r>
            <a:r>
              <a:rPr lang="en-US" sz="3200" dirty="0" err="1">
                <a:solidFill>
                  <a:srgbClr val="0070C0"/>
                </a:solidFill>
              </a:rPr>
              <a:t>this</a:t>
            </a:r>
            <a:r>
              <a:rPr lang="en-US" sz="3200" dirty="0" err="1"/>
              <a:t>.price</a:t>
            </a:r>
            <a:r>
              <a:rPr lang="en-US" sz="3200" dirty="0"/>
              <a:t> += 200</a:t>
            </a:r>
            <a:r>
              <a:rPr lang="en-US" sz="3200" dirty="0" smtClean="0"/>
              <a:t>; }}</a:t>
            </a:r>
            <a:endParaRPr lang="ar-EG" sz="3200" dirty="0"/>
          </a:p>
        </p:txBody>
      </p:sp>
      <p:sp>
        <p:nvSpPr>
          <p:cNvPr id="6" name="Rectangle 5"/>
          <p:cNvSpPr/>
          <p:nvPr/>
        </p:nvSpPr>
        <p:spPr>
          <a:xfrm>
            <a:off x="2438034" y="188814"/>
            <a:ext cx="992932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Passing an object to a method called by</a:t>
            </a:r>
          </a:p>
          <a:p>
            <a:pPr algn="ctr"/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another object</a:t>
            </a:r>
            <a:endParaRPr lang="ar-EG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2651" y="7362977"/>
            <a:ext cx="1459026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2961199" y="8227073"/>
            <a:ext cx="1459026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Rectangle 12"/>
          <p:cNvSpPr/>
          <p:nvPr/>
        </p:nvSpPr>
        <p:spPr>
          <a:xfrm>
            <a:off x="1944539" y="7362977"/>
            <a:ext cx="576064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A</a:t>
            </a:r>
            <a:endParaRPr lang="ar-EG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44539" y="8227073"/>
            <a:ext cx="576064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96633" y="6348290"/>
            <a:ext cx="1521765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Main</a:t>
            </a:r>
            <a:endParaRPr lang="ar-EG" dirty="0"/>
          </a:p>
        </p:txBody>
      </p:sp>
      <p:sp>
        <p:nvSpPr>
          <p:cNvPr id="17" name="Rectangle 16"/>
          <p:cNvSpPr/>
          <p:nvPr/>
        </p:nvSpPr>
        <p:spPr>
          <a:xfrm>
            <a:off x="9480918" y="7399507"/>
            <a:ext cx="1459026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8" name="Rectangle 17"/>
          <p:cNvSpPr/>
          <p:nvPr/>
        </p:nvSpPr>
        <p:spPr>
          <a:xfrm>
            <a:off x="9489466" y="8263603"/>
            <a:ext cx="1459026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1" name="Rectangle 20"/>
          <p:cNvSpPr/>
          <p:nvPr/>
        </p:nvSpPr>
        <p:spPr>
          <a:xfrm>
            <a:off x="7561163" y="7399507"/>
            <a:ext cx="1487707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this</a:t>
            </a:r>
            <a:endParaRPr lang="ar-EG" b="1" dirty="0">
              <a:solidFill>
                <a:srgbClr val="0070C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61163" y="8263603"/>
            <a:ext cx="1487707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p1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6434" y="6524406"/>
            <a:ext cx="1521765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 smtClean="0"/>
              <a:t>increase</a:t>
            </a:r>
            <a:endParaRPr lang="ar-EG" dirty="0"/>
          </a:p>
        </p:txBody>
      </p:sp>
      <p:sp>
        <p:nvSpPr>
          <p:cNvPr id="26" name="Rectangle 25"/>
          <p:cNvSpPr/>
          <p:nvPr/>
        </p:nvSpPr>
        <p:spPr>
          <a:xfrm>
            <a:off x="9721403" y="7471515"/>
            <a:ext cx="956796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300</a:t>
            </a:r>
            <a:endParaRPr lang="ar-EG" b="1" dirty="0">
              <a:solidFill>
                <a:srgbClr val="0070C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794937" y="8345715"/>
            <a:ext cx="956796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200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23261" y="7411863"/>
            <a:ext cx="956796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100</a:t>
            </a:r>
            <a:endParaRPr lang="ar-EG" b="1" dirty="0">
              <a:solidFill>
                <a:srgbClr val="0070C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23261" y="8275959"/>
            <a:ext cx="956796" cy="43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100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8355" y="6718149"/>
            <a:ext cx="6444716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Main method called increase by A and with parameter B</a:t>
            </a:r>
            <a:endParaRPr lang="ar-E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55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6" grpId="0" animBg="1"/>
      <p:bldP spid="27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6875" y="1152101"/>
            <a:ext cx="7344816" cy="595185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dirty="0"/>
              <a:t>class Employee {</a:t>
            </a:r>
          </a:p>
          <a:p>
            <a:pPr marL="0" indent="0" algn="l" rtl="0">
              <a:buNone/>
            </a:pPr>
            <a:r>
              <a:rPr lang="en-US" sz="2400" dirty="0"/>
              <a:t>     </a:t>
            </a:r>
            <a:r>
              <a:rPr lang="en-US" sz="2400" dirty="0" err="1"/>
              <a:t>int</a:t>
            </a:r>
            <a:r>
              <a:rPr lang="en-US" sz="2400" dirty="0"/>
              <a:t> id;</a:t>
            </a:r>
          </a:p>
          <a:p>
            <a:pPr marL="0" indent="0" algn="l" rtl="0">
              <a:buNone/>
            </a:pPr>
            <a:r>
              <a:rPr lang="en-US" sz="2400" dirty="0"/>
              <a:t>     String name;</a:t>
            </a:r>
          </a:p>
          <a:p>
            <a:pPr marL="0" indent="0" algn="l" rtl="0">
              <a:buNone/>
            </a:pPr>
            <a:r>
              <a:rPr lang="en-US" sz="2400" dirty="0"/>
              <a:t>     Employee</a:t>
            </a:r>
            <a:r>
              <a:rPr lang="en-US" sz="2400" dirty="0" smtClean="0"/>
              <a:t>( ){</a:t>
            </a:r>
          </a:p>
          <a:p>
            <a:pPr marL="0" indent="0" algn="l" rtl="0">
              <a:buNone/>
            </a:pPr>
            <a:r>
              <a:rPr lang="en-US" sz="2400" dirty="0" smtClean="0"/>
              <a:t>}</a:t>
            </a:r>
            <a:endParaRPr lang="en-US" sz="2400" dirty="0"/>
          </a:p>
          <a:p>
            <a:pPr marL="0" indent="0" algn="l" rtl="0">
              <a:buNone/>
            </a:pPr>
            <a:r>
              <a:rPr lang="en-US" sz="2400" dirty="0"/>
              <a:t>    </a:t>
            </a:r>
          </a:p>
          <a:p>
            <a:pPr marL="0" indent="0" algn="l" rtl="0">
              <a:buNone/>
            </a:pPr>
            <a:r>
              <a:rPr lang="en-US" sz="2400" dirty="0"/>
              <a:t>     </a:t>
            </a:r>
            <a:r>
              <a:rPr lang="en-US" sz="3200" dirty="0"/>
              <a:t>public </a:t>
            </a:r>
            <a:r>
              <a:rPr lang="en-US" sz="3200" b="1" dirty="0" smtClean="0">
                <a:solidFill>
                  <a:srgbClr val="FF0000"/>
                </a:solidFill>
              </a:rPr>
              <a:t>Employee </a:t>
            </a:r>
            <a:r>
              <a:rPr lang="en-US" sz="3200" dirty="0" smtClean="0"/>
              <a:t>(</a:t>
            </a:r>
            <a:r>
              <a:rPr lang="en-US" sz="3200" b="1" dirty="0">
                <a:solidFill>
                  <a:srgbClr val="FF0000"/>
                </a:solidFill>
              </a:rPr>
              <a:t>Employee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B050"/>
                </a:solidFill>
              </a:rPr>
              <a:t>employee</a:t>
            </a:r>
            <a:r>
              <a:rPr lang="en-US" sz="3200" dirty="0"/>
              <a:t>) {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>
                <a:solidFill>
                  <a:srgbClr val="FF0000"/>
                </a:solidFill>
              </a:rPr>
              <a:t>this.id = </a:t>
            </a:r>
            <a:r>
              <a:rPr lang="en-US" sz="3200" b="1" dirty="0">
                <a:solidFill>
                  <a:srgbClr val="00B050"/>
                </a:solidFill>
              </a:rPr>
              <a:t>employee.id;</a:t>
            </a:r>
          </a:p>
          <a:p>
            <a:pPr marL="0" indent="0" algn="l" rtl="0">
              <a:buNone/>
            </a:pPr>
            <a:r>
              <a:rPr lang="en-US" sz="3200" dirty="0">
                <a:solidFill>
                  <a:srgbClr val="FF0000"/>
                </a:solidFill>
              </a:rPr>
              <a:t>        this.name = </a:t>
            </a:r>
            <a:r>
              <a:rPr lang="en-US" sz="3200" b="1" dirty="0">
                <a:solidFill>
                  <a:srgbClr val="00B050"/>
                </a:solidFill>
              </a:rPr>
              <a:t>employee.name;</a:t>
            </a:r>
          </a:p>
          <a:p>
            <a:pPr marL="0" indent="0" algn="l" rtl="0">
              <a:buNone/>
            </a:pPr>
            <a:r>
              <a:rPr lang="en-US" sz="2400" dirty="0"/>
              <a:t>    }</a:t>
            </a:r>
          </a:p>
          <a:p>
            <a:pPr marL="0" indent="0" algn="l" rtl="0">
              <a:buNone/>
            </a:pPr>
            <a:r>
              <a:rPr lang="en-US" sz="2400" dirty="0"/>
              <a:t>}</a:t>
            </a:r>
            <a:endParaRPr lang="ar-E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6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0363" y="1127206"/>
            <a:ext cx="6336704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{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Employee </a:t>
            </a:r>
            <a:r>
              <a:rPr lang="en-US" sz="2400" b="1" dirty="0">
                <a:solidFill>
                  <a:srgbClr val="0070C0"/>
                </a:solidFill>
              </a:rPr>
              <a:t>m1</a:t>
            </a:r>
            <a:r>
              <a:rPr lang="en-US" sz="2400" dirty="0"/>
              <a:t>= new Employee();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m1.id= 300;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m1.name= "Ahmed";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Employee </a:t>
            </a:r>
            <a:r>
              <a:rPr lang="en-US" sz="2400" b="1" dirty="0">
                <a:solidFill>
                  <a:srgbClr val="0070C0"/>
                </a:solidFill>
              </a:rPr>
              <a:t>m2</a:t>
            </a:r>
            <a:r>
              <a:rPr lang="en-US" sz="2400" dirty="0"/>
              <a:t>= new Employee(</a:t>
            </a:r>
            <a:r>
              <a:rPr lang="en-US" sz="2400" b="1" dirty="0">
                <a:solidFill>
                  <a:srgbClr val="00B050"/>
                </a:solidFill>
              </a:rPr>
              <a:t>m1</a:t>
            </a:r>
            <a:r>
              <a:rPr lang="en-US" sz="2400" dirty="0"/>
              <a:t>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 (m1.id);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 (m2.id);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m2.id=400;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 (m1.id);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 (m2.id</a:t>
            </a:r>
            <a:r>
              <a:rPr lang="en-US" sz="2400" dirty="0" smtClean="0"/>
              <a:t>);</a:t>
            </a:r>
            <a:endParaRPr lang="en-US" sz="2400" dirty="0"/>
          </a:p>
          <a:p>
            <a:r>
              <a:rPr lang="en-US" sz="2400" dirty="0"/>
              <a:t>    }</a:t>
            </a:r>
            <a:endParaRPr lang="ar-EG" sz="2400" dirty="0"/>
          </a:p>
        </p:txBody>
      </p:sp>
      <p:sp>
        <p:nvSpPr>
          <p:cNvPr id="6" name="Rectangle 5"/>
          <p:cNvSpPr/>
          <p:nvPr/>
        </p:nvSpPr>
        <p:spPr>
          <a:xfrm>
            <a:off x="3888755" y="188814"/>
            <a:ext cx="59554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Copy constructor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0970" y="7389613"/>
            <a:ext cx="2592288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/>
              <a:t>300</a:t>
            </a:r>
          </a:p>
          <a:p>
            <a:r>
              <a:rPr lang="en-US" dirty="0" smtClean="0"/>
              <a:t>300</a:t>
            </a:r>
          </a:p>
          <a:p>
            <a:r>
              <a:rPr lang="en-US" dirty="0" smtClean="0"/>
              <a:t>300</a:t>
            </a:r>
          </a:p>
          <a:p>
            <a:r>
              <a:rPr lang="en-US" dirty="0" smtClean="0"/>
              <a:t>400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68480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39" y="2104338"/>
            <a:ext cx="14185576" cy="6365396"/>
          </a:xfrm>
        </p:spPr>
        <p:txBody>
          <a:bodyPr>
            <a:normAutofit/>
          </a:bodyPr>
          <a:lstStyle/>
          <a:p>
            <a:pPr algn="just" rtl="0"/>
            <a:r>
              <a:rPr lang="en-US" dirty="0"/>
              <a:t>Java anonymous </a:t>
            </a:r>
            <a:r>
              <a:rPr lang="en-US" dirty="0" smtClean="0"/>
              <a:t>class </a:t>
            </a:r>
            <a:r>
              <a:rPr lang="en-US" dirty="0"/>
              <a:t>is an </a:t>
            </a:r>
            <a:r>
              <a:rPr lang="en-US" dirty="0" smtClean="0"/>
              <a:t>class </a:t>
            </a:r>
            <a:r>
              <a:rPr lang="en-US" b="1" dirty="0">
                <a:solidFill>
                  <a:srgbClr val="FF0000"/>
                </a:solidFill>
              </a:rPr>
              <a:t>without a </a:t>
            </a:r>
            <a:r>
              <a:rPr lang="en-US" b="1" dirty="0" smtClean="0">
                <a:solidFill>
                  <a:srgbClr val="FF0000"/>
                </a:solidFill>
              </a:rPr>
              <a:t>name</a:t>
            </a:r>
            <a:r>
              <a:rPr lang="en-US" dirty="0" smtClean="0"/>
              <a:t>.</a:t>
            </a:r>
          </a:p>
          <a:p>
            <a:pPr algn="just" rtl="0"/>
            <a:endParaRPr lang="en-US" dirty="0" smtClean="0"/>
          </a:p>
          <a:p>
            <a:pPr algn="just" rtl="0"/>
            <a:r>
              <a:rPr lang="en-US" dirty="0" smtClean="0"/>
              <a:t>only </a:t>
            </a:r>
            <a:r>
              <a:rPr lang="en-US" dirty="0"/>
              <a:t>a single object is created</a:t>
            </a:r>
            <a:r>
              <a:rPr lang="en-US" dirty="0" smtClean="0"/>
              <a:t>.</a:t>
            </a:r>
          </a:p>
          <a:p>
            <a:pPr marL="0" indent="0" algn="just" rtl="0">
              <a:buNone/>
            </a:pPr>
            <a:endParaRPr lang="en-US" dirty="0" smtClean="0"/>
          </a:p>
          <a:p>
            <a:pPr algn="just" rtl="0"/>
            <a:r>
              <a:rPr lang="en-US" dirty="0" smtClean="0"/>
              <a:t>It is useful </a:t>
            </a:r>
            <a:r>
              <a:rPr lang="en-US" dirty="0"/>
              <a:t>when making an instance of an object with certain "extras" such as overloading methods of a class or interface, without having to actually subclass a class.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3679193" y="548854"/>
            <a:ext cx="61093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Anonymous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601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03" y="188814"/>
            <a:ext cx="13091637" cy="907772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Anonymous </a:t>
            </a:r>
            <a:r>
              <a:rPr lang="en-US" sz="6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520" y="1268934"/>
            <a:ext cx="6545579" cy="2664296"/>
          </a:xfrm>
          <a:ln>
            <a:solidFill>
              <a:srgbClr val="FF0000"/>
            </a:solidFill>
          </a:ln>
        </p:spPr>
        <p:txBody>
          <a:bodyPr>
            <a:normAutofit fontScale="62500" lnSpcReduction="20000"/>
          </a:bodyPr>
          <a:lstStyle/>
          <a:p>
            <a:pPr marL="0" indent="0" algn="l" rtl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 algn="l" rtl="0">
              <a:buNone/>
            </a:pPr>
            <a:r>
              <a:rPr lang="en-US" dirty="0"/>
              <a:t>        A </a:t>
            </a:r>
            <a:r>
              <a:rPr lang="en-US" dirty="0" err="1"/>
              <a:t>a</a:t>
            </a:r>
            <a:r>
              <a:rPr lang="en-US" dirty="0"/>
              <a:t> =new B();</a:t>
            </a:r>
          </a:p>
          <a:p>
            <a:pPr marL="0" indent="0" algn="l" rtl="0">
              <a:buNone/>
            </a:pPr>
            <a:r>
              <a:rPr lang="en-US" dirty="0"/>
              <a:t>        </a:t>
            </a:r>
            <a:r>
              <a:rPr lang="en-US" dirty="0" err="1"/>
              <a:t>a.print</a:t>
            </a:r>
            <a:r>
              <a:rPr lang="en-US" dirty="0" smtClean="0"/>
              <a:t>();</a:t>
            </a:r>
            <a:endParaRPr lang="en-US" dirty="0"/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smtClean="0"/>
              <a:t>} </a:t>
            </a:r>
            <a:endParaRPr lang="en-US" dirty="0"/>
          </a:p>
          <a:p>
            <a:pPr marL="0" indent="0" algn="l" rtl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9520" y="4005238"/>
            <a:ext cx="6545579" cy="4832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sz="2800" dirty="0"/>
              <a:t>class A</a:t>
            </a:r>
            <a:r>
              <a:rPr lang="en-US" sz="2800" dirty="0" smtClean="0"/>
              <a:t>{</a:t>
            </a:r>
            <a:endParaRPr lang="en-US" sz="2800" dirty="0"/>
          </a:p>
          <a:p>
            <a:r>
              <a:rPr lang="en-US" sz="2800" dirty="0" smtClean="0"/>
              <a:t>  void </a:t>
            </a:r>
            <a:r>
              <a:rPr lang="en-US" sz="2800" dirty="0"/>
              <a:t>print </a:t>
            </a:r>
            <a:r>
              <a:rPr lang="en-US" sz="2800" dirty="0" smtClean="0"/>
              <a:t>( ){</a:t>
            </a:r>
            <a:endParaRPr lang="en-US" sz="2800" dirty="0"/>
          </a:p>
          <a:p>
            <a:r>
              <a:rPr lang="en-US" sz="2800" dirty="0"/>
              <a:t> </a:t>
            </a:r>
            <a:r>
              <a:rPr lang="en-US" sz="2800" dirty="0" err="1"/>
              <a:t>System.out.println</a:t>
            </a:r>
            <a:r>
              <a:rPr lang="en-US" sz="2800" dirty="0"/>
              <a:t>( "Inside A</a:t>
            </a:r>
            <a:r>
              <a:rPr lang="en-US" sz="2800" dirty="0" smtClean="0"/>
              <a:t>");  </a:t>
            </a:r>
            <a:endParaRPr lang="en-US" sz="2800" dirty="0"/>
          </a:p>
          <a:p>
            <a:r>
              <a:rPr lang="en-US" sz="2800" dirty="0" smtClean="0"/>
              <a:t>    }</a:t>
            </a:r>
            <a:endParaRPr lang="en-US" sz="2800" dirty="0"/>
          </a:p>
          <a:p>
            <a:r>
              <a:rPr lang="en-US" sz="2800" dirty="0" smtClean="0"/>
              <a:t>}</a:t>
            </a:r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class </a:t>
            </a:r>
            <a:r>
              <a:rPr lang="en-US" sz="2800" dirty="0"/>
              <a:t>B extends A {</a:t>
            </a:r>
          </a:p>
          <a:p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void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print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( ){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System.out.println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( "Inside B");</a:t>
            </a:r>
          </a:p>
          <a:p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}        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dirty="0"/>
              <a:t> </a:t>
            </a:r>
            <a:r>
              <a:rPr lang="en-US" sz="2800" dirty="0" smtClean="0"/>
              <a:t>}</a:t>
            </a:r>
            <a:endParaRPr lang="ar-EG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705179" y="5082456"/>
            <a:ext cx="6545579" cy="267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sz="2800" dirty="0"/>
              <a:t>class A</a:t>
            </a:r>
            <a:r>
              <a:rPr lang="en-US" sz="2800" dirty="0" smtClean="0"/>
              <a:t>{</a:t>
            </a:r>
            <a:endParaRPr lang="en-US" sz="2800" dirty="0"/>
          </a:p>
          <a:p>
            <a:r>
              <a:rPr lang="en-US" sz="2800" dirty="0" smtClean="0"/>
              <a:t>  void </a:t>
            </a:r>
            <a:r>
              <a:rPr lang="en-US" sz="2800" dirty="0"/>
              <a:t>print </a:t>
            </a:r>
            <a:r>
              <a:rPr lang="en-US" sz="2800" dirty="0" smtClean="0"/>
              <a:t>( ){</a:t>
            </a:r>
            <a:endParaRPr lang="en-US" sz="2800" dirty="0"/>
          </a:p>
          <a:p>
            <a:r>
              <a:rPr lang="en-US" sz="2800" dirty="0"/>
              <a:t> </a:t>
            </a:r>
            <a:r>
              <a:rPr lang="en-US" sz="2800" dirty="0" err="1"/>
              <a:t>System.out.println</a:t>
            </a:r>
            <a:r>
              <a:rPr lang="en-US" sz="2800" dirty="0"/>
              <a:t>( "Inside A</a:t>
            </a:r>
            <a:r>
              <a:rPr lang="en-US" sz="2800" dirty="0" smtClean="0"/>
              <a:t>");  </a:t>
            </a:r>
            <a:endParaRPr lang="en-US" sz="2800" dirty="0"/>
          </a:p>
          <a:p>
            <a:r>
              <a:rPr lang="en-US" sz="2800" dirty="0" smtClean="0"/>
              <a:t>    }</a:t>
            </a:r>
            <a:endParaRPr lang="en-US" sz="2800" dirty="0"/>
          </a:p>
          <a:p>
            <a:r>
              <a:rPr lang="en-US" sz="2800" dirty="0" smtClean="0"/>
              <a:t>}</a:t>
            </a:r>
            <a:endParaRPr lang="en-US" sz="2800" dirty="0"/>
          </a:p>
          <a:p>
            <a:endParaRPr lang="en-US" sz="2800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417147" y="1196926"/>
            <a:ext cx="6545579" cy="295232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134655" tIns="67327" rIns="134655" bIns="67327" rtlCol="1">
            <a:normAutofit fontScale="55000" lnSpcReduction="20000"/>
          </a:bodyPr>
          <a:lstStyle>
            <a:lvl1pPr marL="504955" indent="-504955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4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4068" indent="-420795" algn="r" defTabSz="1346545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4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83182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56455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29727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03000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76273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49545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22818" indent="-336636" algn="r" defTabSz="1346545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dirty="0" smtClean="0"/>
              <a:t>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pPr marL="0" indent="0" algn="l" rtl="0">
              <a:buNone/>
            </a:pPr>
            <a:r>
              <a:rPr lang="en-US" dirty="0" smtClean="0"/>
              <a:t>        </a:t>
            </a:r>
            <a:r>
              <a:rPr lang="en-US" b="1" dirty="0" smtClean="0">
                <a:solidFill>
                  <a:srgbClr val="C00000"/>
                </a:solidFill>
              </a:rPr>
              <a:t>A </a:t>
            </a:r>
            <a:r>
              <a:rPr lang="en-US" b="1" dirty="0" err="1" smtClean="0">
                <a:solidFill>
                  <a:srgbClr val="C00000"/>
                </a:solidFill>
              </a:rPr>
              <a:t>a</a:t>
            </a:r>
            <a:r>
              <a:rPr lang="en-US" b="1" dirty="0" smtClean="0">
                <a:solidFill>
                  <a:srgbClr val="C00000"/>
                </a:solidFill>
              </a:rPr>
              <a:t> =new A( ){ </a:t>
            </a:r>
          </a:p>
          <a:p>
            <a:pPr marL="0" indent="0" algn="l" rtl="0">
              <a:buNone/>
            </a:pPr>
            <a:r>
              <a:rPr lang="en-US" sz="4800" b="1" dirty="0" smtClean="0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void </a:t>
            </a:r>
            <a:r>
              <a:rPr lang="en-US" sz="4800" b="1" dirty="0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print ( ){</a:t>
            </a:r>
          </a:p>
          <a:p>
            <a:pPr marL="0" indent="0" algn="l" rtl="0">
              <a:buNone/>
            </a:pPr>
            <a:r>
              <a:rPr lang="en-US" sz="4800" b="1" dirty="0" err="1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System.out.println</a:t>
            </a:r>
            <a:r>
              <a:rPr lang="en-US" sz="4800" b="1" dirty="0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( "Inside B</a:t>
            </a:r>
            <a:r>
              <a:rPr lang="en-US" sz="4800" b="1" dirty="0" smtClean="0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");}</a:t>
            </a:r>
            <a:endParaRPr lang="en-US" sz="4800" b="1" dirty="0">
              <a:solidFill>
                <a:srgbClr val="C00000"/>
              </a:solidFill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  <a:p>
            <a:pPr marL="0" indent="0" algn="l" rtl="0">
              <a:buNone/>
            </a:pPr>
            <a:r>
              <a:rPr lang="en-US" sz="4800" b="1" dirty="0" smtClean="0">
                <a:solidFill>
                  <a:srgbClr val="C0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};</a:t>
            </a:r>
          </a:p>
          <a:p>
            <a:pPr marL="0" indent="0" algn="l" rtl="0">
              <a:buNone/>
            </a:pPr>
            <a:r>
              <a:rPr lang="en-US" sz="4800" b="1" dirty="0" err="1" smtClean="0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a.print</a:t>
            </a:r>
            <a:r>
              <a:rPr lang="en-US" sz="4800" b="1" dirty="0" smtClean="0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( );        </a:t>
            </a:r>
            <a:endParaRPr lang="en-US" sz="4800" b="1"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  <a:p>
            <a:pPr marL="0" indent="0" algn="l" rtl="0">
              <a:buNone/>
            </a:pPr>
            <a:r>
              <a:rPr lang="en-US" dirty="0" smtClean="0"/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265019" y="2997126"/>
            <a:ext cx="864096" cy="476298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>
            <a:off x="5688955" y="6813550"/>
            <a:ext cx="576064" cy="1656184"/>
          </a:xfrm>
          <a:prstGeom prst="righ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Left Brace 9"/>
          <p:cNvSpPr/>
          <p:nvPr/>
        </p:nvSpPr>
        <p:spPr>
          <a:xfrm>
            <a:off x="6984176" y="1772990"/>
            <a:ext cx="576064" cy="1224136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0461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313" y="361162"/>
            <a:ext cx="13091637" cy="835764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Anonymous </a:t>
            </a:r>
            <a:r>
              <a:rPr lang="en-US" sz="6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 in Abstract class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6907" y="1484958"/>
            <a:ext cx="9066098" cy="4608512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en-US" sz="3600" dirty="0" smtClean="0"/>
              <a:t>class </a:t>
            </a:r>
            <a:r>
              <a:rPr lang="en-US" sz="3600" dirty="0" err="1" smtClean="0"/>
              <a:t>TestAnonymousInner</a:t>
            </a:r>
            <a:r>
              <a:rPr lang="en-US" sz="3600" dirty="0" smtClean="0"/>
              <a:t>{</a:t>
            </a:r>
            <a:r>
              <a:rPr lang="en-US" sz="3600" dirty="0"/>
              <a:t>  </a:t>
            </a:r>
          </a:p>
          <a:p>
            <a:pPr marL="0" indent="0" algn="l" rtl="0">
              <a:buNone/>
            </a:pPr>
            <a:r>
              <a:rPr lang="en-US" sz="3600" dirty="0"/>
              <a:t> public static void main(String </a:t>
            </a:r>
            <a:r>
              <a:rPr lang="en-US" sz="3600" dirty="0" err="1"/>
              <a:t>args</a:t>
            </a:r>
            <a:r>
              <a:rPr lang="en-US" sz="3600" dirty="0"/>
              <a:t>[]){  </a:t>
            </a:r>
          </a:p>
          <a:p>
            <a:pPr marL="0" indent="0" algn="l" rtl="0">
              <a:buNone/>
            </a:pPr>
            <a:r>
              <a:rPr lang="en-US" sz="3600" dirty="0"/>
              <a:t>  Person </a:t>
            </a:r>
            <a:r>
              <a:rPr lang="en-US" sz="3600" b="1" dirty="0">
                <a:solidFill>
                  <a:srgbClr val="00B050"/>
                </a:solidFill>
              </a:rPr>
              <a:t>p</a:t>
            </a:r>
            <a:r>
              <a:rPr lang="en-US" sz="3600" dirty="0"/>
              <a:t>=new </a:t>
            </a:r>
            <a:r>
              <a:rPr lang="en-US" sz="3600" b="1" dirty="0">
                <a:solidFill>
                  <a:srgbClr val="FF0000"/>
                </a:solidFill>
              </a:rPr>
              <a:t>Person</a:t>
            </a:r>
            <a:r>
              <a:rPr lang="en-US" sz="3600" dirty="0" smtClean="0"/>
              <a:t>( ) </a:t>
            </a:r>
            <a:r>
              <a:rPr lang="en-US" sz="3600" b="1" dirty="0" smtClean="0">
                <a:solidFill>
                  <a:srgbClr val="00B050"/>
                </a:solidFill>
              </a:rPr>
              <a:t>{</a:t>
            </a:r>
            <a:r>
              <a:rPr lang="en-US" sz="3600" b="1" dirty="0">
                <a:solidFill>
                  <a:srgbClr val="00B050"/>
                </a:solidFill>
              </a:rPr>
              <a:t>  </a:t>
            </a:r>
          </a:p>
          <a:p>
            <a:pPr marL="0" indent="0" algn="l" rtl="0">
              <a:buNone/>
            </a:pPr>
            <a:r>
              <a:rPr lang="en-US" sz="3600" b="1" dirty="0">
                <a:solidFill>
                  <a:srgbClr val="00B050"/>
                </a:solidFill>
              </a:rPr>
              <a:t>  void eat(){</a:t>
            </a:r>
            <a:r>
              <a:rPr lang="en-US" sz="3600" b="1" dirty="0" err="1">
                <a:solidFill>
                  <a:srgbClr val="00B050"/>
                </a:solidFill>
              </a:rPr>
              <a:t>System.out.println</a:t>
            </a:r>
            <a:r>
              <a:rPr lang="en-US" sz="3600" b="1" dirty="0">
                <a:solidFill>
                  <a:srgbClr val="00B050"/>
                </a:solidFill>
              </a:rPr>
              <a:t>("nice fruits");}  </a:t>
            </a:r>
          </a:p>
          <a:p>
            <a:pPr marL="0" indent="0" algn="l" rtl="0">
              <a:buNone/>
            </a:pPr>
            <a:r>
              <a:rPr lang="en-US" sz="3600" b="1" dirty="0">
                <a:solidFill>
                  <a:srgbClr val="00B050"/>
                </a:solidFill>
              </a:rPr>
              <a:t>  };  </a:t>
            </a:r>
          </a:p>
          <a:p>
            <a:pPr marL="0" indent="0" algn="l" rtl="0">
              <a:buNone/>
            </a:pPr>
            <a:r>
              <a:rPr lang="en-US" sz="3600" dirty="0"/>
              <a:t>  </a:t>
            </a:r>
            <a:r>
              <a:rPr lang="en-US" sz="3600" b="1" dirty="0" err="1">
                <a:solidFill>
                  <a:srgbClr val="00B050"/>
                </a:solidFill>
              </a:rPr>
              <a:t>p</a:t>
            </a:r>
            <a:r>
              <a:rPr lang="en-US" sz="3600" dirty="0" err="1"/>
              <a:t>.eat</a:t>
            </a:r>
            <a:r>
              <a:rPr lang="en-US" sz="3600" dirty="0"/>
              <a:t>();  </a:t>
            </a:r>
          </a:p>
          <a:p>
            <a:pPr marL="0" indent="0" algn="l" rtl="0">
              <a:buNone/>
            </a:pPr>
            <a:r>
              <a:rPr lang="en-US" sz="3600" dirty="0"/>
              <a:t> }  </a:t>
            </a:r>
            <a:r>
              <a:rPr lang="en-US" sz="3600" dirty="0" smtClean="0"/>
              <a:t>}</a:t>
            </a:r>
            <a:r>
              <a:rPr lang="en-US" sz="3600" dirty="0"/>
              <a:t>  </a:t>
            </a:r>
          </a:p>
          <a:p>
            <a:pPr marL="0" indent="0" algn="l" rtl="0">
              <a:buNone/>
            </a:pPr>
            <a:endParaRPr lang="ar-EG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47890" y="1484958"/>
            <a:ext cx="475252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en-US" sz="3600" dirty="0"/>
              <a:t>abstract class </a:t>
            </a:r>
            <a:r>
              <a:rPr lang="en-US" sz="3600" b="1" dirty="0">
                <a:solidFill>
                  <a:srgbClr val="FF0000"/>
                </a:solidFill>
              </a:rPr>
              <a:t>Person</a:t>
            </a:r>
            <a:r>
              <a:rPr lang="en-US" sz="3600" dirty="0"/>
              <a:t>{  </a:t>
            </a:r>
          </a:p>
          <a:p>
            <a:r>
              <a:rPr lang="en-US" sz="3600" dirty="0"/>
              <a:t>  abstract void eat();  </a:t>
            </a:r>
          </a:p>
          <a:p>
            <a:r>
              <a:rPr lang="en-US" sz="3600" dirty="0"/>
              <a:t>}  </a:t>
            </a:r>
          </a:p>
          <a:p>
            <a:endParaRPr lang="ar-EG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212939" y="6741542"/>
            <a:ext cx="14113568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en-US" sz="3200" dirty="0"/>
              <a:t>A class is </a:t>
            </a:r>
            <a:r>
              <a:rPr lang="en-US" sz="3200" b="1" dirty="0">
                <a:solidFill>
                  <a:srgbClr val="FF0000"/>
                </a:solidFill>
              </a:rPr>
              <a:t>created</a:t>
            </a:r>
            <a:r>
              <a:rPr lang="en-US" sz="3200" dirty="0"/>
              <a:t>, but its name is </a:t>
            </a:r>
            <a:r>
              <a:rPr lang="en-US" sz="3200" b="1" dirty="0">
                <a:solidFill>
                  <a:srgbClr val="FF0000"/>
                </a:solidFill>
              </a:rPr>
              <a:t>decided</a:t>
            </a:r>
            <a:r>
              <a:rPr lang="en-US" sz="3200" dirty="0"/>
              <a:t> by the </a:t>
            </a:r>
            <a:r>
              <a:rPr lang="en-US" sz="3200" b="1" dirty="0">
                <a:solidFill>
                  <a:srgbClr val="FF0000"/>
                </a:solidFill>
              </a:rPr>
              <a:t>compiler</a:t>
            </a:r>
            <a:r>
              <a:rPr lang="en-US" sz="3200" dirty="0"/>
              <a:t>, which extends the Person class and provides the implementation of the eat() method.</a:t>
            </a:r>
          </a:p>
          <a:p>
            <a:pPr algn="just"/>
            <a:endParaRPr lang="en-US" sz="3200" dirty="0"/>
          </a:p>
          <a:p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338424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Anonymous </a:t>
            </a:r>
            <a:r>
              <a:rPr 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 implementing Interface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403" y="1989014"/>
            <a:ext cx="13091637" cy="6768752"/>
          </a:xfrm>
          <a:ln>
            <a:solidFill>
              <a:srgbClr val="FF0000"/>
            </a:solidFill>
          </a:ln>
        </p:spPr>
        <p:txBody>
          <a:bodyPr>
            <a:normAutofit fontScale="85000" lnSpcReduction="20000"/>
          </a:bodyPr>
          <a:lstStyle/>
          <a:p>
            <a:pPr marL="0" indent="0" algn="l" rtl="0">
              <a:buNone/>
            </a:pPr>
            <a:r>
              <a:rPr lang="en-US" dirty="0"/>
              <a:t> interface Eatable{  </a:t>
            </a:r>
          </a:p>
          <a:p>
            <a:pPr marL="0" indent="0" algn="l" rtl="0">
              <a:buNone/>
            </a:pPr>
            <a:r>
              <a:rPr lang="en-US" dirty="0"/>
              <a:t>     void eat</a:t>
            </a:r>
            <a:r>
              <a:rPr lang="en-US" dirty="0" smtClean="0"/>
              <a:t>( );  </a:t>
            </a:r>
            <a:endParaRPr lang="en-US" dirty="0"/>
          </a:p>
          <a:p>
            <a:pPr marL="0" indent="0" algn="l" rtl="0">
              <a:buNone/>
            </a:pPr>
            <a:r>
              <a:rPr lang="en-US" dirty="0"/>
              <a:t>    }  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</a:p>
          <a:p>
            <a:pPr marL="0" indent="0" algn="l" rtl="0">
              <a:buNone/>
            </a:pPr>
            <a:r>
              <a:rPr lang="en-US" dirty="0"/>
              <a:t>     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 algn="l" rtl="0">
              <a:buNone/>
            </a:pPr>
            <a:r>
              <a:rPr lang="en-US" dirty="0"/>
              <a:t>     Eatable </a:t>
            </a:r>
            <a:r>
              <a:rPr lang="en-US" b="1" dirty="0">
                <a:solidFill>
                  <a:srgbClr val="00B050"/>
                </a:solidFill>
              </a:rPr>
              <a:t>e</a:t>
            </a:r>
            <a:r>
              <a:rPr lang="en-US" dirty="0"/>
              <a:t>=new </a:t>
            </a:r>
            <a:r>
              <a:rPr lang="en-US" b="1" dirty="0">
                <a:solidFill>
                  <a:srgbClr val="FF0000"/>
                </a:solidFill>
              </a:rPr>
              <a:t>Eatable</a:t>
            </a:r>
            <a:r>
              <a:rPr lang="en-US" dirty="0" smtClean="0"/>
              <a:t>( ) </a:t>
            </a:r>
            <a:r>
              <a:rPr lang="en-US" b="1" dirty="0" smtClean="0">
                <a:solidFill>
                  <a:srgbClr val="00B050"/>
                </a:solidFill>
              </a:rPr>
              <a:t>{  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rgbClr val="00B050"/>
                </a:solidFill>
              </a:rPr>
              <a:t>      public void eat(){</a:t>
            </a:r>
            <a:r>
              <a:rPr lang="en-US" b="1" dirty="0" err="1">
                <a:solidFill>
                  <a:srgbClr val="00B050"/>
                </a:solidFill>
              </a:rPr>
              <a:t>System.out.println</a:t>
            </a:r>
            <a:r>
              <a:rPr lang="en-US" b="1" dirty="0">
                <a:solidFill>
                  <a:srgbClr val="00B050"/>
                </a:solidFill>
              </a:rPr>
              <a:t>("nice fruits");}  </a:t>
            </a:r>
          </a:p>
          <a:p>
            <a:pPr marL="0" indent="0" algn="l" rtl="0">
              <a:buNone/>
            </a:pPr>
            <a:r>
              <a:rPr lang="en-US" b="1" dirty="0">
                <a:solidFill>
                  <a:srgbClr val="00B050"/>
                </a:solidFill>
              </a:rPr>
              <a:t>     };  </a:t>
            </a:r>
          </a:p>
          <a:p>
            <a:pPr marL="0" indent="0" algn="l" rtl="0">
              <a:buNone/>
            </a:pPr>
            <a:r>
              <a:rPr lang="en-US" dirty="0"/>
              <a:t>     </a:t>
            </a:r>
            <a:r>
              <a:rPr lang="en-US" b="1" dirty="0" err="1">
                <a:solidFill>
                  <a:srgbClr val="00B050"/>
                </a:solidFill>
              </a:rPr>
              <a:t>e</a:t>
            </a:r>
            <a:r>
              <a:rPr lang="en-US" dirty="0" err="1"/>
              <a:t>.eat</a:t>
            </a:r>
            <a:r>
              <a:rPr lang="en-US" dirty="0"/>
              <a:t>();  </a:t>
            </a:r>
          </a:p>
          <a:p>
            <a:pPr marL="0" indent="0" algn="l" rtl="0">
              <a:buNone/>
            </a:pPr>
            <a:r>
              <a:rPr lang="en-US" dirty="0"/>
              <a:t>     }  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smtClean="0"/>
              <a:t> 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7752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363" y="1412950"/>
            <a:ext cx="13386579" cy="5951851"/>
          </a:xfrm>
        </p:spPr>
        <p:txBody>
          <a:bodyPr>
            <a:normAutofit fontScale="85000" lnSpcReduction="10000"/>
          </a:bodyPr>
          <a:lstStyle/>
          <a:p>
            <a:pPr marL="0" indent="0" algn="just" rtl="0">
              <a:buNone/>
            </a:pPr>
            <a:r>
              <a:rPr lang="en-US" sz="4000" dirty="0"/>
              <a:t>Lambda expressions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are similar to methods</a:t>
            </a:r>
            <a:r>
              <a:rPr lang="en-US" sz="4000" b="1" dirty="0"/>
              <a:t>, </a:t>
            </a:r>
            <a:r>
              <a:rPr lang="en-US" sz="4000" dirty="0"/>
              <a:t>but they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do not need a name </a:t>
            </a:r>
            <a:r>
              <a:rPr lang="en-US" sz="4400" dirty="0" smtClean="0"/>
              <a:t>Java </a:t>
            </a:r>
            <a:r>
              <a:rPr lang="en-US" sz="4400" dirty="0"/>
              <a:t>lambda expression is consisted of three components</a:t>
            </a:r>
            <a:r>
              <a:rPr lang="en-US" sz="4400" dirty="0" smtClean="0"/>
              <a:t>.</a:t>
            </a:r>
          </a:p>
          <a:p>
            <a:pPr marL="0" indent="0" algn="just" rtl="0">
              <a:buNone/>
            </a:pPr>
            <a:endParaRPr lang="en-US" sz="4400" dirty="0"/>
          </a:p>
          <a:p>
            <a:pPr marL="742950" indent="-742950" algn="just" rtl="0">
              <a:buAutoNum type="arabicParenR"/>
            </a:pPr>
            <a:r>
              <a:rPr lang="en-US" sz="4400" b="1" dirty="0" smtClean="0">
                <a:solidFill>
                  <a:srgbClr val="FF0000"/>
                </a:solidFill>
              </a:rPr>
              <a:t>Argument-list</a:t>
            </a:r>
            <a:r>
              <a:rPr lang="en-US" sz="4400" b="1" dirty="0"/>
              <a:t>:</a:t>
            </a:r>
            <a:r>
              <a:rPr lang="en-US" sz="4400" dirty="0"/>
              <a:t> It can be empty or non-empty as well</a:t>
            </a:r>
            <a:r>
              <a:rPr lang="en-US" sz="4400" dirty="0" smtClean="0"/>
              <a:t>.</a:t>
            </a:r>
          </a:p>
          <a:p>
            <a:pPr marL="742950" indent="-742950" algn="just" rtl="0">
              <a:buAutoNum type="arabicParenR"/>
            </a:pPr>
            <a:endParaRPr lang="en-US" sz="4400" dirty="0"/>
          </a:p>
          <a:p>
            <a:pPr marL="0" indent="0" algn="just" rtl="0">
              <a:buNone/>
            </a:pPr>
            <a:r>
              <a:rPr lang="en-US" sz="4400" b="1" dirty="0">
                <a:solidFill>
                  <a:srgbClr val="0070C0"/>
                </a:solidFill>
              </a:rPr>
              <a:t>2) Arrow-token</a:t>
            </a:r>
            <a:r>
              <a:rPr lang="en-US" sz="4400" b="1" dirty="0"/>
              <a:t>:</a:t>
            </a:r>
            <a:r>
              <a:rPr lang="en-US" sz="4400" dirty="0"/>
              <a:t> It is used to link arguments-list and body of expression</a:t>
            </a:r>
            <a:r>
              <a:rPr lang="en-US" sz="4400" dirty="0" smtClean="0"/>
              <a:t>.</a:t>
            </a:r>
          </a:p>
          <a:p>
            <a:pPr marL="0" indent="0" algn="just" rtl="0">
              <a:buNone/>
            </a:pPr>
            <a:endParaRPr lang="en-US" sz="4400" dirty="0"/>
          </a:p>
          <a:p>
            <a:pPr marL="0" indent="0" algn="just" rtl="0">
              <a:buNone/>
            </a:pPr>
            <a:r>
              <a:rPr lang="en-US" sz="4400" b="1" dirty="0">
                <a:solidFill>
                  <a:srgbClr val="00B050"/>
                </a:solidFill>
              </a:rPr>
              <a:t>3) Body</a:t>
            </a:r>
            <a:r>
              <a:rPr lang="en-US" sz="4400" b="1" dirty="0"/>
              <a:t>:</a:t>
            </a:r>
            <a:r>
              <a:rPr lang="en-US" sz="4400" dirty="0"/>
              <a:t> It contains expressions and statements for lambda expression.</a:t>
            </a:r>
          </a:p>
          <a:p>
            <a:pPr marL="0" indent="0" algn="just" rtl="0">
              <a:buNone/>
            </a:pPr>
            <a:endParaRPr lang="ar-EG" sz="4400" dirty="0"/>
          </a:p>
        </p:txBody>
      </p:sp>
      <p:sp>
        <p:nvSpPr>
          <p:cNvPr id="5" name="Rectangle 4"/>
          <p:cNvSpPr/>
          <p:nvPr/>
        </p:nvSpPr>
        <p:spPr>
          <a:xfrm>
            <a:off x="4045538" y="332830"/>
            <a:ext cx="64556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lambda expression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2371" y="7557750"/>
            <a:ext cx="13249472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(</a:t>
            </a:r>
            <a:r>
              <a:rPr lang="en-US" sz="4400" b="1" dirty="0" smtClean="0">
                <a:solidFill>
                  <a:srgbClr val="FF0000"/>
                </a:solidFill>
              </a:rPr>
              <a:t>p1,p2,…)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</a:rPr>
              <a:t> </a:t>
            </a:r>
            <a:r>
              <a:rPr lang="en-US" sz="44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</a:rPr>
              <a:t>-&gt;</a:t>
            </a:r>
            <a:r>
              <a:rPr lang="en-US" sz="44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</a:rPr>
              <a:t> </a:t>
            </a:r>
            <a:r>
              <a:rPr lang="en-US" sz="4400" b="1" dirty="0">
                <a:solidFill>
                  <a:srgbClr val="00B050"/>
                </a:solidFill>
              </a:rPr>
              <a:t>{ </a:t>
            </a:r>
            <a:r>
              <a:rPr lang="en-US" sz="4400" b="1" dirty="0" smtClean="0">
                <a:solidFill>
                  <a:srgbClr val="00B050"/>
                </a:solidFill>
              </a:rPr>
              <a:t>…….}</a:t>
            </a:r>
            <a:endParaRPr lang="ar-EG" sz="4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25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12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lambda exp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9" y="2061022"/>
            <a:ext cx="124015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45538" y="794495"/>
            <a:ext cx="64556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lambda expression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4419" y="7242116"/>
            <a:ext cx="1303344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 smtClean="0">
                <a:solidFill>
                  <a:srgbClr val="7030A0"/>
                </a:solidFill>
              </a:rPr>
              <a:t>Return type </a:t>
            </a: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Method name </a:t>
            </a:r>
            <a:r>
              <a:rPr lang="en-US" sz="3600" b="1" dirty="0" smtClean="0">
                <a:solidFill>
                  <a:srgbClr val="FF0000"/>
                </a:solidFill>
              </a:rPr>
              <a:t>(Arguments) </a:t>
            </a:r>
            <a:r>
              <a:rPr lang="en-US" sz="3600" dirty="0" smtClean="0"/>
              <a:t>{ </a:t>
            </a:r>
            <a:r>
              <a:rPr lang="en-US" sz="3600" b="1" dirty="0" smtClean="0">
                <a:solidFill>
                  <a:srgbClr val="00B050"/>
                </a:solidFill>
              </a:rPr>
              <a:t>implementation</a:t>
            </a:r>
            <a:r>
              <a:rPr lang="en-US" sz="3600" dirty="0" smtClean="0"/>
              <a:t>} </a:t>
            </a:r>
            <a:endParaRPr lang="ar-EG" sz="3600" dirty="0"/>
          </a:p>
        </p:txBody>
      </p:sp>
      <p:sp>
        <p:nvSpPr>
          <p:cNvPr id="10" name="Rectangle 9"/>
          <p:cNvSpPr/>
          <p:nvPr/>
        </p:nvSpPr>
        <p:spPr>
          <a:xfrm>
            <a:off x="4320803" y="5517406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Traditional method</a:t>
            </a:r>
            <a:endParaRPr lang="ar-E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018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27525" y="1700982"/>
            <a:ext cx="13091637" cy="6480720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3200" dirty="0"/>
              <a:t>interface </a:t>
            </a:r>
            <a:r>
              <a:rPr lang="en-US" sz="3200" b="1" dirty="0">
                <a:solidFill>
                  <a:srgbClr val="FF0000"/>
                </a:solidFill>
              </a:rPr>
              <a:t>Functional </a:t>
            </a:r>
            <a:r>
              <a:rPr lang="en-US" sz="3200" dirty="0"/>
              <a:t>{</a:t>
            </a:r>
          </a:p>
          <a:p>
            <a:pPr marL="0" indent="0" algn="l" rtl="0">
              <a:buNone/>
            </a:pPr>
            <a:r>
              <a:rPr lang="en-US" sz="3200" dirty="0"/>
              <a:t>    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operation</a:t>
            </a:r>
            <a:r>
              <a:rPr lang="en-US" sz="3200" dirty="0"/>
              <a:t>(</a:t>
            </a:r>
            <a:r>
              <a:rPr lang="en-US" sz="3200" dirty="0" err="1"/>
              <a:t>int</a:t>
            </a:r>
            <a:r>
              <a:rPr lang="en-US" sz="3200" dirty="0"/>
              <a:t> a, </a:t>
            </a:r>
            <a:r>
              <a:rPr lang="en-US" sz="3200" dirty="0" err="1"/>
              <a:t>int</a:t>
            </a:r>
            <a:r>
              <a:rPr lang="en-US" sz="3200" dirty="0"/>
              <a:t> b);</a:t>
            </a:r>
          </a:p>
          <a:p>
            <a:pPr marL="0" indent="0" algn="l" rtl="0">
              <a:buNone/>
            </a:pPr>
            <a:r>
              <a:rPr lang="en-US" sz="3200" dirty="0" smtClean="0"/>
              <a:t>}</a:t>
            </a:r>
            <a:endParaRPr lang="en-US" sz="3200" dirty="0"/>
          </a:p>
          <a:p>
            <a:pPr marL="0" indent="0" algn="l" rtl="0">
              <a:buNone/>
            </a:pPr>
            <a:r>
              <a:rPr lang="en-US" sz="3200" dirty="0"/>
              <a:t>public class Test </a:t>
            </a:r>
            <a:r>
              <a:rPr lang="en-US" sz="3200" dirty="0" smtClean="0"/>
              <a:t>{</a:t>
            </a:r>
            <a:endParaRPr lang="en-US" sz="3200" dirty="0"/>
          </a:p>
          <a:p>
            <a:pPr marL="0" indent="0" algn="l" rtl="0">
              <a:buNone/>
            </a:pPr>
            <a:r>
              <a:rPr lang="en-US" sz="3200" dirty="0"/>
              <a:t>    public static void main(String[] </a:t>
            </a:r>
            <a:r>
              <a:rPr lang="en-US" sz="3200" dirty="0" err="1"/>
              <a:t>args</a:t>
            </a:r>
            <a:r>
              <a:rPr lang="en-US" sz="3200" dirty="0"/>
              <a:t>) </a:t>
            </a:r>
            <a:r>
              <a:rPr lang="en-US" sz="3200" dirty="0" smtClean="0"/>
              <a:t>{</a:t>
            </a:r>
            <a:endParaRPr lang="en-US" sz="3200" dirty="0"/>
          </a:p>
          <a:p>
            <a:pPr marL="0" indent="0" algn="l" rtl="0">
              <a:buNone/>
            </a:pPr>
            <a:r>
              <a:rPr lang="en-US" sz="3200" dirty="0" smtClean="0"/>
              <a:t>        </a:t>
            </a:r>
            <a:r>
              <a:rPr lang="en-US" sz="3200" b="1" dirty="0" smtClean="0">
                <a:solidFill>
                  <a:srgbClr val="FF0000"/>
                </a:solidFill>
              </a:rPr>
              <a:t>Functional    </a:t>
            </a:r>
            <a:r>
              <a:rPr lang="en-US" sz="3200" b="1" dirty="0" smtClean="0">
                <a:solidFill>
                  <a:srgbClr val="FFC000"/>
                </a:solidFill>
              </a:rPr>
              <a:t>add </a:t>
            </a:r>
            <a:r>
              <a:rPr lang="en-US" sz="3200" dirty="0" smtClean="0"/>
              <a:t>         =     </a:t>
            </a:r>
            <a:r>
              <a:rPr lang="en-US" sz="3200" b="1" dirty="0" smtClean="0">
                <a:solidFill>
                  <a:srgbClr val="FF0000"/>
                </a:solidFill>
              </a:rPr>
              <a:t>(</a:t>
            </a:r>
            <a:r>
              <a:rPr lang="en-US" sz="3200" b="1" dirty="0">
                <a:solidFill>
                  <a:srgbClr val="FF0000"/>
                </a:solidFill>
              </a:rPr>
              <a:t>a, b) 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-&gt; 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B050"/>
                </a:solidFill>
              </a:rPr>
              <a:t>a </a:t>
            </a:r>
            <a:r>
              <a:rPr lang="en-US" sz="3200" dirty="0">
                <a:solidFill>
                  <a:srgbClr val="00B050"/>
                </a:solidFill>
              </a:rPr>
              <a:t>+ b</a:t>
            </a:r>
            <a:r>
              <a:rPr lang="en-US" sz="3200" dirty="0"/>
              <a:t>;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b="1" dirty="0">
                <a:solidFill>
                  <a:srgbClr val="FF0000"/>
                </a:solidFill>
              </a:rPr>
              <a:t>Functional</a:t>
            </a:r>
            <a:r>
              <a:rPr lang="en-US" sz="3200" dirty="0"/>
              <a:t> </a:t>
            </a:r>
            <a:r>
              <a:rPr lang="en-US" sz="3200" dirty="0" smtClean="0"/>
              <a:t>   </a:t>
            </a:r>
            <a:r>
              <a:rPr lang="en-US" sz="3200" b="1" dirty="0" smtClean="0">
                <a:solidFill>
                  <a:srgbClr val="FFC000"/>
                </a:solidFill>
              </a:rPr>
              <a:t>multiply</a:t>
            </a:r>
            <a:r>
              <a:rPr lang="en-US" sz="3200" dirty="0" smtClean="0"/>
              <a:t>  =     </a:t>
            </a:r>
            <a:r>
              <a:rPr lang="en-US" sz="3200" b="1" dirty="0" smtClean="0">
                <a:solidFill>
                  <a:srgbClr val="FF0000"/>
                </a:solidFill>
              </a:rPr>
              <a:t>(a</a:t>
            </a:r>
            <a:r>
              <a:rPr lang="en-US" sz="3200" b="1" dirty="0">
                <a:solidFill>
                  <a:srgbClr val="FF0000"/>
                </a:solidFill>
              </a:rPr>
              <a:t>, b) 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-&gt; 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B050"/>
                </a:solidFill>
              </a:rPr>
              <a:t>a </a:t>
            </a:r>
            <a:r>
              <a:rPr lang="en-US" sz="3200" dirty="0">
                <a:solidFill>
                  <a:srgbClr val="00B050"/>
                </a:solidFill>
              </a:rPr>
              <a:t>* b</a:t>
            </a:r>
            <a:r>
              <a:rPr lang="en-US" sz="3200" dirty="0" smtClean="0">
                <a:solidFill>
                  <a:srgbClr val="00B050"/>
                </a:solidFill>
              </a:rPr>
              <a:t>;</a:t>
            </a:r>
            <a:endParaRPr lang="en-US" sz="3200" dirty="0">
              <a:solidFill>
                <a:srgbClr val="00B050"/>
              </a:solidFill>
            </a:endParaRPr>
          </a:p>
          <a:p>
            <a:pPr marL="0" indent="0" algn="l" rtl="0">
              <a:buNone/>
            </a:pPr>
            <a:r>
              <a:rPr lang="en-US" sz="3200" dirty="0" smtClean="0"/>
              <a:t>        </a:t>
            </a:r>
            <a:r>
              <a:rPr lang="en-US" sz="3200" b="1" dirty="0" err="1" smtClean="0"/>
              <a:t>System.out.println</a:t>
            </a:r>
            <a:r>
              <a:rPr lang="en-US" sz="3200" b="1" dirty="0" smtClean="0"/>
              <a:t>(</a:t>
            </a:r>
            <a:r>
              <a:rPr lang="en-US" sz="3200" b="1" dirty="0" err="1" smtClean="0">
                <a:solidFill>
                  <a:srgbClr val="FFC000"/>
                </a:solidFill>
              </a:rPr>
              <a:t>add</a:t>
            </a:r>
            <a:r>
              <a:rPr lang="en-US" sz="3200" b="1" dirty="0" err="1" smtClean="0"/>
              <a:t>.</a:t>
            </a:r>
            <a:r>
              <a:rPr lang="en-US" sz="3200" b="1" dirty="0" err="1" smtClean="0">
                <a:solidFill>
                  <a:schemeClr val="accent6">
                    <a:lumMod val="50000"/>
                  </a:schemeClr>
                </a:solidFill>
              </a:rPr>
              <a:t>operation</a:t>
            </a:r>
            <a:r>
              <a:rPr lang="en-US" sz="3200" b="1" dirty="0" smtClean="0"/>
              <a:t>(6</a:t>
            </a:r>
            <a:r>
              <a:rPr lang="en-US" sz="3200" dirty="0"/>
              <a:t>, 3));  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System.out.println</a:t>
            </a:r>
            <a:r>
              <a:rPr lang="en-US" sz="3200" dirty="0"/>
              <a:t>(</a:t>
            </a:r>
            <a:r>
              <a:rPr lang="en-US" sz="3200" b="1" dirty="0" err="1">
                <a:solidFill>
                  <a:srgbClr val="FFC000"/>
                </a:solidFill>
              </a:rPr>
              <a:t>multiply</a:t>
            </a:r>
            <a:r>
              <a:rPr lang="en-US" sz="3200" dirty="0" err="1"/>
              <a:t>.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operation</a:t>
            </a:r>
            <a:r>
              <a:rPr lang="en-US" sz="3200" dirty="0"/>
              <a:t>(4, 5));  </a:t>
            </a:r>
          </a:p>
          <a:p>
            <a:pPr marL="0" indent="0" algn="l" rtl="0">
              <a:buNone/>
            </a:pPr>
            <a:r>
              <a:rPr lang="en-US" sz="3200" dirty="0"/>
              <a:t>    }</a:t>
            </a:r>
          </a:p>
          <a:p>
            <a:pPr marL="0" indent="0" algn="l" rtl="0">
              <a:buNone/>
            </a:pPr>
            <a:r>
              <a:rPr lang="en-US" sz="3200" dirty="0"/>
              <a:t>}</a:t>
            </a:r>
            <a:endParaRPr lang="ar-EG" sz="3200" dirty="0"/>
          </a:p>
        </p:txBody>
      </p:sp>
      <p:sp>
        <p:nvSpPr>
          <p:cNvPr id="8" name="Rectangle 7"/>
          <p:cNvSpPr/>
          <p:nvPr/>
        </p:nvSpPr>
        <p:spPr>
          <a:xfrm>
            <a:off x="3366529" y="188814"/>
            <a:ext cx="873829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lambda </a:t>
            </a:r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expressions </a:t>
            </a:r>
          </a:p>
          <a:p>
            <a:pPr algn="ctr"/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are commonly used with interfaces</a:t>
            </a:r>
            <a:endParaRPr lang="ar-EG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12631" y="6381502"/>
            <a:ext cx="338437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/>
              <a:t>9</a:t>
            </a:r>
          </a:p>
          <a:p>
            <a:r>
              <a:rPr lang="en-US" dirty="0" smtClean="0"/>
              <a:t>20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7321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14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21011" y="2493070"/>
            <a:ext cx="11449272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8000" dirty="0" smtClean="0">
                <a:solidFill>
                  <a:srgbClr val="FF0000"/>
                </a:solidFill>
              </a:rPr>
              <a:t>UML diagrams</a:t>
            </a:r>
          </a:p>
          <a:p>
            <a:r>
              <a:rPr lang="en-US" sz="8000" dirty="0" smtClean="0">
                <a:solidFill>
                  <a:srgbClr val="FF0000"/>
                </a:solidFill>
              </a:rPr>
              <a:t>1. Class Diagram</a:t>
            </a:r>
            <a:endParaRPr lang="en-US" sz="8000" dirty="0" smtClean="0">
              <a:solidFill>
                <a:srgbClr val="FF0000"/>
              </a:solidFill>
            </a:endParaRPr>
          </a:p>
          <a:p>
            <a:r>
              <a:rPr lang="en-US" sz="8000" dirty="0" smtClean="0">
                <a:solidFill>
                  <a:srgbClr val="FF0000"/>
                </a:solidFill>
              </a:rPr>
              <a:t>2. </a:t>
            </a:r>
            <a:r>
              <a:rPr lang="en-US" sz="8000" dirty="0" smtClean="0">
                <a:solidFill>
                  <a:srgbClr val="FF0000"/>
                </a:solidFill>
              </a:rPr>
              <a:t>Sequence diagram</a:t>
            </a:r>
            <a:endParaRPr lang="ar-EG" sz="8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70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15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951" y="5301382"/>
            <a:ext cx="10585176" cy="345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2371" y="188814"/>
            <a:ext cx="13465496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object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An </a:t>
            </a:r>
            <a:r>
              <a:rPr lang="en-US" sz="2400" dirty="0">
                <a:solidFill>
                  <a:srgbClr val="FF0000"/>
                </a:solidFill>
              </a:rPr>
              <a:t>object </a:t>
            </a:r>
            <a:r>
              <a:rPr lang="en-US" sz="2400" dirty="0"/>
              <a:t>in a sequence diagram is drawn as a </a:t>
            </a:r>
            <a:r>
              <a:rPr lang="en-US" sz="2400" dirty="0">
                <a:solidFill>
                  <a:srgbClr val="FF0000"/>
                </a:solidFill>
              </a:rPr>
              <a:t>rectangle</a:t>
            </a:r>
            <a:r>
              <a:rPr lang="en-US" sz="2400" dirty="0"/>
              <a:t> containing the name of the </a:t>
            </a:r>
            <a:r>
              <a:rPr lang="en-US" sz="2400" dirty="0" smtClean="0"/>
              <a:t>object.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An </a:t>
            </a:r>
            <a:r>
              <a:rPr lang="en-US" sz="2400" dirty="0"/>
              <a:t>object can be named in one of three ways: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the </a:t>
            </a:r>
            <a:r>
              <a:rPr lang="en-US" sz="2400" dirty="0">
                <a:solidFill>
                  <a:srgbClr val="FF0000"/>
                </a:solidFill>
              </a:rPr>
              <a:t>object name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class name </a:t>
            </a:r>
            <a:r>
              <a:rPr lang="en-US" sz="2400" dirty="0" smtClean="0"/>
              <a:t>or </a:t>
            </a:r>
            <a:r>
              <a:rPr lang="en-US" sz="2400" dirty="0">
                <a:solidFill>
                  <a:srgbClr val="FF0000"/>
                </a:solidFill>
              </a:rPr>
              <a:t>object name and its </a:t>
            </a:r>
            <a:r>
              <a:rPr lang="en-US" sz="2400" dirty="0" smtClean="0">
                <a:solidFill>
                  <a:srgbClr val="FF0000"/>
                </a:solidFill>
              </a:rPr>
              <a:t>class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Lifeline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smtClean="0"/>
              <a:t>A </a:t>
            </a:r>
            <a:r>
              <a:rPr lang="en-US" sz="2400" dirty="0"/>
              <a:t>lifeline is represented by </a:t>
            </a:r>
            <a:r>
              <a:rPr lang="en-US" sz="2400" dirty="0">
                <a:solidFill>
                  <a:srgbClr val="FF0000"/>
                </a:solidFill>
              </a:rPr>
              <a:t>dashed vertical line </a:t>
            </a:r>
            <a:r>
              <a:rPr lang="en-US" sz="2400" dirty="0"/>
              <a:t>drawn below each object. </a:t>
            </a:r>
          </a:p>
          <a:p>
            <a:pPr>
              <a:lnSpc>
                <a:spcPct val="150000"/>
              </a:lnSpc>
            </a:pP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256394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16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667" y="5877446"/>
            <a:ext cx="8640960" cy="208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Lifelines with synchronous mess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635" y="2536510"/>
            <a:ext cx="9217024" cy="182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440483" y="1151514"/>
            <a:ext cx="113052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1.A </a:t>
            </a:r>
            <a:r>
              <a:rPr lang="en-US" b="1" dirty="0"/>
              <a:t>synchronous message</a:t>
            </a:r>
            <a:r>
              <a:rPr lang="en-US" dirty="0"/>
              <a:t> (typically an operation call) is shown as a solid line with a filled arrowhead. It is a regular message call used for normal communication between sender and receiver</a:t>
            </a:r>
            <a:r>
              <a:rPr lang="en-US" dirty="0" smtClean="0"/>
              <a:t>.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4" name="TextBox 3"/>
          <p:cNvSpPr txBox="1"/>
          <p:nvPr/>
        </p:nvSpPr>
        <p:spPr>
          <a:xfrm>
            <a:off x="1728515" y="4571142"/>
            <a:ext cx="12241360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1.1 A return </a:t>
            </a:r>
            <a:r>
              <a:rPr lang="en-US" b="1" dirty="0"/>
              <a:t>message</a:t>
            </a:r>
            <a:r>
              <a:rPr lang="en-US" dirty="0"/>
              <a:t> uses a dashed line with an open arrowhead.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70526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17</a:t>
            </a:fld>
            <a:endParaRPr lang="en-US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196925"/>
            <a:ext cx="14039850" cy="737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5134" y="269863"/>
            <a:ext cx="1371587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 smtClean="0"/>
              <a:t>Sequence diagram for an online system consists of three classes (Customer, order, stock)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33609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C++</a:t>
            </a:r>
            <a:endParaRPr lang="en-US" dirty="0"/>
          </a:p>
        </p:txBody>
      </p:sp>
      <p:sp>
        <p:nvSpPr>
          <p:cNvPr id="4" name="AutoShape 2" descr="screenshot of the top ten programming languages app"/>
          <p:cNvSpPr>
            <a:spLocks noChangeAspect="1" noChangeArrowheads="1"/>
          </p:cNvSpPr>
          <p:nvPr/>
        </p:nvSpPr>
        <p:spPr bwMode="auto">
          <a:xfrm>
            <a:off x="146178" y="-133772"/>
            <a:ext cx="286391" cy="28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5432" tIns="42716" rIns="85432" bIns="4271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99" y="2042160"/>
            <a:ext cx="13058161" cy="657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99118" y="2042160"/>
            <a:ext cx="8312300" cy="6579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60823" y="2042160"/>
            <a:ext cx="9590467" cy="6517640"/>
          </a:xfrm>
        </p:spPr>
        <p:txBody>
          <a:bodyPr>
            <a:normAutofit fontScale="92500" lnSpcReduction="10000"/>
          </a:bodyPr>
          <a:lstStyle/>
          <a:p>
            <a:pPr algn="just" rtl="0"/>
            <a:r>
              <a:rPr lang="en-US" sz="3700" dirty="0"/>
              <a:t>C++ ranks </a:t>
            </a:r>
            <a:r>
              <a:rPr lang="en-US" sz="3700" b="1" dirty="0">
                <a:solidFill>
                  <a:srgbClr val="FF0000"/>
                </a:solidFill>
              </a:rPr>
              <a:t>2nd</a:t>
            </a:r>
            <a:r>
              <a:rPr lang="en-US" sz="3700" dirty="0"/>
              <a:t> </a:t>
            </a:r>
            <a:r>
              <a:rPr lang="en-US" sz="3700" dirty="0"/>
              <a:t>in popularity according to </a:t>
            </a:r>
            <a:r>
              <a:rPr lang="en-US" sz="3700" dirty="0"/>
              <a:t>2024 </a:t>
            </a:r>
            <a:r>
              <a:rPr lang="en-US" sz="3700" dirty="0"/>
              <a:t>IEEE spectrum Top Programming Language ranking. </a:t>
            </a:r>
            <a:endParaRPr lang="en-US" sz="3700" dirty="0"/>
          </a:p>
          <a:p>
            <a:pPr algn="just" rtl="0"/>
            <a:endParaRPr lang="en-US" sz="3700" dirty="0"/>
          </a:p>
          <a:p>
            <a:pPr algn="just" rtl="0"/>
            <a:r>
              <a:rPr lang="en-US" sz="3700" dirty="0"/>
              <a:t>Middle level programming language, allowing developers to achieve high performance.</a:t>
            </a:r>
          </a:p>
          <a:p>
            <a:pPr algn="just" rtl="0"/>
            <a:endParaRPr lang="en-US" sz="3700" dirty="0"/>
          </a:p>
          <a:p>
            <a:pPr algn="just" rtl="0"/>
            <a:r>
              <a:rPr lang="en-US" sz="3700" dirty="0"/>
              <a:t>Small object code size </a:t>
            </a:r>
          </a:p>
          <a:p>
            <a:pPr marL="0" indent="0" algn="just" rtl="0">
              <a:buNone/>
            </a:pPr>
            <a:r>
              <a:rPr lang="en-US" sz="3700" dirty="0"/>
              <a:t>(solve memory problems)</a:t>
            </a:r>
          </a:p>
          <a:p>
            <a:pPr algn="just" rtl="0"/>
            <a:endParaRPr lang="en-US" sz="3700" dirty="0"/>
          </a:p>
          <a:p>
            <a:pPr algn="just" rtl="0"/>
            <a:r>
              <a:rPr lang="en-US" sz="3700" dirty="0"/>
              <a:t>Facilities to write the same operation in different ways.</a:t>
            </a:r>
          </a:p>
          <a:p>
            <a:pPr algn="just" rtl="0"/>
            <a:endParaRPr lang="en-US" sz="3700" dirty="0"/>
          </a:p>
          <a:p>
            <a:pPr algn="just" rtl="0"/>
            <a:endParaRPr lang="ar-EG" sz="3700" dirty="0"/>
          </a:p>
        </p:txBody>
      </p:sp>
    </p:spTree>
    <p:extLst>
      <p:ext uri="{BB962C8B-B14F-4D97-AF65-F5344CB8AC3E}">
        <p14:creationId xmlns:p14="http://schemas.microsoft.com/office/powerpoint/2010/main" val="323796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 rtl="0"/>
            <a:r>
              <a:rPr lang="en-US" dirty="0" smtClean="0"/>
              <a:t>Fully compiled language (changed from high level codes to machine code)</a:t>
            </a:r>
          </a:p>
          <a:p>
            <a:pPr algn="just" rtl="0"/>
            <a:endParaRPr lang="en-US" dirty="0" smtClean="0"/>
          </a:p>
          <a:p>
            <a:pPr algn="just" rtl="0"/>
            <a:r>
              <a:rPr lang="en-US" dirty="0" smtClean="0"/>
              <a:t>Can </a:t>
            </a:r>
            <a:r>
              <a:rPr lang="en-US" dirty="0"/>
              <a:t>directly manipulate the hardware (or machine) that it runs on, </a:t>
            </a:r>
            <a:r>
              <a:rPr lang="en-US" dirty="0" smtClean="0"/>
              <a:t>run </a:t>
            </a:r>
            <a:r>
              <a:rPr lang="en-US" dirty="0"/>
              <a:t>efficiently in any environment, even when there’s limited hardware space or energy available to power the application</a:t>
            </a:r>
            <a:r>
              <a:rPr lang="en-US" dirty="0" smtClean="0"/>
              <a:t>.</a:t>
            </a:r>
          </a:p>
          <a:p>
            <a:pPr algn="just" rtl="0"/>
            <a:endParaRPr lang="en-US" dirty="0"/>
          </a:p>
          <a:p>
            <a:pPr algn="just" rtl="0"/>
            <a:r>
              <a:rPr lang="en-US" dirty="0" smtClean="0"/>
              <a:t> </a:t>
            </a:r>
            <a:r>
              <a:rPr lang="en-US" dirty="0"/>
              <a:t>This translates to applications that run quickly and reliably on a variety of devices, making C++ ideal for forming the base layer of many important applications.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3811770" y="508536"/>
            <a:ext cx="6369742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C++ Characteristics 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474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644" y="1484958"/>
            <a:ext cx="13379364" cy="7201362"/>
          </a:xfrm>
        </p:spPr>
        <p:txBody>
          <a:bodyPr>
            <a:normAutofit fontScale="77500" lnSpcReduction="20000"/>
          </a:bodyPr>
          <a:lstStyle/>
          <a:p>
            <a:pPr algn="l" rtl="0"/>
            <a:r>
              <a:rPr lang="en-US" b="1" dirty="0" smtClean="0"/>
              <a:t>Operating systems</a:t>
            </a:r>
            <a:r>
              <a:rPr lang="en-US" dirty="0" smtClean="0"/>
              <a:t>: </a:t>
            </a:r>
            <a:r>
              <a:rPr lang="en-US" dirty="0" err="1" smtClean="0"/>
              <a:t>MacOS</a:t>
            </a:r>
            <a:r>
              <a:rPr lang="en-US" dirty="0" smtClean="0"/>
              <a:t>, Unix and Windows </a:t>
            </a:r>
            <a:r>
              <a:rPr lang="en-US" dirty="0"/>
              <a:t>to mobile operating systems like </a:t>
            </a:r>
            <a:r>
              <a:rPr lang="en-US" dirty="0" err="1"/>
              <a:t>iOS</a:t>
            </a:r>
            <a:r>
              <a:rPr lang="en-US" dirty="0"/>
              <a:t>.</a:t>
            </a:r>
          </a:p>
          <a:p>
            <a:pPr algn="l" rtl="0"/>
            <a:endParaRPr lang="en-US" dirty="0"/>
          </a:p>
          <a:p>
            <a:pPr algn="l" rtl="0"/>
            <a:r>
              <a:rPr lang="en-US" b="1" dirty="0"/>
              <a:t>Game </a:t>
            </a:r>
            <a:r>
              <a:rPr lang="en-US" b="1" dirty="0" smtClean="0"/>
              <a:t>development:</a:t>
            </a:r>
            <a:r>
              <a:rPr lang="en-US" dirty="0" smtClean="0"/>
              <a:t> Unreal engine uses C++ </a:t>
            </a:r>
          </a:p>
          <a:p>
            <a:pPr marL="0" indent="0" algn="l" rtl="0">
              <a:buNone/>
            </a:pPr>
            <a:endParaRPr lang="en-US" dirty="0"/>
          </a:p>
          <a:p>
            <a:pPr algn="l" rtl="0"/>
            <a:r>
              <a:rPr lang="en-US" b="1" dirty="0"/>
              <a:t>Web browsers: </a:t>
            </a:r>
            <a:r>
              <a:rPr lang="en-US" dirty="0"/>
              <a:t>Google Chrome, Mozilla Firefox, Safari, and Opera</a:t>
            </a:r>
            <a:r>
              <a:rPr lang="en-US" dirty="0" smtClean="0"/>
              <a:t>.</a:t>
            </a:r>
          </a:p>
          <a:p>
            <a:pPr algn="l" rtl="0"/>
            <a:endParaRPr lang="en-US" dirty="0" smtClean="0"/>
          </a:p>
          <a:p>
            <a:pPr algn="l" rtl="0"/>
            <a:r>
              <a:rPr lang="en-US" b="1" dirty="0"/>
              <a:t>Google search </a:t>
            </a:r>
            <a:r>
              <a:rPr lang="en-US" b="1" dirty="0" smtClean="0"/>
              <a:t>engine: </a:t>
            </a:r>
            <a:r>
              <a:rPr lang="en-US" dirty="0" smtClean="0"/>
              <a:t>relies </a:t>
            </a:r>
            <a:r>
              <a:rPr lang="en-US" dirty="0"/>
              <a:t>on C++ to make sure that search results show up quickly and with minimal response time</a:t>
            </a:r>
            <a:r>
              <a:rPr lang="en-US" dirty="0" smtClean="0"/>
              <a:t>.</a:t>
            </a:r>
          </a:p>
          <a:p>
            <a:pPr algn="l" rtl="0"/>
            <a:endParaRPr lang="en-US" dirty="0"/>
          </a:p>
          <a:p>
            <a:pPr algn="l" rtl="0"/>
            <a:r>
              <a:rPr lang="en-US" b="1" dirty="0"/>
              <a:t>IoT devices: </a:t>
            </a:r>
            <a:r>
              <a:rPr lang="en-US" dirty="0"/>
              <a:t>Controlling Embedded systems </a:t>
            </a:r>
          </a:p>
          <a:p>
            <a:pPr algn="l" rt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8723" y="375178"/>
            <a:ext cx="6937206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What is C++ used for?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724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9585" y="2223100"/>
            <a:ext cx="5480369" cy="6364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400" dirty="0"/>
              <a:t>#include </a:t>
            </a:r>
            <a:r>
              <a:rPr lang="en-US" sz="3400" b="1" dirty="0">
                <a:solidFill>
                  <a:srgbClr val="0070C0"/>
                </a:solidFill>
              </a:rPr>
              <a:t>&lt;</a:t>
            </a:r>
            <a:r>
              <a:rPr lang="en-US" sz="3400" b="1" dirty="0" err="1">
                <a:solidFill>
                  <a:srgbClr val="0070C0"/>
                </a:solidFill>
              </a:rPr>
              <a:t>iostream</a:t>
            </a:r>
            <a:r>
              <a:rPr lang="en-US" sz="3400" b="1" dirty="0">
                <a:solidFill>
                  <a:srgbClr val="0070C0"/>
                </a:solidFill>
              </a:rPr>
              <a:t>&gt;</a:t>
            </a:r>
          </a:p>
          <a:p>
            <a:pPr algn="l" rtl="0"/>
            <a:endParaRPr lang="en-US" sz="3400" b="1" dirty="0">
              <a:solidFill>
                <a:srgbClr val="0070C0"/>
              </a:solidFill>
            </a:endParaRPr>
          </a:p>
          <a:p>
            <a:pPr algn="l" rtl="0"/>
            <a:r>
              <a:rPr lang="en-US" sz="3400" dirty="0"/>
              <a:t> </a:t>
            </a:r>
            <a:r>
              <a:rPr lang="en-US" sz="3400" b="1" dirty="0"/>
              <a:t>using namespace </a:t>
            </a:r>
            <a:r>
              <a:rPr lang="en-US" sz="3400" b="1" dirty="0" err="1">
                <a:solidFill>
                  <a:srgbClr val="00B050"/>
                </a:solidFill>
              </a:rPr>
              <a:t>std</a:t>
            </a:r>
            <a:r>
              <a:rPr lang="en-US" sz="3400" dirty="0">
                <a:solidFill>
                  <a:srgbClr val="00B050"/>
                </a:solidFill>
              </a:rPr>
              <a:t>;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 err="1"/>
              <a:t>int</a:t>
            </a:r>
            <a:r>
              <a:rPr lang="en-US" sz="3400" dirty="0"/>
              <a:t> main</a:t>
            </a:r>
            <a:r>
              <a:rPr lang="en-US" sz="3400" dirty="0"/>
              <a:t>()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{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 </a:t>
            </a:r>
            <a:r>
              <a:rPr lang="en-US" sz="3400" b="1" dirty="0" err="1">
                <a:solidFill>
                  <a:srgbClr val="FF0000"/>
                </a:solidFill>
              </a:rPr>
              <a:t>cout</a:t>
            </a:r>
            <a:r>
              <a:rPr lang="en-US" sz="3400" b="1" dirty="0">
                <a:solidFill>
                  <a:srgbClr val="FF0000"/>
                </a:solidFill>
              </a:rPr>
              <a:t> </a:t>
            </a:r>
            <a:r>
              <a:rPr lang="en-US" sz="3400" dirty="0"/>
              <a:t>&lt;&lt; "Hello World</a:t>
            </a:r>
            <a:r>
              <a:rPr lang="en-US" sz="3400" dirty="0"/>
              <a:t>!";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}</a:t>
            </a:r>
          </a:p>
          <a:p>
            <a:endParaRPr lang="ar-EG" sz="34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987613" y="2308877"/>
            <a:ext cx="8298028" cy="424973"/>
          </a:xfrm>
          <a:prstGeom prst="rect">
            <a:avLst/>
          </a:prstGeom>
        </p:spPr>
        <p:txBody>
          <a:bodyPr vert="horz" lIns="85432" tIns="42716" rIns="85432" bIns="42716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# include </a:t>
            </a:r>
            <a:r>
              <a:rPr lang="en-US" dirty="0" smtClean="0"/>
              <a:t>:to be able to use </a:t>
            </a:r>
            <a:r>
              <a:rPr lang="en-US" dirty="0" err="1" smtClean="0"/>
              <a:t>iostream</a:t>
            </a:r>
            <a:r>
              <a:rPr lang="en-US" dirty="0" smtClean="0"/>
              <a:t> library. </a:t>
            </a:r>
            <a:endParaRPr lang="ar-EG" dirty="0"/>
          </a:p>
        </p:txBody>
      </p:sp>
      <p:sp>
        <p:nvSpPr>
          <p:cNvPr id="9" name="TextBox 8"/>
          <p:cNvSpPr txBox="1"/>
          <p:nvPr/>
        </p:nvSpPr>
        <p:spPr>
          <a:xfrm>
            <a:off x="5986431" y="3309067"/>
            <a:ext cx="7780770" cy="1132707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400" b="1" dirty="0" err="1">
                <a:solidFill>
                  <a:srgbClr val="00B050"/>
                </a:solidFill>
              </a:rPr>
              <a:t>std</a:t>
            </a:r>
            <a:r>
              <a:rPr lang="en-US" sz="3400" dirty="0"/>
              <a:t> is a standard </a:t>
            </a:r>
            <a:r>
              <a:rPr lang="en-US" sz="3400" b="1" dirty="0">
                <a:solidFill>
                  <a:srgbClr val="00B050"/>
                </a:solidFill>
              </a:rPr>
              <a:t>namespace</a:t>
            </a:r>
            <a:r>
              <a:rPr lang="en-US" sz="3400" dirty="0">
                <a:solidFill>
                  <a:srgbClr val="00B050"/>
                </a:solidFill>
              </a:rPr>
              <a:t> </a:t>
            </a:r>
            <a:r>
              <a:rPr lang="en-US" sz="3400" dirty="0"/>
              <a:t>used in C++.</a:t>
            </a:r>
            <a:endParaRPr lang="ar-EG" sz="3400" dirty="0"/>
          </a:p>
        </p:txBody>
      </p:sp>
      <p:sp>
        <p:nvSpPr>
          <p:cNvPr id="10" name="TextBox 9"/>
          <p:cNvSpPr txBox="1"/>
          <p:nvPr/>
        </p:nvSpPr>
        <p:spPr>
          <a:xfrm>
            <a:off x="6225295" y="6042917"/>
            <a:ext cx="8254382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000" b="1" dirty="0" err="1">
                <a:solidFill>
                  <a:srgbClr val="FF0000"/>
                </a:solidFill>
              </a:rPr>
              <a:t>cout</a:t>
            </a:r>
            <a:r>
              <a:rPr lang="en-US" sz="3000" dirty="0"/>
              <a:t> </a:t>
            </a:r>
            <a:r>
              <a:rPr lang="en-US" sz="3000" dirty="0"/>
              <a:t>is an object of standard output </a:t>
            </a:r>
            <a:r>
              <a:rPr lang="en-US" sz="3000" dirty="0"/>
              <a:t>stream</a:t>
            </a:r>
          </a:p>
          <a:p>
            <a:pPr algn="l" rtl="0"/>
            <a:r>
              <a:rPr lang="en-US" sz="3000" dirty="0"/>
              <a:t>(Monitor)</a:t>
            </a:r>
            <a:endParaRPr lang="ar-EG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6393566" y="7680862"/>
            <a:ext cx="6630570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000" dirty="0"/>
              <a:t>"Hello World</a:t>
            </a:r>
            <a:r>
              <a:rPr lang="en-US" sz="3000" dirty="0"/>
              <a:t>!“ is a string identified by “ “</a:t>
            </a:r>
            <a:endParaRPr lang="ar-EG" sz="3000" dirty="0"/>
          </a:p>
        </p:txBody>
      </p:sp>
      <p:sp>
        <p:nvSpPr>
          <p:cNvPr id="13" name="Rectangle 12"/>
          <p:cNvSpPr/>
          <p:nvPr/>
        </p:nvSpPr>
        <p:spPr>
          <a:xfrm>
            <a:off x="3058274" y="508536"/>
            <a:ext cx="7972746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Structure of C++ program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7613" y="4309256"/>
            <a:ext cx="7779588" cy="886485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2600" dirty="0"/>
              <a:t>main function is the starting point of a C++ application</a:t>
            </a:r>
            <a:endParaRPr lang="ar-EG" sz="2600" dirty="0"/>
          </a:p>
        </p:txBody>
      </p:sp>
    </p:spTree>
    <p:extLst>
      <p:ext uri="{BB962C8B-B14F-4D97-AF65-F5344CB8AC3E}">
        <p14:creationId xmlns:p14="http://schemas.microsoft.com/office/powerpoint/2010/main" val="136144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13" y="2104340"/>
            <a:ext cx="13091637" cy="4071936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4500" dirty="0"/>
              <a:t>  </a:t>
            </a:r>
            <a:r>
              <a:rPr lang="en-US" sz="4500" dirty="0" err="1"/>
              <a:t>int</a:t>
            </a:r>
            <a:r>
              <a:rPr lang="en-US" sz="4500" dirty="0"/>
              <a:t> x;</a:t>
            </a:r>
          </a:p>
          <a:p>
            <a:pPr marL="0" indent="0" algn="l" rtl="0">
              <a:buNone/>
            </a:pPr>
            <a:r>
              <a:rPr lang="en-US" sz="4500" dirty="0"/>
              <a:t> </a:t>
            </a:r>
            <a:r>
              <a:rPr lang="en-US" sz="4500" dirty="0" err="1"/>
              <a:t>int</a:t>
            </a:r>
            <a:r>
              <a:rPr lang="en-US" sz="4500" dirty="0"/>
              <a:t> x=5;</a:t>
            </a:r>
          </a:p>
          <a:p>
            <a:pPr marL="0" indent="0" algn="l" rtl="0">
              <a:buNone/>
            </a:pPr>
            <a:endParaRPr lang="en-US" sz="4500" dirty="0"/>
          </a:p>
          <a:p>
            <a:pPr marL="0" indent="0" algn="l" rtl="0">
              <a:buNone/>
            </a:pPr>
            <a:r>
              <a:rPr lang="en-US" sz="4500" dirty="0"/>
              <a:t> </a:t>
            </a:r>
            <a:r>
              <a:rPr lang="en-US" sz="4500" dirty="0" err="1"/>
              <a:t>int</a:t>
            </a:r>
            <a:r>
              <a:rPr lang="en-US" sz="4500" dirty="0"/>
              <a:t> x (5);                       </a:t>
            </a:r>
            <a:r>
              <a:rPr lang="en-US" sz="4500" dirty="0">
                <a:solidFill>
                  <a:srgbClr val="FF0000"/>
                </a:solidFill>
              </a:rPr>
              <a:t>Just like a constructor </a:t>
            </a:r>
          </a:p>
          <a:p>
            <a:pPr marL="0" indent="0" algn="l" rtl="0">
              <a:buNone/>
            </a:pPr>
            <a:endParaRPr lang="en-US" sz="4500" dirty="0">
              <a:solidFill>
                <a:srgbClr val="FF0000"/>
              </a:solidFill>
            </a:endParaRPr>
          </a:p>
          <a:p>
            <a:pPr marL="0" indent="0" algn="l" rtl="0">
              <a:buNone/>
            </a:pPr>
            <a:r>
              <a:rPr lang="en-US" sz="4500" dirty="0">
                <a:solidFill>
                  <a:srgbClr val="FF0000"/>
                </a:solidFill>
              </a:rPr>
              <a:t> </a:t>
            </a:r>
            <a:r>
              <a:rPr lang="en-US" sz="4500" dirty="0" err="1"/>
              <a:t>int</a:t>
            </a:r>
            <a:r>
              <a:rPr lang="en-US" sz="4500" dirty="0"/>
              <a:t> x {5};</a:t>
            </a:r>
          </a:p>
          <a:p>
            <a:pPr marL="0" indent="0" algn="l" rtl="0">
              <a:buNone/>
            </a:pPr>
            <a:endParaRPr lang="en-US" sz="4500" dirty="0"/>
          </a:p>
          <a:p>
            <a:pPr marL="0" indent="0" algn="l" rtl="0">
              <a:buNone/>
            </a:pPr>
            <a:r>
              <a:rPr lang="en-US" sz="4500" dirty="0"/>
              <a:t> </a:t>
            </a:r>
          </a:p>
          <a:p>
            <a:pPr marL="0" indent="0" algn="l" rtl="0">
              <a:buNone/>
            </a:pPr>
            <a:r>
              <a:rPr lang="en-US" sz="4500" dirty="0"/>
              <a:t> </a:t>
            </a:r>
            <a:endParaRPr lang="ar-EG" sz="4500" dirty="0"/>
          </a:p>
        </p:txBody>
      </p:sp>
      <p:sp>
        <p:nvSpPr>
          <p:cNvPr id="4" name="Right Brace 3"/>
          <p:cNvSpPr/>
          <p:nvPr/>
        </p:nvSpPr>
        <p:spPr>
          <a:xfrm>
            <a:off x="3078282" y="2175518"/>
            <a:ext cx="405953" cy="13335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5432" tIns="42716" rIns="85432" bIns="42716" rtlCol="1" anchor="ctr"/>
          <a:lstStyle/>
          <a:p>
            <a:pPr algn="ctr"/>
            <a:endParaRPr lang="ar-EG"/>
          </a:p>
        </p:txBody>
      </p:sp>
      <p:sp>
        <p:nvSpPr>
          <p:cNvPr id="5" name="TextBox 4"/>
          <p:cNvSpPr txBox="1"/>
          <p:nvPr/>
        </p:nvSpPr>
        <p:spPr>
          <a:xfrm>
            <a:off x="4905071" y="2514561"/>
            <a:ext cx="4600803" cy="655501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3700" dirty="0">
                <a:solidFill>
                  <a:srgbClr val="FF0000"/>
                </a:solidFill>
              </a:rPr>
              <a:t>Just like  Java code</a:t>
            </a:r>
            <a:endParaRPr lang="ar-EG" sz="37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18910" y="575215"/>
            <a:ext cx="6079599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Variable definitions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934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09" y="1642085"/>
            <a:ext cx="13582341" cy="6867966"/>
          </a:xfrm>
        </p:spPr>
        <p:txBody>
          <a:bodyPr>
            <a:normAutofit fontScale="70000" lnSpcReduction="20000"/>
          </a:bodyPr>
          <a:lstStyle/>
          <a:p>
            <a:pPr algn="just" rtl="0"/>
            <a:r>
              <a:rPr lang="en-US" dirty="0"/>
              <a:t>It is a location in which the variable </a:t>
            </a:r>
            <a:r>
              <a:rPr lang="en-US" dirty="0" smtClean="0"/>
              <a:t>names, function names </a:t>
            </a:r>
            <a:r>
              <a:rPr lang="en-US" dirty="0"/>
              <a:t>is </a:t>
            </a:r>
            <a:r>
              <a:rPr lang="en-US" dirty="0" smtClean="0"/>
              <a:t>declared</a:t>
            </a:r>
          </a:p>
          <a:p>
            <a:pPr marL="0" indent="0" algn="just" rtl="0">
              <a:buNone/>
            </a:pPr>
            <a:endParaRPr lang="en-US" dirty="0"/>
          </a:p>
          <a:p>
            <a:pPr algn="just" rtl="0"/>
            <a:r>
              <a:rPr lang="en-US" dirty="0" smtClean="0"/>
              <a:t>In huge programs </a:t>
            </a:r>
            <a:r>
              <a:rPr lang="en-US" dirty="0" smtClean="0">
                <a:solidFill>
                  <a:srgbClr val="0070C0"/>
                </a:solidFill>
              </a:rPr>
              <a:t>Namespace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location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store variables </a:t>
            </a:r>
            <a:r>
              <a:rPr lang="en-US" dirty="0" smtClean="0"/>
              <a:t>to </a:t>
            </a:r>
            <a:r>
              <a:rPr lang="en-US" dirty="0"/>
              <a:t>avoid the confusion </a:t>
            </a:r>
            <a:r>
              <a:rPr lang="en-US" dirty="0" smtClean="0"/>
              <a:t>between names ( two variables may have the same name).</a:t>
            </a:r>
          </a:p>
          <a:p>
            <a:pPr algn="just" rtl="0"/>
            <a:endParaRPr lang="en-US" dirty="0" smtClean="0"/>
          </a:p>
          <a:p>
            <a:pPr algn="just" rtl="0"/>
            <a:endParaRPr lang="en-US" dirty="0"/>
          </a:p>
          <a:p>
            <a:pPr algn="just" rtl="0"/>
            <a:r>
              <a:rPr lang="en-US" dirty="0" smtClean="0"/>
              <a:t>C++ uses many libraries, to avoid (having 2 variables with the same name C++ uses namespace.</a:t>
            </a:r>
          </a:p>
          <a:p>
            <a:pPr algn="just" rtl="0"/>
            <a:endParaRPr lang="en-US" dirty="0" smtClean="0"/>
          </a:p>
          <a:p>
            <a:pPr algn="just" rtl="0"/>
            <a:r>
              <a:rPr lang="en-US" dirty="0" smtClean="0"/>
              <a:t>A </a:t>
            </a:r>
            <a:r>
              <a:rPr lang="en-US" b="1" dirty="0"/>
              <a:t>namespace</a:t>
            </a:r>
            <a:r>
              <a:rPr lang="en-US" dirty="0"/>
              <a:t> is a form of </a:t>
            </a:r>
            <a:r>
              <a:rPr lang="en-US" b="1" dirty="0">
                <a:solidFill>
                  <a:schemeClr val="accent1"/>
                </a:solidFill>
              </a:rPr>
              <a:t>scope</a:t>
            </a:r>
            <a:r>
              <a:rPr lang="en-US" dirty="0"/>
              <a:t> in </a:t>
            </a:r>
            <a:r>
              <a:rPr lang="en-US" b="1" dirty="0"/>
              <a:t>C++</a:t>
            </a:r>
            <a:r>
              <a:rPr lang="en-US" dirty="0"/>
              <a:t> that holds its own definitions for variables, </a:t>
            </a:r>
            <a:r>
              <a:rPr lang="en-US" dirty="0" smtClean="0"/>
              <a:t>functions.</a:t>
            </a:r>
          </a:p>
          <a:p>
            <a:pPr algn="just" rtl="0"/>
            <a:endParaRPr lang="en-US" dirty="0" smtClean="0"/>
          </a:p>
          <a:p>
            <a:pPr algn="just" rtl="0"/>
            <a:r>
              <a:rPr lang="en-US" sz="4100" b="1" dirty="0" err="1">
                <a:solidFill>
                  <a:srgbClr val="FF0000"/>
                </a:solidFill>
                <a:cs typeface="+mj-cs"/>
              </a:rPr>
              <a:t>cout</a:t>
            </a:r>
            <a:r>
              <a:rPr lang="en-US" sz="4100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sz="4100" dirty="0">
                <a:cs typeface="+mj-cs"/>
              </a:rPr>
              <a:t>and </a:t>
            </a:r>
            <a:r>
              <a:rPr lang="en-US" sz="4100" b="1" dirty="0" err="1">
                <a:solidFill>
                  <a:srgbClr val="FF0000"/>
                </a:solidFill>
                <a:cs typeface="+mj-cs"/>
              </a:rPr>
              <a:t>cin</a:t>
            </a:r>
            <a:r>
              <a:rPr lang="en-US" sz="4100" dirty="0">
                <a:cs typeface="+mj-cs"/>
              </a:rPr>
              <a:t> </a:t>
            </a:r>
            <a:r>
              <a:rPr lang="en-US" sz="4100" dirty="0">
                <a:cs typeface="+mj-cs"/>
              </a:rPr>
              <a:t>are </a:t>
            </a:r>
            <a:r>
              <a:rPr lang="en-US" sz="4100" dirty="0">
                <a:cs typeface="+mj-cs"/>
              </a:rPr>
              <a:t>defined inside of </a:t>
            </a:r>
            <a:r>
              <a:rPr lang="en-US" sz="4100" b="1" dirty="0" err="1">
                <a:solidFill>
                  <a:srgbClr val="FF0000"/>
                </a:solidFill>
                <a:cs typeface="+mj-cs"/>
              </a:rPr>
              <a:t>std</a:t>
            </a:r>
            <a:r>
              <a:rPr lang="en-US" sz="4100" b="1" dirty="0">
                <a:cs typeface="+mj-cs"/>
              </a:rPr>
              <a:t> </a:t>
            </a:r>
            <a:r>
              <a:rPr lang="en-US" sz="4100" dirty="0">
                <a:cs typeface="+mj-cs"/>
              </a:rPr>
              <a:t>namespace. </a:t>
            </a:r>
            <a:endParaRPr lang="ar-EG" sz="4100" dirty="0">
              <a:cs typeface="+mj-cs"/>
            </a:endParaRPr>
          </a:p>
          <a:p>
            <a:pPr algn="just" rtl="0"/>
            <a:endParaRPr lang="en-US" dirty="0" smtClean="0"/>
          </a:p>
          <a:p>
            <a:pPr algn="just" rtl="0"/>
            <a:endParaRPr lang="en-US" dirty="0" smtClean="0"/>
          </a:p>
          <a:p>
            <a:pPr algn="just" rt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35457" y="175140"/>
            <a:ext cx="6020288" cy="1348150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82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Namespace</a:t>
            </a:r>
            <a:endParaRPr lang="ar-EG" sz="8200" b="1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376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dirty="0" smtClean="0"/>
              <a:t>Using namespace allows you to deal with variables in the name space</a:t>
            </a:r>
            <a:r>
              <a:rPr lang="en-US" sz="3400" dirty="0"/>
              <a:t>. </a:t>
            </a:r>
            <a:r>
              <a:rPr lang="en-US" sz="3400" dirty="0"/>
              <a:t> </a:t>
            </a:r>
            <a:r>
              <a:rPr lang="en-US" sz="3400" dirty="0"/>
              <a:t>  “</a:t>
            </a:r>
            <a:r>
              <a:rPr lang="en-US" sz="3400" dirty="0" err="1"/>
              <a:t>cout</a:t>
            </a:r>
            <a:r>
              <a:rPr lang="en-US" sz="3400" dirty="0"/>
              <a:t>”   is defined in standard library </a:t>
            </a:r>
            <a:r>
              <a:rPr lang="en-US" sz="3400" b="1" dirty="0" err="1">
                <a:solidFill>
                  <a:srgbClr val="FF0000"/>
                </a:solidFill>
              </a:rPr>
              <a:t>std</a:t>
            </a:r>
            <a:endParaRPr lang="ar-EG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7313" y="2104340"/>
            <a:ext cx="13091637" cy="737972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dirty="0" smtClean="0"/>
              <a:t>Two ways to deal with </a:t>
            </a:r>
            <a:r>
              <a:rPr lang="en-US" dirty="0" err="1" smtClean="0"/>
              <a:t>cout</a:t>
            </a:r>
            <a:r>
              <a:rPr lang="en-US" dirty="0" smtClean="0"/>
              <a:t> </a:t>
            </a:r>
          </a:p>
          <a:p>
            <a:pPr algn="l" rtl="0"/>
            <a:endParaRPr lang="en-US" dirty="0"/>
          </a:p>
          <a:p>
            <a:pPr algn="l" rtl="0"/>
            <a:endParaRPr lang="ar-EG" dirty="0"/>
          </a:p>
        </p:txBody>
      </p:sp>
      <p:sp>
        <p:nvSpPr>
          <p:cNvPr id="5" name="TextBox 4"/>
          <p:cNvSpPr txBox="1"/>
          <p:nvPr/>
        </p:nvSpPr>
        <p:spPr>
          <a:xfrm>
            <a:off x="777880" y="2842312"/>
            <a:ext cx="6567259" cy="5841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400" dirty="0"/>
              <a:t>#include &lt;</a:t>
            </a:r>
            <a:r>
              <a:rPr lang="en-US" sz="3400" dirty="0" err="1"/>
              <a:t>iostream</a:t>
            </a:r>
            <a:r>
              <a:rPr lang="en-US" sz="3400" dirty="0"/>
              <a:t>&gt;</a:t>
            </a:r>
          </a:p>
          <a:p>
            <a:pPr algn="l" rtl="0"/>
            <a:endParaRPr lang="en-US" sz="3400" dirty="0"/>
          </a:p>
          <a:p>
            <a:pPr algn="l" rtl="0"/>
            <a:endParaRPr lang="en-US" sz="3400" dirty="0"/>
          </a:p>
          <a:p>
            <a:pPr algn="l" rtl="0"/>
            <a:r>
              <a:rPr lang="en-US" sz="3400" dirty="0" err="1"/>
              <a:t>int</a:t>
            </a:r>
            <a:r>
              <a:rPr lang="en-US" sz="3400" dirty="0"/>
              <a:t> main</a:t>
            </a:r>
            <a:r>
              <a:rPr lang="en-US" sz="3400" dirty="0"/>
              <a:t>()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{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  </a:t>
            </a:r>
            <a:r>
              <a:rPr lang="en-US" sz="3400" b="1" dirty="0" err="1">
                <a:solidFill>
                  <a:srgbClr val="002060"/>
                </a:solidFill>
              </a:rPr>
              <a:t>std</a:t>
            </a:r>
            <a:r>
              <a:rPr lang="en-US" sz="3400" b="1" dirty="0">
                <a:solidFill>
                  <a:srgbClr val="002060"/>
                </a:solidFill>
              </a:rPr>
              <a:t> :: </a:t>
            </a:r>
            <a:r>
              <a:rPr lang="en-US" sz="3400" b="1" dirty="0" err="1">
                <a:solidFill>
                  <a:srgbClr val="FF0000"/>
                </a:solidFill>
              </a:rPr>
              <a:t>cout</a:t>
            </a:r>
            <a:r>
              <a:rPr lang="en-US" sz="3400" dirty="0"/>
              <a:t>  &lt;&lt; </a:t>
            </a:r>
            <a:r>
              <a:rPr lang="en-US" sz="3400" dirty="0"/>
              <a:t>"Hello World</a:t>
            </a:r>
            <a:r>
              <a:rPr lang="en-US" sz="3400" dirty="0"/>
              <a:t>!";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}</a:t>
            </a:r>
          </a:p>
          <a:p>
            <a:endParaRPr lang="ar-EG" sz="3400" dirty="0"/>
          </a:p>
        </p:txBody>
      </p:sp>
      <p:sp>
        <p:nvSpPr>
          <p:cNvPr id="6" name="TextBox 5"/>
          <p:cNvSpPr txBox="1"/>
          <p:nvPr/>
        </p:nvSpPr>
        <p:spPr>
          <a:xfrm>
            <a:off x="7679085" y="2825365"/>
            <a:ext cx="5480369" cy="5841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400" dirty="0"/>
              <a:t>#include &lt;</a:t>
            </a:r>
            <a:r>
              <a:rPr lang="en-US" sz="3400" dirty="0" err="1"/>
              <a:t>iostream</a:t>
            </a:r>
            <a:r>
              <a:rPr lang="en-US" sz="3400" dirty="0"/>
              <a:t>&gt;</a:t>
            </a:r>
          </a:p>
          <a:p>
            <a:pPr algn="l" rtl="0"/>
            <a:r>
              <a:rPr lang="en-US" sz="3400" dirty="0"/>
              <a:t> </a:t>
            </a:r>
            <a:r>
              <a:rPr lang="en-US" sz="3400" b="1" dirty="0">
                <a:solidFill>
                  <a:srgbClr val="002060"/>
                </a:solidFill>
              </a:rPr>
              <a:t>using namespace </a:t>
            </a:r>
            <a:r>
              <a:rPr lang="en-US" sz="3400" b="1" dirty="0" err="1">
                <a:solidFill>
                  <a:srgbClr val="002060"/>
                </a:solidFill>
              </a:rPr>
              <a:t>std</a:t>
            </a:r>
            <a:r>
              <a:rPr lang="en-US" sz="3400" dirty="0">
                <a:solidFill>
                  <a:srgbClr val="0070C0"/>
                </a:solidFill>
              </a:rPr>
              <a:t>;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 err="1"/>
              <a:t>int</a:t>
            </a:r>
            <a:r>
              <a:rPr lang="en-US" sz="3400" dirty="0"/>
              <a:t> main</a:t>
            </a:r>
            <a:r>
              <a:rPr lang="en-US" sz="3400" dirty="0"/>
              <a:t>()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{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 </a:t>
            </a:r>
            <a:r>
              <a:rPr lang="en-US" sz="3400" b="1" dirty="0" err="1">
                <a:solidFill>
                  <a:srgbClr val="FF0000"/>
                </a:solidFill>
              </a:rPr>
              <a:t>cout</a:t>
            </a:r>
            <a:r>
              <a:rPr lang="en-US" sz="3400" b="1" dirty="0">
                <a:solidFill>
                  <a:srgbClr val="FF0000"/>
                </a:solidFill>
              </a:rPr>
              <a:t> </a:t>
            </a:r>
            <a:r>
              <a:rPr lang="en-US" sz="3400" dirty="0"/>
              <a:t>&lt;&lt; "Hello World</a:t>
            </a:r>
            <a:r>
              <a:rPr lang="en-US" sz="3400" dirty="0"/>
              <a:t>!";</a:t>
            </a:r>
          </a:p>
          <a:p>
            <a:pPr algn="l" rtl="0"/>
            <a:endParaRPr lang="en-US" sz="3400" dirty="0"/>
          </a:p>
          <a:p>
            <a:pPr algn="l" rtl="0"/>
            <a:r>
              <a:rPr lang="en-US" sz="3400" dirty="0"/>
              <a:t>}</a:t>
            </a:r>
          </a:p>
          <a:p>
            <a:endParaRPr lang="ar-EG" sz="3400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860422" y="3842500"/>
            <a:ext cx="5953981" cy="2667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21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21" y="108461"/>
            <a:ext cx="13091637" cy="1147563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solidFill>
                  <a:srgbClr val="FF0000"/>
                </a:solidFill>
              </a:rPr>
              <a:t>Scope of the variables </a:t>
            </a:r>
            <a:r>
              <a:rPr lang="en-US" sz="4500" b="1" dirty="0">
                <a:solidFill>
                  <a:srgbClr val="0070C0"/>
                </a:solidFill>
              </a:rPr>
              <a:t/>
            </a:r>
            <a:br>
              <a:rPr lang="en-US" sz="4500" b="1" dirty="0">
                <a:solidFill>
                  <a:srgbClr val="0070C0"/>
                </a:solidFill>
              </a:rPr>
            </a:br>
            <a:r>
              <a:rPr lang="en-US" sz="4500" b="1" dirty="0">
                <a:solidFill>
                  <a:srgbClr val="0070C0"/>
                </a:solidFill>
              </a:rPr>
              <a:t>:: associated to global</a:t>
            </a:r>
            <a:endParaRPr lang="ar-EG" sz="45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9" y="1268934"/>
            <a:ext cx="13311706" cy="7632848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3400" dirty="0"/>
              <a:t>#include &lt;</a:t>
            </a:r>
            <a:r>
              <a:rPr lang="en-US" sz="3400" dirty="0" err="1"/>
              <a:t>iostream</a:t>
            </a:r>
            <a:r>
              <a:rPr lang="en-US" sz="3400" dirty="0"/>
              <a:t>&gt;</a:t>
            </a:r>
          </a:p>
          <a:p>
            <a:pPr marL="0" indent="0" algn="l" rtl="0">
              <a:buNone/>
            </a:pPr>
            <a:r>
              <a:rPr lang="en-US" sz="3400" b="1" dirty="0" err="1">
                <a:solidFill>
                  <a:srgbClr val="0070C0"/>
                </a:solidFill>
              </a:rPr>
              <a:t>int</a:t>
            </a:r>
            <a:r>
              <a:rPr lang="en-US" sz="3400" b="1" dirty="0">
                <a:solidFill>
                  <a:srgbClr val="0070C0"/>
                </a:solidFill>
              </a:rPr>
              <a:t> value(5</a:t>
            </a:r>
            <a:r>
              <a:rPr lang="en-US" sz="3400" b="1" dirty="0">
                <a:solidFill>
                  <a:srgbClr val="0070C0"/>
                </a:solidFill>
              </a:rPr>
              <a:t>);   </a:t>
            </a:r>
            <a:r>
              <a:rPr lang="en-US" sz="3400" b="1" dirty="0">
                <a:solidFill>
                  <a:srgbClr val="0070C0"/>
                </a:solidFill>
              </a:rPr>
              <a:t>// global </a:t>
            </a:r>
            <a:r>
              <a:rPr lang="en-US" sz="3400" b="1" dirty="0">
                <a:solidFill>
                  <a:srgbClr val="0070C0"/>
                </a:solidFill>
              </a:rPr>
              <a:t>variable</a:t>
            </a:r>
            <a:endParaRPr lang="en-US" sz="3400" b="1" dirty="0">
              <a:solidFill>
                <a:srgbClr val="0070C0"/>
              </a:solidFill>
            </a:endParaRPr>
          </a:p>
          <a:p>
            <a:pPr marL="0" indent="0" algn="l" rtl="0">
              <a:buNone/>
            </a:pPr>
            <a:r>
              <a:rPr lang="en-US" sz="3400" dirty="0" err="1"/>
              <a:t>int</a:t>
            </a:r>
            <a:r>
              <a:rPr lang="en-US" sz="3400" dirty="0"/>
              <a:t> main()</a:t>
            </a:r>
          </a:p>
          <a:p>
            <a:pPr marL="0" indent="0" algn="l" rtl="0">
              <a:buNone/>
            </a:pPr>
            <a:r>
              <a:rPr lang="en-US" sz="3400" dirty="0"/>
              <a:t>{</a:t>
            </a:r>
          </a:p>
          <a:p>
            <a:pPr marL="0" indent="0" algn="l" rtl="0">
              <a:buNone/>
            </a:pPr>
            <a:r>
              <a:rPr lang="en-US" sz="3400" dirty="0"/>
              <a:t>    </a:t>
            </a:r>
            <a:r>
              <a:rPr lang="en-US" sz="3400" b="1" dirty="0" err="1">
                <a:solidFill>
                  <a:srgbClr val="FF0000"/>
                </a:solidFill>
              </a:rPr>
              <a:t>int</a:t>
            </a:r>
            <a:r>
              <a:rPr lang="en-US" sz="3400" b="1" dirty="0">
                <a:solidFill>
                  <a:srgbClr val="FF0000"/>
                </a:solidFill>
              </a:rPr>
              <a:t> value = 7; </a:t>
            </a:r>
            <a:r>
              <a:rPr lang="en-US" sz="3400" b="1" dirty="0">
                <a:solidFill>
                  <a:srgbClr val="FF0000"/>
                </a:solidFill>
              </a:rPr>
              <a:t>                          </a:t>
            </a:r>
            <a:r>
              <a:rPr lang="en-US" sz="2600" b="1" dirty="0">
                <a:solidFill>
                  <a:srgbClr val="FF0000"/>
                </a:solidFill>
              </a:rPr>
              <a:t>// </a:t>
            </a:r>
            <a:r>
              <a:rPr lang="en-US" sz="2600" b="1" dirty="0">
                <a:solidFill>
                  <a:srgbClr val="FF0000"/>
                </a:solidFill>
              </a:rPr>
              <a:t>hides the global variable value</a:t>
            </a:r>
          </a:p>
          <a:p>
            <a:pPr marL="0" indent="0" algn="l" rtl="0">
              <a:buNone/>
            </a:pPr>
            <a:r>
              <a:rPr lang="en-US" sz="3400" dirty="0"/>
              <a:t>    </a:t>
            </a:r>
            <a:r>
              <a:rPr lang="en-US" sz="3400" dirty="0"/>
              <a:t>  </a:t>
            </a:r>
            <a:r>
              <a:rPr lang="en-US" sz="3400" b="1" dirty="0">
                <a:solidFill>
                  <a:srgbClr val="FF0000"/>
                </a:solidFill>
              </a:rPr>
              <a:t>value ++  </a:t>
            </a:r>
            <a:r>
              <a:rPr lang="en-US" sz="2800" b="1" dirty="0">
                <a:solidFill>
                  <a:srgbClr val="FF0000"/>
                </a:solidFill>
              </a:rPr>
              <a:t>;                            </a:t>
            </a:r>
            <a:r>
              <a:rPr lang="en-US" sz="2800" b="1" dirty="0" smtClean="0">
                <a:solidFill>
                  <a:srgbClr val="FF0000"/>
                </a:solidFill>
              </a:rPr>
              <a:t>// </a:t>
            </a:r>
            <a:r>
              <a:rPr lang="en-US" sz="2800" b="1" dirty="0">
                <a:solidFill>
                  <a:srgbClr val="FF0000"/>
                </a:solidFill>
              </a:rPr>
              <a:t>increments local value, not global value</a:t>
            </a:r>
          </a:p>
          <a:p>
            <a:pPr marL="0" indent="0" algn="l" rtl="0">
              <a:buNone/>
            </a:pPr>
            <a:r>
              <a:rPr lang="en-US" sz="3400" dirty="0"/>
              <a:t>    </a:t>
            </a:r>
            <a:r>
              <a:rPr lang="en-US" sz="3400" b="1" dirty="0">
                <a:solidFill>
                  <a:srgbClr val="0070C0"/>
                </a:solidFill>
              </a:rPr>
              <a:t>:: value --  </a:t>
            </a:r>
            <a:r>
              <a:rPr lang="en-US" sz="3400" dirty="0">
                <a:solidFill>
                  <a:srgbClr val="0070C0"/>
                </a:solidFill>
              </a:rPr>
              <a:t>; 				</a:t>
            </a:r>
            <a:r>
              <a:rPr lang="en-US" sz="3400" b="1" dirty="0">
                <a:solidFill>
                  <a:srgbClr val="0070C0"/>
                </a:solidFill>
              </a:rPr>
              <a:t>// </a:t>
            </a:r>
            <a:r>
              <a:rPr lang="en-US" sz="3400" b="1" dirty="0">
                <a:solidFill>
                  <a:srgbClr val="0070C0"/>
                </a:solidFill>
              </a:rPr>
              <a:t>decrements global value, not local </a:t>
            </a:r>
            <a:r>
              <a:rPr lang="en-US" sz="3400" b="1" dirty="0">
                <a:solidFill>
                  <a:srgbClr val="0070C0"/>
                </a:solidFill>
              </a:rPr>
              <a:t>value</a:t>
            </a:r>
            <a:endParaRPr lang="en-US" sz="3400" b="1" dirty="0">
              <a:solidFill>
                <a:srgbClr val="0070C0"/>
              </a:solidFill>
            </a:endParaRPr>
          </a:p>
          <a:p>
            <a:pPr marL="0" indent="0" algn="l" rtl="0">
              <a:buNone/>
            </a:pPr>
            <a:r>
              <a:rPr lang="en-US" sz="3400" dirty="0"/>
              <a:t>    </a:t>
            </a:r>
            <a:r>
              <a:rPr lang="en-US" sz="3400" dirty="0" err="1"/>
              <a:t>std</a:t>
            </a:r>
            <a:r>
              <a:rPr lang="en-US" sz="3400" dirty="0"/>
              <a:t>::</a:t>
            </a:r>
            <a:r>
              <a:rPr lang="en-US" sz="3400" dirty="0" err="1"/>
              <a:t>cout</a:t>
            </a:r>
            <a:r>
              <a:rPr lang="en-US" sz="3400" dirty="0"/>
              <a:t> &lt;&lt; "global value: " &lt;&lt; </a:t>
            </a:r>
            <a:r>
              <a:rPr lang="en-US" sz="3400" b="1" dirty="0">
                <a:solidFill>
                  <a:srgbClr val="0070C0"/>
                </a:solidFill>
              </a:rPr>
              <a:t>::value </a:t>
            </a:r>
            <a:r>
              <a:rPr lang="en-US" sz="3400" dirty="0"/>
              <a:t>&lt;&lt; "\n</a:t>
            </a:r>
            <a:r>
              <a:rPr lang="en-US" sz="3400" dirty="0"/>
              <a:t>"; // 4</a:t>
            </a:r>
            <a:endParaRPr lang="en-US" sz="3400" dirty="0"/>
          </a:p>
          <a:p>
            <a:pPr marL="0" indent="0" algn="l" rtl="0">
              <a:buNone/>
            </a:pPr>
            <a:r>
              <a:rPr lang="en-US" sz="3400" dirty="0"/>
              <a:t>    </a:t>
            </a:r>
            <a:r>
              <a:rPr lang="en-US" sz="3400" dirty="0" err="1"/>
              <a:t>std</a:t>
            </a:r>
            <a:r>
              <a:rPr lang="en-US" sz="3400" dirty="0"/>
              <a:t>::</a:t>
            </a:r>
            <a:r>
              <a:rPr lang="en-US" sz="3400" dirty="0" err="1"/>
              <a:t>cout</a:t>
            </a:r>
            <a:r>
              <a:rPr lang="en-US" sz="3400" dirty="0"/>
              <a:t> &lt;&lt; "local value: " &lt;&lt; </a:t>
            </a:r>
            <a:r>
              <a:rPr lang="en-US" sz="3400" b="1" dirty="0">
                <a:solidFill>
                  <a:srgbClr val="FF0000"/>
                </a:solidFill>
              </a:rPr>
              <a:t>value</a:t>
            </a:r>
            <a:r>
              <a:rPr lang="en-US" sz="3400" dirty="0"/>
              <a:t> &lt;&lt; "\n</a:t>
            </a:r>
            <a:r>
              <a:rPr lang="en-US" sz="3400" dirty="0"/>
              <a:t>";     // 8</a:t>
            </a:r>
            <a:endParaRPr lang="en-US" sz="3400" dirty="0"/>
          </a:p>
          <a:p>
            <a:pPr marL="0" indent="0" algn="l" rtl="0">
              <a:buNone/>
            </a:pPr>
            <a:r>
              <a:rPr lang="en-US" sz="3400" dirty="0"/>
              <a:t>    return 0</a:t>
            </a:r>
            <a:r>
              <a:rPr lang="en-US" sz="3400" dirty="0" smtClean="0"/>
              <a:t>;  }</a:t>
            </a:r>
            <a:endParaRPr lang="en-US" sz="3400" dirty="0"/>
          </a:p>
          <a:p>
            <a:pPr marL="0" indent="0" algn="l" rtl="0">
              <a:buNone/>
            </a:pPr>
            <a:endParaRPr lang="ar-EG" sz="3400" dirty="0"/>
          </a:p>
        </p:txBody>
      </p:sp>
    </p:spTree>
    <p:extLst>
      <p:ext uri="{BB962C8B-B14F-4D97-AF65-F5344CB8AC3E}">
        <p14:creationId xmlns:p14="http://schemas.microsoft.com/office/powerpoint/2010/main" val="415928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03" y="116806"/>
            <a:ext cx="13091637" cy="1147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Scope of </a:t>
            </a:r>
            <a:r>
              <a:rPr lang="en-US" b="1" dirty="0" smtClean="0">
                <a:solidFill>
                  <a:srgbClr val="0070C0"/>
                </a:solidFill>
              </a:rPr>
              <a:t>Variables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387" y="1196926"/>
            <a:ext cx="8795653" cy="7632848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600" dirty="0"/>
              <a:t>#include &lt;</a:t>
            </a:r>
            <a:r>
              <a:rPr lang="en-US" sz="2600" dirty="0" err="1"/>
              <a:t>iostream</a:t>
            </a:r>
            <a:r>
              <a:rPr lang="en-US" sz="2600" dirty="0"/>
              <a:t>&gt;</a:t>
            </a:r>
          </a:p>
          <a:p>
            <a:pPr marL="0" indent="0" algn="l" rtl="0">
              <a:buNone/>
            </a:pPr>
            <a:r>
              <a:rPr lang="en-US" sz="2600" dirty="0"/>
              <a:t>using </a:t>
            </a:r>
            <a:r>
              <a:rPr lang="en-US" sz="2600" dirty="0"/>
              <a:t>namespace </a:t>
            </a:r>
            <a:r>
              <a:rPr lang="en-US" sz="2600" dirty="0" err="1"/>
              <a:t>std</a:t>
            </a:r>
            <a:r>
              <a:rPr lang="en-US" sz="2600" dirty="0"/>
              <a:t>; </a:t>
            </a:r>
          </a:p>
          <a:p>
            <a:pPr marL="0" indent="0" algn="l" rtl="0">
              <a:buNone/>
            </a:pPr>
            <a:r>
              <a:rPr lang="en-US" sz="2600" dirty="0"/>
              <a:t>namespace </a:t>
            </a:r>
            <a:r>
              <a:rPr lang="en-US" sz="2600" b="1" dirty="0">
                <a:solidFill>
                  <a:srgbClr val="00B050"/>
                </a:solidFill>
              </a:rPr>
              <a:t>first </a:t>
            </a:r>
          </a:p>
          <a:p>
            <a:pPr marL="0" indent="0" algn="l" rtl="0">
              <a:buNone/>
            </a:pPr>
            <a:r>
              <a:rPr lang="en-US" sz="2600" dirty="0">
                <a:solidFill>
                  <a:srgbClr val="00B050"/>
                </a:solidFill>
              </a:rPr>
              <a:t>{</a:t>
            </a:r>
            <a:r>
              <a:rPr lang="en-US" sz="2600" dirty="0"/>
              <a:t> </a:t>
            </a:r>
          </a:p>
          <a:p>
            <a:pPr marL="0" indent="0" algn="l" rtl="0">
              <a:buNone/>
            </a:pPr>
            <a:r>
              <a:rPr lang="en-US" sz="2600" dirty="0"/>
              <a:t>    </a:t>
            </a:r>
            <a:r>
              <a:rPr lang="en-US" sz="2600" b="1" dirty="0" err="1">
                <a:solidFill>
                  <a:srgbClr val="00B050"/>
                </a:solidFill>
              </a:rPr>
              <a:t>int</a:t>
            </a:r>
            <a:r>
              <a:rPr lang="en-US" sz="2600" b="1" dirty="0">
                <a:solidFill>
                  <a:srgbClr val="00B050"/>
                </a:solidFill>
              </a:rPr>
              <a:t> </a:t>
            </a:r>
            <a:r>
              <a:rPr lang="en-US" sz="2600" b="1" dirty="0" err="1">
                <a:solidFill>
                  <a:srgbClr val="00B050"/>
                </a:solidFill>
              </a:rPr>
              <a:t>val</a:t>
            </a:r>
            <a:r>
              <a:rPr lang="en-US" sz="2600" b="1" dirty="0">
                <a:solidFill>
                  <a:srgbClr val="00B050"/>
                </a:solidFill>
              </a:rPr>
              <a:t> = 500; </a:t>
            </a:r>
            <a:r>
              <a:rPr lang="en-US" sz="2600" b="1" dirty="0">
                <a:solidFill>
                  <a:srgbClr val="00B050"/>
                </a:solidFill>
              </a:rPr>
              <a:t>    // </a:t>
            </a:r>
            <a:r>
              <a:rPr lang="en-US" sz="2600" b="1" dirty="0">
                <a:solidFill>
                  <a:srgbClr val="00B050"/>
                </a:solidFill>
              </a:rPr>
              <a:t>Variable created inside namespace </a:t>
            </a:r>
          </a:p>
          <a:p>
            <a:pPr marL="0" indent="0" algn="l" rtl="0">
              <a:buNone/>
            </a:pPr>
            <a:r>
              <a:rPr lang="en-US" sz="2600" dirty="0">
                <a:solidFill>
                  <a:srgbClr val="00B050"/>
                </a:solidFill>
              </a:rPr>
              <a:t>}</a:t>
            </a:r>
            <a:r>
              <a:rPr lang="en-US" sz="2600" dirty="0"/>
              <a:t> </a:t>
            </a:r>
          </a:p>
          <a:p>
            <a:pPr marL="0" indent="0" algn="l" rtl="0">
              <a:buNone/>
            </a:pPr>
            <a:r>
              <a:rPr lang="en-US" sz="2600" b="1" dirty="0">
                <a:solidFill>
                  <a:srgbClr val="00B0F0"/>
                </a:solidFill>
              </a:rPr>
              <a:t>  </a:t>
            </a:r>
            <a:r>
              <a:rPr lang="en-US" sz="2600" b="1" dirty="0" err="1">
                <a:solidFill>
                  <a:srgbClr val="00B0F0"/>
                </a:solidFill>
              </a:rPr>
              <a:t>int</a:t>
            </a:r>
            <a:r>
              <a:rPr lang="en-US" sz="2600" b="1" dirty="0">
                <a:solidFill>
                  <a:srgbClr val="00B0F0"/>
                </a:solidFill>
              </a:rPr>
              <a:t> </a:t>
            </a:r>
            <a:r>
              <a:rPr lang="en-US" sz="2600" b="1" dirty="0" err="1">
                <a:solidFill>
                  <a:srgbClr val="00B0F0"/>
                </a:solidFill>
              </a:rPr>
              <a:t>val</a:t>
            </a:r>
            <a:r>
              <a:rPr lang="en-US" sz="2600" b="1" dirty="0">
                <a:solidFill>
                  <a:srgbClr val="00B0F0"/>
                </a:solidFill>
              </a:rPr>
              <a:t> = 100;  </a:t>
            </a:r>
            <a:r>
              <a:rPr lang="en-US" sz="2600" b="1" dirty="0">
                <a:solidFill>
                  <a:srgbClr val="00B0F0"/>
                </a:solidFill>
              </a:rPr>
              <a:t>     // </a:t>
            </a:r>
            <a:r>
              <a:rPr lang="en-US" sz="2600" b="1" dirty="0">
                <a:solidFill>
                  <a:srgbClr val="00B0F0"/>
                </a:solidFill>
              </a:rPr>
              <a:t>Global variable</a:t>
            </a:r>
          </a:p>
          <a:p>
            <a:pPr marL="0" indent="0" algn="l" rtl="0">
              <a:buNone/>
            </a:pPr>
            <a:r>
              <a:rPr lang="en-US" sz="2600" dirty="0"/>
              <a:t>	</a:t>
            </a:r>
          </a:p>
          <a:p>
            <a:pPr marL="0" indent="0" algn="l" rtl="0">
              <a:buNone/>
            </a:pPr>
            <a:r>
              <a:rPr lang="en-US" sz="2600" dirty="0" err="1"/>
              <a:t>int</a:t>
            </a:r>
            <a:r>
              <a:rPr lang="en-US" sz="2600" dirty="0"/>
              <a:t> </a:t>
            </a:r>
            <a:r>
              <a:rPr lang="en-US" sz="2600" dirty="0"/>
              <a:t>main() </a:t>
            </a:r>
          </a:p>
          <a:p>
            <a:pPr marL="0" indent="0" algn="l" rtl="0">
              <a:buNone/>
            </a:pPr>
            <a:r>
              <a:rPr lang="en-US" sz="2600" dirty="0"/>
              <a:t>	{ </a:t>
            </a:r>
            <a:r>
              <a:rPr lang="en-US" sz="2600" dirty="0"/>
              <a:t> </a:t>
            </a:r>
          </a:p>
          <a:p>
            <a:pPr marL="0" indent="0" algn="l" rtl="0">
              <a:buNone/>
            </a:pPr>
            <a:r>
              <a:rPr lang="en-US" sz="2600" dirty="0"/>
              <a:t>    </a:t>
            </a:r>
            <a:r>
              <a:rPr lang="en-US" sz="2600" b="1" dirty="0">
                <a:solidFill>
                  <a:srgbClr val="FF0000"/>
                </a:solidFill>
              </a:rPr>
              <a:t>      </a:t>
            </a:r>
            <a:r>
              <a:rPr lang="en-US" sz="2600" b="1" dirty="0" err="1">
                <a:solidFill>
                  <a:srgbClr val="FF0000"/>
                </a:solidFill>
              </a:rPr>
              <a:t>int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val</a:t>
            </a:r>
            <a:r>
              <a:rPr lang="en-US" sz="2600" b="1" dirty="0">
                <a:solidFill>
                  <a:srgbClr val="FF0000"/>
                </a:solidFill>
              </a:rPr>
              <a:t> = 200; </a:t>
            </a:r>
            <a:r>
              <a:rPr lang="en-US" sz="2600" b="1" dirty="0">
                <a:solidFill>
                  <a:srgbClr val="FF0000"/>
                </a:solidFill>
              </a:rPr>
              <a:t>               // </a:t>
            </a:r>
            <a:r>
              <a:rPr lang="en-US" sz="2600" b="1" dirty="0">
                <a:solidFill>
                  <a:srgbClr val="FF0000"/>
                </a:solidFill>
              </a:rPr>
              <a:t>Local variable </a:t>
            </a:r>
          </a:p>
          <a:p>
            <a:pPr marL="0" indent="0" algn="l" rtl="0">
              <a:buNone/>
            </a:pPr>
            <a:r>
              <a:rPr lang="en-US" sz="2600" dirty="0"/>
              <a:t>        </a:t>
            </a:r>
            <a:r>
              <a:rPr lang="en-US" sz="2600" dirty="0" smtClean="0"/>
              <a:t>       </a:t>
            </a:r>
            <a:r>
              <a:rPr lang="en-US" sz="2600" dirty="0"/>
              <a:t> </a:t>
            </a:r>
            <a:r>
              <a:rPr lang="en-US" sz="2600" dirty="0"/>
              <a:t> </a:t>
            </a:r>
            <a:r>
              <a:rPr lang="en-US" sz="2600" dirty="0" err="1"/>
              <a:t>cout</a:t>
            </a:r>
            <a:r>
              <a:rPr lang="en-US" sz="2600" dirty="0"/>
              <a:t> </a:t>
            </a:r>
            <a:r>
              <a:rPr lang="en-US" sz="2600" dirty="0"/>
              <a:t>&lt;&lt; </a:t>
            </a:r>
            <a:r>
              <a:rPr lang="en-US" sz="2600" b="1" dirty="0">
                <a:solidFill>
                  <a:srgbClr val="00B050"/>
                </a:solidFill>
              </a:rPr>
              <a:t>first::</a:t>
            </a:r>
            <a:r>
              <a:rPr lang="en-US" sz="2600" b="1" dirty="0" err="1">
                <a:solidFill>
                  <a:srgbClr val="00B050"/>
                </a:solidFill>
              </a:rPr>
              <a:t>val</a:t>
            </a:r>
            <a:r>
              <a:rPr lang="en-US" sz="2600" b="1" dirty="0">
                <a:solidFill>
                  <a:srgbClr val="00B050"/>
                </a:solidFill>
              </a:rPr>
              <a:t> </a:t>
            </a:r>
            <a:r>
              <a:rPr lang="en-US" sz="2600" dirty="0"/>
              <a:t>&lt;&lt; '\n'; </a:t>
            </a:r>
            <a:endParaRPr lang="en-US" sz="2600" dirty="0"/>
          </a:p>
          <a:p>
            <a:pPr marL="0" indent="0" algn="l" rtl="0">
              <a:buNone/>
            </a:pPr>
            <a:r>
              <a:rPr lang="en-US" sz="2600" dirty="0"/>
              <a:t> </a:t>
            </a:r>
            <a:r>
              <a:rPr lang="en-US" sz="2600" dirty="0"/>
              <a:t>	</a:t>
            </a:r>
            <a:r>
              <a:rPr lang="en-US" sz="2600" dirty="0" err="1"/>
              <a:t>cout</a:t>
            </a:r>
            <a:r>
              <a:rPr lang="en-US" sz="2600" dirty="0"/>
              <a:t> </a:t>
            </a:r>
            <a:r>
              <a:rPr lang="en-US" sz="2600" dirty="0"/>
              <a:t>&lt;&lt; </a:t>
            </a:r>
            <a:r>
              <a:rPr lang="en-US" sz="2600" b="1" dirty="0">
                <a:solidFill>
                  <a:srgbClr val="00B0F0"/>
                </a:solidFill>
              </a:rPr>
              <a:t>::</a:t>
            </a:r>
            <a:r>
              <a:rPr lang="en-US" sz="2600" b="1" dirty="0" err="1">
                <a:solidFill>
                  <a:srgbClr val="00B0F0"/>
                </a:solidFill>
              </a:rPr>
              <a:t>val</a:t>
            </a:r>
            <a:r>
              <a:rPr lang="en-US" sz="2600" b="1" dirty="0">
                <a:solidFill>
                  <a:srgbClr val="00B0F0"/>
                </a:solidFill>
              </a:rPr>
              <a:t> </a:t>
            </a:r>
            <a:r>
              <a:rPr lang="en-US" sz="2600" dirty="0"/>
              <a:t>&lt;&lt; '\n</a:t>
            </a:r>
            <a:r>
              <a:rPr lang="en-US" sz="2600" dirty="0"/>
              <a:t>';</a:t>
            </a:r>
          </a:p>
          <a:p>
            <a:pPr marL="0" indent="0" algn="l" rtl="0">
              <a:buNone/>
            </a:pPr>
            <a:r>
              <a:rPr lang="en-US" sz="2600" dirty="0"/>
              <a:t>	</a:t>
            </a:r>
            <a:r>
              <a:rPr lang="en-US" sz="2600" dirty="0" err="1"/>
              <a:t>cout</a:t>
            </a:r>
            <a:r>
              <a:rPr lang="en-US" sz="2600" dirty="0"/>
              <a:t> </a:t>
            </a:r>
            <a:r>
              <a:rPr lang="en-US" sz="2600" dirty="0"/>
              <a:t>&lt;&lt; </a:t>
            </a:r>
            <a:r>
              <a:rPr lang="en-US" sz="2600" b="1" dirty="0" err="1">
                <a:solidFill>
                  <a:srgbClr val="FF0000"/>
                </a:solidFill>
              </a:rPr>
              <a:t>val</a:t>
            </a:r>
            <a:r>
              <a:rPr lang="en-US" sz="2600" dirty="0"/>
              <a:t> &lt;&lt; '\n';</a:t>
            </a:r>
          </a:p>
          <a:p>
            <a:pPr marL="0" indent="0" algn="l" rtl="0">
              <a:buNone/>
            </a:pPr>
            <a:r>
              <a:rPr lang="en-US" sz="2600" dirty="0"/>
              <a:t>     </a:t>
            </a:r>
            <a:r>
              <a:rPr lang="en-US" sz="2600" dirty="0"/>
              <a:t>   </a:t>
            </a:r>
            <a:r>
              <a:rPr lang="en-US" sz="2600" dirty="0"/>
              <a:t> return 0; </a:t>
            </a:r>
          </a:p>
          <a:p>
            <a:pPr marL="0" indent="0" algn="l" rtl="0">
              <a:buNone/>
            </a:pPr>
            <a:r>
              <a:rPr lang="en-US" sz="2600" dirty="0"/>
              <a:t>	} </a:t>
            </a: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10791393" y="4109218"/>
            <a:ext cx="1894448" cy="17955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700" b="1" dirty="0">
                <a:solidFill>
                  <a:srgbClr val="00B050"/>
                </a:solidFill>
              </a:rPr>
              <a:t>500</a:t>
            </a:r>
          </a:p>
          <a:p>
            <a:pPr algn="l" rtl="0"/>
            <a:r>
              <a:rPr lang="en-US" sz="3700" b="1" dirty="0">
                <a:solidFill>
                  <a:srgbClr val="00B0F0"/>
                </a:solidFill>
              </a:rPr>
              <a:t>100</a:t>
            </a:r>
          </a:p>
          <a:p>
            <a:pPr algn="l" rtl="0"/>
            <a:r>
              <a:rPr lang="en-US" sz="3700" b="1" dirty="0">
                <a:solidFill>
                  <a:srgbClr val="FF0000"/>
                </a:solidFill>
              </a:rPr>
              <a:t>200</a:t>
            </a:r>
            <a:endParaRPr lang="ar-EG" sz="37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6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057" y="1775442"/>
            <a:ext cx="9675219" cy="705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401043" y="241819"/>
            <a:ext cx="8750202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Memory is byte addressable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77880" y="2908991"/>
            <a:ext cx="1759131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391" y="1775442"/>
            <a:ext cx="1962107" cy="886485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r>
              <a:rPr lang="en-US" sz="2600" dirty="0"/>
              <a:t>Byte address</a:t>
            </a:r>
            <a:endParaRPr lang="ar-EG" sz="2600" dirty="0"/>
          </a:p>
        </p:txBody>
      </p:sp>
    </p:spTree>
    <p:extLst>
      <p:ext uri="{BB962C8B-B14F-4D97-AF65-F5344CB8AC3E}">
        <p14:creationId xmlns:p14="http://schemas.microsoft.com/office/powerpoint/2010/main" val="159681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11" y="1442046"/>
            <a:ext cx="13091637" cy="4400833"/>
          </a:xfrm>
        </p:spPr>
        <p:txBody>
          <a:bodyPr>
            <a:normAutofit fontScale="77500" lnSpcReduction="20000"/>
          </a:bodyPr>
          <a:lstStyle/>
          <a:p>
            <a:pPr algn="just" rtl="0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pointer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</a:t>
            </a:r>
            <a:r>
              <a:rPr lang="en-US" b="1" dirty="0">
                <a:solidFill>
                  <a:srgbClr val="FF0000"/>
                </a:solidFill>
              </a:rPr>
              <a:t>variable</a:t>
            </a:r>
            <a:r>
              <a:rPr lang="en-US" dirty="0"/>
              <a:t> whose value is the </a:t>
            </a:r>
            <a:r>
              <a:rPr lang="en-US" b="1" dirty="0">
                <a:solidFill>
                  <a:srgbClr val="FF0000"/>
                </a:solidFill>
              </a:rPr>
              <a:t>address of another </a:t>
            </a:r>
            <a:r>
              <a:rPr lang="en-US" b="1" dirty="0" smtClean="0">
                <a:solidFill>
                  <a:srgbClr val="FF0000"/>
                </a:solidFill>
              </a:rPr>
              <a:t>variable. </a:t>
            </a:r>
          </a:p>
          <a:p>
            <a:pPr algn="just" rtl="0"/>
            <a:endParaRPr lang="en-US" b="1" dirty="0"/>
          </a:p>
          <a:p>
            <a:pPr algn="just" rtl="0"/>
            <a:endParaRPr lang="en-US" b="1" dirty="0" smtClean="0"/>
          </a:p>
          <a:p>
            <a:pPr algn="just" rtl="0"/>
            <a:r>
              <a:rPr lang="en-US" dirty="0" smtClean="0"/>
              <a:t>A</a:t>
            </a:r>
            <a:r>
              <a:rPr lang="en-US" b="1" dirty="0" smtClean="0"/>
              <a:t> pointer </a:t>
            </a:r>
            <a:r>
              <a:rPr lang="en-US" dirty="0" smtClean="0"/>
              <a:t>is a direct </a:t>
            </a:r>
            <a:r>
              <a:rPr lang="en-US" b="1" dirty="0"/>
              <a:t>address</a:t>
            </a:r>
            <a:r>
              <a:rPr lang="en-US" dirty="0"/>
              <a:t> of the </a:t>
            </a:r>
            <a:r>
              <a:rPr lang="en-US" b="1" dirty="0"/>
              <a:t>memory</a:t>
            </a:r>
            <a:r>
              <a:rPr lang="en-US" dirty="0"/>
              <a:t> location. </a:t>
            </a:r>
            <a:endParaRPr lang="en-US" dirty="0" smtClean="0"/>
          </a:p>
          <a:p>
            <a:pPr marL="0" indent="0" algn="just" rtl="0">
              <a:buNone/>
            </a:pPr>
            <a:endParaRPr lang="en-US" dirty="0" smtClean="0"/>
          </a:p>
          <a:p>
            <a:pPr algn="just" rtl="0"/>
            <a:r>
              <a:rPr lang="en-US" dirty="0" smtClean="0"/>
              <a:t>Like </a:t>
            </a:r>
            <a:r>
              <a:rPr lang="en-US" dirty="0"/>
              <a:t>any variable or constant, you must </a:t>
            </a:r>
            <a:r>
              <a:rPr lang="en-US" b="1" dirty="0"/>
              <a:t>declare</a:t>
            </a:r>
            <a:r>
              <a:rPr lang="en-US" dirty="0"/>
              <a:t> a pointer before using it to store any variable address.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717164" y="508536"/>
            <a:ext cx="7111933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Pointers in C language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716" y="5442804"/>
            <a:ext cx="11704985" cy="3467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134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11" y="1642084"/>
            <a:ext cx="13091637" cy="7001326"/>
          </a:xfrm>
        </p:spPr>
        <p:txBody>
          <a:bodyPr>
            <a:noAutofit/>
          </a:bodyPr>
          <a:lstStyle/>
          <a:p>
            <a:pPr marL="0" indent="0" algn="just" rtl="0">
              <a:buNone/>
            </a:pPr>
            <a:r>
              <a:rPr lang="en-US" sz="4800" dirty="0"/>
              <a:t>int *x;           ( pointer to an integer)</a:t>
            </a:r>
          </a:p>
          <a:p>
            <a:pPr marL="0" indent="0" algn="just" rtl="0">
              <a:buNone/>
            </a:pPr>
            <a:r>
              <a:rPr lang="en-US" sz="4800" dirty="0"/>
              <a:t>double *y;   (pointer to a double )</a:t>
            </a:r>
          </a:p>
          <a:p>
            <a:pPr marL="0" indent="0" algn="just" rtl="0">
              <a:buNone/>
            </a:pPr>
            <a:r>
              <a:rPr lang="en-US" sz="4800" dirty="0"/>
              <a:t> float *z;       (pointer to a float )</a:t>
            </a:r>
          </a:p>
          <a:p>
            <a:pPr marL="0" indent="0" algn="just" rtl="0">
              <a:buNone/>
            </a:pPr>
            <a:r>
              <a:rPr lang="en-US" sz="4800" dirty="0"/>
              <a:t> char *c;       ( pointer to a character )</a:t>
            </a:r>
          </a:p>
          <a:p>
            <a:pPr marL="0" indent="0" algn="just" rtl="0">
              <a:buNone/>
            </a:pPr>
            <a:r>
              <a:rPr lang="en-US" sz="4800" dirty="0"/>
              <a:t>Here, </a:t>
            </a:r>
            <a:r>
              <a:rPr lang="en-US" sz="4800" b="1" dirty="0"/>
              <a:t>type</a:t>
            </a:r>
            <a:r>
              <a:rPr lang="en-US" sz="4800" dirty="0"/>
              <a:t> is the pointer's base type; it must be a valid </a:t>
            </a:r>
            <a:r>
              <a:rPr lang="en-US" sz="4800" dirty="0"/>
              <a:t>C++ </a:t>
            </a:r>
            <a:r>
              <a:rPr lang="en-US" sz="4800" dirty="0"/>
              <a:t>data type </a:t>
            </a:r>
          </a:p>
          <a:p>
            <a:pPr marL="0" indent="0" algn="just" rtl="0">
              <a:buNone/>
            </a:pPr>
            <a:r>
              <a:rPr lang="en-US" sz="4800" b="1" dirty="0" err="1"/>
              <a:t>var</a:t>
            </a:r>
            <a:r>
              <a:rPr lang="en-US" sz="4800" b="1" dirty="0"/>
              <a:t>-name</a:t>
            </a:r>
            <a:r>
              <a:rPr lang="en-US" sz="4800" dirty="0"/>
              <a:t> is the name of the pointer variable. </a:t>
            </a:r>
          </a:p>
          <a:p>
            <a:pPr marL="0" indent="0" algn="just" rtl="0">
              <a:buNone/>
            </a:pPr>
            <a:r>
              <a:rPr lang="en-US" sz="4800" dirty="0"/>
              <a:t>The </a:t>
            </a:r>
            <a:r>
              <a:rPr lang="en-US" sz="4800" b="1" dirty="0"/>
              <a:t>asterisk * </a:t>
            </a:r>
            <a:r>
              <a:rPr lang="en-US" sz="4800" dirty="0"/>
              <a:t>used to declare a pointer.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2229" y="441857"/>
            <a:ext cx="6401803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Pointers Declaration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939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363" y="1642085"/>
            <a:ext cx="12799091" cy="6104834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dirty="0" smtClean="0"/>
              <a:t>Declaration: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dirty="0" smtClean="0"/>
              <a:t>int a;		  ( a is an integer) 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dirty="0" smtClean="0"/>
              <a:t>int *pa; 	   (</a:t>
            </a:r>
            <a:r>
              <a:rPr lang="en-US" sz="4800" dirty="0"/>
              <a:t>pa is a pointer to integer)</a:t>
            </a:r>
            <a:endParaRPr lang="en-US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dirty="0" smtClean="0"/>
              <a:t>int  a </a:t>
            </a:r>
            <a:r>
              <a:rPr lang="en-US" dirty="0"/>
              <a:t>= 2</a:t>
            </a:r>
            <a:r>
              <a:rPr lang="en-US" dirty="0" smtClean="0"/>
              <a:t>;         ( </a:t>
            </a:r>
            <a:r>
              <a:rPr lang="en-US" dirty="0"/>
              <a:t>a </a:t>
            </a:r>
            <a:r>
              <a:rPr lang="en-US" dirty="0" smtClean="0"/>
              <a:t>value =2) 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dirty="0" smtClean="0"/>
              <a:t>int* pa  = </a:t>
            </a:r>
            <a:r>
              <a:rPr lang="en-US" dirty="0"/>
              <a:t>&amp;</a:t>
            </a:r>
            <a:r>
              <a:rPr lang="en-US" dirty="0" smtClean="0"/>
              <a:t>a;   </a:t>
            </a:r>
            <a:r>
              <a:rPr lang="en-US" dirty="0" smtClean="0"/>
              <a:t>(</a:t>
            </a:r>
            <a:r>
              <a:rPr lang="en-US" sz="4300" dirty="0"/>
              <a:t>pa containing the address of a </a:t>
            </a:r>
            <a:r>
              <a:rPr lang="en-US" sz="4000" dirty="0"/>
              <a:t>)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dirty="0"/>
              <a:t>“&amp;” operator means “address of</a:t>
            </a:r>
            <a:r>
              <a:rPr lang="en-US" dirty="0" smtClean="0"/>
              <a:t>” read </a:t>
            </a:r>
            <a:r>
              <a:rPr lang="en-US" dirty="0"/>
              <a:t>it as “at”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4634436" y="508536"/>
            <a:ext cx="7068651" cy="1040374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 rtl="0"/>
            <a:r>
              <a:rPr lang="en-US" sz="6200" dirty="0"/>
              <a:t>Pointer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76074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fBook - Memory in C++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837" y="175139"/>
            <a:ext cx="7092110" cy="653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888818" y="3848147"/>
            <a:ext cx="541271" cy="6555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85432" tIns="42716" rIns="85432" bIns="42716" rtlCol="1">
            <a:spAutoFit/>
          </a:bodyPr>
          <a:lstStyle/>
          <a:p>
            <a:r>
              <a:rPr lang="en-US" sz="3700" dirty="0"/>
              <a:t>pi</a:t>
            </a:r>
            <a:endParaRPr lang="ar-EG" sz="37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0" y="350486"/>
            <a:ext cx="5941909" cy="705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25104" y="7406594"/>
            <a:ext cx="2435719" cy="655501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700" dirty="0" err="1"/>
              <a:t>int</a:t>
            </a:r>
            <a:r>
              <a:rPr lang="en-US" sz="3700" dirty="0"/>
              <a:t> i;</a:t>
            </a:r>
            <a:endParaRPr lang="ar-EG" sz="3700" dirty="0"/>
          </a:p>
        </p:txBody>
      </p:sp>
      <p:sp>
        <p:nvSpPr>
          <p:cNvPr id="9" name="TextBox 8"/>
          <p:cNvSpPr txBox="1"/>
          <p:nvPr/>
        </p:nvSpPr>
        <p:spPr>
          <a:xfrm>
            <a:off x="9263032" y="7419183"/>
            <a:ext cx="2746220" cy="655501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700" dirty="0" err="1"/>
              <a:t>int</a:t>
            </a:r>
            <a:r>
              <a:rPr lang="en-US" sz="3700" dirty="0"/>
              <a:t>  *pi =&amp; i ;</a:t>
            </a:r>
            <a:endParaRPr lang="ar-EG" sz="3700" dirty="0"/>
          </a:p>
        </p:txBody>
      </p:sp>
    </p:spTree>
    <p:extLst>
      <p:ext uri="{BB962C8B-B14F-4D97-AF65-F5344CB8AC3E}">
        <p14:creationId xmlns:p14="http://schemas.microsoft.com/office/powerpoint/2010/main" val="43329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2411" y="2009508"/>
            <a:ext cx="4856908" cy="212364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 rtl="0"/>
            <a:r>
              <a:rPr lang="en-US" sz="4400" dirty="0" err="1"/>
              <a:t>int</a:t>
            </a:r>
            <a:r>
              <a:rPr lang="en-US" sz="4400" dirty="0"/>
              <a:t> </a:t>
            </a:r>
            <a:r>
              <a:rPr lang="en-US" sz="4400" dirty="0"/>
              <a:t>  x = </a:t>
            </a:r>
            <a:r>
              <a:rPr lang="en-US" sz="4400" dirty="0"/>
              <a:t>2; </a:t>
            </a:r>
          </a:p>
          <a:p>
            <a:pPr algn="l" rtl="0"/>
            <a:r>
              <a:rPr lang="en-US" sz="4400" dirty="0"/>
              <a:t>int *</a:t>
            </a:r>
            <a:r>
              <a:rPr lang="en-US" sz="4400" dirty="0" err="1"/>
              <a:t>px</a:t>
            </a:r>
            <a:r>
              <a:rPr lang="en-US" sz="4400" dirty="0"/>
              <a:t>  = &amp;x;</a:t>
            </a:r>
            <a:endParaRPr lang="en-US" sz="4400" dirty="0"/>
          </a:p>
          <a:p>
            <a:pPr algn="l" rtl="0"/>
            <a:endParaRPr lang="en-US" sz="4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24231"/>
              </p:ext>
            </p:extLst>
          </p:nvPr>
        </p:nvGraphicFramePr>
        <p:xfrm>
          <a:off x="40514" y="4709331"/>
          <a:ext cx="14329916" cy="301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479"/>
                <a:gridCol w="3582479"/>
                <a:gridCol w="3582479"/>
                <a:gridCol w="3582479"/>
              </a:tblGrid>
              <a:tr h="1192193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Variable name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Variable type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Address in memory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970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 int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1000 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9707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 smtClean="0">
                          <a:solidFill>
                            <a:schemeClr val="tx1"/>
                          </a:solidFill>
                        </a:rPr>
                        <a:t>px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Pointer to int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baseline="0" dirty="0" smtClean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3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1129687" y="1921663"/>
            <a:ext cx="1894448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ar-EG" sz="2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29286" y="1921663"/>
            <a:ext cx="1902326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1000</a:t>
            </a:r>
            <a:endParaRPr lang="ar-EG" sz="26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96543" y="1921663"/>
            <a:ext cx="1894448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X</a:t>
            </a:r>
            <a:endParaRPr lang="ar-EG" sz="2600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96543" y="908612"/>
            <a:ext cx="1894448" cy="763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2200" dirty="0"/>
              <a:t>Variable name</a:t>
            </a:r>
            <a:endParaRPr lang="ar-EG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11129687" y="892910"/>
            <a:ext cx="1894448" cy="4275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2200" dirty="0"/>
              <a:t>value</a:t>
            </a:r>
            <a:endParaRPr lang="ar-EG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8837163" y="895422"/>
            <a:ext cx="1894448" cy="4275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2200" dirty="0"/>
              <a:t>address</a:t>
            </a:r>
            <a:endParaRPr lang="ar-EG" sz="2200" dirty="0"/>
          </a:p>
        </p:txBody>
      </p:sp>
      <p:sp>
        <p:nvSpPr>
          <p:cNvPr id="12" name="Rectangle 11"/>
          <p:cNvSpPr/>
          <p:nvPr/>
        </p:nvSpPr>
        <p:spPr>
          <a:xfrm>
            <a:off x="11153241" y="2793170"/>
            <a:ext cx="1894448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1000</a:t>
            </a:r>
            <a:endParaRPr lang="ar-EG" sz="26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52840" y="2793170"/>
            <a:ext cx="1902326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1500</a:t>
            </a:r>
            <a:endParaRPr lang="ar-EG" sz="26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0097" y="2793170"/>
            <a:ext cx="1894448" cy="5334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z="2600" b="1" dirty="0" err="1">
                <a:solidFill>
                  <a:schemeClr val="tx1"/>
                </a:solidFill>
              </a:rPr>
              <a:t>pX</a:t>
            </a:r>
            <a:endParaRPr lang="ar-EG" sz="2600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10755165" y="2455097"/>
            <a:ext cx="398076" cy="33807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16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80000"/>
              </a:lnSpc>
            </a:pPr>
            <a:r>
              <a:rPr lang="en-US" dirty="0"/>
              <a:t>A </a:t>
            </a:r>
            <a:r>
              <a:rPr lang="en-US" dirty="0"/>
              <a:t>user defined </a:t>
            </a:r>
            <a:r>
              <a:rPr lang="en-US" b="1" dirty="0">
                <a:solidFill>
                  <a:srgbClr val="FF0000"/>
                </a:solidFill>
              </a:rPr>
              <a:t>type</a:t>
            </a:r>
          </a:p>
          <a:p>
            <a:pPr lvl="1" algn="l" rtl="0">
              <a:lnSpc>
                <a:spcPct val="80000"/>
              </a:lnSpc>
            </a:pPr>
            <a:endParaRPr lang="en-US" dirty="0"/>
          </a:p>
          <a:p>
            <a:pPr lvl="1" algn="l" rtl="0">
              <a:lnSpc>
                <a:spcPct val="80000"/>
              </a:lnSpc>
            </a:pPr>
            <a:r>
              <a:rPr lang="en-US" dirty="0"/>
              <a:t>Consists of both </a:t>
            </a:r>
            <a:r>
              <a:rPr lang="en-US" b="1" dirty="0">
                <a:solidFill>
                  <a:srgbClr val="FF0000"/>
                </a:solidFill>
              </a:rPr>
              <a:t>data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methods</a:t>
            </a:r>
          </a:p>
          <a:p>
            <a:pPr lvl="1" algn="l" rtl="0">
              <a:lnSpc>
                <a:spcPct val="80000"/>
              </a:lnSpc>
            </a:pPr>
            <a:endParaRPr lang="en-US" dirty="0"/>
          </a:p>
          <a:p>
            <a:pPr lvl="1" algn="l" rtl="0">
              <a:lnSpc>
                <a:spcPct val="80000"/>
              </a:lnSpc>
            </a:pPr>
            <a:r>
              <a:rPr lang="en-US" dirty="0"/>
              <a:t>Defines properties and behavior of that type</a:t>
            </a:r>
          </a:p>
          <a:p>
            <a:pPr algn="l" rtl="0"/>
            <a:endParaRPr lang="en-US" sz="41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07244" y="308499"/>
            <a:ext cx="13091637" cy="1503098"/>
          </a:xfrm>
        </p:spPr>
        <p:txBody>
          <a:bodyPr>
            <a:normAutofit/>
          </a:bodyPr>
          <a:lstStyle/>
          <a:p>
            <a:r>
              <a:rPr lang="en-US" sz="6200" dirty="0">
                <a:solidFill>
                  <a:srgbClr val="0070C0"/>
                </a:solidFill>
              </a:rPr>
              <a:t>Classes in C++</a:t>
            </a:r>
            <a:endParaRPr lang="ar-EG" sz="6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79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268" y="1642084"/>
            <a:ext cx="6771504" cy="5951851"/>
          </a:xfrm>
          <a:ln>
            <a:solidFill>
              <a:srgbClr val="FF0000"/>
            </a:solidFill>
          </a:ln>
        </p:spPr>
        <p:txBody>
          <a:bodyPr>
            <a:normAutofit lnSpcReduction="10000"/>
          </a:bodyPr>
          <a:lstStyle/>
          <a:p>
            <a:pPr marL="0" indent="0" algn="l" rtl="0">
              <a:lnSpc>
                <a:spcPct val="200000"/>
              </a:lnSpc>
              <a:buNone/>
            </a:pPr>
            <a:r>
              <a:rPr lang="en-US" sz="3700" dirty="0"/>
              <a:t>class </a:t>
            </a:r>
            <a:r>
              <a:rPr lang="en-US" sz="3700" dirty="0" err="1"/>
              <a:t>className</a:t>
            </a:r>
            <a:r>
              <a:rPr lang="en-US" sz="3700" dirty="0"/>
              <a:t> </a:t>
            </a:r>
            <a:r>
              <a:rPr lang="en-US" sz="3700" dirty="0"/>
              <a:t>{</a:t>
            </a:r>
          </a:p>
          <a:p>
            <a:pPr marL="0" indent="0" algn="l" rtl="0">
              <a:lnSpc>
                <a:spcPct val="200000"/>
              </a:lnSpc>
              <a:buNone/>
            </a:pPr>
            <a:r>
              <a:rPr lang="en-US" sz="3700" dirty="0" err="1"/>
              <a:t>access_specifier</a:t>
            </a:r>
            <a:r>
              <a:rPr lang="en-US" sz="3700" dirty="0"/>
              <a:t>:    </a:t>
            </a:r>
            <a:endParaRPr lang="en-US" sz="3700" dirty="0"/>
          </a:p>
          <a:p>
            <a:pPr marL="0" indent="0" algn="l" rtl="0">
              <a:lnSpc>
                <a:spcPct val="200000"/>
              </a:lnSpc>
              <a:buNone/>
            </a:pPr>
            <a:r>
              <a:rPr lang="en-US" sz="3700" dirty="0"/>
              <a:t>// </a:t>
            </a:r>
            <a:r>
              <a:rPr lang="en-US" sz="3700" dirty="0"/>
              <a:t>data member    </a:t>
            </a:r>
            <a:endParaRPr lang="en-US" sz="3700" dirty="0"/>
          </a:p>
          <a:p>
            <a:pPr marL="0" indent="0" algn="l" rtl="0">
              <a:lnSpc>
                <a:spcPct val="200000"/>
              </a:lnSpc>
              <a:buNone/>
            </a:pPr>
            <a:r>
              <a:rPr lang="en-US" sz="3700" dirty="0"/>
              <a:t>// </a:t>
            </a:r>
            <a:r>
              <a:rPr lang="en-US" sz="3700" dirty="0"/>
              <a:t>member </a:t>
            </a:r>
            <a:r>
              <a:rPr lang="en-US" sz="3700" dirty="0"/>
              <a:t>method</a:t>
            </a:r>
          </a:p>
          <a:p>
            <a:pPr marL="0" indent="0" algn="l" rtl="0">
              <a:lnSpc>
                <a:spcPct val="200000"/>
              </a:lnSpc>
              <a:buNone/>
            </a:pPr>
            <a:r>
              <a:rPr lang="en-US" sz="3700" dirty="0"/>
              <a:t>} </a:t>
            </a:r>
            <a:r>
              <a:rPr lang="en-US" sz="3700" dirty="0" err="1"/>
              <a:t>object_names</a:t>
            </a:r>
            <a:r>
              <a:rPr lang="en-US" sz="3700" dirty="0"/>
              <a:t>;   //optional </a:t>
            </a:r>
            <a:endParaRPr lang="ar-EG" sz="3700" dirty="0"/>
          </a:p>
        </p:txBody>
      </p:sp>
      <p:sp>
        <p:nvSpPr>
          <p:cNvPr id="4" name="Rectangle 3"/>
          <p:cNvSpPr/>
          <p:nvPr/>
        </p:nvSpPr>
        <p:spPr>
          <a:xfrm>
            <a:off x="3536638" y="575215"/>
            <a:ext cx="7078269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 definition in C++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43768" y="1430217"/>
            <a:ext cx="6613477" cy="70680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85432" tIns="42716" rIns="85432" bIns="42716" rtlCol="1">
            <a:normAutofit fontScale="850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 marL="0" indent="0" algn="l" rtl="0">
              <a:buNone/>
            </a:pPr>
            <a:r>
              <a:rPr lang="en-US" dirty="0" smtClean="0"/>
              <a:t>#include &lt;bits/</a:t>
            </a:r>
            <a:r>
              <a:rPr lang="en-US" dirty="0" err="1" smtClean="0"/>
              <a:t>stdc</a:t>
            </a:r>
            <a:r>
              <a:rPr lang="en-US" dirty="0" smtClean="0"/>
              <a:t>++.h&gt;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using namespace </a:t>
            </a:r>
            <a:r>
              <a:rPr lang="en-US" dirty="0" err="1" smtClean="0"/>
              <a:t>std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class </a:t>
            </a:r>
            <a:r>
              <a:rPr lang="en-US" dirty="0" err="1" smtClean="0"/>
              <a:t>GfG</a:t>
            </a: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 {</a:t>
            </a:r>
          </a:p>
          <a:p>
            <a:pPr marL="0" indent="0" algn="l" rtl="0">
              <a:buNone/>
            </a:pPr>
            <a:r>
              <a:rPr lang="en-US" dirty="0" smtClean="0"/>
              <a:t>public: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r>
              <a:rPr lang="en-US" dirty="0" smtClean="0"/>
              <a:t>    </a:t>
            </a:r>
          </a:p>
          <a:p>
            <a:pPr marL="0" indent="0" algn="l" rtl="0">
              <a:buNone/>
            </a:pPr>
            <a:r>
              <a:rPr lang="en-US" dirty="0" smtClean="0"/>
              <a:t>void show( ) {</a:t>
            </a:r>
          </a:p>
          <a:p>
            <a:pPr marL="0" indent="0" algn="l" rtl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"Value: " &lt;&lt; </a:t>
            </a:r>
            <a:r>
              <a:rPr lang="en-US" dirty="0" err="1" smtClean="0"/>
              <a:t>val</a:t>
            </a:r>
            <a:r>
              <a:rPr lang="en-US" dirty="0" smtClean="0"/>
              <a:t> ;</a:t>
            </a:r>
          </a:p>
          <a:p>
            <a:pPr marL="0" indent="0" algn="l" rtl="0">
              <a:buNone/>
            </a:pPr>
            <a:r>
              <a:rPr lang="en-US" dirty="0" smtClean="0"/>
              <a:t>    }</a:t>
            </a:r>
          </a:p>
          <a:p>
            <a:pPr marL="0" indent="0" algn="l" rtl="0">
              <a:buNone/>
            </a:pPr>
            <a:r>
              <a:rPr lang="en-US" dirty="0" smtClean="0"/>
              <a:t>    </a:t>
            </a:r>
          </a:p>
          <a:p>
            <a:pPr marL="0" indent="0" algn="l" rtl="0">
              <a:buNone/>
            </a:pPr>
            <a:r>
              <a:rPr lang="en-US" dirty="0" smtClean="0"/>
              <a:t>};</a:t>
            </a:r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1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19" y="1668478"/>
            <a:ext cx="14375246" cy="7196733"/>
          </a:xfrm>
        </p:spPr>
        <p:txBody>
          <a:bodyPr>
            <a:normAutofit/>
          </a:bodyPr>
          <a:lstStyle/>
          <a:p>
            <a:pPr algn="just" rtl="0"/>
            <a:endParaRPr lang="en-US" sz="3700" dirty="0"/>
          </a:p>
          <a:p>
            <a:pPr algn="just" rtl="0"/>
            <a:r>
              <a:rPr lang="en-US" sz="3700" b="1" dirty="0">
                <a:solidFill>
                  <a:srgbClr val="FF0000"/>
                </a:solidFill>
              </a:rPr>
              <a:t>Private </a:t>
            </a:r>
            <a:r>
              <a:rPr lang="en-US" sz="3700" dirty="0"/>
              <a:t>members of a class are accessible only from within other members of the same class.</a:t>
            </a:r>
          </a:p>
          <a:p>
            <a:pPr marL="0" indent="0" algn="just" rtl="0">
              <a:buNone/>
            </a:pPr>
            <a:r>
              <a:rPr lang="en-US" sz="3700" dirty="0"/>
              <a:t> </a:t>
            </a:r>
          </a:p>
          <a:p>
            <a:pPr algn="just" rtl="0"/>
            <a:r>
              <a:rPr lang="en-US" sz="3700" b="1" dirty="0">
                <a:solidFill>
                  <a:srgbClr val="FF0000"/>
                </a:solidFill>
              </a:rPr>
              <a:t>Protected</a:t>
            </a:r>
            <a:r>
              <a:rPr lang="en-US" sz="3700" dirty="0"/>
              <a:t> members are accessible from other members of the same class and from members of their derived classes (</a:t>
            </a:r>
            <a:r>
              <a:rPr lang="en-US" sz="3700" dirty="0" err="1"/>
              <a:t>subcalsses</a:t>
            </a:r>
            <a:r>
              <a:rPr lang="en-US" sz="3700" dirty="0"/>
              <a:t>).</a:t>
            </a:r>
          </a:p>
          <a:p>
            <a:pPr algn="just" rtl="0"/>
            <a:endParaRPr lang="en-US" sz="3700" dirty="0"/>
          </a:p>
          <a:p>
            <a:pPr algn="just" rtl="0"/>
            <a:r>
              <a:rPr lang="en-US" sz="3700" b="1" dirty="0">
                <a:solidFill>
                  <a:srgbClr val="FF0000"/>
                </a:solidFill>
              </a:rPr>
              <a:t>Public</a:t>
            </a:r>
            <a:r>
              <a:rPr lang="en-US" sz="3700" dirty="0"/>
              <a:t> members are accessible from anywhere where the object is visible.</a:t>
            </a:r>
          </a:p>
          <a:p>
            <a:pPr algn="just" rtl="0"/>
            <a:endParaRPr lang="en-US" sz="3700" dirty="0"/>
          </a:p>
          <a:p>
            <a:pPr algn="just" rtl="0"/>
            <a:endParaRPr lang="ar-EG" sz="3700" dirty="0"/>
          </a:p>
        </p:txBody>
      </p:sp>
      <p:sp>
        <p:nvSpPr>
          <p:cNvPr id="4" name="Rectangle 3"/>
          <p:cNvSpPr/>
          <p:nvPr/>
        </p:nvSpPr>
        <p:spPr>
          <a:xfrm>
            <a:off x="4574560" y="441857"/>
            <a:ext cx="5334203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Access-</a:t>
            </a:r>
            <a:r>
              <a:rPr lang="en-US" sz="5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Specifier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063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880" y="1575405"/>
            <a:ext cx="6613477" cy="7068005"/>
          </a:xfrm>
          <a:ln>
            <a:solidFill>
              <a:srgbClr val="FF0000"/>
            </a:solidFill>
          </a:ln>
        </p:spPr>
        <p:txBody>
          <a:bodyPr>
            <a:normAutofit fontScale="55000" lnSpcReduction="20000"/>
          </a:bodyPr>
          <a:lstStyle/>
          <a:p>
            <a:pPr marL="0" indent="0" algn="l" rtl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 algn="l" rtl="0">
              <a:buNone/>
            </a:pPr>
            <a:r>
              <a:rPr lang="en-US" dirty="0" smtClean="0"/>
              <a:t>#</a:t>
            </a:r>
            <a:r>
              <a:rPr lang="en-US" dirty="0"/>
              <a:t>include &lt;bits/</a:t>
            </a:r>
            <a:r>
              <a:rPr lang="en-US" dirty="0" err="1"/>
              <a:t>stdc</a:t>
            </a:r>
            <a:r>
              <a:rPr lang="en-US" dirty="0"/>
              <a:t>++.h</a:t>
            </a:r>
            <a:r>
              <a:rPr lang="en-US" dirty="0" smtClean="0"/>
              <a:t>&gt;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smtClean="0"/>
              <a:t>class </a:t>
            </a:r>
            <a:r>
              <a:rPr lang="en-US" dirty="0" err="1" smtClean="0"/>
              <a:t>GfG</a:t>
            </a: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pPr marL="0" indent="0" algn="l" rtl="0">
              <a:buNone/>
            </a:pPr>
            <a:r>
              <a:rPr lang="en-US" dirty="0"/>
              <a:t>public: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</a:p>
          <a:p>
            <a:pPr marL="0" indent="0" algn="l" rtl="0">
              <a:buNone/>
            </a:pPr>
            <a:r>
              <a:rPr lang="en-US" dirty="0" smtClean="0"/>
              <a:t>void </a:t>
            </a:r>
            <a:r>
              <a:rPr lang="en-US" dirty="0"/>
              <a:t>show</a:t>
            </a:r>
            <a:r>
              <a:rPr lang="en-US" dirty="0" smtClean="0"/>
              <a:t>( ) </a:t>
            </a:r>
            <a:r>
              <a:rPr lang="en-US" dirty="0"/>
              <a:t>{</a:t>
            </a:r>
          </a:p>
          <a:p>
            <a:pPr marL="0" indent="0" algn="l" rtl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"Value: " &lt;&lt; </a:t>
            </a:r>
            <a:r>
              <a:rPr lang="en-US" dirty="0" err="1"/>
              <a:t>val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 algn="l" rtl="0">
              <a:buNone/>
            </a:pPr>
            <a:r>
              <a:rPr lang="en-US" dirty="0"/>
              <a:t>    }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</a:p>
          <a:p>
            <a:pPr marL="0" indent="0" algn="l" rtl="0">
              <a:buNone/>
            </a:pPr>
            <a:r>
              <a:rPr lang="en-US" dirty="0"/>
              <a:t>};</a:t>
            </a: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746744" y="1642085"/>
            <a:ext cx="5886322" cy="6087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000" dirty="0" err="1"/>
              <a:t>int</a:t>
            </a:r>
            <a:r>
              <a:rPr lang="en-US" sz="3000" dirty="0"/>
              <a:t> main() {</a:t>
            </a:r>
          </a:p>
          <a:p>
            <a:pPr algn="l" rtl="0"/>
            <a:r>
              <a:rPr lang="en-US" sz="3000" dirty="0"/>
              <a:t>    </a:t>
            </a:r>
          </a:p>
          <a:p>
            <a:pPr algn="l" rtl="0"/>
            <a:endParaRPr lang="en-US" sz="3000" dirty="0"/>
          </a:p>
          <a:p>
            <a:pPr algn="l" rtl="0"/>
            <a:r>
              <a:rPr lang="en-US" sz="3000" dirty="0" err="1"/>
              <a:t>GfG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obj</a:t>
            </a:r>
            <a:r>
              <a:rPr lang="en-US" sz="3000" dirty="0"/>
              <a:t> ;    // </a:t>
            </a:r>
            <a:r>
              <a:rPr lang="en-US" sz="3000" dirty="0"/>
              <a:t>Create Object</a:t>
            </a:r>
          </a:p>
          <a:p>
            <a:pPr algn="l" rtl="0"/>
            <a:endParaRPr lang="en-US" sz="3000" dirty="0"/>
          </a:p>
          <a:p>
            <a:pPr algn="l" rtl="0"/>
            <a:r>
              <a:rPr lang="en-US" sz="3000" dirty="0"/>
              <a:t>  </a:t>
            </a:r>
            <a:r>
              <a:rPr lang="en-US" sz="3000" b="1" dirty="0" err="1">
                <a:solidFill>
                  <a:srgbClr val="FF0000"/>
                </a:solidFill>
              </a:rPr>
              <a:t>obj</a:t>
            </a:r>
            <a:r>
              <a:rPr lang="en-US" sz="3000" dirty="0" err="1"/>
              <a:t>.val</a:t>
            </a:r>
            <a:r>
              <a:rPr lang="en-US" sz="3000" dirty="0"/>
              <a:t> </a:t>
            </a:r>
            <a:r>
              <a:rPr lang="en-US" sz="3000" dirty="0"/>
              <a:t>= 10;</a:t>
            </a:r>
          </a:p>
          <a:p>
            <a:pPr algn="l" rtl="0"/>
            <a:r>
              <a:rPr lang="en-US" sz="3000" dirty="0"/>
              <a:t>    </a:t>
            </a:r>
          </a:p>
          <a:p>
            <a:pPr algn="l" rtl="0"/>
            <a:r>
              <a:rPr lang="en-US" sz="3000" dirty="0"/>
              <a:t>   </a:t>
            </a:r>
            <a:r>
              <a:rPr lang="en-US" sz="3000" b="1" dirty="0" err="1">
                <a:solidFill>
                  <a:srgbClr val="FF0000"/>
                </a:solidFill>
              </a:rPr>
              <a:t>obj</a:t>
            </a:r>
            <a:r>
              <a:rPr lang="en-US" sz="3000" dirty="0" err="1"/>
              <a:t>.show</a:t>
            </a:r>
            <a:r>
              <a:rPr lang="en-US" sz="3000" dirty="0"/>
              <a:t>(  );</a:t>
            </a:r>
            <a:endParaRPr lang="en-US" sz="3000" dirty="0"/>
          </a:p>
          <a:p>
            <a:pPr algn="l" rtl="0"/>
            <a:endParaRPr lang="en-US" sz="3000" dirty="0"/>
          </a:p>
          <a:p>
            <a:pPr algn="l" rtl="0"/>
            <a:r>
              <a:rPr lang="en-US" sz="3000" dirty="0"/>
              <a:t>    </a:t>
            </a:r>
          </a:p>
          <a:p>
            <a:pPr algn="l" rtl="0"/>
            <a:r>
              <a:rPr lang="en-US" sz="3000" dirty="0"/>
              <a:t>    return 0;</a:t>
            </a:r>
          </a:p>
          <a:p>
            <a:pPr algn="l" rtl="0"/>
            <a:r>
              <a:rPr lang="en-US" sz="3000" dirty="0"/>
              <a:t>}</a:t>
            </a:r>
            <a:endParaRPr lang="ar-EG" sz="3000" dirty="0"/>
          </a:p>
          <a:p>
            <a:endParaRPr lang="ar-EG" sz="3000" dirty="0"/>
          </a:p>
        </p:txBody>
      </p:sp>
      <p:sp>
        <p:nvSpPr>
          <p:cNvPr id="5" name="Rectangle 4"/>
          <p:cNvSpPr/>
          <p:nvPr/>
        </p:nvSpPr>
        <p:spPr>
          <a:xfrm>
            <a:off x="764761" y="375178"/>
            <a:ext cx="13126400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 definition and object creation in C++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075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62" y="1171747"/>
            <a:ext cx="8119065" cy="7605021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3200" dirty="0"/>
              <a:t>#include &lt;bits/</a:t>
            </a:r>
            <a:r>
              <a:rPr lang="en-US" sz="3200" dirty="0" err="1"/>
              <a:t>stdc</a:t>
            </a:r>
            <a:r>
              <a:rPr lang="en-US" sz="3200" dirty="0"/>
              <a:t>++.h&gt;</a:t>
            </a:r>
          </a:p>
          <a:p>
            <a:pPr marL="0" indent="0" algn="l" rtl="0">
              <a:buNone/>
            </a:pPr>
            <a:r>
              <a:rPr lang="en-US" sz="3200" dirty="0"/>
              <a:t>using namespace </a:t>
            </a:r>
            <a:r>
              <a:rPr lang="en-US" sz="3200" dirty="0" err="1"/>
              <a:t>std</a:t>
            </a:r>
            <a:r>
              <a:rPr lang="en-US" sz="3200" dirty="0" smtClean="0"/>
              <a:t>;</a:t>
            </a:r>
            <a:endParaRPr lang="en-US" sz="3200" dirty="0"/>
          </a:p>
          <a:p>
            <a:pPr marL="0" indent="0" algn="l" rtl="0">
              <a:buNone/>
            </a:pPr>
            <a:r>
              <a:rPr lang="en-US" sz="3200" dirty="0"/>
              <a:t>class </a:t>
            </a:r>
            <a:r>
              <a:rPr lang="en-US" sz="3200" b="1" dirty="0" err="1">
                <a:solidFill>
                  <a:srgbClr val="FF0000"/>
                </a:solidFill>
              </a:rPr>
              <a:t>MyClass</a:t>
            </a:r>
            <a:r>
              <a:rPr lang="en-US" sz="3200" dirty="0"/>
              <a:t> {</a:t>
            </a:r>
          </a:p>
          <a:p>
            <a:pPr marL="0" indent="0" algn="l" rtl="0">
              <a:buNone/>
            </a:pPr>
            <a:r>
              <a:rPr lang="en-US" sz="3200" dirty="0"/>
              <a:t>public:</a:t>
            </a:r>
          </a:p>
          <a:p>
            <a:pPr marL="0" indent="0" algn="l" rtl="0">
              <a:buNone/>
            </a:pPr>
            <a:r>
              <a:rPr lang="en-US" sz="3200" b="1" dirty="0" err="1" smtClean="0">
                <a:solidFill>
                  <a:srgbClr val="FF0000"/>
                </a:solidFill>
              </a:rPr>
              <a:t>MyClass</a:t>
            </a:r>
            <a:r>
              <a:rPr lang="en-US" sz="3200" dirty="0" smtClean="0"/>
              <a:t>( ) </a:t>
            </a:r>
            <a:r>
              <a:rPr lang="en-US" sz="3200" dirty="0"/>
              <a:t>{</a:t>
            </a:r>
          </a:p>
          <a:p>
            <a:pPr marL="0" indent="0" algn="l" rtl="0">
              <a:buNone/>
            </a:pPr>
            <a:r>
              <a:rPr lang="en-US" sz="3200" dirty="0"/>
              <a:t>        </a:t>
            </a:r>
            <a:r>
              <a:rPr lang="en-US" sz="3200" dirty="0" err="1"/>
              <a:t>cout</a:t>
            </a:r>
            <a:r>
              <a:rPr lang="en-US" sz="3200" dirty="0"/>
              <a:t> &lt;&lt; "Constructor called!";</a:t>
            </a:r>
          </a:p>
          <a:p>
            <a:pPr marL="0" indent="0" algn="l" rtl="0">
              <a:buNone/>
            </a:pPr>
            <a:r>
              <a:rPr lang="en-US" sz="3200" dirty="0"/>
              <a:t>    </a:t>
            </a:r>
            <a:r>
              <a:rPr lang="en-US" sz="3200" dirty="0" smtClean="0"/>
              <a:t>}</a:t>
            </a:r>
            <a:endParaRPr lang="en-US" sz="3200" dirty="0"/>
          </a:p>
          <a:p>
            <a:pPr marL="0" indent="0" algn="l" rtl="0">
              <a:buNone/>
            </a:pPr>
            <a:r>
              <a:rPr lang="en-US" sz="3200" dirty="0" smtClean="0"/>
              <a:t>};</a:t>
            </a:r>
            <a:r>
              <a:rPr lang="en-US" sz="3200" dirty="0"/>
              <a:t> </a:t>
            </a:r>
            <a:endParaRPr lang="en-US" sz="3200" dirty="0" smtClean="0"/>
          </a:p>
          <a:p>
            <a:pPr marL="0" indent="0" algn="l" rtl="0">
              <a:buNone/>
            </a:pPr>
            <a:r>
              <a:rPr lang="en-US" sz="3200" dirty="0" err="1" smtClean="0"/>
              <a:t>int</a:t>
            </a:r>
            <a:r>
              <a:rPr lang="en-US" sz="3200" dirty="0" smtClean="0"/>
              <a:t> </a:t>
            </a:r>
            <a:r>
              <a:rPr lang="en-US" sz="3200" dirty="0"/>
              <a:t>main( ) {</a:t>
            </a:r>
          </a:p>
          <a:p>
            <a:pPr marL="0" indent="0" algn="l" rtl="0">
              <a:buNone/>
            </a:pPr>
            <a:r>
              <a:rPr lang="en-US" sz="3200" dirty="0"/>
              <a:t>    </a:t>
            </a:r>
          </a:p>
          <a:p>
            <a:pPr marL="0" indent="0" algn="l" rtl="0">
              <a:buNone/>
            </a:pPr>
            <a:r>
              <a:rPr lang="en-US" sz="3200" b="1" dirty="0" err="1">
                <a:solidFill>
                  <a:srgbClr val="FF0000"/>
                </a:solidFill>
              </a:rPr>
              <a:t>MyClass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00B050"/>
                </a:solidFill>
              </a:rPr>
              <a:t>obj</a:t>
            </a:r>
            <a:r>
              <a:rPr lang="en-US" sz="3200" dirty="0"/>
              <a:t>;</a:t>
            </a:r>
          </a:p>
          <a:p>
            <a:pPr marL="0" indent="0" algn="l" rtl="0">
              <a:buNone/>
            </a:pPr>
            <a:r>
              <a:rPr lang="en-US" sz="3200" dirty="0"/>
              <a:t>    return 0;</a:t>
            </a:r>
          </a:p>
          <a:p>
            <a:pPr marL="0" indent="0" algn="l" rtl="0">
              <a:buNone/>
            </a:pPr>
            <a:r>
              <a:rPr lang="en-US" sz="3200" dirty="0"/>
              <a:t>}</a:t>
            </a:r>
            <a:endParaRPr lang="ar-EG" sz="3200" dirty="0"/>
          </a:p>
          <a:p>
            <a:pPr marL="0" indent="0" algn="l" rtl="0">
              <a:buNone/>
            </a:pPr>
            <a:endParaRPr lang="en-US" sz="3200" dirty="0"/>
          </a:p>
          <a:p>
            <a:pPr marL="0" indent="0" algn="l" rtl="0">
              <a:buNone/>
            </a:pP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3967993" y="308498"/>
            <a:ext cx="6332873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Constructors in C++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96945" y="4175897"/>
            <a:ext cx="4668462" cy="11327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3400" dirty="0"/>
              <a:t>Output</a:t>
            </a:r>
          </a:p>
          <a:p>
            <a:pPr algn="ctr"/>
            <a:r>
              <a:rPr lang="en-US" sz="3400" dirty="0"/>
              <a:t>Constructor called!</a:t>
            </a:r>
            <a:endParaRPr lang="ar-EG" sz="3400" dirty="0"/>
          </a:p>
        </p:txBody>
      </p:sp>
    </p:spTree>
    <p:extLst>
      <p:ext uri="{BB962C8B-B14F-4D97-AF65-F5344CB8AC3E}">
        <p14:creationId xmlns:p14="http://schemas.microsoft.com/office/powerpoint/2010/main" val="289733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244" y="308499"/>
            <a:ext cx="13091637" cy="1503098"/>
          </a:xfrm>
        </p:spPr>
        <p:txBody>
          <a:bodyPr>
            <a:normAutofit/>
          </a:bodyPr>
          <a:lstStyle/>
          <a:p>
            <a:r>
              <a:rPr lang="en-US" sz="6200" dirty="0">
                <a:solidFill>
                  <a:srgbClr val="0070C0"/>
                </a:solidFill>
              </a:rPr>
              <a:t>Classes in C++</a:t>
            </a:r>
            <a:endParaRPr lang="ar-EG" sz="62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47" y="1844998"/>
            <a:ext cx="8457359" cy="5951851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3200" dirty="0">
                <a:solidFill>
                  <a:srgbClr val="0070C0"/>
                </a:solidFill>
              </a:rPr>
              <a:t>class</a:t>
            </a:r>
            <a:r>
              <a:rPr lang="en-US" sz="3200" dirty="0"/>
              <a:t> </a:t>
            </a:r>
            <a:r>
              <a:rPr lang="en-US" sz="3200" dirty="0" err="1"/>
              <a:t>class_name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70C0"/>
                </a:solidFill>
              </a:rPr>
              <a:t>{</a:t>
            </a:r>
          </a:p>
          <a:p>
            <a:pPr marL="0" indent="0" algn="l" rtl="0">
              <a:buNone/>
            </a:pPr>
            <a:r>
              <a:rPr lang="en-US" sz="3200" dirty="0"/>
              <a:t> access_specifier_1: (</a:t>
            </a:r>
            <a:r>
              <a:rPr lang="en-US" sz="3200" dirty="0">
                <a:solidFill>
                  <a:srgbClr val="0070C0"/>
                </a:solidFill>
              </a:rPr>
              <a:t>private, protected, public</a:t>
            </a:r>
            <a:r>
              <a:rPr lang="en-US" sz="3200" dirty="0"/>
              <a:t>)</a:t>
            </a:r>
          </a:p>
          <a:p>
            <a:pPr marL="0" indent="0" algn="l" rtl="0">
              <a:buNone/>
            </a:pPr>
            <a:r>
              <a:rPr lang="en-US" sz="3200" dirty="0"/>
              <a:t>    member1;</a:t>
            </a:r>
          </a:p>
          <a:p>
            <a:pPr marL="0" indent="0" algn="l" rtl="0">
              <a:buNone/>
            </a:pPr>
            <a:r>
              <a:rPr lang="en-US" sz="3200" dirty="0"/>
              <a:t>  access_specifier_2: </a:t>
            </a:r>
          </a:p>
          <a:p>
            <a:pPr marL="0" indent="0" algn="l" rtl="0">
              <a:buNone/>
            </a:pPr>
            <a:r>
              <a:rPr lang="en-US" sz="3200" dirty="0"/>
              <a:t> </a:t>
            </a:r>
            <a:r>
              <a:rPr lang="en-US" sz="3200" dirty="0"/>
              <a:t>    member2;</a:t>
            </a:r>
          </a:p>
          <a:p>
            <a:pPr marL="0" indent="0" algn="l" rtl="0">
              <a:buNone/>
            </a:pPr>
            <a:r>
              <a:rPr lang="en-US" sz="3200" dirty="0"/>
              <a:t>  ...</a:t>
            </a:r>
          </a:p>
          <a:p>
            <a:pPr marL="0" indent="0" algn="l" rtl="0">
              <a:buNone/>
            </a:pPr>
            <a:r>
              <a:rPr lang="en-US" sz="3200" dirty="0">
                <a:solidFill>
                  <a:srgbClr val="0070C0"/>
                </a:solidFill>
              </a:rPr>
              <a:t>}</a:t>
            </a:r>
            <a:r>
              <a:rPr lang="en-US" sz="3200" dirty="0"/>
              <a:t> </a:t>
            </a:r>
            <a:r>
              <a:rPr lang="en-US" sz="3200" dirty="0" err="1"/>
              <a:t>object_names</a:t>
            </a:r>
            <a:r>
              <a:rPr lang="en-US" sz="3200" dirty="0"/>
              <a:t>;   //optional </a:t>
            </a:r>
            <a:endParaRPr lang="ar-EG" sz="32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886613" y="2175518"/>
            <a:ext cx="5074415" cy="4867588"/>
          </a:xfrm>
          <a:prstGeom prst="rect">
            <a:avLst/>
          </a:prstGeom>
          <a:solidFill>
            <a:srgbClr val="D5E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432" tIns="42716" rIns="85432" bIns="42716"/>
          <a:lstStyle/>
          <a:p>
            <a:pPr marL="320371" indent="-320371">
              <a:spcBef>
                <a:spcPct val="20000"/>
              </a:spcBef>
            </a:pPr>
            <a:r>
              <a:rPr lang="en-US" sz="3000" dirty="0"/>
              <a:t>class Rectangle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{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private: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   </a:t>
            </a:r>
            <a:r>
              <a:rPr lang="en-US" sz="3000" dirty="0" err="1"/>
              <a:t>int</a:t>
            </a:r>
            <a:r>
              <a:rPr lang="en-US" sz="3000" dirty="0"/>
              <a:t> width;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   </a:t>
            </a:r>
            <a:r>
              <a:rPr lang="en-US" sz="3000" dirty="0" err="1"/>
              <a:t>int</a:t>
            </a:r>
            <a:r>
              <a:rPr lang="en-US" sz="3000" dirty="0"/>
              <a:t> length;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public: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   void set(</a:t>
            </a:r>
            <a:r>
              <a:rPr lang="en-US" sz="3000" dirty="0" err="1"/>
              <a:t>int</a:t>
            </a:r>
            <a:r>
              <a:rPr lang="en-US" sz="3000" dirty="0"/>
              <a:t> w, </a:t>
            </a:r>
            <a:r>
              <a:rPr lang="en-US" sz="3000" dirty="0" err="1"/>
              <a:t>int</a:t>
            </a:r>
            <a:r>
              <a:rPr lang="en-US" sz="3000" dirty="0"/>
              <a:t> l);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	   </a:t>
            </a:r>
            <a:r>
              <a:rPr lang="en-US" sz="3000" dirty="0" err="1"/>
              <a:t>int</a:t>
            </a:r>
            <a:r>
              <a:rPr lang="en-US" sz="3000" dirty="0"/>
              <a:t> area();</a:t>
            </a:r>
          </a:p>
          <a:p>
            <a:pPr marL="320371" indent="-320371">
              <a:spcBef>
                <a:spcPct val="20000"/>
              </a:spcBef>
            </a:pPr>
            <a:r>
              <a:rPr lang="en-US" sz="3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187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ACD64-CA3D-4354-8CC4-A75C1FF195D7}" type="slidenum">
              <a:rPr lang="en-US"/>
              <a:pPr/>
              <a:t>39</a:t>
            </a:fld>
            <a:endParaRPr lang="en-US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71927" y="1452995"/>
            <a:ext cx="6303380" cy="7390453"/>
          </a:xfrm>
          <a:prstGeom prst="rect">
            <a:avLst/>
          </a:prstGeom>
          <a:solidFill>
            <a:srgbClr val="D5E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4641" tIns="67321" rIns="134641" bIns="67321"/>
          <a:lstStyle/>
          <a:p>
            <a:pPr marL="504905" indent="-504905">
              <a:spcBef>
                <a:spcPct val="20000"/>
              </a:spcBef>
            </a:pPr>
            <a:r>
              <a:rPr lang="en-US" sz="4100" dirty="0"/>
              <a:t>class Rectangle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{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private</a:t>
            </a:r>
            <a:r>
              <a:rPr lang="en-US" sz="4100" dirty="0"/>
              <a:t>: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   </a:t>
            </a:r>
            <a:r>
              <a:rPr lang="en-US" sz="4100" dirty="0" err="1"/>
              <a:t>int</a:t>
            </a:r>
            <a:r>
              <a:rPr lang="en-US" sz="4100" dirty="0"/>
              <a:t> width;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   </a:t>
            </a:r>
            <a:r>
              <a:rPr lang="en-US" sz="4100" dirty="0" err="1"/>
              <a:t>int</a:t>
            </a:r>
            <a:r>
              <a:rPr lang="en-US" sz="4100" dirty="0"/>
              <a:t> length;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   </a:t>
            </a:r>
            <a:r>
              <a:rPr lang="en-US" sz="4100" dirty="0">
                <a:solidFill>
                  <a:srgbClr val="800000"/>
                </a:solidFill>
              </a:rPr>
              <a:t>static </a:t>
            </a:r>
            <a:r>
              <a:rPr lang="en-US" sz="4100" dirty="0" err="1">
                <a:solidFill>
                  <a:srgbClr val="800000"/>
                </a:solidFill>
              </a:rPr>
              <a:t>int</a:t>
            </a:r>
            <a:r>
              <a:rPr lang="en-US" sz="4100" dirty="0">
                <a:solidFill>
                  <a:srgbClr val="800000"/>
                </a:solidFill>
              </a:rPr>
              <a:t> count;</a:t>
            </a:r>
            <a:endParaRPr lang="en-US" sz="4100" dirty="0"/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public: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   void set(</a:t>
            </a:r>
            <a:r>
              <a:rPr lang="en-US" sz="4100" dirty="0" err="1"/>
              <a:t>int</a:t>
            </a:r>
            <a:r>
              <a:rPr lang="en-US" sz="4100" dirty="0"/>
              <a:t> w, </a:t>
            </a:r>
            <a:r>
              <a:rPr lang="en-US" sz="4100" dirty="0" err="1"/>
              <a:t>int</a:t>
            </a:r>
            <a:r>
              <a:rPr lang="en-US" sz="4100" dirty="0"/>
              <a:t> l);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   </a:t>
            </a:r>
            <a:r>
              <a:rPr lang="en-US" sz="4100" dirty="0" err="1"/>
              <a:t>int</a:t>
            </a:r>
            <a:r>
              <a:rPr lang="en-US" sz="4100" dirty="0"/>
              <a:t> area();</a:t>
            </a:r>
          </a:p>
          <a:p>
            <a:pPr marL="504905" indent="-504905">
              <a:spcBef>
                <a:spcPct val="20000"/>
              </a:spcBef>
            </a:pPr>
            <a:r>
              <a:rPr lang="en-US" sz="4100" dirty="0"/>
              <a:t>	</a:t>
            </a:r>
            <a:r>
              <a:rPr lang="en-US" sz="4100" dirty="0"/>
              <a:t>};</a:t>
            </a:r>
            <a:endParaRPr lang="en-US" sz="41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969751" y="308499"/>
            <a:ext cx="13091637" cy="841317"/>
          </a:xfrm>
        </p:spPr>
        <p:txBody>
          <a:bodyPr>
            <a:normAutofit fontScale="90000"/>
          </a:bodyPr>
          <a:lstStyle/>
          <a:p>
            <a:r>
              <a:rPr lang="en-US" sz="5900" b="1" dirty="0">
                <a:solidFill>
                  <a:srgbClr val="FF0000"/>
                </a:solidFill>
              </a:rPr>
              <a:t>Static Data Member 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9212634" y="1803718"/>
            <a:ext cx="3394128" cy="190542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4641" tIns="67321" rIns="134641" bIns="67321"/>
          <a:lstStyle/>
          <a:p>
            <a:pPr marL="504905" indent="-504905">
              <a:lnSpc>
                <a:spcPct val="80000"/>
              </a:lnSpc>
              <a:spcBef>
                <a:spcPct val="20000"/>
              </a:spcBef>
            </a:pPr>
            <a:r>
              <a:rPr lang="en-US" sz="3600" dirty="0"/>
              <a:t>Rectangle  r1;</a:t>
            </a:r>
          </a:p>
          <a:p>
            <a:pPr marL="504905" indent="-504905">
              <a:lnSpc>
                <a:spcPct val="80000"/>
              </a:lnSpc>
              <a:spcBef>
                <a:spcPct val="20000"/>
              </a:spcBef>
            </a:pPr>
            <a:r>
              <a:rPr lang="en-US" sz="3600" dirty="0"/>
              <a:t>Rectangle  r2;</a:t>
            </a:r>
          </a:p>
          <a:p>
            <a:pPr marL="504905" indent="-504905">
              <a:lnSpc>
                <a:spcPct val="80000"/>
              </a:lnSpc>
              <a:spcBef>
                <a:spcPct val="20000"/>
              </a:spcBef>
            </a:pPr>
            <a:r>
              <a:rPr lang="en-US" sz="3600" dirty="0"/>
              <a:t>Rectangle  r3;</a:t>
            </a:r>
          </a:p>
          <a:p>
            <a:pPr marL="504905" indent="-504905">
              <a:lnSpc>
                <a:spcPct val="80000"/>
              </a:lnSpc>
              <a:spcBef>
                <a:spcPct val="20000"/>
              </a:spcBef>
            </a:pPr>
            <a:endParaRPr lang="en-US" sz="3600" dirty="0"/>
          </a:p>
        </p:txBody>
      </p:sp>
      <p:sp>
        <p:nvSpPr>
          <p:cNvPr id="32777" name="AutoShape 9"/>
          <p:cNvSpPr>
            <a:spLocks noChangeArrowheads="1"/>
          </p:cNvSpPr>
          <p:nvPr/>
        </p:nvSpPr>
        <p:spPr bwMode="auto">
          <a:xfrm>
            <a:off x="642563" y="5461257"/>
            <a:ext cx="484875" cy="30062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7879226" y="6112599"/>
            <a:ext cx="2181939" cy="100206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 anchor="ctr"/>
          <a:lstStyle/>
          <a:p>
            <a:pPr algn="ctr"/>
            <a:r>
              <a:rPr lang="en-US" sz="3400" b="1"/>
              <a:t>width</a:t>
            </a:r>
          </a:p>
          <a:p>
            <a:pPr algn="ctr"/>
            <a:r>
              <a:rPr lang="en-US" sz="3400" b="1"/>
              <a:t>length</a:t>
            </a: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11879449" y="6112599"/>
            <a:ext cx="2181939" cy="100206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 anchor="ctr"/>
          <a:lstStyle/>
          <a:p>
            <a:pPr algn="ctr"/>
            <a:r>
              <a:rPr lang="en-US" sz="3400" b="1"/>
              <a:t>width</a:t>
            </a:r>
          </a:p>
          <a:p>
            <a:pPr algn="ctr"/>
            <a:r>
              <a:rPr lang="en-US" sz="3400" b="1"/>
              <a:t>length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9939947" y="7315077"/>
            <a:ext cx="2181939" cy="100206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 anchor="ctr"/>
          <a:lstStyle/>
          <a:p>
            <a:pPr algn="ctr"/>
            <a:r>
              <a:rPr lang="en-US" sz="3400" b="1"/>
              <a:t>width</a:t>
            </a:r>
          </a:p>
          <a:p>
            <a:pPr algn="ctr"/>
            <a:r>
              <a:rPr lang="en-US" sz="3400" b="1"/>
              <a:t>length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7232238" y="6289756"/>
            <a:ext cx="683884" cy="65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>
            <a:spAutoFit/>
          </a:bodyPr>
          <a:lstStyle/>
          <a:p>
            <a:r>
              <a:rPr lang="en-US" sz="3400" b="1" dirty="0"/>
              <a:t>r1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9202044" y="7715904"/>
            <a:ext cx="683884" cy="65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>
            <a:spAutoFit/>
          </a:bodyPr>
          <a:lstStyle/>
          <a:p>
            <a:r>
              <a:rPr lang="en-US" sz="3400" b="1"/>
              <a:t>r3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11232461" y="6112599"/>
            <a:ext cx="683884" cy="659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4641" tIns="67321" rIns="134641" bIns="67321">
            <a:spAutoFit/>
          </a:bodyPr>
          <a:lstStyle/>
          <a:p>
            <a:r>
              <a:rPr lang="en-US" sz="3400" b="1" dirty="0"/>
              <a:t>r2</a:t>
            </a: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9697510" y="4409088"/>
            <a:ext cx="2181939" cy="80165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4641" tIns="67321" rIns="134641" bIns="67321" anchor="ctr"/>
          <a:lstStyle/>
          <a:p>
            <a:pPr algn="ctr"/>
            <a:r>
              <a:rPr lang="en-US" sz="3400" b="1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117883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32778" grpId="0" animBg="1"/>
      <p:bldP spid="32780" grpId="0" animBg="1"/>
      <p:bldP spid="32781" grpId="0" animBg="1"/>
      <p:bldP spid="32782" grpId="0"/>
      <p:bldP spid="32784" grpId="0"/>
      <p:bldP spid="32785" grpId="0"/>
      <p:bldP spid="3278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120" y="1668479"/>
            <a:ext cx="13860578" cy="7102039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sz="3400" dirty="0">
                <a:solidFill>
                  <a:srgbClr val="0070C0"/>
                </a:solidFill>
              </a:rPr>
              <a:t>class</a:t>
            </a:r>
            <a:r>
              <a:rPr lang="en-US" sz="3400" dirty="0"/>
              <a:t> Rectangle </a:t>
            </a:r>
            <a:r>
              <a:rPr lang="en-US" sz="3400" dirty="0">
                <a:solidFill>
                  <a:srgbClr val="0070C0"/>
                </a:solidFill>
              </a:rPr>
              <a:t>{</a:t>
            </a:r>
          </a:p>
          <a:p>
            <a:pPr marL="0" indent="0" algn="l" rtl="0">
              <a:buNone/>
            </a:pPr>
            <a:r>
              <a:rPr lang="en-US" sz="3400" dirty="0"/>
              <a:t>   </a:t>
            </a:r>
            <a:r>
              <a:rPr lang="en-US" sz="3400" dirty="0">
                <a:solidFill>
                  <a:srgbClr val="0070C0"/>
                </a:solidFill>
              </a:rPr>
              <a:t> </a:t>
            </a:r>
            <a:r>
              <a:rPr lang="en-US" sz="3400" dirty="0" err="1">
                <a:solidFill>
                  <a:srgbClr val="0070C0"/>
                </a:solidFill>
              </a:rPr>
              <a:t>int</a:t>
            </a:r>
            <a:r>
              <a:rPr lang="en-US" sz="3400" dirty="0">
                <a:solidFill>
                  <a:srgbClr val="0070C0"/>
                </a:solidFill>
              </a:rPr>
              <a:t> </a:t>
            </a:r>
            <a:r>
              <a:rPr lang="en-US" sz="3400" dirty="0"/>
              <a:t>width</a:t>
            </a:r>
            <a:r>
              <a:rPr lang="en-US" sz="3400" dirty="0">
                <a:solidFill>
                  <a:srgbClr val="0070C0"/>
                </a:solidFill>
              </a:rPr>
              <a:t>,</a:t>
            </a:r>
            <a:r>
              <a:rPr lang="en-US" sz="3400" dirty="0"/>
              <a:t> height</a:t>
            </a:r>
            <a:r>
              <a:rPr lang="en-US" sz="3400" dirty="0">
                <a:solidFill>
                  <a:srgbClr val="0070C0"/>
                </a:solidFill>
              </a:rPr>
              <a:t>;</a:t>
            </a:r>
          </a:p>
          <a:p>
            <a:pPr marL="0" indent="0" algn="l" rtl="0">
              <a:buNone/>
            </a:pPr>
            <a:r>
              <a:rPr lang="en-US" sz="3400" dirty="0"/>
              <a:t>   </a:t>
            </a:r>
            <a:r>
              <a:rPr lang="en-US" sz="3400" dirty="0">
                <a:solidFill>
                  <a:srgbClr val="0070C0"/>
                </a:solidFill>
              </a:rPr>
              <a:t>public:</a:t>
            </a:r>
          </a:p>
          <a:p>
            <a:pPr marL="0" indent="0" algn="l" rtl="0">
              <a:buNone/>
            </a:pPr>
            <a:r>
              <a:rPr lang="en-US" sz="3400" dirty="0"/>
              <a:t>    </a:t>
            </a:r>
            <a:r>
              <a:rPr lang="en-US" sz="3400" dirty="0">
                <a:solidFill>
                  <a:srgbClr val="0070C0"/>
                </a:solidFill>
              </a:rPr>
              <a:t>void</a:t>
            </a:r>
            <a:r>
              <a:rPr lang="en-US" sz="3400" dirty="0"/>
              <a:t> </a:t>
            </a:r>
            <a:r>
              <a:rPr lang="en-US" sz="3400" dirty="0" err="1"/>
              <a:t>set_values</a:t>
            </a:r>
            <a:r>
              <a:rPr lang="en-US" sz="3400" dirty="0"/>
              <a:t> (</a:t>
            </a:r>
            <a:r>
              <a:rPr lang="en-US" sz="3400" dirty="0" err="1">
                <a:solidFill>
                  <a:srgbClr val="0070C0"/>
                </a:solidFill>
              </a:rPr>
              <a:t>int</a:t>
            </a:r>
            <a:r>
              <a:rPr lang="en-US" sz="3400" dirty="0" err="1"/>
              <a:t>,</a:t>
            </a:r>
            <a:r>
              <a:rPr lang="en-US" sz="3400" dirty="0" err="1">
                <a:solidFill>
                  <a:srgbClr val="0070C0"/>
                </a:solidFill>
              </a:rPr>
              <a:t>int</a:t>
            </a:r>
            <a:r>
              <a:rPr lang="en-US" sz="3400" dirty="0"/>
              <a:t>)</a:t>
            </a:r>
            <a:r>
              <a:rPr lang="en-US" sz="3400" dirty="0">
                <a:solidFill>
                  <a:srgbClr val="0070C0"/>
                </a:solidFill>
              </a:rPr>
              <a:t>;</a:t>
            </a:r>
          </a:p>
          <a:p>
            <a:pPr marL="0" indent="0" algn="l" rtl="0">
              <a:buNone/>
            </a:pPr>
            <a:r>
              <a:rPr lang="en-US" sz="3400" dirty="0"/>
              <a:t>   </a:t>
            </a:r>
            <a:r>
              <a:rPr lang="en-US" sz="3400" dirty="0">
                <a:solidFill>
                  <a:srgbClr val="0070C0"/>
                </a:solidFill>
              </a:rPr>
              <a:t> </a:t>
            </a:r>
            <a:r>
              <a:rPr lang="en-US" sz="3400" dirty="0" err="1">
                <a:solidFill>
                  <a:srgbClr val="0070C0"/>
                </a:solidFill>
              </a:rPr>
              <a:t>int</a:t>
            </a:r>
            <a:r>
              <a:rPr lang="en-US" sz="3400" dirty="0">
                <a:solidFill>
                  <a:srgbClr val="0070C0"/>
                </a:solidFill>
              </a:rPr>
              <a:t> </a:t>
            </a:r>
            <a:r>
              <a:rPr lang="en-US" sz="3400" dirty="0"/>
              <a:t>area </a:t>
            </a:r>
            <a:r>
              <a:rPr lang="en-US" sz="3400" dirty="0">
                <a:solidFill>
                  <a:srgbClr val="0070C0"/>
                </a:solidFill>
              </a:rPr>
              <a:t>(void);</a:t>
            </a:r>
          </a:p>
          <a:p>
            <a:pPr marL="0" indent="0" algn="l" rtl="0">
              <a:buNone/>
            </a:pPr>
            <a:r>
              <a:rPr lang="en-US" sz="3400" dirty="0">
                <a:solidFill>
                  <a:srgbClr val="0070C0"/>
                </a:solidFill>
              </a:rPr>
              <a:t>}</a:t>
            </a:r>
            <a:r>
              <a:rPr lang="en-US" sz="3400" dirty="0"/>
              <a:t> </a:t>
            </a:r>
            <a:r>
              <a:rPr lang="en-US" sz="3400" b="1" dirty="0" err="1">
                <a:solidFill>
                  <a:srgbClr val="00B050"/>
                </a:solidFill>
              </a:rPr>
              <a:t>rect</a:t>
            </a:r>
            <a:r>
              <a:rPr lang="en-US" sz="3400" dirty="0">
                <a:solidFill>
                  <a:srgbClr val="0070C0"/>
                </a:solidFill>
              </a:rPr>
              <a:t>;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All </a:t>
            </a:r>
            <a:r>
              <a:rPr lang="en-US" dirty="0"/>
              <a:t>members of a class declared with the </a:t>
            </a:r>
            <a:r>
              <a:rPr lang="en-US" b="1" dirty="0">
                <a:solidFill>
                  <a:srgbClr val="FF0000"/>
                </a:solidFill>
              </a:rPr>
              <a:t>class keyword </a:t>
            </a:r>
            <a:r>
              <a:rPr lang="en-US" dirty="0"/>
              <a:t>have </a:t>
            </a:r>
            <a:r>
              <a:rPr lang="en-US" b="1" dirty="0">
                <a:solidFill>
                  <a:srgbClr val="FF0000"/>
                </a:solidFill>
              </a:rPr>
              <a:t>private </a:t>
            </a:r>
            <a:r>
              <a:rPr lang="en-US" b="1" dirty="0" smtClean="0">
                <a:solidFill>
                  <a:srgbClr val="FF0000"/>
                </a:solidFill>
              </a:rPr>
              <a:t>access</a:t>
            </a:r>
            <a:r>
              <a:rPr lang="en-US" dirty="0" smtClean="0"/>
              <a:t>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smtClean="0"/>
              <a:t>This means any </a:t>
            </a:r>
            <a:r>
              <a:rPr lang="en-US" dirty="0"/>
              <a:t>member that is declared before any other </a:t>
            </a:r>
            <a:r>
              <a:rPr lang="en-US" i="1" dirty="0"/>
              <a:t>access </a:t>
            </a:r>
            <a:r>
              <a:rPr lang="en-US" i="1" dirty="0" err="1"/>
              <a:t>specifier</a:t>
            </a:r>
            <a:r>
              <a:rPr lang="en-US" dirty="0"/>
              <a:t> has private access automatically.</a:t>
            </a:r>
            <a:endParaRPr lang="ar-EG" dirty="0"/>
          </a:p>
        </p:txBody>
      </p:sp>
      <p:sp>
        <p:nvSpPr>
          <p:cNvPr id="4" name="TextBox 3"/>
          <p:cNvSpPr txBox="1"/>
          <p:nvPr/>
        </p:nvSpPr>
        <p:spPr>
          <a:xfrm>
            <a:off x="7561163" y="1844998"/>
            <a:ext cx="5956612" cy="21791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3400" b="1" dirty="0">
                <a:solidFill>
                  <a:srgbClr val="0070C0"/>
                </a:solidFill>
              </a:rPr>
              <a:t>Functions can be declared in the class as prototype (signature) only and then defined out of the class</a:t>
            </a:r>
            <a:endParaRPr lang="ar-EG" sz="34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60496" y="375178"/>
            <a:ext cx="7825270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Example Rectangle class</a:t>
            </a:r>
            <a:endParaRPr lang="ar-EG" sz="5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126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600" dirty="0">
                <a:solidFill>
                  <a:srgbClr val="FF0000"/>
                </a:solidFill>
              </a:rPr>
              <a:t>Scope operator (::)</a:t>
            </a:r>
            <a:endParaRPr lang="ar-EG" sz="5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569" y="2104340"/>
            <a:ext cx="13975128" cy="5951851"/>
          </a:xfrm>
        </p:spPr>
        <p:txBody>
          <a:bodyPr>
            <a:normAutofit/>
          </a:bodyPr>
          <a:lstStyle/>
          <a:p>
            <a:pPr algn="just" rtl="0"/>
            <a:r>
              <a:rPr lang="en-US" sz="4500" dirty="0"/>
              <a:t>The scope operator (</a:t>
            </a:r>
            <a:r>
              <a:rPr lang="en-US" sz="4500" dirty="0">
                <a:solidFill>
                  <a:srgbClr val="FF0000"/>
                </a:solidFill>
              </a:rPr>
              <a:t>::</a:t>
            </a:r>
            <a:r>
              <a:rPr lang="en-US" sz="4500" dirty="0"/>
              <a:t>) specifies the class to which the members (functions) being defined belongs.</a:t>
            </a:r>
          </a:p>
          <a:p>
            <a:pPr algn="l" rtl="0"/>
            <a:endParaRPr lang="en-US" sz="4500" dirty="0"/>
          </a:p>
          <a:p>
            <a:pPr algn="l" rtl="0"/>
            <a:r>
              <a:rPr lang="en-US" sz="4500" dirty="0"/>
              <a:t>Functions defined out of the class should use (</a:t>
            </a:r>
            <a:r>
              <a:rPr lang="en-US" sz="4500" dirty="0">
                <a:solidFill>
                  <a:srgbClr val="FF0000"/>
                </a:solidFill>
              </a:rPr>
              <a:t>::</a:t>
            </a:r>
            <a:r>
              <a:rPr lang="en-US" sz="4500" dirty="0"/>
              <a:t>) </a:t>
            </a:r>
            <a:endParaRPr lang="ar-EG" sz="4500" dirty="0"/>
          </a:p>
        </p:txBody>
      </p:sp>
    </p:spTree>
    <p:extLst>
      <p:ext uri="{BB962C8B-B14F-4D97-AF65-F5344CB8AC3E}">
        <p14:creationId xmlns:p14="http://schemas.microsoft.com/office/powerpoint/2010/main" val="13131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768" y="342765"/>
            <a:ext cx="13091637" cy="8522447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600" dirty="0"/>
              <a:t>#include &lt;</a:t>
            </a:r>
            <a:r>
              <a:rPr lang="en-US" sz="2600" dirty="0" err="1"/>
              <a:t>iostream</a:t>
            </a:r>
            <a:r>
              <a:rPr lang="en-US" sz="2600" dirty="0"/>
              <a:t>&gt;</a:t>
            </a:r>
          </a:p>
          <a:p>
            <a:pPr marL="0" indent="0" algn="l" rtl="0">
              <a:buNone/>
            </a:pPr>
            <a:r>
              <a:rPr lang="en-US" sz="2600" dirty="0"/>
              <a:t>using namespace </a:t>
            </a:r>
            <a:r>
              <a:rPr lang="en-US" sz="2600" dirty="0" err="1"/>
              <a:t>std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r>
              <a:rPr lang="en-US" sz="2600" dirty="0">
                <a:solidFill>
                  <a:srgbClr val="0070C0"/>
                </a:solidFill>
              </a:rPr>
              <a:t>class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Rectangle </a:t>
            </a:r>
            <a:r>
              <a:rPr lang="en-US" sz="2600" dirty="0"/>
              <a:t>{</a:t>
            </a:r>
          </a:p>
          <a:p>
            <a:pPr marL="0" indent="0" algn="l" rtl="0">
              <a:buNone/>
            </a:pPr>
            <a:r>
              <a:rPr lang="en-US" sz="2600" dirty="0"/>
              <a:t>   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 err="1">
                <a:solidFill>
                  <a:srgbClr val="0070C0"/>
                </a:solidFill>
              </a:rPr>
              <a:t>int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width, height;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>
                <a:solidFill>
                  <a:srgbClr val="0070C0"/>
                </a:solidFill>
              </a:rPr>
              <a:t>public:</a:t>
            </a:r>
          </a:p>
          <a:p>
            <a:pPr marL="0" indent="0" algn="l" rtl="0">
              <a:buNone/>
            </a:pPr>
            <a:r>
              <a:rPr lang="en-US" sz="2600" dirty="0"/>
              <a:t>    </a:t>
            </a:r>
            <a:r>
              <a:rPr lang="en-US" sz="2600" dirty="0">
                <a:solidFill>
                  <a:srgbClr val="0070C0"/>
                </a:solidFill>
              </a:rPr>
              <a:t>void</a:t>
            </a:r>
            <a:r>
              <a:rPr lang="en-US" sz="2600" dirty="0"/>
              <a:t> </a:t>
            </a:r>
            <a:r>
              <a:rPr lang="en-US" sz="2600" dirty="0" err="1"/>
              <a:t>set_values</a:t>
            </a:r>
            <a:r>
              <a:rPr lang="en-US" sz="2600" dirty="0"/>
              <a:t> ( </a:t>
            </a:r>
            <a:r>
              <a:rPr lang="en-US" sz="2600" dirty="0" err="1">
                <a:solidFill>
                  <a:srgbClr val="0070C0"/>
                </a:solidFill>
              </a:rPr>
              <a:t>int</a:t>
            </a:r>
            <a:r>
              <a:rPr lang="en-US" sz="2600" dirty="0">
                <a:solidFill>
                  <a:srgbClr val="0070C0"/>
                </a:solidFill>
              </a:rPr>
              <a:t>, </a:t>
            </a:r>
            <a:r>
              <a:rPr lang="en-US" sz="2600" dirty="0" err="1">
                <a:solidFill>
                  <a:srgbClr val="0070C0"/>
                </a:solidFill>
              </a:rPr>
              <a:t>int</a:t>
            </a:r>
            <a:r>
              <a:rPr lang="en-US" sz="2600" dirty="0"/>
              <a:t>);</a:t>
            </a:r>
          </a:p>
          <a:p>
            <a:pPr marL="0" indent="0" algn="l" rtl="0">
              <a:buNone/>
            </a:pPr>
            <a:r>
              <a:rPr lang="en-US" sz="2600" dirty="0"/>
              <a:t>    </a:t>
            </a:r>
            <a:r>
              <a:rPr lang="en-US" sz="2600" dirty="0" err="1">
                <a:solidFill>
                  <a:srgbClr val="0070C0"/>
                </a:solidFill>
              </a:rPr>
              <a:t>int</a:t>
            </a:r>
            <a:r>
              <a:rPr lang="en-US" sz="2600" dirty="0"/>
              <a:t> area( ) {return width*height;}</a:t>
            </a:r>
          </a:p>
          <a:p>
            <a:pPr marL="0" indent="0" algn="l" rtl="0">
              <a:buNone/>
            </a:pPr>
            <a:r>
              <a:rPr lang="en-US" sz="2600" dirty="0"/>
              <a:t>};</a:t>
            </a:r>
          </a:p>
          <a:p>
            <a:pPr marL="0" indent="0" algn="l" rtl="0">
              <a:buNone/>
            </a:pPr>
            <a:r>
              <a:rPr lang="en-US" sz="2600" dirty="0"/>
              <a:t>void  </a:t>
            </a:r>
            <a:r>
              <a:rPr lang="en-US" sz="2600" b="1" dirty="0">
                <a:solidFill>
                  <a:srgbClr val="FF0000"/>
                </a:solidFill>
              </a:rPr>
              <a:t>Rectangle :: </a:t>
            </a:r>
            <a:r>
              <a:rPr lang="en-US" sz="2600" b="1" dirty="0" err="1">
                <a:solidFill>
                  <a:srgbClr val="0070C0"/>
                </a:solidFill>
              </a:rPr>
              <a:t>set_values</a:t>
            </a:r>
            <a:r>
              <a:rPr lang="en-US" sz="2600" dirty="0"/>
              <a:t>  (</a:t>
            </a:r>
            <a:r>
              <a:rPr lang="en-US" sz="2600" dirty="0" err="1"/>
              <a:t>int</a:t>
            </a:r>
            <a:r>
              <a:rPr lang="en-US" sz="2600" dirty="0"/>
              <a:t> x, </a:t>
            </a:r>
            <a:r>
              <a:rPr lang="en-US" sz="2600" dirty="0" err="1"/>
              <a:t>int</a:t>
            </a:r>
            <a:r>
              <a:rPr lang="en-US" sz="2600" dirty="0"/>
              <a:t> y) {</a:t>
            </a:r>
          </a:p>
          <a:p>
            <a:pPr marL="0" indent="0" algn="l" rtl="0">
              <a:buNone/>
            </a:pPr>
            <a:r>
              <a:rPr lang="en-US" sz="2600" dirty="0"/>
              <a:t>  width = x;</a:t>
            </a:r>
          </a:p>
          <a:p>
            <a:pPr marL="0" indent="0" algn="l" rtl="0">
              <a:buNone/>
            </a:pPr>
            <a:r>
              <a:rPr lang="en-US" sz="2600" dirty="0"/>
              <a:t>  height = y;</a:t>
            </a:r>
          </a:p>
          <a:p>
            <a:pPr marL="0" indent="0" algn="l" rtl="0">
              <a:buNone/>
            </a:pPr>
            <a:r>
              <a:rPr lang="en-US" sz="2600" dirty="0"/>
              <a:t>}</a:t>
            </a:r>
          </a:p>
          <a:p>
            <a:pPr marL="0" indent="0" algn="l" rtl="0">
              <a:buNone/>
            </a:pPr>
            <a:r>
              <a:rPr lang="en-US" sz="2600" dirty="0" err="1"/>
              <a:t>int</a:t>
            </a:r>
            <a:r>
              <a:rPr lang="en-US" sz="2600" dirty="0"/>
              <a:t> main () {</a:t>
            </a:r>
          </a:p>
          <a:p>
            <a:pPr marL="0" indent="0" algn="l" rtl="0">
              <a:buNone/>
            </a:pPr>
            <a:r>
              <a:rPr lang="en-US" sz="2600" dirty="0"/>
              <a:t>  Rectangle </a:t>
            </a:r>
            <a:r>
              <a:rPr lang="en-US" sz="2600" b="1" dirty="0" err="1">
                <a:solidFill>
                  <a:srgbClr val="00B050"/>
                </a:solidFill>
              </a:rPr>
              <a:t>rect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rect.set_values</a:t>
            </a:r>
            <a:r>
              <a:rPr lang="en-US" sz="2600" dirty="0"/>
              <a:t> (3,4);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"area: " &lt;&lt; </a:t>
            </a:r>
            <a:r>
              <a:rPr lang="en-US" sz="2600" dirty="0" err="1"/>
              <a:t>rect.area</a:t>
            </a:r>
            <a:r>
              <a:rPr lang="en-US" sz="2600" dirty="0"/>
              <a:t>();</a:t>
            </a:r>
          </a:p>
          <a:p>
            <a:pPr marL="0" indent="0" algn="l" rtl="0">
              <a:buNone/>
            </a:pPr>
            <a:r>
              <a:rPr lang="en-US" sz="2600" dirty="0"/>
              <a:t>  return 0;</a:t>
            </a:r>
          </a:p>
          <a:p>
            <a:pPr marL="0" indent="0" algn="l" rtl="0">
              <a:buNone/>
            </a:pPr>
            <a:r>
              <a:rPr lang="en-US" sz="2600" dirty="0"/>
              <a:t>}</a:t>
            </a:r>
            <a:endParaRPr lang="ar-EG" sz="2600" dirty="0"/>
          </a:p>
        </p:txBody>
      </p:sp>
      <p:sp>
        <p:nvSpPr>
          <p:cNvPr id="2" name="TextBox 1"/>
          <p:cNvSpPr txBox="1"/>
          <p:nvPr/>
        </p:nvSpPr>
        <p:spPr>
          <a:xfrm>
            <a:off x="5725998" y="6708189"/>
            <a:ext cx="8592677" cy="1009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000" dirty="0"/>
              <a:t>The class </a:t>
            </a:r>
            <a:r>
              <a:rPr lang="en-US" sz="3000" dirty="0"/>
              <a:t>is </a:t>
            </a:r>
            <a:r>
              <a:rPr lang="en-US" sz="3000" dirty="0"/>
              <a:t>considered as  a </a:t>
            </a:r>
            <a:r>
              <a:rPr lang="en-US" sz="3000" dirty="0"/>
              <a:t>type, </a:t>
            </a:r>
            <a:r>
              <a:rPr lang="en-US" sz="3000" dirty="0"/>
              <a:t>declare objects </a:t>
            </a:r>
            <a:r>
              <a:rPr lang="en-US" sz="3000" dirty="0"/>
              <a:t>of it</a:t>
            </a:r>
            <a:endParaRPr lang="ar-EG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7273131" y="3934923"/>
            <a:ext cx="5498411" cy="8835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2600" dirty="0"/>
              <a:t>Function name </a:t>
            </a:r>
            <a:r>
              <a:rPr lang="en-US" sz="2600" b="1" dirty="0" err="1">
                <a:solidFill>
                  <a:srgbClr val="0070C0"/>
                </a:solidFill>
              </a:rPr>
              <a:t>set_value</a:t>
            </a:r>
            <a:r>
              <a:rPr lang="en-US" sz="2600" b="1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in the scope of </a:t>
            </a:r>
            <a:r>
              <a:rPr lang="en-US" sz="2600" b="1" dirty="0">
                <a:solidFill>
                  <a:srgbClr val="FF0000"/>
                </a:solidFill>
              </a:rPr>
              <a:t>Rectangle</a:t>
            </a:r>
            <a:r>
              <a:rPr lang="en-US" sz="2600" dirty="0"/>
              <a:t> class</a:t>
            </a:r>
            <a:endParaRPr lang="ar-EG" sz="2600" dirty="0"/>
          </a:p>
        </p:txBody>
      </p:sp>
      <p:sp>
        <p:nvSpPr>
          <p:cNvPr id="5" name="TextBox 4"/>
          <p:cNvSpPr txBox="1"/>
          <p:nvPr/>
        </p:nvSpPr>
        <p:spPr>
          <a:xfrm>
            <a:off x="4499118" y="241819"/>
            <a:ext cx="9048153" cy="10095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3000" dirty="0"/>
              <a:t>Defining functions outside the class and creating objects of the class. </a:t>
            </a:r>
            <a:endParaRPr lang="ar-EG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7304540" y="7762176"/>
            <a:ext cx="5498411" cy="4845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2600" dirty="0"/>
              <a:t> area: 12</a:t>
            </a:r>
            <a:endParaRPr lang="ar-EG" sz="2600" dirty="0"/>
          </a:p>
        </p:txBody>
      </p:sp>
      <p:sp>
        <p:nvSpPr>
          <p:cNvPr id="6" name="Rectangle 5"/>
          <p:cNvSpPr/>
          <p:nvPr/>
        </p:nvSpPr>
        <p:spPr>
          <a:xfrm>
            <a:off x="5649318" y="5842880"/>
            <a:ext cx="2232743" cy="800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b="1" dirty="0" smtClean="0">
                <a:solidFill>
                  <a:srgbClr val="00B050"/>
                </a:solidFill>
              </a:rPr>
              <a:t>Object created</a:t>
            </a:r>
            <a:endParaRPr lang="ar-E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7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Write a </a:t>
            </a:r>
            <a:r>
              <a:rPr lang="en-US" dirty="0" smtClean="0"/>
              <a:t>C++ code </a:t>
            </a:r>
            <a:r>
              <a:rPr lang="en-US" dirty="0" smtClean="0"/>
              <a:t>that creates a Class student with Id, and name, GPA, allows the user to input the Id, name, Id  of three students and then arrange them alphabetically in an array.</a:t>
            </a: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10" y="508536"/>
            <a:ext cx="9404583" cy="8268232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600" dirty="0"/>
              <a:t>#include &lt;</a:t>
            </a:r>
            <a:r>
              <a:rPr lang="en-US" sz="2600" dirty="0" err="1"/>
              <a:t>iostream</a:t>
            </a:r>
            <a:r>
              <a:rPr lang="en-US" sz="2600" dirty="0"/>
              <a:t>&gt;</a:t>
            </a:r>
          </a:p>
          <a:p>
            <a:pPr marL="0" indent="0" algn="l" rtl="0">
              <a:buNone/>
            </a:pPr>
            <a:r>
              <a:rPr lang="en-US" sz="2600" dirty="0"/>
              <a:t>using namespace </a:t>
            </a:r>
            <a:r>
              <a:rPr lang="en-US" sz="2600" dirty="0" err="1"/>
              <a:t>std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endParaRPr lang="en-US" sz="2600" dirty="0"/>
          </a:p>
          <a:p>
            <a:pPr marL="0" indent="0" algn="l" rtl="0">
              <a:buNone/>
            </a:pPr>
            <a:r>
              <a:rPr lang="en-US" sz="2600" dirty="0" err="1"/>
              <a:t>struct</a:t>
            </a:r>
            <a:r>
              <a:rPr lang="en-US" sz="2600" dirty="0"/>
              <a:t> X {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int</a:t>
            </a:r>
            <a:r>
              <a:rPr lang="en-US" sz="2600" dirty="0"/>
              <a:t> a, b </a:t>
            </a:r>
            <a:r>
              <a:rPr lang="en-US" sz="2600" dirty="0"/>
              <a:t>;</a:t>
            </a:r>
            <a:endParaRPr lang="en-US" sz="2600" dirty="0"/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int</a:t>
            </a:r>
            <a:r>
              <a:rPr lang="en-US" sz="2600" dirty="0"/>
              <a:t> add</a:t>
            </a:r>
            <a:r>
              <a:rPr lang="en-US" sz="2600" dirty="0"/>
              <a:t>( );</a:t>
            </a:r>
            <a:endParaRPr lang="en-US" sz="2600" dirty="0"/>
          </a:p>
          <a:p>
            <a:pPr marL="0" indent="0" algn="l" rtl="0">
              <a:buNone/>
            </a:pPr>
            <a:r>
              <a:rPr lang="en-US" sz="2600" dirty="0"/>
              <a:t>};</a:t>
            </a:r>
          </a:p>
          <a:p>
            <a:pPr marL="0" indent="0" algn="l" rtl="0">
              <a:buNone/>
            </a:pPr>
            <a:r>
              <a:rPr lang="en-US" sz="2600" dirty="0" err="1"/>
              <a:t>int</a:t>
            </a:r>
            <a:r>
              <a:rPr lang="en-US" sz="2600" dirty="0"/>
              <a:t> </a:t>
            </a:r>
            <a:r>
              <a:rPr lang="en-US" sz="2600" dirty="0"/>
              <a:t>a  = 10;</a:t>
            </a:r>
          </a:p>
          <a:p>
            <a:pPr marL="0" indent="0" algn="l" rtl="0">
              <a:buNone/>
            </a:pPr>
            <a:r>
              <a:rPr lang="en-US" sz="2600" dirty="0" err="1"/>
              <a:t>int</a:t>
            </a:r>
            <a:r>
              <a:rPr lang="en-US" sz="2600" dirty="0"/>
              <a:t>  X</a:t>
            </a:r>
            <a:r>
              <a:rPr lang="en-US" sz="2600" dirty="0"/>
              <a:t>::</a:t>
            </a:r>
            <a:r>
              <a:rPr lang="en-US" sz="2600" dirty="0"/>
              <a:t>add ( ) </a:t>
            </a:r>
            <a:r>
              <a:rPr lang="en-US" sz="2600" dirty="0"/>
              <a:t>{ return a + b; </a:t>
            </a:r>
            <a:r>
              <a:rPr lang="en-US" sz="2600" dirty="0"/>
              <a:t>}</a:t>
            </a:r>
            <a:endParaRPr lang="en-US" sz="2600" dirty="0"/>
          </a:p>
          <a:p>
            <a:pPr marL="0" indent="0" algn="l" rtl="0">
              <a:buNone/>
            </a:pPr>
            <a:r>
              <a:rPr lang="en-US" sz="2600" dirty="0" err="1"/>
              <a:t>int</a:t>
            </a:r>
            <a:r>
              <a:rPr lang="en-US" sz="2600" dirty="0"/>
              <a:t> main</a:t>
            </a:r>
            <a:r>
              <a:rPr lang="en-US" sz="2600" dirty="0"/>
              <a:t>( ) </a:t>
            </a:r>
            <a:r>
              <a:rPr lang="en-US" sz="2600" dirty="0"/>
              <a:t>{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int</a:t>
            </a:r>
            <a:r>
              <a:rPr lang="en-US" sz="2600" dirty="0"/>
              <a:t> answer;</a:t>
            </a:r>
          </a:p>
          <a:p>
            <a:pPr marL="0" indent="0" algn="l" rtl="0">
              <a:buNone/>
            </a:pPr>
            <a:r>
              <a:rPr lang="en-US" sz="2600" dirty="0"/>
              <a:t>  X </a:t>
            </a:r>
            <a:r>
              <a:rPr lang="en-US" sz="2600" dirty="0" err="1"/>
              <a:t>xobject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xobject.a</a:t>
            </a:r>
            <a:r>
              <a:rPr lang="en-US" sz="2600" dirty="0"/>
              <a:t> = 1;</a:t>
            </a:r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xobject.b</a:t>
            </a:r>
            <a:r>
              <a:rPr lang="en-US" sz="2600" dirty="0"/>
              <a:t> = 2;</a:t>
            </a:r>
          </a:p>
          <a:p>
            <a:pPr marL="0" indent="0" algn="l" rtl="0">
              <a:buNone/>
            </a:pPr>
            <a:r>
              <a:rPr lang="en-US" sz="2600" dirty="0"/>
              <a:t>  answer = </a:t>
            </a:r>
            <a:r>
              <a:rPr lang="en-US" sz="2600" dirty="0" err="1"/>
              <a:t>xobject.add</a:t>
            </a:r>
            <a:r>
              <a:rPr lang="en-US" sz="2600" dirty="0"/>
              <a:t>( );</a:t>
            </a:r>
            <a:endParaRPr lang="en-US" sz="2600" dirty="0"/>
          </a:p>
          <a:p>
            <a:pPr marL="0" indent="0" algn="l" rtl="0">
              <a:buNone/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</a:t>
            </a:r>
            <a:r>
              <a:rPr lang="en-US" sz="2600" dirty="0" err="1"/>
              <a:t>xobject.a</a:t>
            </a:r>
            <a:r>
              <a:rPr lang="en-US" sz="2600" dirty="0"/>
              <a:t> &lt;&lt; " + " &lt;&lt; </a:t>
            </a:r>
            <a:r>
              <a:rPr lang="en-US" sz="2600" dirty="0" err="1"/>
              <a:t>xobject.b</a:t>
            </a:r>
            <a:r>
              <a:rPr lang="en-US" sz="2600" dirty="0"/>
              <a:t> &lt;&lt; " = " &lt;&lt; answer &lt;&lt; </a:t>
            </a:r>
            <a:r>
              <a:rPr lang="en-US" sz="2600" dirty="0" err="1"/>
              <a:t>endl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r>
              <a:rPr lang="en-US" sz="2600" dirty="0"/>
              <a:t>}</a:t>
            </a:r>
            <a:endParaRPr lang="ar-EG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9438216" y="3135163"/>
            <a:ext cx="4600803" cy="1932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r>
              <a:rPr lang="en-US" sz="3000" dirty="0"/>
              <a:t>The priority inside class association is to the variable name in the class members</a:t>
            </a:r>
            <a:endParaRPr lang="ar-EG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8829286" y="8134190"/>
            <a:ext cx="5209733" cy="5479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ctr" rtl="0"/>
            <a:r>
              <a:rPr lang="en-US" sz="3000" dirty="0"/>
              <a:t>1+2=3</a:t>
            </a:r>
            <a:endParaRPr lang="ar-EG" sz="3000" dirty="0"/>
          </a:p>
        </p:txBody>
      </p:sp>
      <p:sp>
        <p:nvSpPr>
          <p:cNvPr id="6" name="TextBox 5"/>
          <p:cNvSpPr txBox="1"/>
          <p:nvPr/>
        </p:nvSpPr>
        <p:spPr>
          <a:xfrm>
            <a:off x="7611426" y="708574"/>
            <a:ext cx="6292275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/>
            <a:r>
              <a:rPr lang="en-US" sz="3000" dirty="0"/>
              <a:t>You can use the keyword </a:t>
            </a:r>
            <a:r>
              <a:rPr lang="en-US" sz="3000" dirty="0">
                <a:solidFill>
                  <a:srgbClr val="FF0000"/>
                </a:solidFill>
              </a:rPr>
              <a:t>class</a:t>
            </a:r>
            <a:r>
              <a:rPr lang="en-US" sz="3000" dirty="0"/>
              <a:t> or </a:t>
            </a:r>
            <a:r>
              <a:rPr lang="en-US" sz="3000" dirty="0" err="1">
                <a:solidFill>
                  <a:srgbClr val="FF0000"/>
                </a:solidFill>
              </a:rPr>
              <a:t>struct</a:t>
            </a:r>
            <a:r>
              <a:rPr lang="en-US" sz="3000" dirty="0"/>
              <a:t> with the same meaning</a:t>
            </a:r>
            <a:endParaRPr lang="ar-EG" sz="3000" dirty="0"/>
          </a:p>
        </p:txBody>
      </p:sp>
      <p:sp>
        <p:nvSpPr>
          <p:cNvPr id="2" name="Rectangle 1"/>
          <p:cNvSpPr/>
          <p:nvPr/>
        </p:nvSpPr>
        <p:spPr>
          <a:xfrm>
            <a:off x="2198716" y="2375556"/>
            <a:ext cx="3112308" cy="6001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Member variables</a:t>
            </a:r>
            <a:endParaRPr lang="ar-EG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8993" y="6376313"/>
            <a:ext cx="3112308" cy="6001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Member variables</a:t>
            </a:r>
            <a:endParaRPr lang="ar-EG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63398" y="3709142"/>
            <a:ext cx="3112308" cy="6001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432" tIns="42716" rIns="85432" bIns="42716" rtlCol="1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global  variables </a:t>
            </a:r>
            <a:endParaRPr lang="ar-E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71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62" y="908612"/>
            <a:ext cx="6798205" cy="7948335"/>
          </a:xfrm>
          <a:ln>
            <a:solidFill>
              <a:srgbClr val="FF0000"/>
            </a:solidFill>
          </a:ln>
        </p:spPr>
        <p:txBody>
          <a:bodyPr>
            <a:normAutofit fontScale="47500" lnSpcReduction="20000"/>
          </a:bodyPr>
          <a:lstStyle/>
          <a:p>
            <a:pPr marL="0" indent="0" algn="l" rtl="0"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 marL="0" indent="0" algn="l" rtl="0">
              <a:buNone/>
            </a:pPr>
            <a:r>
              <a:rPr lang="en-US" dirty="0" smtClean="0"/>
              <a:t>using namespace </a:t>
            </a:r>
            <a:r>
              <a:rPr lang="en-US" dirty="0" err="1" smtClean="0"/>
              <a:t>std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smtClean="0"/>
              <a:t>class </a:t>
            </a:r>
            <a:r>
              <a:rPr lang="en-US" dirty="0" smtClean="0">
                <a:solidFill>
                  <a:srgbClr val="FF0000"/>
                </a:solidFill>
              </a:rPr>
              <a:t>Rectangle </a:t>
            </a:r>
            <a:r>
              <a:rPr lang="en-US" dirty="0" smtClean="0"/>
              <a:t>{</a:t>
            </a:r>
          </a:p>
          <a:p>
            <a:pPr marL="0" indent="0" algn="l" rtl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width, height;</a:t>
            </a:r>
          </a:p>
          <a:p>
            <a:pPr marL="0" indent="0" algn="l" rtl="0">
              <a:buNone/>
            </a:pPr>
            <a:r>
              <a:rPr lang="en-US" dirty="0" smtClean="0"/>
              <a:t>  public:</a:t>
            </a:r>
          </a:p>
          <a:p>
            <a:pPr marL="0" indent="0" algn="l" rtl="0">
              <a:buNone/>
            </a:pPr>
            <a:r>
              <a:rPr lang="en-US" dirty="0" smtClean="0"/>
              <a:t>   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Rectangle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,</a:t>
            </a:r>
            <a:r>
              <a:rPr lang="en-US" dirty="0" err="1" smtClean="0"/>
              <a:t>int</a:t>
            </a:r>
            <a:r>
              <a:rPr lang="en-US" dirty="0" smtClean="0"/>
              <a:t> );</a:t>
            </a:r>
          </a:p>
          <a:p>
            <a:pPr marL="0" indent="0" algn="l" rtl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area ( ) {return (width*height);}</a:t>
            </a:r>
          </a:p>
          <a:p>
            <a:pPr marL="0" indent="0" algn="l" rtl="0">
              <a:buNone/>
            </a:pPr>
            <a:r>
              <a:rPr lang="en-US" dirty="0" smtClean="0"/>
              <a:t>};</a:t>
            </a:r>
          </a:p>
          <a:p>
            <a:pPr marL="0" indent="0" algn="l" rtl="0">
              <a:buNone/>
            </a:pPr>
            <a:r>
              <a:rPr lang="en-US" dirty="0" smtClean="0">
                <a:solidFill>
                  <a:srgbClr val="FF0000"/>
                </a:solidFill>
              </a:rPr>
              <a:t>Rectangle::</a:t>
            </a:r>
            <a:r>
              <a:rPr lang="en-US" b="1" dirty="0" smtClean="0">
                <a:solidFill>
                  <a:srgbClr val="00B050"/>
                </a:solidFill>
              </a:rPr>
              <a:t>Rectangle 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a, </a:t>
            </a:r>
            <a:r>
              <a:rPr lang="en-US" dirty="0" err="1" smtClean="0"/>
              <a:t>int</a:t>
            </a:r>
            <a:r>
              <a:rPr lang="en-US" dirty="0" smtClean="0"/>
              <a:t> b) {</a:t>
            </a:r>
          </a:p>
          <a:p>
            <a:pPr marL="0" indent="0" algn="l" rtl="0">
              <a:buNone/>
            </a:pPr>
            <a:r>
              <a:rPr lang="en-US" dirty="0" smtClean="0"/>
              <a:t>  width = a;</a:t>
            </a:r>
          </a:p>
          <a:p>
            <a:pPr marL="0" indent="0" algn="l" rtl="0">
              <a:buNone/>
            </a:pPr>
            <a:r>
              <a:rPr lang="en-US" dirty="0" smtClean="0"/>
              <a:t>  height = b;</a:t>
            </a:r>
          </a:p>
          <a:p>
            <a:pPr marL="0" indent="0" algn="l" rtl="0">
              <a:buNone/>
            </a:pPr>
            <a:r>
              <a:rPr lang="en-US" dirty="0" smtClean="0"/>
              <a:t>}</a:t>
            </a:r>
          </a:p>
          <a:p>
            <a:pPr marL="0" indent="0" algn="l" rtl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 () {</a:t>
            </a:r>
          </a:p>
          <a:p>
            <a:pPr marL="0" indent="0" algn="l" rtl="0">
              <a:buNone/>
            </a:pPr>
            <a:r>
              <a:rPr lang="en-US" dirty="0" smtClean="0">
                <a:solidFill>
                  <a:srgbClr val="0070C0"/>
                </a:solidFill>
              </a:rPr>
              <a:t>  Rectangle recta (3,4);</a:t>
            </a:r>
          </a:p>
          <a:p>
            <a:pPr marL="0" indent="0" algn="l" rtl="0">
              <a:buNone/>
            </a:pPr>
            <a:r>
              <a:rPr lang="en-US" dirty="0" smtClean="0">
                <a:solidFill>
                  <a:srgbClr val="0070C0"/>
                </a:solidFill>
              </a:rPr>
              <a:t>  Rectangle </a:t>
            </a:r>
            <a:r>
              <a:rPr lang="en-US" dirty="0" err="1" smtClean="0">
                <a:solidFill>
                  <a:srgbClr val="0070C0"/>
                </a:solidFill>
              </a:rPr>
              <a:t>rectb</a:t>
            </a:r>
            <a:r>
              <a:rPr lang="en-US" dirty="0" smtClean="0">
                <a:solidFill>
                  <a:srgbClr val="0070C0"/>
                </a:solidFill>
              </a:rPr>
              <a:t> (5,6);</a:t>
            </a:r>
          </a:p>
          <a:p>
            <a:pPr marL="0" indent="0" algn="l" rtl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cout</a:t>
            </a:r>
            <a:r>
              <a:rPr lang="en-US" dirty="0" smtClean="0"/>
              <a:t> &lt;&lt; "recta area: " &lt;&lt; </a:t>
            </a:r>
            <a:r>
              <a:rPr lang="en-US" dirty="0" err="1" smtClean="0"/>
              <a:t>recta.area</a:t>
            </a:r>
            <a:r>
              <a:rPr lang="en-US" dirty="0" smtClean="0"/>
              <a:t>()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cout</a:t>
            </a:r>
            <a:r>
              <a:rPr lang="en-US" dirty="0" smtClean="0"/>
              <a:t> &lt;&lt; "</a:t>
            </a:r>
            <a:r>
              <a:rPr lang="en-US" dirty="0" err="1" smtClean="0"/>
              <a:t>rectb</a:t>
            </a:r>
            <a:r>
              <a:rPr lang="en-US" dirty="0" smtClean="0"/>
              <a:t> area: " &lt;&lt; </a:t>
            </a:r>
            <a:r>
              <a:rPr lang="en-US" dirty="0" err="1" smtClean="0"/>
              <a:t>rectb.area</a:t>
            </a:r>
            <a:r>
              <a:rPr lang="en-US" dirty="0" smtClean="0"/>
              <a:t>() &lt;&lt; 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r>
              <a:rPr lang="en-US" dirty="0" smtClean="0"/>
              <a:t>  return 0;</a:t>
            </a:r>
          </a:p>
          <a:p>
            <a:pPr marL="0" indent="0" algn="l" rtl="0">
              <a:buNone/>
            </a:pPr>
            <a:r>
              <a:rPr lang="en-US" dirty="0" smtClean="0"/>
              <a:t>}</a:t>
            </a:r>
            <a:endParaRPr lang="ar-EG" dirty="0"/>
          </a:p>
        </p:txBody>
      </p:sp>
      <p:sp>
        <p:nvSpPr>
          <p:cNvPr id="2" name="TextBox 1"/>
          <p:cNvSpPr txBox="1"/>
          <p:nvPr/>
        </p:nvSpPr>
        <p:spPr>
          <a:xfrm>
            <a:off x="7273132" y="5597611"/>
            <a:ext cx="6873014" cy="5479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r>
              <a:rPr lang="en-US" sz="3000" dirty="0"/>
              <a:t>Both definition and setting values</a:t>
            </a:r>
            <a:endParaRPr lang="ar-EG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7563502" y="4442614"/>
            <a:ext cx="6582644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ctr" rtl="0"/>
            <a:r>
              <a:rPr lang="en-US" sz="3000" dirty="0"/>
              <a:t>Creating instance of the class using the constructor that sets values</a:t>
            </a:r>
            <a:endParaRPr lang="ar-EG" sz="3000" dirty="0"/>
          </a:p>
        </p:txBody>
      </p:sp>
      <p:sp>
        <p:nvSpPr>
          <p:cNvPr id="5" name="Rectangle 4"/>
          <p:cNvSpPr/>
          <p:nvPr/>
        </p:nvSpPr>
        <p:spPr>
          <a:xfrm>
            <a:off x="948100" y="108460"/>
            <a:ext cx="12985336" cy="701819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000" b="1" spc="47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Constructors can also be </a:t>
            </a:r>
            <a:r>
              <a:rPr lang="en-US" sz="4000" b="1" spc="47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declaed</a:t>
            </a:r>
            <a:r>
              <a:rPr lang="en-US" sz="4000" b="1" spc="47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outside the class</a:t>
            </a:r>
            <a:endParaRPr lang="ar-EG" sz="4000" b="1" spc="47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04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44" y="2975670"/>
            <a:ext cx="13418832" cy="3005068"/>
          </a:xfrm>
        </p:spPr>
        <p:txBody>
          <a:bodyPr>
            <a:normAutofit fontScale="85000" lnSpcReduction="20000"/>
          </a:bodyPr>
          <a:lstStyle/>
          <a:p>
            <a:pPr algn="l" rtl="0"/>
            <a:r>
              <a:rPr lang="en-US" dirty="0" smtClean="0"/>
              <a:t>In C++ a </a:t>
            </a:r>
            <a:r>
              <a:rPr lang="en-US" dirty="0"/>
              <a:t>constructor can </a:t>
            </a:r>
            <a:r>
              <a:rPr lang="en-US" dirty="0" smtClean="0"/>
              <a:t>be </a:t>
            </a:r>
            <a:r>
              <a:rPr lang="en-US" dirty="0">
                <a:solidFill>
                  <a:srgbClr val="0070C0"/>
                </a:solidFill>
              </a:rPr>
              <a:t>overloaded</a:t>
            </a:r>
            <a:r>
              <a:rPr lang="en-US" dirty="0"/>
              <a:t> with different </a:t>
            </a:r>
            <a:r>
              <a:rPr lang="en-US" dirty="0" smtClean="0"/>
              <a:t>input parameters</a:t>
            </a:r>
            <a:r>
              <a:rPr lang="en-US" dirty="0"/>
              <a:t>: </a:t>
            </a:r>
            <a:endParaRPr lang="en-US" dirty="0" smtClean="0"/>
          </a:p>
          <a:p>
            <a:pPr algn="l" rtl="0"/>
            <a:endParaRPr lang="en-US" dirty="0"/>
          </a:p>
          <a:p>
            <a:pPr algn="l" rtl="0"/>
            <a:r>
              <a:rPr lang="en-US" dirty="0" smtClean="0"/>
              <a:t>Different </a:t>
            </a:r>
            <a:r>
              <a:rPr lang="en-US" dirty="0"/>
              <a:t>number of parameters and/or parameters of different types.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2099374" y="575215"/>
            <a:ext cx="10539153" cy="855708"/>
          </a:xfrm>
          <a:prstGeom prst="rect">
            <a:avLst/>
          </a:prstGeom>
          <a:noFill/>
        </p:spPr>
        <p:txBody>
          <a:bodyPr wrap="none" lIns="85432" tIns="42716" rIns="85432" bIns="42716">
            <a:spAutoFit/>
          </a:bodyPr>
          <a:lstStyle/>
          <a:p>
            <a:pPr algn="ctr"/>
            <a:r>
              <a:rPr lang="en-US" sz="5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Overloading constructors</a:t>
            </a:r>
            <a:endParaRPr lang="ar-EG" sz="5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470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14" y="153377"/>
            <a:ext cx="6478159" cy="8711835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600" dirty="0"/>
              <a:t>#include &lt;</a:t>
            </a:r>
            <a:r>
              <a:rPr lang="en-US" sz="2600" dirty="0" err="1"/>
              <a:t>iostream</a:t>
            </a:r>
            <a:r>
              <a:rPr lang="en-US" sz="2600" dirty="0"/>
              <a:t>&gt;</a:t>
            </a:r>
          </a:p>
          <a:p>
            <a:pPr marL="0" indent="0" algn="l" rtl="0">
              <a:buNone/>
            </a:pPr>
            <a:r>
              <a:rPr lang="en-US" sz="2600" dirty="0"/>
              <a:t>using namespace </a:t>
            </a:r>
            <a:r>
              <a:rPr lang="en-US" sz="2600" dirty="0" err="1"/>
              <a:t>std</a:t>
            </a:r>
            <a:r>
              <a:rPr lang="en-US" sz="2600" dirty="0"/>
              <a:t>;</a:t>
            </a:r>
          </a:p>
          <a:p>
            <a:pPr marL="0" indent="0" algn="l" rtl="0">
              <a:buNone/>
            </a:pPr>
            <a:r>
              <a:rPr lang="en-US" sz="2600" dirty="0"/>
              <a:t>class Rectangle {</a:t>
            </a:r>
          </a:p>
          <a:p>
            <a:pPr marL="0" indent="0" algn="l" rtl="0">
              <a:buNone/>
            </a:pPr>
            <a:r>
              <a:rPr lang="en-US" sz="2600" dirty="0"/>
              <a:t>    </a:t>
            </a:r>
            <a:r>
              <a:rPr lang="en-US" sz="2600" dirty="0" err="1"/>
              <a:t>int</a:t>
            </a:r>
            <a:r>
              <a:rPr lang="en-US" sz="2600" dirty="0"/>
              <a:t> width, height;</a:t>
            </a:r>
          </a:p>
          <a:p>
            <a:pPr marL="0" indent="0" algn="l" rtl="0">
              <a:buNone/>
            </a:pPr>
            <a:r>
              <a:rPr lang="en-US" sz="2600" dirty="0"/>
              <a:t>  public:</a:t>
            </a:r>
          </a:p>
          <a:p>
            <a:pPr marL="0" indent="0" algn="l" rtl="0">
              <a:buNone/>
            </a:pPr>
            <a:r>
              <a:rPr lang="en-US" sz="2600" dirty="0"/>
              <a:t>    Rectangle ( );</a:t>
            </a:r>
          </a:p>
          <a:p>
            <a:pPr marL="0" indent="0" algn="l" rtl="0">
              <a:buNone/>
            </a:pPr>
            <a:r>
              <a:rPr lang="en-US" sz="2600" dirty="0"/>
              <a:t>    Rectangle (</a:t>
            </a:r>
            <a:r>
              <a:rPr lang="en-US" sz="2600" dirty="0" err="1"/>
              <a:t>int,int</a:t>
            </a:r>
            <a:r>
              <a:rPr lang="en-US" sz="2600" dirty="0"/>
              <a:t>);</a:t>
            </a:r>
          </a:p>
          <a:p>
            <a:pPr marL="0" indent="0" algn="l" rtl="0">
              <a:buNone/>
            </a:pPr>
            <a:r>
              <a:rPr lang="en-US" sz="2600" dirty="0"/>
              <a:t>    </a:t>
            </a:r>
            <a:r>
              <a:rPr lang="en-US" sz="2600" dirty="0" err="1"/>
              <a:t>int</a:t>
            </a:r>
            <a:r>
              <a:rPr lang="en-US" sz="2600" dirty="0"/>
              <a:t> area (void) {return (width*height);}</a:t>
            </a:r>
          </a:p>
          <a:p>
            <a:pPr marL="0" indent="0" algn="l" rtl="0">
              <a:buNone/>
            </a:pPr>
            <a:r>
              <a:rPr lang="en-US" sz="2600" dirty="0"/>
              <a:t>};</a:t>
            </a:r>
          </a:p>
          <a:p>
            <a:pPr marL="0" indent="0" algn="l" rtl="0">
              <a:buNone/>
            </a:pPr>
            <a:r>
              <a:rPr lang="en-US" sz="2600" dirty="0"/>
              <a:t>Rectangle::Rectangle ( ) {</a:t>
            </a:r>
          </a:p>
          <a:p>
            <a:pPr marL="0" indent="0" algn="l" rtl="0">
              <a:buNone/>
            </a:pPr>
            <a:r>
              <a:rPr lang="en-US" sz="2600" dirty="0"/>
              <a:t>  width = 5;</a:t>
            </a:r>
          </a:p>
          <a:p>
            <a:pPr marL="0" indent="0" algn="l" rtl="0">
              <a:buNone/>
            </a:pPr>
            <a:r>
              <a:rPr lang="en-US" sz="2600" dirty="0"/>
              <a:t>  height = 5;</a:t>
            </a:r>
          </a:p>
          <a:p>
            <a:pPr marL="0" indent="0" algn="l" rtl="0">
              <a:buNone/>
            </a:pPr>
            <a:r>
              <a:rPr lang="en-US" sz="2600" dirty="0"/>
              <a:t>}</a:t>
            </a:r>
          </a:p>
          <a:p>
            <a:pPr marL="0" indent="0" algn="l" rtl="0">
              <a:buNone/>
            </a:pPr>
            <a:r>
              <a:rPr lang="en-US" sz="2600" dirty="0"/>
              <a:t>Rectangle::Rectangle (</a:t>
            </a:r>
            <a:r>
              <a:rPr lang="en-US" sz="2600" dirty="0" err="1"/>
              <a:t>int</a:t>
            </a:r>
            <a:r>
              <a:rPr lang="en-US" sz="2600" dirty="0"/>
              <a:t> a, </a:t>
            </a:r>
            <a:r>
              <a:rPr lang="en-US" sz="2600" dirty="0" err="1"/>
              <a:t>int</a:t>
            </a:r>
            <a:r>
              <a:rPr lang="en-US" sz="2600" dirty="0"/>
              <a:t> b) {</a:t>
            </a:r>
          </a:p>
          <a:p>
            <a:pPr marL="0" indent="0" algn="l" rtl="0">
              <a:buNone/>
            </a:pPr>
            <a:r>
              <a:rPr lang="en-US" sz="2600" dirty="0"/>
              <a:t>  width = a;</a:t>
            </a:r>
          </a:p>
          <a:p>
            <a:pPr marL="0" indent="0" algn="l" rtl="0">
              <a:buNone/>
            </a:pPr>
            <a:r>
              <a:rPr lang="en-US" sz="2600" dirty="0"/>
              <a:t>  height = b;</a:t>
            </a:r>
          </a:p>
          <a:p>
            <a:pPr marL="0" indent="0" algn="l" rtl="0">
              <a:buNone/>
            </a:pPr>
            <a:r>
              <a:rPr lang="en-US" sz="2600" dirty="0"/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61163" y="5661422"/>
            <a:ext cx="5956612" cy="128250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2600" dirty="0"/>
              <a:t>Two different constructors</a:t>
            </a:r>
          </a:p>
          <a:p>
            <a:pPr algn="l" rtl="0"/>
            <a:r>
              <a:rPr lang="en-US" sz="2600" dirty="0"/>
              <a:t>First with no input parameters </a:t>
            </a:r>
          </a:p>
          <a:p>
            <a:pPr algn="l" rtl="0"/>
            <a:r>
              <a:rPr lang="en-US" sz="2600" dirty="0"/>
              <a:t>second with two integers</a:t>
            </a:r>
            <a:endParaRPr lang="ar-EG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7408449" y="508537"/>
            <a:ext cx="6497883" cy="5487745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600" dirty="0" err="1"/>
              <a:t>int</a:t>
            </a:r>
            <a:r>
              <a:rPr lang="en-US" sz="2600" dirty="0"/>
              <a:t> main () {</a:t>
            </a:r>
          </a:p>
          <a:p>
            <a:pPr algn="l" rtl="0">
              <a:lnSpc>
                <a:spcPct val="150000"/>
              </a:lnSpc>
            </a:pPr>
            <a:r>
              <a:rPr lang="en-US" sz="2600" dirty="0"/>
              <a:t>  Rectangle </a:t>
            </a:r>
            <a:r>
              <a:rPr lang="en-US" sz="2600" dirty="0"/>
              <a:t>recta </a:t>
            </a:r>
            <a:r>
              <a:rPr lang="en-US" sz="2600" dirty="0"/>
              <a:t>(3,4);</a:t>
            </a:r>
          </a:p>
          <a:p>
            <a:pPr algn="l" rtl="0">
              <a:lnSpc>
                <a:spcPct val="150000"/>
              </a:lnSpc>
            </a:pPr>
            <a:r>
              <a:rPr lang="en-US" sz="2600" dirty="0"/>
              <a:t>  Rectangle </a:t>
            </a:r>
            <a:r>
              <a:rPr lang="en-US" sz="2600" dirty="0" err="1"/>
              <a:t>rectb</a:t>
            </a:r>
            <a:r>
              <a:rPr lang="en-US" sz="2600" dirty="0"/>
              <a:t>;</a:t>
            </a:r>
          </a:p>
          <a:p>
            <a:pPr algn="l" rtl="0">
              <a:lnSpc>
                <a:spcPct val="150000"/>
              </a:lnSpc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"</a:t>
            </a:r>
            <a:r>
              <a:rPr lang="en-US" sz="2600" dirty="0"/>
              <a:t>recta </a:t>
            </a:r>
            <a:r>
              <a:rPr lang="en-US" sz="2600" dirty="0"/>
              <a:t>area: " &lt;&lt; </a:t>
            </a:r>
            <a:r>
              <a:rPr lang="en-US" sz="2600" dirty="0" err="1"/>
              <a:t>recta.area</a:t>
            </a:r>
            <a:r>
              <a:rPr lang="en-US" sz="2600" dirty="0"/>
              <a:t>() &lt;&lt; </a:t>
            </a:r>
            <a:r>
              <a:rPr lang="en-US" sz="2600" dirty="0" err="1"/>
              <a:t>endl</a:t>
            </a:r>
            <a:r>
              <a:rPr lang="en-US" sz="2600" dirty="0"/>
              <a:t>;</a:t>
            </a:r>
          </a:p>
          <a:p>
            <a:pPr algn="l" rtl="0">
              <a:lnSpc>
                <a:spcPct val="150000"/>
              </a:lnSpc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"</a:t>
            </a:r>
            <a:r>
              <a:rPr lang="en-US" sz="2600" dirty="0" err="1"/>
              <a:t>rectb</a:t>
            </a:r>
            <a:r>
              <a:rPr lang="en-US" sz="2600" dirty="0"/>
              <a:t> area: " &lt;&lt; </a:t>
            </a:r>
            <a:r>
              <a:rPr lang="en-US" sz="2600" dirty="0" err="1"/>
              <a:t>rectb.area</a:t>
            </a:r>
            <a:r>
              <a:rPr lang="en-US" sz="2600" dirty="0"/>
              <a:t>() &lt;&lt; </a:t>
            </a:r>
            <a:r>
              <a:rPr lang="en-US" sz="2600" dirty="0" err="1"/>
              <a:t>endl</a:t>
            </a:r>
            <a:r>
              <a:rPr lang="en-US" sz="2600" dirty="0"/>
              <a:t>;</a:t>
            </a:r>
          </a:p>
          <a:p>
            <a:pPr algn="l" rtl="0">
              <a:lnSpc>
                <a:spcPct val="150000"/>
              </a:lnSpc>
            </a:pPr>
            <a:r>
              <a:rPr lang="en-US" sz="2600" dirty="0"/>
              <a:t>  return 0</a:t>
            </a:r>
            <a:r>
              <a:rPr lang="en-US" sz="2600" dirty="0" smtClean="0"/>
              <a:t>;}</a:t>
            </a:r>
            <a:endParaRPr lang="ar-EG" sz="2600" dirty="0"/>
          </a:p>
          <a:p>
            <a:pPr>
              <a:lnSpc>
                <a:spcPct val="150000"/>
              </a:lnSpc>
            </a:pPr>
            <a:endParaRPr lang="ar-EG" sz="2600" dirty="0"/>
          </a:p>
        </p:txBody>
      </p:sp>
      <p:sp>
        <p:nvSpPr>
          <p:cNvPr id="5" name="TextBox 4"/>
          <p:cNvSpPr txBox="1"/>
          <p:nvPr/>
        </p:nvSpPr>
        <p:spPr>
          <a:xfrm>
            <a:off x="7408449" y="7109786"/>
            <a:ext cx="6833546" cy="1132707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/>
            <a:r>
              <a:rPr lang="en-US" sz="3400" dirty="0"/>
              <a:t>Output:</a:t>
            </a:r>
          </a:p>
          <a:p>
            <a:pPr algn="l"/>
            <a:r>
              <a:rPr lang="en-US" sz="3400" dirty="0"/>
              <a:t> recta </a:t>
            </a:r>
            <a:r>
              <a:rPr lang="en-US" sz="3400" dirty="0"/>
              <a:t>area: 12 </a:t>
            </a:r>
            <a:r>
              <a:rPr lang="en-US" sz="3400" dirty="0" err="1"/>
              <a:t>rectb</a:t>
            </a:r>
            <a:r>
              <a:rPr lang="en-US" sz="3400" dirty="0"/>
              <a:t> area: 25 </a:t>
            </a:r>
            <a:endParaRPr lang="ar-EG" sz="3400" dirty="0"/>
          </a:p>
        </p:txBody>
      </p:sp>
    </p:spTree>
    <p:extLst>
      <p:ext uri="{BB962C8B-B14F-4D97-AF65-F5344CB8AC3E}">
        <p14:creationId xmlns:p14="http://schemas.microsoft.com/office/powerpoint/2010/main" val="250758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ways to call constructor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569" y="2104340"/>
            <a:ext cx="13533383" cy="5951851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 err="1">
                <a:solidFill>
                  <a:srgbClr val="0070C0"/>
                </a:solidFill>
              </a:rPr>
              <a:t>class_name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B050"/>
                </a:solidFill>
              </a:rPr>
              <a:t>object_name</a:t>
            </a:r>
            <a:r>
              <a:rPr lang="en-US" dirty="0" smtClean="0"/>
              <a:t>  ( </a:t>
            </a:r>
            <a:r>
              <a:rPr lang="en-US" dirty="0" err="1" smtClean="0"/>
              <a:t>initialization_value</a:t>
            </a:r>
            <a:r>
              <a:rPr lang="en-US" dirty="0" smtClean="0"/>
              <a:t>) ;</a:t>
            </a:r>
          </a:p>
          <a:p>
            <a:pPr marL="0" indent="0" algn="l" rtl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indent="0" algn="l" rtl="0">
              <a:buNone/>
            </a:pPr>
            <a:r>
              <a:rPr lang="en-US" dirty="0" err="1" smtClean="0">
                <a:solidFill>
                  <a:srgbClr val="0070C0"/>
                </a:solidFill>
              </a:rPr>
              <a:t>class_name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object_name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/>
              <a:t>= </a:t>
            </a:r>
            <a:r>
              <a:rPr lang="en-US" dirty="0" err="1"/>
              <a:t>initialization_value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endParaRPr lang="en-US" dirty="0" smtClean="0"/>
          </a:p>
          <a:p>
            <a:pPr marL="0" indent="0" algn="l" rtl="0">
              <a:buNone/>
            </a:pPr>
            <a:r>
              <a:rPr lang="en-US" dirty="0" err="1" smtClean="0">
                <a:solidFill>
                  <a:srgbClr val="0070C0"/>
                </a:solidFill>
              </a:rPr>
              <a:t>class_name</a:t>
            </a:r>
            <a:r>
              <a:rPr lang="en-US" dirty="0" smtClean="0"/>
              <a:t>  </a:t>
            </a:r>
            <a:r>
              <a:rPr lang="en-US" dirty="0" err="1" smtClean="0">
                <a:solidFill>
                  <a:srgbClr val="00B050"/>
                </a:solidFill>
              </a:rPr>
              <a:t>object_name</a:t>
            </a:r>
            <a:r>
              <a:rPr lang="en-US" dirty="0" smtClean="0"/>
              <a:t> </a:t>
            </a:r>
            <a:r>
              <a:rPr lang="en-US" dirty="0"/>
              <a:t>{ value, value, value, ... </a:t>
            </a:r>
            <a:r>
              <a:rPr lang="en-US" dirty="0" smtClean="0"/>
              <a:t>}</a:t>
            </a:r>
          </a:p>
          <a:p>
            <a:pPr marL="0" indent="0" algn="l" rtl="0">
              <a:buNone/>
            </a:pPr>
            <a:r>
              <a:rPr lang="en-US" dirty="0" err="1">
                <a:solidFill>
                  <a:srgbClr val="0070C0"/>
                </a:solidFill>
              </a:rPr>
              <a:t>class_name</a:t>
            </a:r>
            <a:r>
              <a:rPr lang="en-US" dirty="0"/>
              <a:t>  </a:t>
            </a:r>
            <a:r>
              <a:rPr lang="en-US" dirty="0" err="1">
                <a:solidFill>
                  <a:srgbClr val="00B050"/>
                </a:solidFill>
              </a:rPr>
              <a:t>object_name</a:t>
            </a:r>
            <a:r>
              <a:rPr lang="en-US" dirty="0"/>
              <a:t> </a:t>
            </a:r>
            <a:r>
              <a:rPr lang="en-US" dirty="0" smtClean="0"/>
              <a:t>= { </a:t>
            </a:r>
            <a:r>
              <a:rPr lang="en-US" dirty="0"/>
              <a:t>value, value, value, ... }</a:t>
            </a:r>
          </a:p>
          <a:p>
            <a:pPr marL="0" indent="0" algn="l" rtl="0"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11141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313" y="437458"/>
            <a:ext cx="13091637" cy="8333059"/>
          </a:xfrm>
        </p:spPr>
        <p:txBody>
          <a:bodyPr>
            <a:normAutofit fontScale="47500" lnSpcReduction="20000"/>
          </a:bodyPr>
          <a:lstStyle/>
          <a:p>
            <a:pPr marL="0" indent="0" algn="l" rtl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 algn="l" rtl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class Circle {</a:t>
            </a:r>
          </a:p>
          <a:p>
            <a:pPr marL="0" indent="0" algn="l" rtl="0">
              <a:buNone/>
            </a:pPr>
            <a:r>
              <a:rPr lang="en-US" dirty="0"/>
              <a:t>    double radius;</a:t>
            </a:r>
          </a:p>
          <a:p>
            <a:pPr marL="0" indent="0" algn="l" rtl="0">
              <a:buNone/>
            </a:pPr>
            <a:r>
              <a:rPr lang="en-US" dirty="0"/>
              <a:t>  public:</a:t>
            </a:r>
          </a:p>
          <a:p>
            <a:pPr marL="0" indent="0" algn="l" rtl="0">
              <a:buNone/>
            </a:pPr>
            <a:r>
              <a:rPr lang="en-US" dirty="0"/>
              <a:t>    Circle(double r) { radius = r; }</a:t>
            </a:r>
          </a:p>
          <a:p>
            <a:pPr marL="0" indent="0" algn="l" rtl="0">
              <a:buNone/>
            </a:pPr>
            <a:r>
              <a:rPr lang="en-US" dirty="0"/>
              <a:t>    double </a:t>
            </a:r>
            <a:r>
              <a:rPr lang="en-US" dirty="0" err="1"/>
              <a:t>circum</a:t>
            </a:r>
            <a:r>
              <a:rPr lang="en-US" dirty="0"/>
              <a:t>() {return 2*radius*3.14159265;}</a:t>
            </a:r>
          </a:p>
          <a:p>
            <a:pPr marL="0" indent="0" algn="l" rtl="0">
              <a:buNone/>
            </a:pPr>
            <a:r>
              <a:rPr lang="en-US" dirty="0"/>
              <a:t>};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dirty="0"/>
              <a:t>  Circle </a:t>
            </a:r>
            <a:r>
              <a:rPr lang="en-US" dirty="0" smtClean="0"/>
              <a:t>c1 </a:t>
            </a:r>
            <a:r>
              <a:rPr lang="en-US" dirty="0"/>
              <a:t>(10.0); </a:t>
            </a:r>
            <a:endParaRPr lang="en-US" dirty="0" smtClean="0"/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dirty="0" smtClean="0"/>
              <a:t>  Circle c2 </a:t>
            </a:r>
            <a:r>
              <a:rPr lang="en-US" dirty="0"/>
              <a:t>= 20.0; </a:t>
            </a:r>
            <a:endParaRPr lang="en-US" dirty="0" smtClean="0"/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dirty="0" smtClean="0"/>
              <a:t>  Circle c3 </a:t>
            </a:r>
            <a:r>
              <a:rPr lang="en-US" dirty="0"/>
              <a:t>{30.0}; </a:t>
            </a:r>
            <a:endParaRPr lang="en-US" dirty="0" smtClean="0"/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dirty="0" smtClean="0"/>
              <a:t>  Circle c4 </a:t>
            </a:r>
            <a:r>
              <a:rPr lang="en-US" dirty="0"/>
              <a:t>= {40.0}; </a:t>
            </a:r>
            <a:r>
              <a:rPr lang="en-US" dirty="0" smtClean="0"/>
              <a:t>   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smtClean="0"/>
              <a:t>“c1 </a:t>
            </a:r>
            <a:r>
              <a:rPr lang="en-US" dirty="0"/>
              <a:t>circumference: " </a:t>
            </a:r>
            <a:r>
              <a:rPr lang="en-US"/>
              <a:t>&lt;&lt; </a:t>
            </a:r>
            <a:r>
              <a:rPr lang="en-US" smtClean="0"/>
              <a:t>c1.circum</a:t>
            </a:r>
            <a:r>
              <a:rPr lang="en-US" dirty="0"/>
              <a:t>() &lt;&lt; '\n';</a:t>
            </a:r>
          </a:p>
          <a:p>
            <a:pPr marL="0" indent="0" algn="l" rtl="0">
              <a:buNone/>
            </a:pPr>
            <a:r>
              <a:rPr lang="en-US" dirty="0"/>
              <a:t>  return 0;</a:t>
            </a:r>
          </a:p>
          <a:p>
            <a:pPr marL="0" indent="0" algn="l" rtl="0">
              <a:buNone/>
            </a:pPr>
            <a:r>
              <a:rPr lang="en-US" dirty="0"/>
              <a:t>}</a:t>
            </a:r>
            <a:endParaRPr lang="ar-EG" dirty="0"/>
          </a:p>
        </p:txBody>
      </p:sp>
      <p:sp>
        <p:nvSpPr>
          <p:cNvPr id="4" name="TextBox 3"/>
          <p:cNvSpPr txBox="1"/>
          <p:nvPr/>
        </p:nvSpPr>
        <p:spPr>
          <a:xfrm>
            <a:off x="6356730" y="342764"/>
            <a:ext cx="7331214" cy="1009596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r>
              <a:rPr lang="en-US" sz="3000" dirty="0"/>
              <a:t>Creating objects from class in different ways</a:t>
            </a:r>
            <a:endParaRPr lang="ar-EG" sz="3000" dirty="0"/>
          </a:p>
        </p:txBody>
      </p:sp>
    </p:spTree>
    <p:extLst>
      <p:ext uri="{BB962C8B-B14F-4D97-AF65-F5344CB8AC3E}">
        <p14:creationId xmlns:p14="http://schemas.microsoft.com/office/powerpoint/2010/main" val="23652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21" y="175140"/>
            <a:ext cx="13091637" cy="1503098"/>
          </a:xfrm>
        </p:spPr>
        <p:txBody>
          <a:bodyPr>
            <a:normAutofit/>
          </a:bodyPr>
          <a:lstStyle/>
          <a:p>
            <a:r>
              <a:rPr lang="en-US" sz="5000" b="1" dirty="0"/>
              <a:t>Pointers to classes</a:t>
            </a:r>
            <a:endParaRPr lang="ar-EG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395" y="1556966"/>
            <a:ext cx="13091637" cy="6472391"/>
          </a:xfrm>
        </p:spPr>
        <p:txBody>
          <a:bodyPr>
            <a:normAutofit fontScale="77500" lnSpcReduction="20000"/>
          </a:bodyPr>
          <a:lstStyle/>
          <a:p>
            <a:pPr marL="0" indent="0" algn="l" rtl="0">
              <a:buNone/>
            </a:pPr>
            <a:r>
              <a:rPr lang="en-US" dirty="0"/>
              <a:t>Objects can also be pointed to by pointers: Once declared, a class becomes a valid type, so it can be used as the type pointed to by a pointer. </a:t>
            </a:r>
            <a:endParaRPr lang="en-US" dirty="0" smtClean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smtClean="0"/>
              <a:t>class </a:t>
            </a:r>
            <a:r>
              <a:rPr lang="en-US" dirty="0"/>
              <a:t>Rectangle {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width, height;</a:t>
            </a:r>
          </a:p>
          <a:p>
            <a:pPr marL="0" indent="0" algn="l" rtl="0">
              <a:buNone/>
            </a:pPr>
            <a:r>
              <a:rPr lang="en-US" dirty="0"/>
              <a:t>  public:</a:t>
            </a:r>
          </a:p>
          <a:p>
            <a:pPr marL="0" indent="0" algn="l" rtl="0">
              <a:buNone/>
            </a:pPr>
            <a:r>
              <a:rPr lang="en-US" dirty="0"/>
              <a:t>    Rectangle (</a:t>
            </a:r>
            <a:r>
              <a:rPr lang="en-US" dirty="0" err="1"/>
              <a:t>int,int</a:t>
            </a:r>
            <a:r>
              <a:rPr lang="en-US" dirty="0"/>
              <a:t>);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area () {return (width*height);}</a:t>
            </a:r>
          </a:p>
          <a:p>
            <a:pPr marL="0" indent="0" algn="l" rtl="0">
              <a:buNone/>
            </a:pPr>
            <a:r>
              <a:rPr lang="en-US" dirty="0" smtClean="0"/>
              <a:t>};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Rectangle * </a:t>
            </a:r>
            <a:r>
              <a:rPr lang="en-US" dirty="0" err="1" smtClean="0"/>
              <a:t>rectp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29810" y="7180498"/>
            <a:ext cx="7780770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l" rtl="0"/>
            <a:r>
              <a:rPr lang="en-US" sz="3000" dirty="0"/>
              <a:t> </a:t>
            </a:r>
            <a:r>
              <a:rPr lang="en-US" sz="3000" dirty="0" err="1"/>
              <a:t>rectp</a:t>
            </a:r>
            <a:r>
              <a:rPr lang="en-US" sz="3000" dirty="0"/>
              <a:t> is </a:t>
            </a:r>
            <a:r>
              <a:rPr lang="en-US" sz="3000" dirty="0"/>
              <a:t>a pointer to an object of </a:t>
            </a:r>
            <a:r>
              <a:rPr lang="en-US" sz="3000" dirty="0"/>
              <a:t>class Rectangle</a:t>
            </a:r>
            <a:endParaRPr lang="ar-EG" sz="3000" dirty="0"/>
          </a:p>
        </p:txBody>
      </p:sp>
    </p:spTree>
    <p:extLst>
      <p:ext uri="{BB962C8B-B14F-4D97-AF65-F5344CB8AC3E}">
        <p14:creationId xmlns:p14="http://schemas.microsoft.com/office/powerpoint/2010/main" val="27820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09" y="241819"/>
            <a:ext cx="6681136" cy="877676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 fontScale="62500" lnSpcReduction="20000"/>
          </a:bodyPr>
          <a:lstStyle/>
          <a:p>
            <a:pPr marL="0" indent="0" algn="l" rtl="0">
              <a:buNone/>
            </a:pPr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pPr marL="0" indent="0" algn="l" rtl="0">
              <a:buNone/>
            </a:pP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 smtClean="0"/>
              <a:t>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smtClean="0"/>
              <a:t>class </a:t>
            </a:r>
            <a:r>
              <a:rPr lang="en-US" dirty="0"/>
              <a:t>Rectangle {</a:t>
            </a:r>
          </a:p>
          <a:p>
            <a:pPr marL="0" indent="0" algn="l" rtl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width, height;</a:t>
            </a:r>
          </a:p>
          <a:p>
            <a:pPr marL="0" indent="0" algn="l" rtl="0">
              <a:buNone/>
            </a:pPr>
            <a:r>
              <a:rPr lang="en-US" dirty="0" smtClean="0"/>
              <a:t>   public</a:t>
            </a:r>
            <a:r>
              <a:rPr lang="en-US" dirty="0"/>
              <a:t>:</a:t>
            </a:r>
          </a:p>
          <a:p>
            <a:pPr marL="0" indent="0" algn="l" rtl="0">
              <a:buNone/>
            </a:pPr>
            <a:r>
              <a:rPr lang="en-US" dirty="0"/>
              <a:t>  Rectangle(</a:t>
            </a:r>
            <a:r>
              <a:rPr lang="en-US" dirty="0" err="1"/>
              <a:t>int</a:t>
            </a:r>
            <a:r>
              <a:rPr lang="en-US" dirty="0"/>
              <a:t> x, </a:t>
            </a:r>
            <a:r>
              <a:rPr lang="en-US" dirty="0" err="1"/>
              <a:t>int</a:t>
            </a:r>
            <a:r>
              <a:rPr lang="en-US" dirty="0"/>
              <a:t> y) : width(x), height(y) {}</a:t>
            </a:r>
          </a:p>
          <a:p>
            <a:pPr marL="0" indent="0" algn="l" rtl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area(void) { return width * height; }</a:t>
            </a:r>
          </a:p>
          <a:p>
            <a:pPr marL="0" indent="0" algn="l" rtl="0">
              <a:buNone/>
            </a:pPr>
            <a:r>
              <a:rPr lang="en-US" dirty="0" smtClean="0"/>
              <a:t>};</a:t>
            </a:r>
            <a:endParaRPr lang="en-US" dirty="0"/>
          </a:p>
          <a:p>
            <a:pPr marL="0" indent="0" algn="l" rtl="0">
              <a:buNone/>
            </a:pPr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pPr marL="0" indent="0" algn="l" rtl="0">
              <a:buNone/>
            </a:pPr>
            <a:r>
              <a:rPr lang="en-US" dirty="0"/>
              <a:t>  Rectangle </a:t>
            </a:r>
            <a:r>
              <a:rPr lang="en-US" dirty="0" err="1" smtClean="0"/>
              <a:t>recobj</a:t>
            </a:r>
            <a:r>
              <a:rPr lang="en-US" dirty="0" smtClean="0"/>
              <a:t>  (</a:t>
            </a:r>
            <a:r>
              <a:rPr lang="en-US" dirty="0"/>
              <a:t>3, 4</a:t>
            </a:r>
            <a:r>
              <a:rPr lang="en-US" dirty="0" smtClean="0"/>
              <a:t>);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/>
              <a:t>  Rectangle * </a:t>
            </a:r>
            <a:r>
              <a:rPr lang="en-US" dirty="0" smtClean="0"/>
              <a:t>recpt1, </a:t>
            </a:r>
            <a:r>
              <a:rPr lang="en-US" dirty="0"/>
              <a:t>* </a:t>
            </a:r>
            <a:r>
              <a:rPr lang="en-US" dirty="0" smtClean="0"/>
              <a:t>recpt2;</a:t>
            </a:r>
            <a:endParaRPr lang="en-US" dirty="0"/>
          </a:p>
          <a:p>
            <a:pPr marL="0" indent="0" algn="l" rtl="0">
              <a:lnSpc>
                <a:spcPct val="270000"/>
              </a:lnSpc>
              <a:buNone/>
            </a:pPr>
            <a:r>
              <a:rPr lang="en-US" dirty="0"/>
              <a:t>  </a:t>
            </a:r>
            <a:r>
              <a:rPr lang="en-US" dirty="0" smtClean="0"/>
              <a:t>rectp1 </a:t>
            </a:r>
            <a:r>
              <a:rPr lang="en-US" dirty="0"/>
              <a:t>= </a:t>
            </a:r>
            <a:r>
              <a:rPr lang="en-US" dirty="0" smtClean="0"/>
              <a:t>&amp; </a:t>
            </a:r>
            <a:r>
              <a:rPr lang="en-US" dirty="0" err="1" smtClean="0"/>
              <a:t>recobj</a:t>
            </a:r>
            <a:r>
              <a:rPr lang="en-US" dirty="0"/>
              <a:t>;</a:t>
            </a:r>
          </a:p>
          <a:p>
            <a:pPr marL="0" indent="0" algn="l" rtl="0">
              <a:lnSpc>
                <a:spcPct val="270000"/>
              </a:lnSpc>
              <a:buNone/>
            </a:pPr>
            <a:r>
              <a:rPr lang="en-US" dirty="0"/>
              <a:t>  </a:t>
            </a:r>
            <a:r>
              <a:rPr lang="en-US" dirty="0" smtClean="0"/>
              <a:t>rectp2 </a:t>
            </a:r>
            <a:r>
              <a:rPr lang="en-US" dirty="0"/>
              <a:t>= new Rectangle (5, 6);</a:t>
            </a: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05473" y="7870785"/>
            <a:ext cx="6968864" cy="1009596"/>
          </a:xfrm>
          <a:prstGeom prst="rect">
            <a:avLst/>
          </a:prstGeom>
          <a:noFill/>
        </p:spPr>
        <p:txBody>
          <a:bodyPr wrap="square" lIns="85432" tIns="42716" rIns="85432" bIns="42716" rtlCol="1">
            <a:spAutoFit/>
          </a:bodyPr>
          <a:lstStyle/>
          <a:p>
            <a:pPr algn="ctr"/>
            <a:r>
              <a:rPr lang="en-US" sz="3000" dirty="0"/>
              <a:t>Use keyword new when constructing pointers to objects </a:t>
            </a:r>
            <a:endParaRPr lang="ar-EG" sz="3000" dirty="0"/>
          </a:p>
        </p:txBody>
      </p:sp>
      <p:sp>
        <p:nvSpPr>
          <p:cNvPr id="2" name="TextBox 1"/>
          <p:cNvSpPr txBox="1"/>
          <p:nvPr/>
        </p:nvSpPr>
        <p:spPr>
          <a:xfrm>
            <a:off x="6934837" y="575215"/>
            <a:ext cx="7442476" cy="567151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85432" tIns="42716" rIns="85432" bIns="42716" rtlCol="1">
            <a:spAutoFit/>
          </a:bodyPr>
          <a:lstStyle/>
          <a:p>
            <a:pPr algn="l" rtl="0">
              <a:lnSpc>
                <a:spcPct val="200000"/>
              </a:lnSpc>
            </a:pPr>
            <a:r>
              <a:rPr lang="en-US" sz="2600" dirty="0"/>
              <a:t> </a:t>
            </a:r>
            <a:r>
              <a:rPr lang="en-US" sz="2600" dirty="0" err="1"/>
              <a:t>cout</a:t>
            </a:r>
            <a:r>
              <a:rPr lang="en-US" sz="2600" dirty="0"/>
              <a:t> &lt;&lt; </a:t>
            </a:r>
            <a:r>
              <a:rPr lang="en-US" sz="2600" dirty="0"/>
              <a:t>“first </a:t>
            </a:r>
            <a:r>
              <a:rPr lang="en-US" sz="2600" dirty="0"/>
              <a:t>area: " &lt;&lt; </a:t>
            </a:r>
            <a:r>
              <a:rPr lang="en-US" sz="2600" dirty="0" err="1"/>
              <a:t>recobj.area</a:t>
            </a:r>
            <a:r>
              <a:rPr lang="en-US" sz="2600" dirty="0"/>
              <a:t>() </a:t>
            </a:r>
            <a:r>
              <a:rPr lang="en-US" sz="2600" dirty="0"/>
              <a:t>;</a:t>
            </a:r>
            <a:endParaRPr lang="en-US" sz="2600" dirty="0"/>
          </a:p>
          <a:p>
            <a:pPr algn="l" rtl="0">
              <a:lnSpc>
                <a:spcPct val="200000"/>
              </a:lnSpc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</a:t>
            </a:r>
            <a:r>
              <a:rPr lang="en-US" sz="2600" dirty="0"/>
              <a:t>“first </a:t>
            </a:r>
            <a:r>
              <a:rPr lang="en-US" sz="2600" dirty="0"/>
              <a:t>area: " &lt;&lt; </a:t>
            </a:r>
            <a:r>
              <a:rPr lang="en-US" sz="2600" dirty="0"/>
              <a:t>rectp1-&gt;</a:t>
            </a:r>
            <a:r>
              <a:rPr lang="en-US" sz="2600" dirty="0"/>
              <a:t>area() </a:t>
            </a:r>
            <a:r>
              <a:rPr lang="en-US" sz="2600" dirty="0"/>
              <a:t>;</a:t>
            </a:r>
            <a:endParaRPr lang="en-US" sz="2600" dirty="0"/>
          </a:p>
          <a:p>
            <a:pPr algn="l" rtl="0">
              <a:lnSpc>
                <a:spcPct val="200000"/>
              </a:lnSpc>
            </a:pPr>
            <a:r>
              <a:rPr lang="en-US" sz="2600" dirty="0"/>
              <a:t>  </a:t>
            </a:r>
            <a:r>
              <a:rPr lang="en-US" sz="2600" dirty="0" err="1"/>
              <a:t>cout</a:t>
            </a:r>
            <a:r>
              <a:rPr lang="en-US" sz="2600" dirty="0"/>
              <a:t> &lt;&lt; </a:t>
            </a:r>
            <a:r>
              <a:rPr lang="en-US" sz="2600" dirty="0"/>
              <a:t>“second area </a:t>
            </a:r>
            <a:r>
              <a:rPr lang="en-US" sz="2600" dirty="0"/>
              <a:t>" &lt;&lt; </a:t>
            </a:r>
            <a:r>
              <a:rPr lang="en-US" sz="2600" dirty="0"/>
              <a:t>rectp2-&gt;</a:t>
            </a:r>
            <a:r>
              <a:rPr lang="en-US" sz="2600" dirty="0"/>
              <a:t>area() &lt;&lt; </a:t>
            </a:r>
            <a:r>
              <a:rPr lang="en-US" sz="2600" dirty="0"/>
              <a:t>;</a:t>
            </a:r>
            <a:endParaRPr lang="en-US" sz="2600" dirty="0"/>
          </a:p>
          <a:p>
            <a:pPr algn="l" rtl="0">
              <a:lnSpc>
                <a:spcPct val="200000"/>
              </a:lnSpc>
            </a:pPr>
            <a:r>
              <a:rPr lang="en-US" sz="2600" dirty="0"/>
              <a:t>       </a:t>
            </a:r>
            <a:endParaRPr lang="en-US" sz="2600" dirty="0"/>
          </a:p>
          <a:p>
            <a:pPr algn="l" rtl="0">
              <a:lnSpc>
                <a:spcPct val="200000"/>
              </a:lnSpc>
            </a:pPr>
            <a:r>
              <a:rPr lang="en-US" sz="2600" dirty="0"/>
              <a:t> </a:t>
            </a:r>
            <a:r>
              <a:rPr lang="en-US" sz="2600" dirty="0"/>
              <a:t>delete rectp2;</a:t>
            </a:r>
            <a:endParaRPr lang="en-US" sz="2600" dirty="0"/>
          </a:p>
          <a:p>
            <a:pPr algn="l" rtl="0">
              <a:lnSpc>
                <a:spcPct val="200000"/>
              </a:lnSpc>
            </a:pPr>
            <a:r>
              <a:rPr lang="en-US" sz="2600" dirty="0"/>
              <a:t>return </a:t>
            </a:r>
            <a:r>
              <a:rPr lang="en-US" sz="2600" dirty="0"/>
              <a:t>0;</a:t>
            </a:r>
          </a:p>
          <a:p>
            <a:pPr algn="l" rtl="0">
              <a:lnSpc>
                <a:spcPct val="200000"/>
              </a:lnSpc>
            </a:pPr>
            <a:r>
              <a:rPr lang="en-US" sz="2600" dirty="0"/>
              <a:t>}	</a:t>
            </a:r>
            <a:endParaRPr lang="ar-EG" sz="2600" dirty="0"/>
          </a:p>
        </p:txBody>
      </p:sp>
    </p:spTree>
    <p:extLst>
      <p:ext uri="{BB962C8B-B14F-4D97-AF65-F5344CB8AC3E}">
        <p14:creationId xmlns:p14="http://schemas.microsoft.com/office/powerpoint/2010/main" val="305057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41245</TotalTime>
  <Words>3048</Words>
  <Application>Microsoft Office PowerPoint</Application>
  <PresentationFormat>Custom</PresentationFormat>
  <Paragraphs>696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Anonymous class</vt:lpstr>
      <vt:lpstr>Anonymous class in Abstract class</vt:lpstr>
      <vt:lpstr>Anonymous class implementing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namespace allows you to deal with variables in the name space.    “cout”   is defined in standard library std</vt:lpstr>
      <vt:lpstr>Scope of the variables  :: associated to global</vt:lpstr>
      <vt:lpstr>Scope of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Classes in C++</vt:lpstr>
      <vt:lpstr>PowerPoint Presentation</vt:lpstr>
      <vt:lpstr>PowerPoint Presentation</vt:lpstr>
      <vt:lpstr>PowerPoint Presentation</vt:lpstr>
      <vt:lpstr>PowerPoint Presentation</vt:lpstr>
      <vt:lpstr>Classes in C++</vt:lpstr>
      <vt:lpstr>Static Data Member </vt:lpstr>
      <vt:lpstr>PowerPoint Presentation</vt:lpstr>
      <vt:lpstr>Scope operator (::)</vt:lpstr>
      <vt:lpstr>PowerPoint Presentation</vt:lpstr>
      <vt:lpstr>Assignment 12</vt:lpstr>
      <vt:lpstr>PowerPoint Presentation</vt:lpstr>
      <vt:lpstr>PowerPoint Presentation</vt:lpstr>
      <vt:lpstr>PowerPoint Presentation</vt:lpstr>
      <vt:lpstr>PowerPoint Presentation</vt:lpstr>
      <vt:lpstr>Different ways to call constructor</vt:lpstr>
      <vt:lpstr>PowerPoint Presentation</vt:lpstr>
      <vt:lpstr>Pointers to classes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Mohamed elkholy</cp:lastModifiedBy>
  <cp:revision>324</cp:revision>
  <dcterms:modified xsi:type="dcterms:W3CDTF">2026-04-30T10:46:12Z</dcterms:modified>
</cp:coreProperties>
</file>