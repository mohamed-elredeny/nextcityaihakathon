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The objective of this session is not to enumerate AI tools. It is to examine how a single discipline — treating yourself as the operator rather than the output — separates students who compound capability from those who erode it. We will follow one composite case study across an academic year, identify the mechanism at each decision point, and leave you with seven prompt templates calibrated for graduate-level rigour.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 Omar — a fourth-year student carrying a standard senior load: four courses, a capstone project, and part-time professional commitments. Eight months ago he adopted generative AI as a primary work tool. The relevant observation is not that he used it; nearly everyone does. The relevant observation is that the failure mode of generative AI is silent. Output volume rises while comprehension declines, and the divergence is undetectable until it is assessed under examination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operating principle that organises the entire session. Use AI; do not let AI use you. The two trajectories are visually indistinguishable for approximately ninety days. After six months, the divergence is measurable across grades, project outcomes, and professional readiness. We will examine five domains — studying, research, design, software, and entrepreneurship — and isolate the mechanism that produces the divergence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one. Examination preparation. Two hundred pages of lecture notes, nine days to a final assessment. The default behaviour is to request a summary. A summary read passively produces what cognitive science labels the illusion of fluency: the material feels familiar without being encoded. Roediger and Karpicke, 2006, demonstrated that re-reading produces near-zero gains in long-term retention compared to retrieval practice. A summary is re-reading at higher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approach treats AI as the architect of a study system, not as the student. Same nine days, same source material, same free-tier tools. The difference is the prompt structure: every interaction is designed to force retrieval, expose contradiction, and identify the boundary of comprehension. The next three slides specify the exact templates.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tool selection: NotebookLM constrains its outputs to user-supplied sources and produces inline citations to the source pages, which substantially reduces hallucination risk for closed-domain study material. ChatGPT and Claude serve as general-purpose tutors for explanation and structured writing. The recommendation is two primary tools used fluently, not five tools used superficially. Tool churn is a measurable productivity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one — the study tutor. Five components: role, context, task, format, constraint. The constraint line — explicit instructions not to invent facts and to flag contradictions in source material — materially reduces fabrication. The output is not a summary; it is a structured diagnostic that identifies what the student does not yet understand. Notice the specificity of the task — four named outputs, not a single open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two — active recall. Retrieval practice is the most replicated finding in the cognitive science of learning. The protocol: generate twenty multiple-choice items, mark them, and for every incorrect response require an explanation of the misconception, not merely the correct answer. The explanation is the learning event. Re-running the cycle nightly compounds gains; the meta-analysis literature reports effect sizes of d equals 0.7 and above for retrieval over re-reading.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three — the Feynman protocol. The technique formalises a Nobel laureate's diagnostic for genuine understanding: explain the concept to a non-expert until you encounter the point where you cannot continue. AI substitutes for the patient interlocutor. The instruction to remain in role and ask only clarifying questions is essential; without it, the model defaults to filling gaps and obscures the point of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Outcome. The case subject moved from a 68 percent semester average to 91 percent in a single term. The hours invested were not materially different. The structure of those hours was. A control case — a peer with identical access to identical tools — declined over the same period. The variable is not access. The variable is whether the prompt structure forces the student to do cognitive work or permits the model to substitute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two. Research integrity. The capstone phase requires a literature review across roughly forty primary sources within a fourteen-day window. The failure mode is well-documented: large language models fabricate citations that are syntactically plausible but bibliographically nonexistent. This is not a hypothetical risk. Bohannon, 2023, in Science, documented this pattern in submitted student work; departments across multiple institutions have updated academic-integrity policies in response. A pasted abstract followed by a generated paragraph produces the appearance of scholarship without the substance.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approach is structural. For each paper, three questions, not one summary. The first establishes the central claim and method. The second isolates the assumptions on which the paper's validity depends. The third identifies the strongest counter-position in the literature. This converts a passive intake task into an analytical one and forces the student to engage with the paper rather than its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tooling. Perplexity provides search with linked citations that resolve to primary sources. Elicit and Consensus index peer-reviewed literature with free tiers sufficient for undergraduate work. SciSpace assists with mathematical exposition. Connected Papers visualises citation networks, which is particularly valuable for identifying foundational work that abstract-level search misses. All five operate without institutional credentials.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non-negotiable rule: no citation appears in your submitted work that you have not personally opened, read, and verified. This is not a stylistic preference. It is the dividing line between research and misconduct. Verification is a thirty-second action; the consequence of skipping it is the invalidation of the entire submission and, in serious cases, formal disciplinary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three. Communication and visual production. The capstone defence requires presentation materials. Historically this constraint advantaged students with prior design training or external resources. The current generation of generative tools removes that asymmetry. Three workflows replace what previously required commercial software licences and several days of work: programmatic diagramming via Mermaid, asset generation via Canva and Ideogram, and end-to-end deck composition via Gamma.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Mermaid is a text-to-diagram syntax. The student describes the system in natural language, requests Mermaid output, and renders it at mermaid.live or directly within Notion, GitHub, and Obsidian. The output is editable, version-controllable, and free in perpetuity. The example on the next slide produces a publication-grade flowchart from a single prompt of approximately fifty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static visuals: Canva with Magic Studio handles layout and brand consistency. Microsoft Designer integrates with the Microsoft account ecosystem and is appropriate for routine graphic work. Ideogram is the current state of the art for AI-generated images that contain readable typography — a non-trivial capability that other models still fail at reliably. The constraint that has shifted is no longer technical execution; it is editorial judgment. Selecting the one option from ten that does not appear generic is now the limiting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four. Software development. The case subject had completed a single introductory programming course. Within one academic semester he produced and deployed a functional study-planning application. This is not unusual under current conditions; it is the median outcome for students who engage seriously. The risk surface, however, has shifted from the build itself to the comprehension of what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development stack: Cursor and GitHub Copilot — both available without charge to students who verify their institutional email at education.github.com — provide AI-assisted code completion at professional grade. Bolt.new and v0 by Vercel produce running applications from natural-language specifications. Replit consolidates editing, runtime, and deployment in a single browser environment, including from mobile devices. The barrier to a first shipped product is now measured in days, not semesters.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corresponding risk is comprehension debt. The default debugging prompt — paste the error and request a fix — yields working code without producing learning. The technical interview, twelve to eighteen months later, requires the student to reason about code without an AI assistant present. The structured alternative requires the model to first explain the error class, enumerate likely causes, and walk through a diagnostic procedure before proposing a fix. The first prompt produces dependence. The second produces capability. The cumulative effect over a semester is substantial and observable in performance assessments.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five. Commercial application. When a student project demonstrates genuine market signal — actual users, repeat usage, willingness to pay — the question of converting it to a venture arises. The default behaviour is to request a business plan. This is the wrong tool. A generated business plan produces structurally plausible text without ground-truth contact with customers, which is the only signal that determines whether a venture is viable.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structurally correct prompt is adversarial. The model is instructed to assume the role of a critical reviewer — an investor or domain expert — and pose the ten questions a paying customer would raise before transacting. The student answers in their own words, without model assistance. The answers, refined and verified against direct customer conversations, become the operating plan. The plan is in the founder's voice, grounded in the founder's evidence, and survives external scrutiny.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production capability. Once a product exists, marketing and content production at the level previously requiring a five-person team is now accessible to a single operator. ChatGPT and Claude for copywriting; Canva for brand assets; CapCut with automatic Arabic and English captioning for video; ElevenLabs for voice synthesis with Arabic support; Suno for licensed-original music. Production is no longer the constraint. The constraints that remain are taste, consistency, and direct customer understanding — capabilities that do not transfer from the model to the operator.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consolidates the seven prompt templates into a single reference. Study guide, active recall, the Feynman protocol, the three-question paper read, the Mermaid diagram brief, the diagnostic debugging contract, and the adversarial business interrogation. The templates are the deliverable of this session. They are intentionally specific. Modify the bracketed parameters; preserve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boundary condition. Generative models do not adjudicate questions of value, identity, or commitment. They draft; you decide. Use the model to compose an essay; do not use it to determine your position. Use the model to debug code; do not use it to choose a career path. Use the model to construct a business plan; do not use it to determine whether the venture is worth pursuing. The function of judgment is not delegable. When it is delegated, the operator role has been forfeited.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0E0E"/>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2EFE8">
              <a:alpha val="6000"/>
            </a:srgbClr>
          </a:solidFill>
          <a:ln/>
        </p:spPr>
      </p:sp>
      <p:sp>
        <p:nvSpPr>
          <p:cNvPr id="3" name="Shape 1"/>
          <p:cNvSpPr/>
          <p:nvPr/>
        </p:nvSpPr>
        <p:spPr>
          <a:xfrm>
            <a:off x="838200" y="643890"/>
            <a:ext cx="114300" cy="114300"/>
          </a:xfrm>
          <a:prstGeom prst="rect">
            <a:avLst/>
          </a:prstGeom>
          <a:solidFill>
            <a:srgbClr val="FF5B1F"/>
          </a:solidFill>
          <a:ln/>
        </p:spPr>
      </p:sp>
      <p:sp>
        <p:nvSpPr>
          <p:cNvPr id="4" name="Text 2"/>
          <p:cNvSpPr/>
          <p:nvPr/>
        </p:nvSpPr>
        <p:spPr>
          <a:xfrm>
            <a:off x="1085850" y="571500"/>
            <a:ext cx="8146234" cy="289560"/>
          </a:xfrm>
          <a:prstGeom prst="rect">
            <a:avLst/>
          </a:prstGeom>
          <a:noFill/>
          <a:ln/>
        </p:spPr>
        <p:txBody>
          <a:bodyPr wrap="square" lIns="0" tIns="0" rIns="0" bIns="0" rtlCol="0" anchor="t">
            <a:normAutofit/>
          </a:bodyPr>
          <a:lstStyle/>
          <a:p>
            <a:pPr algn="l" indent="0" marL="0">
              <a:buNone/>
            </a:pPr>
            <a:r>
              <a:rPr lang="en-US" sz="1800" spc="72" kern="0" dirty="0">
                <a:solidFill>
                  <a:srgbClr val="FF5B1F"/>
                </a:solidFill>
                <a:latin typeface="Arial" pitchFamily="34" charset="0"/>
                <a:ea typeface="Arial" pitchFamily="34" charset="-122"/>
                <a:cs typeface="Arial" pitchFamily="34" charset="-120"/>
              </a:rPr>
              <a:t>A FRAMEWORK FOR GENERATIVE AI IN HIGHER EDUCATION · 2026</a:t>
            </a:r>
            <a:endParaRPr lang="en-US" sz="1800" dirty="0"/>
          </a:p>
        </p:txBody>
      </p:sp>
      <p:sp>
        <p:nvSpPr>
          <p:cNvPr id="5" name="Text 3"/>
          <p:cNvSpPr/>
          <p:nvPr/>
        </p:nvSpPr>
        <p:spPr>
          <a:xfrm>
            <a:off x="14568012" y="571500"/>
            <a:ext cx="2968243" cy="297180"/>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F2EFE8">
                    <a:alpha val="55000"/>
                  </a:srgbClr>
                </a:solidFill>
                <a:latin typeface="Arial" pitchFamily="34" charset="0"/>
                <a:ea typeface="Arial" pitchFamily="34" charset="-122"/>
                <a:cs typeface="Arial" pitchFamily="34" charset="-120"/>
              </a:rPr>
              <a:t>25 SLIDES · 30 MINUTES</a:t>
            </a:r>
            <a:endParaRPr lang="en-US" sz="1800" dirty="0"/>
          </a:p>
        </p:txBody>
      </p:sp>
      <p:sp>
        <p:nvSpPr>
          <p:cNvPr id="6" name="Text 4"/>
          <p:cNvSpPr/>
          <p:nvPr/>
        </p:nvSpPr>
        <p:spPr>
          <a:xfrm>
            <a:off x="838200" y="3977640"/>
            <a:ext cx="17109948" cy="342900"/>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5B1F"/>
                </a:solidFill>
                <a:latin typeface="Arial" pitchFamily="34" charset="0"/>
                <a:ea typeface="Arial" pitchFamily="34" charset="-122"/>
                <a:cs typeface="Arial" pitchFamily="34" charset="-120"/>
              </a:rPr>
              <a:t>A CASE STUDY IN OPERATOR DISCIPLINE ACROSS ONE ACADEMIC YEAR</a:t>
            </a:r>
            <a:endParaRPr lang="en-US" sz="1800" dirty="0"/>
          </a:p>
        </p:txBody>
      </p:sp>
      <p:sp>
        <p:nvSpPr>
          <p:cNvPr id="7" name="Text 5"/>
          <p:cNvSpPr/>
          <p:nvPr/>
        </p:nvSpPr>
        <p:spPr>
          <a:xfrm>
            <a:off x="838200" y="4511040"/>
            <a:ext cx="17109948" cy="3147060"/>
          </a:xfrm>
          <a:prstGeom prst="rect">
            <a:avLst/>
          </a:prstGeom>
          <a:noFill/>
          <a:ln/>
        </p:spPr>
        <p:txBody>
          <a:bodyPr wrap="square" lIns="25400" tIns="25400" rIns="25400" bIns="25400" rtlCol="0" anchor="t">
            <a:normAutofit/>
          </a:bodyPr>
          <a:lstStyle/>
          <a:p>
            <a:pPr algn="l" indent="0" marL="0">
              <a:lnSpc>
                <a:spcPct val="90000"/>
              </a:lnSpc>
              <a:buNone/>
            </a:pPr>
            <a:r>
              <a:rPr lang="en-US" sz="13500" spc="-472" kern="0" dirty="0">
                <a:solidFill>
                  <a:srgbClr val="F2EFE8"/>
                </a:solidFill>
                <a:latin typeface="Arial" pitchFamily="34" charset="0"/>
                <a:ea typeface="Arial" pitchFamily="34" charset="-122"/>
                <a:cs typeface="Arial" pitchFamily="34" charset="-120"/>
              </a:rPr>
              <a:t>AI for </a:t>
            </a:r>
            <a:pPr algn="l" indent="0" marL="0">
              <a:lnSpc>
                <a:spcPct val="90000"/>
              </a:lnSpc>
              <a:buNone/>
            </a:pPr>
            <a:r>
              <a:rPr lang="en-US" sz="13500" i="1" spc="-472" kern="0" dirty="0">
                <a:solidFill>
                  <a:srgbClr val="FF5B1F"/>
                </a:solidFill>
                <a:latin typeface="Arial" pitchFamily="34" charset="0"/>
                <a:ea typeface="Arial" pitchFamily="34" charset="-122"/>
                <a:cs typeface="Arial" pitchFamily="34" charset="-120"/>
              </a:rPr>
              <a:t>real </a:t>
            </a:r>
            <a:pPr algn="l" indent="0" marL="0">
              <a:lnSpc>
                <a:spcPct val="90000"/>
              </a:lnSpc>
              <a:buNone/>
            </a:pPr>
            <a:r>
              <a:rPr lang="en-US" sz="13500" spc="-472" kern="0" dirty="0">
                <a:solidFill>
                  <a:srgbClr val="F2EFE8"/>
                </a:solidFill>
                <a:latin typeface="Arial" pitchFamily="34" charset="0"/>
                <a:ea typeface="Arial" pitchFamily="34" charset="-122"/>
                <a:cs typeface="Arial" pitchFamily="34" charset="-120"/>
              </a:rPr>
              <a:t>life.</a:t>
            </a:r>
            <a:endParaRPr lang="en-US" sz="13500" dirty="0"/>
          </a:p>
        </p:txBody>
      </p:sp>
      <p:sp>
        <p:nvSpPr>
          <p:cNvPr id="8" name="Text 6"/>
          <p:cNvSpPr/>
          <p:nvPr/>
        </p:nvSpPr>
        <p:spPr>
          <a:xfrm>
            <a:off x="838200" y="8336280"/>
            <a:ext cx="4751224" cy="297180"/>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F2EFE8">
                    <a:alpha val="55000"/>
                  </a:srgbClr>
                </a:solidFill>
                <a:latin typeface="Arial" pitchFamily="34" charset="0"/>
                <a:ea typeface="Arial" pitchFamily="34" charset="-122"/>
                <a:cs typeface="Arial" pitchFamily="34" charset="-120"/>
              </a:rPr>
              <a:t>PRESENTED BY</a:t>
            </a:r>
            <a:endParaRPr lang="en-US" sz="1800" dirty="0"/>
          </a:p>
        </p:txBody>
      </p:sp>
      <p:sp>
        <p:nvSpPr>
          <p:cNvPr id="9" name="Text 7"/>
          <p:cNvSpPr/>
          <p:nvPr/>
        </p:nvSpPr>
        <p:spPr>
          <a:xfrm>
            <a:off x="838200" y="8690610"/>
            <a:ext cx="4751224"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dirty="0">
                <a:solidFill>
                  <a:srgbClr val="F2EFE8"/>
                </a:solidFill>
                <a:latin typeface="Arial" pitchFamily="34" charset="0"/>
                <a:ea typeface="Arial" pitchFamily="34" charset="-122"/>
                <a:cs typeface="Arial" pitchFamily="34" charset="-120"/>
              </a:rPr>
              <a:t>Eng. Mohamed Elredeny</a:t>
            </a:r>
            <a:endParaRPr lang="en-US" sz="3300" dirty="0"/>
          </a:p>
        </p:txBody>
      </p:sp>
      <p:sp>
        <p:nvSpPr>
          <p:cNvPr id="10" name="Text 8"/>
          <p:cNvSpPr/>
          <p:nvPr/>
        </p:nvSpPr>
        <p:spPr>
          <a:xfrm>
            <a:off x="838200" y="9204960"/>
            <a:ext cx="4751224" cy="35814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F2EFE8">
                    <a:alpha val="55000"/>
                  </a:srgbClr>
                </a:solidFill>
                <a:latin typeface="Arial" pitchFamily="34" charset="0"/>
                <a:ea typeface="Arial" pitchFamily="34" charset="-122"/>
                <a:cs typeface="Arial" pitchFamily="34" charset="-120"/>
              </a:rPr>
              <a:t>Use AI. Do not let AI use you.</a:t>
            </a:r>
            <a:endParaRPr lang="en-US" sz="1800" dirty="0"/>
          </a:p>
        </p:txBody>
      </p:sp>
      <p:sp>
        <p:nvSpPr>
          <p:cNvPr id="11" name="Text 9"/>
          <p:cNvSpPr/>
          <p:nvPr/>
        </p:nvSpPr>
        <p:spPr>
          <a:xfrm>
            <a:off x="12664321" y="9166860"/>
            <a:ext cx="4929043" cy="396240"/>
          </a:xfrm>
          <a:prstGeom prst="rect">
            <a:avLst/>
          </a:prstGeom>
          <a:noFill/>
          <a:ln/>
        </p:spPr>
        <p:txBody>
          <a:bodyPr wrap="square" lIns="25400" tIns="25400" rIns="25400" bIns="25400" rtlCol="0" anchor="t">
            <a:normAutofit/>
          </a:bodyPr>
          <a:lstStyle/>
          <a:p>
            <a:pPr algn="l" indent="0" marL="0">
              <a:buNone/>
            </a:pPr>
            <a:r>
              <a:rPr lang="en-US" sz="2250" i="1" dirty="0">
                <a:solidFill>
                  <a:srgbClr val="FF5B1F"/>
                </a:solidFill>
                <a:latin typeface="Arial" pitchFamily="34" charset="0"/>
                <a:ea typeface="Arial" pitchFamily="34" charset="-122"/>
                <a:cs typeface="Arial" pitchFamily="34" charset="-120"/>
              </a:rPr>
              <a:t>Seven prompt templates · five domains</a:t>
            </a:r>
            <a:endParaRPr lang="en-US" sz="2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FE8"/>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3288090" y="327660"/>
            <a:ext cx="4286562"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PROLOGUE · INITIAL CONDITIONS</a:t>
            </a:r>
            <a:endParaRPr lang="en-US" sz="1800" dirty="0"/>
          </a:p>
        </p:txBody>
      </p:sp>
      <p:sp>
        <p:nvSpPr>
          <p:cNvPr id="5" name="Shape 3"/>
          <p:cNvSpPr/>
          <p:nvPr/>
        </p:nvSpPr>
        <p:spPr>
          <a:xfrm>
            <a:off x="838200" y="1628775"/>
            <a:ext cx="95250" cy="95250"/>
          </a:xfrm>
          <a:prstGeom prst="rect">
            <a:avLst/>
          </a:prstGeom>
          <a:solidFill>
            <a:srgbClr val="FF5B1F"/>
          </a:solidFill>
          <a:ln/>
        </p:spPr>
      </p:sp>
      <p:sp>
        <p:nvSpPr>
          <p:cNvPr id="6" name="Text 4"/>
          <p:cNvSpPr/>
          <p:nvPr/>
        </p:nvSpPr>
        <p:spPr>
          <a:xfrm>
            <a:off x="1066800" y="1546860"/>
            <a:ext cx="2023229" cy="289560"/>
          </a:xfrm>
          <a:prstGeom prst="rect">
            <a:avLst/>
          </a:prstGeom>
          <a:noFill/>
          <a:ln/>
        </p:spPr>
        <p:txBody>
          <a:bodyPr wrap="square" lIns="0" tIns="0" rIns="0" bIns="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CASE SUBJECT</a:t>
            </a:r>
            <a:endParaRPr lang="en-US" sz="1800" dirty="0"/>
          </a:p>
        </p:txBody>
      </p:sp>
      <p:sp>
        <p:nvSpPr>
          <p:cNvPr id="7" name="Text 5"/>
          <p:cNvSpPr/>
          <p:nvPr/>
        </p:nvSpPr>
        <p:spPr>
          <a:xfrm>
            <a:off x="3147179" y="1524000"/>
            <a:ext cx="2882031" cy="34290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2A2A2A"/>
                </a:solidFill>
                <a:latin typeface="Arial" pitchFamily="34" charset="0"/>
                <a:ea typeface="Arial" pitchFamily="34" charset="-122"/>
                <a:cs typeface="Arial" pitchFamily="34" charset="-120"/>
              </a:rPr>
              <a:t>— BASELINE PROFILE</a:t>
            </a:r>
            <a:endParaRPr lang="en-US" sz="1800" dirty="0"/>
          </a:p>
        </p:txBody>
      </p:sp>
      <p:sp>
        <p:nvSpPr>
          <p:cNvPr id="8" name="Text 6"/>
          <p:cNvSpPr/>
          <p:nvPr/>
        </p:nvSpPr>
        <p:spPr>
          <a:xfrm>
            <a:off x="838200" y="2114550"/>
            <a:ext cx="17109948" cy="1280160"/>
          </a:xfrm>
          <a:prstGeom prst="rect">
            <a:avLst/>
          </a:prstGeom>
          <a:noFill/>
          <a:ln/>
        </p:spPr>
        <p:txBody>
          <a:bodyPr wrap="square" lIns="25400" tIns="25400" rIns="25400" bIns="25400" rtlCol="0" anchor="t">
            <a:normAutofit/>
          </a:bodyPr>
          <a:lstStyle/>
          <a:p>
            <a:pPr algn="l" indent="0" marL="0">
              <a:lnSpc>
                <a:spcPct val="92000"/>
              </a:lnSpc>
              <a:buNone/>
            </a:pPr>
            <a:r>
              <a:rPr lang="en-US" sz="10500" spc="-315" kern="0" dirty="0">
                <a:solidFill>
                  <a:srgbClr val="0E0E0E"/>
                </a:solidFill>
                <a:latin typeface="Arial" pitchFamily="34" charset="0"/>
                <a:ea typeface="Arial" pitchFamily="34" charset="-122"/>
                <a:cs typeface="Arial" pitchFamily="34" charset="-120"/>
              </a:rPr>
              <a:t>The case </a:t>
            </a:r>
            <a:pPr algn="l" indent="0" marL="0">
              <a:lnSpc>
                <a:spcPct val="92000"/>
              </a:lnSpc>
              <a:buNone/>
            </a:pPr>
            <a:r>
              <a:rPr lang="en-US" sz="10500" i="1" spc="-315" kern="0" dirty="0">
                <a:solidFill>
                  <a:srgbClr val="0E0E0E"/>
                </a:solidFill>
                <a:latin typeface="Arial" pitchFamily="34" charset="0"/>
                <a:ea typeface="Arial" pitchFamily="34" charset="-122"/>
                <a:cs typeface="Arial" pitchFamily="34" charset="-120"/>
              </a:rPr>
              <a:t>subject.</a:t>
            </a:r>
            <a:endParaRPr lang="en-US" sz="10500" dirty="0"/>
          </a:p>
        </p:txBody>
      </p:sp>
      <p:sp>
        <p:nvSpPr>
          <p:cNvPr id="9" name="Text 7"/>
          <p:cNvSpPr/>
          <p:nvPr/>
        </p:nvSpPr>
        <p:spPr>
          <a:xfrm>
            <a:off x="838200" y="3928110"/>
            <a:ext cx="9011542" cy="478155"/>
          </a:xfrm>
          <a:prstGeom prst="rect">
            <a:avLst/>
          </a:prstGeom>
          <a:noFill/>
          <a:ln/>
        </p:spPr>
        <p:txBody>
          <a:bodyPr wrap="square" lIns="25400" tIns="25400" rIns="25400" bIns="25400" rtlCol="0" anchor="t">
            <a:normAutofit/>
          </a:bodyPr>
          <a:lstStyle/>
          <a:p>
            <a:pPr algn="l" indent="0" marL="0">
              <a:lnSpc>
                <a:spcPct val="110000"/>
              </a:lnSpc>
              <a:buNone/>
            </a:pPr>
            <a:r>
              <a:rPr lang="en-US" sz="3150" i="1" spc="-31" kern="0" dirty="0">
                <a:solidFill>
                  <a:srgbClr val="0E0E0E"/>
                </a:solidFill>
                <a:latin typeface="Arial" pitchFamily="34" charset="0"/>
                <a:ea typeface="Arial" pitchFamily="34" charset="-122"/>
                <a:cs typeface="Arial" pitchFamily="34" charset="-120"/>
              </a:rPr>
              <a:t>Fourth-year student. Standard senior load.</a:t>
            </a:r>
            <a:endParaRPr lang="en-US" sz="3150" dirty="0"/>
          </a:p>
        </p:txBody>
      </p:sp>
      <p:sp>
        <p:nvSpPr>
          <p:cNvPr id="10" name="Text 8"/>
          <p:cNvSpPr/>
          <p:nvPr/>
        </p:nvSpPr>
        <p:spPr>
          <a:xfrm>
            <a:off x="838200" y="4596765"/>
            <a:ext cx="9011542" cy="252412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2A2A2A"/>
                </a:solidFill>
                <a:latin typeface="Arial" pitchFamily="34" charset="0"/>
                <a:ea typeface="Arial" pitchFamily="34" charset="-122"/>
                <a:cs typeface="Arial" pitchFamily="34" charset="-120"/>
              </a:rPr>
              <a:t>Four courses · capstone project · part-time professional commitments. Baseline GPA in the lower second class. No prior structured exposure to generative AI. He adopted AI as a primary work tool and almost </a:t>
            </a:r>
            <a:pPr algn="l" indent="0" marL="0">
              <a:lnSpc>
                <a:spcPct val="145000"/>
              </a:lnSpc>
              <a:buNone/>
            </a:pPr>
            <a:r>
              <a:rPr lang="en-US" sz="2250" b="1" dirty="0">
                <a:solidFill>
                  <a:srgbClr val="0E0E0E"/>
                </a:solidFill>
                <a:latin typeface="Arial" pitchFamily="34" charset="0"/>
                <a:ea typeface="Arial" pitchFamily="34" charset="-122"/>
                <a:cs typeface="Arial" pitchFamily="34" charset="-120"/>
              </a:rPr>
              <a:t>compromised the entire academic year.</a:t>
            </a:r>
            <a:endParaRPr lang="en-US" sz="2250" dirty="0"/>
          </a:p>
        </p:txBody>
      </p:sp>
      <p:sp>
        <p:nvSpPr>
          <p:cNvPr id="11" name="Shape 9"/>
          <p:cNvSpPr/>
          <p:nvPr/>
        </p:nvSpPr>
        <p:spPr>
          <a:xfrm>
            <a:off x="10158769" y="6518910"/>
            <a:ext cx="7291031" cy="518160"/>
          </a:xfrm>
          <a:prstGeom prst="rect">
            <a:avLst/>
          </a:prstGeom>
          <a:solidFill>
            <a:srgbClr val="FF3355"/>
          </a:solidFill>
          <a:ln/>
        </p:spPr>
      </p:sp>
      <p:sp>
        <p:nvSpPr>
          <p:cNvPr id="12" name="Text 10"/>
          <p:cNvSpPr/>
          <p:nvPr/>
        </p:nvSpPr>
        <p:spPr>
          <a:xfrm>
            <a:off x="10349269" y="6614160"/>
            <a:ext cx="200858" cy="365760"/>
          </a:xfrm>
          <a:prstGeom prst="rect">
            <a:avLst/>
          </a:prstGeom>
          <a:noFill/>
          <a:ln/>
        </p:spPr>
        <p:txBody>
          <a:bodyPr wrap="square" lIns="25400" tIns="25400" rIns="25400" bIns="25400" rtlCol="0" anchor="t">
            <a:normAutofit/>
          </a:bodyPr>
          <a:lstStyle/>
          <a:p>
            <a:pPr algn="l" indent="0" marL="0">
              <a:buNone/>
            </a:pPr>
            <a:r>
              <a:rPr lang="en-US" sz="2100" b="1" i="1" spc="216" kern="0" dirty="0">
                <a:solidFill>
                  <a:srgbClr val="F2EFE8"/>
                </a:solidFill>
                <a:latin typeface="Arial" pitchFamily="34" charset="0"/>
                <a:ea typeface="Arial" pitchFamily="34" charset="-122"/>
                <a:cs typeface="Arial" pitchFamily="34" charset="-120"/>
              </a:rPr>
              <a:t>!</a:t>
            </a:r>
            <a:endParaRPr lang="en-US" sz="2100" dirty="0"/>
          </a:p>
        </p:txBody>
      </p:sp>
      <p:sp>
        <p:nvSpPr>
          <p:cNvPr id="13" name="Text 11"/>
          <p:cNvSpPr/>
          <p:nvPr/>
        </p:nvSpPr>
        <p:spPr>
          <a:xfrm>
            <a:off x="10607278" y="6625590"/>
            <a:ext cx="6611710" cy="342900"/>
          </a:xfrm>
          <a:prstGeom prst="rect">
            <a:avLst/>
          </a:prstGeom>
          <a:noFill/>
          <a:ln/>
        </p:spPr>
        <p:txBody>
          <a:bodyPr wrap="square" lIns="0" tIns="0" rIns="0" bIns="0" rtlCol="0" anchor="t">
            <a:normAutofit/>
          </a:bodyPr>
          <a:lstStyle/>
          <a:p>
            <a:pPr algn="l" indent="0" marL="0">
              <a:buNone/>
            </a:pPr>
            <a:r>
              <a:rPr lang="en-US" sz="1800" b="1" spc="216" kern="0" dirty="0">
                <a:solidFill>
                  <a:srgbClr val="F2EFE8"/>
                </a:solidFill>
                <a:latin typeface="Arial" pitchFamily="34" charset="0"/>
                <a:ea typeface="Arial" pitchFamily="34" charset="-122"/>
                <a:cs typeface="Arial" pitchFamily="34" charset="-120"/>
              </a:rPr>
              <a:t>THE FAILURE MODE · LOW-EFFORT PROMPTING</a:t>
            </a:r>
            <a:endParaRPr lang="en-US" sz="1800" dirty="0"/>
          </a:p>
        </p:txBody>
      </p:sp>
      <p:sp>
        <p:nvSpPr>
          <p:cNvPr id="14" name="Shape 12"/>
          <p:cNvSpPr/>
          <p:nvPr/>
        </p:nvSpPr>
        <p:spPr>
          <a:xfrm>
            <a:off x="10158769" y="7208520"/>
            <a:ext cx="7291031" cy="861060"/>
          </a:xfrm>
          <a:prstGeom prst="rect">
            <a:avLst/>
          </a:prstGeom>
          <a:solidFill>
            <a:srgbClr val="FF3355">
              <a:alpha val="8000"/>
            </a:srgbClr>
          </a:solidFill>
          <a:ln/>
        </p:spPr>
      </p:sp>
      <p:sp>
        <p:nvSpPr>
          <p:cNvPr id="15" name="Shape 13"/>
          <p:cNvSpPr/>
          <p:nvPr/>
        </p:nvSpPr>
        <p:spPr>
          <a:xfrm>
            <a:off x="10158769" y="7208520"/>
            <a:ext cx="45720" cy="861060"/>
          </a:xfrm>
          <a:prstGeom prst="rect">
            <a:avLst/>
          </a:prstGeom>
          <a:solidFill>
            <a:srgbClr val="FF3355"/>
          </a:solidFill>
          <a:ln/>
        </p:spPr>
      </p:sp>
      <p:sp>
        <p:nvSpPr>
          <p:cNvPr id="16" name="Text 14"/>
          <p:cNvSpPr/>
          <p:nvPr/>
        </p:nvSpPr>
        <p:spPr>
          <a:xfrm>
            <a:off x="10433089" y="7379970"/>
            <a:ext cx="7006841" cy="556260"/>
          </a:xfrm>
          <a:prstGeom prst="rect">
            <a:avLst/>
          </a:prstGeom>
          <a:noFill/>
          <a:ln/>
        </p:spPr>
        <p:txBody>
          <a:bodyPr wrap="square" lIns="25400" tIns="25400" rIns="25400" bIns="25400" rtlCol="0" anchor="t">
            <a:normAutofit/>
          </a:bodyPr>
          <a:lstStyle/>
          <a:p>
            <a:pPr algn="l" indent="0" marL="0">
              <a:buNone/>
            </a:pPr>
            <a:r>
              <a:rPr lang="en-US" sz="1800" i="1" dirty="0">
                <a:solidFill>
                  <a:srgbClr val="2A2A2A"/>
                </a:solidFill>
                <a:latin typeface="Arial" pitchFamily="34" charset="0"/>
                <a:ea typeface="Arial" pitchFamily="34" charset="-122"/>
                <a:cs typeface="Arial" pitchFamily="34" charset="-120"/>
              </a:rPr>
              <a:t>"summarise my notes" "write the essay" "fix this error" "draft a business plan"</a:t>
            </a:r>
            <a:endParaRPr lang="en-US" sz="1800" dirty="0"/>
          </a:p>
        </p:txBody>
      </p:sp>
      <p:sp>
        <p:nvSpPr>
          <p:cNvPr id="17" name="Text 15"/>
          <p:cNvSpPr/>
          <p:nvPr/>
        </p:nvSpPr>
        <p:spPr>
          <a:xfrm>
            <a:off x="10158769" y="8336280"/>
            <a:ext cx="7509761"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888076"/>
                </a:solidFill>
                <a:latin typeface="Arial" pitchFamily="34" charset="0"/>
                <a:ea typeface="Arial" pitchFamily="34" charset="-122"/>
                <a:cs typeface="Arial" pitchFamily="34" charset="-120"/>
              </a:rPr>
              <a:t>The failure mode of generative AI is silent: output volume rises while comprehension declines. The divergence is undetectable until assessed under examination conditions.</a:t>
            </a:r>
            <a:endParaRPr lang="en-US" sz="1800" dirty="0"/>
          </a:p>
        </p:txBody>
      </p:sp>
      <p:sp>
        <p:nvSpPr>
          <p:cNvPr id="18" name="Text 16"/>
          <p:cNvSpPr/>
          <p:nvPr/>
        </p:nvSpPr>
        <p:spPr>
          <a:xfrm>
            <a:off x="838200" y="9643110"/>
            <a:ext cx="9062558"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THE RELEVANT VARIABLE IS NOT ACCESS; IT IS OPERATOR DISCIPLINE</a:t>
            </a:r>
            <a:endParaRPr lang="en-US" sz="1800" dirty="0"/>
          </a:p>
        </p:txBody>
      </p:sp>
      <p:sp>
        <p:nvSpPr>
          <p:cNvPr id="19" name="Text 17"/>
          <p:cNvSpPr/>
          <p:nvPr/>
        </p:nvSpPr>
        <p:spPr>
          <a:xfrm>
            <a:off x="16406812" y="9563100"/>
            <a:ext cx="1119188"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888076"/>
                </a:solidFill>
                <a:latin typeface="Arial" pitchFamily="34" charset="0"/>
                <a:ea typeface="Arial" pitchFamily="34" charset="-122"/>
                <a:cs typeface="Arial" pitchFamily="34" charset="-120"/>
              </a:rPr>
              <a:t>02 / 25</a:t>
            </a:r>
            <a:endParaRPr lang="en-US" sz="2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5B1F"/>
        </a:solidFill>
      </p:bgPr>
    </p:bg>
    <p:spTree>
      <p:nvGrpSpPr>
        <p:cNvPr id="1" name=""/>
        <p:cNvGrpSpPr/>
        <p:nvPr/>
      </p:nvGrpSpPr>
      <p:grpSpPr>
        <a:xfrm>
          <a:off x="0" y="0"/>
          <a:ext cx="0" cy="0"/>
          <a:chOff x="0" y="0"/>
          <a:chExt cx="0" cy="0"/>
        </a:xfrm>
      </p:grpSpPr>
      <p:sp>
        <p:nvSpPr>
          <p:cNvPr id="2" name="Text 0"/>
          <p:cNvSpPr/>
          <p:nvPr/>
        </p:nvSpPr>
        <p:spPr>
          <a:xfrm>
            <a:off x="838200" y="304800"/>
            <a:ext cx="3539106"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0E0E0E">
                    <a:alpha val="70000"/>
                  </a:srgbClr>
                </a:solidFill>
                <a:latin typeface="Arial" pitchFamily="34" charset="0"/>
                <a:ea typeface="Arial" pitchFamily="34" charset="-122"/>
                <a:cs typeface="Arial" pitchFamily="34" charset="-120"/>
              </a:rPr>
              <a:t>THE OPERATING PRINCIPLE</a:t>
            </a:r>
            <a:endParaRPr lang="en-US" sz="1800" dirty="0"/>
          </a:p>
        </p:txBody>
      </p:sp>
      <p:sp>
        <p:nvSpPr>
          <p:cNvPr id="3" name="Text 1"/>
          <p:cNvSpPr/>
          <p:nvPr/>
        </p:nvSpPr>
        <p:spPr>
          <a:xfrm>
            <a:off x="16654701" y="304800"/>
            <a:ext cx="871299"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0E0E0E">
                    <a:alpha val="70000"/>
                  </a:srgbClr>
                </a:solidFill>
                <a:latin typeface="Arial" pitchFamily="34" charset="0"/>
                <a:ea typeface="Arial" pitchFamily="34" charset="-122"/>
                <a:cs typeface="Arial" pitchFamily="34" charset="-120"/>
              </a:rPr>
              <a:t>03 / 25</a:t>
            </a:r>
            <a:endParaRPr lang="en-US" sz="1800" dirty="0"/>
          </a:p>
        </p:txBody>
      </p:sp>
      <p:sp>
        <p:nvSpPr>
          <p:cNvPr id="4" name="Text 2"/>
          <p:cNvSpPr/>
          <p:nvPr/>
        </p:nvSpPr>
        <p:spPr>
          <a:xfrm>
            <a:off x="838200" y="1524000"/>
            <a:ext cx="17109948" cy="342900"/>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0E0E0E"/>
                </a:solidFill>
                <a:latin typeface="Arial" pitchFamily="34" charset="0"/>
                <a:ea typeface="Arial" pitchFamily="34" charset="-122"/>
                <a:cs typeface="Arial" pitchFamily="34" charset="-120"/>
              </a:rPr>
              <a:t>IF A SINGLE PRINCIPLE ORGANISES THIS SESSION, IT IS THE FOLLOWING</a:t>
            </a:r>
            <a:endParaRPr lang="en-US" sz="1800" dirty="0"/>
          </a:p>
        </p:txBody>
      </p:sp>
      <p:sp>
        <p:nvSpPr>
          <p:cNvPr id="5" name="Text 3"/>
          <p:cNvSpPr/>
          <p:nvPr/>
        </p:nvSpPr>
        <p:spPr>
          <a:xfrm>
            <a:off x="838200" y="2057400"/>
            <a:ext cx="17109948" cy="3040380"/>
          </a:xfrm>
          <a:prstGeom prst="rect">
            <a:avLst/>
          </a:prstGeom>
          <a:noFill/>
          <a:ln/>
        </p:spPr>
        <p:txBody>
          <a:bodyPr wrap="square" lIns="25400" tIns="25400" rIns="25400" bIns="25400" rtlCol="0" anchor="t">
            <a:normAutofit/>
          </a:bodyPr>
          <a:lstStyle/>
          <a:p>
            <a:pPr algn="l" indent="0" marL="0">
              <a:lnSpc>
                <a:spcPct val="92000"/>
              </a:lnSpc>
              <a:buNone/>
            </a:pPr>
            <a:r>
              <a:rPr lang="en-US" sz="12750" spc="-446" kern="0" dirty="0">
                <a:solidFill>
                  <a:srgbClr val="0E0E0E"/>
                </a:solidFill>
                <a:latin typeface="Arial" pitchFamily="34" charset="0"/>
                <a:ea typeface="Arial" pitchFamily="34" charset="-122"/>
                <a:cs typeface="Arial" pitchFamily="34" charset="-120"/>
              </a:rPr>
              <a:t>Use AI. Do not let AI </a:t>
            </a:r>
            <a:pPr algn="l" indent="0" marL="0">
              <a:lnSpc>
                <a:spcPct val="92000"/>
              </a:lnSpc>
              <a:buNone/>
            </a:pPr>
            <a:r>
              <a:rPr lang="en-US" sz="12750" i="1" spc="-446" kern="0" dirty="0">
                <a:solidFill>
                  <a:srgbClr val="0E0E0E"/>
                </a:solidFill>
                <a:latin typeface="Arial" pitchFamily="34" charset="0"/>
                <a:ea typeface="Arial" pitchFamily="34" charset="-122"/>
                <a:cs typeface="Arial" pitchFamily="34" charset="-120"/>
              </a:rPr>
              <a:t>use you.</a:t>
            </a:r>
            <a:endParaRPr lang="en-US" sz="12750" dirty="0"/>
          </a:p>
        </p:txBody>
      </p:sp>
      <p:sp>
        <p:nvSpPr>
          <p:cNvPr id="6" name="Shape 4"/>
          <p:cNvSpPr/>
          <p:nvPr/>
        </p:nvSpPr>
        <p:spPr>
          <a:xfrm>
            <a:off x="838200" y="7519035"/>
            <a:ext cx="16611600" cy="15240"/>
          </a:xfrm>
          <a:prstGeom prst="rect">
            <a:avLst/>
          </a:prstGeom>
          <a:solidFill>
            <a:srgbClr val="0E0E0E"/>
          </a:solidFill>
          <a:ln/>
        </p:spPr>
      </p:sp>
      <p:sp>
        <p:nvSpPr>
          <p:cNvPr id="7" name="Text 5"/>
          <p:cNvSpPr/>
          <p:nvPr/>
        </p:nvSpPr>
        <p:spPr>
          <a:xfrm>
            <a:off x="838200" y="8010525"/>
            <a:ext cx="8319516" cy="342900"/>
          </a:xfrm>
          <a:prstGeom prst="rect">
            <a:avLst/>
          </a:prstGeom>
          <a:noFill/>
          <a:ln/>
        </p:spPr>
        <p:txBody>
          <a:bodyPr wrap="square" lIns="25400" tIns="25400" rIns="25400" bIns="25400" rtlCol="0" anchor="t">
            <a:normAutofit/>
          </a:bodyPr>
          <a:lstStyle/>
          <a:p>
            <a:pPr algn="l" indent="0" marL="0">
              <a:buNone/>
            </a:pPr>
            <a:r>
              <a:rPr lang="en-US" sz="1800" b="1" spc="72" kern="0" dirty="0">
                <a:solidFill>
                  <a:srgbClr val="0E0E0E"/>
                </a:solidFill>
                <a:latin typeface="Arial" pitchFamily="34" charset="0"/>
                <a:ea typeface="Arial" pitchFamily="34" charset="-122"/>
                <a:cs typeface="Arial" pitchFamily="34" charset="-120"/>
              </a:rPr>
              <a:t>▲ THE OPERATOR</a:t>
            </a:r>
            <a:endParaRPr lang="en-US" sz="1800" dirty="0"/>
          </a:p>
        </p:txBody>
      </p:sp>
      <p:sp>
        <p:nvSpPr>
          <p:cNvPr id="8" name="Text 6"/>
          <p:cNvSpPr/>
          <p:nvPr/>
        </p:nvSpPr>
        <p:spPr>
          <a:xfrm>
            <a:off x="838200" y="8410575"/>
            <a:ext cx="8319516" cy="8667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0E0E0E"/>
                </a:solidFill>
                <a:latin typeface="Arial" pitchFamily="34" charset="0"/>
                <a:ea typeface="Arial" pitchFamily="34" charset="-122"/>
                <a:cs typeface="Arial" pitchFamily="34" charset="-120"/>
              </a:rPr>
              <a:t>Supplies context. Constrains output. Verifies claims. Edits in their own voice. </a:t>
            </a:r>
            <a:pPr algn="l" indent="0" marL="0">
              <a:lnSpc>
                <a:spcPct val="145000"/>
              </a:lnSpc>
              <a:buNone/>
            </a:pPr>
            <a:r>
              <a:rPr lang="en-US" sz="2250" b="1" dirty="0">
                <a:solidFill>
                  <a:srgbClr val="0E0E0E"/>
                </a:solidFill>
                <a:latin typeface="Arial" pitchFamily="34" charset="0"/>
                <a:ea typeface="Arial" pitchFamily="34" charset="-122"/>
                <a:cs typeface="Arial" pitchFamily="34" charset="-120"/>
              </a:rPr>
              <a:t>Capability compounds week over week.</a:t>
            </a:r>
            <a:endParaRPr lang="en-US" sz="2250" dirty="0"/>
          </a:p>
        </p:txBody>
      </p:sp>
      <p:sp>
        <p:nvSpPr>
          <p:cNvPr id="9" name="Text 7"/>
          <p:cNvSpPr/>
          <p:nvPr/>
        </p:nvSpPr>
        <p:spPr>
          <a:xfrm>
            <a:off x="9372600" y="8010525"/>
            <a:ext cx="8319516" cy="342900"/>
          </a:xfrm>
          <a:prstGeom prst="rect">
            <a:avLst/>
          </a:prstGeom>
          <a:noFill/>
          <a:ln/>
        </p:spPr>
        <p:txBody>
          <a:bodyPr wrap="square" lIns="25400" tIns="25400" rIns="25400" bIns="25400" rtlCol="0" anchor="t">
            <a:normAutofit/>
          </a:bodyPr>
          <a:lstStyle/>
          <a:p>
            <a:pPr algn="l" indent="0" marL="0">
              <a:buNone/>
            </a:pPr>
            <a:r>
              <a:rPr lang="en-US" sz="1800" b="1" spc="72" kern="0" dirty="0">
                <a:solidFill>
                  <a:srgbClr val="0E0E0E"/>
                </a:solidFill>
                <a:latin typeface="Arial" pitchFamily="34" charset="0"/>
                <a:ea typeface="Arial" pitchFamily="34" charset="-122"/>
                <a:cs typeface="Arial" pitchFamily="34" charset="-120"/>
              </a:rPr>
              <a:t>▼ THE PASSENGER</a:t>
            </a:r>
            <a:endParaRPr lang="en-US" sz="1800" dirty="0"/>
          </a:p>
        </p:txBody>
      </p:sp>
      <p:sp>
        <p:nvSpPr>
          <p:cNvPr id="10" name="Text 8"/>
          <p:cNvSpPr/>
          <p:nvPr/>
        </p:nvSpPr>
        <p:spPr>
          <a:xfrm>
            <a:off x="9372600" y="8410575"/>
            <a:ext cx="8319516" cy="8667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0E0E0E"/>
                </a:solidFill>
                <a:latin typeface="Arial" pitchFamily="34" charset="0"/>
                <a:ea typeface="Arial" pitchFamily="34" charset="-122"/>
                <a:cs typeface="Arial" pitchFamily="34" charset="-120"/>
              </a:rPr>
              <a:t>Issues open queries. Accepts first output. Submits unverified. </a:t>
            </a:r>
            <a:pPr algn="l" indent="0" marL="0">
              <a:lnSpc>
                <a:spcPct val="145000"/>
              </a:lnSpc>
              <a:buNone/>
            </a:pPr>
            <a:r>
              <a:rPr lang="en-US" sz="2250" b="1" dirty="0">
                <a:solidFill>
                  <a:srgbClr val="0E0E0E"/>
                </a:solidFill>
                <a:latin typeface="Arial" pitchFamily="34" charset="0"/>
                <a:ea typeface="Arial" pitchFamily="34" charset="-122"/>
                <a:cs typeface="Arial" pitchFamily="34" charset="-120"/>
              </a:rPr>
              <a:t>Comprehension erodes silently.</a:t>
            </a:r>
            <a:endParaRPr lang="en-US" sz="2250" dirty="0"/>
          </a:p>
        </p:txBody>
      </p:sp>
      <p:sp>
        <p:nvSpPr>
          <p:cNvPr id="11" name="Text 9"/>
          <p:cNvSpPr/>
          <p:nvPr/>
        </p:nvSpPr>
        <p:spPr>
          <a:xfrm>
            <a:off x="838200" y="9643110"/>
            <a:ext cx="5769089"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0E0E0E">
                    <a:alpha val="70000"/>
                  </a:srgbClr>
                </a:solidFill>
                <a:latin typeface="Arial" pitchFamily="34" charset="0"/>
                <a:ea typeface="Arial" pitchFamily="34" charset="-122"/>
                <a:cs typeface="Arial" pitchFamily="34" charset="-120"/>
              </a:rPr>
              <a:t>IDENTICAL ACCESS · DIVERGENT OUTCOMES</a:t>
            </a:r>
            <a:endParaRPr lang="en-US" sz="1800" dirty="0"/>
          </a:p>
        </p:txBody>
      </p:sp>
      <p:sp>
        <p:nvSpPr>
          <p:cNvPr id="12" name="Text 10"/>
          <p:cNvSpPr/>
          <p:nvPr/>
        </p:nvSpPr>
        <p:spPr>
          <a:xfrm>
            <a:off x="17182981" y="9563100"/>
            <a:ext cx="343019"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0E0E0E">
                    <a:alpha val="70000"/>
                  </a:srgbClr>
                </a:solidFill>
                <a:latin typeface="Arial" pitchFamily="34" charset="0"/>
                <a:ea typeface="Arial" pitchFamily="34" charset="-122"/>
                <a:cs typeface="Arial" pitchFamily="34" charset="-120"/>
              </a:rPr>
              <a:t>—</a:t>
            </a:r>
            <a:endParaRPr lang="en-US" sz="2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FE8"/>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1603117" y="327660"/>
            <a:ext cx="6022084"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CHAPTER 01 / 05 · EXAMINATION PREPARATION</a:t>
            </a:r>
            <a:endParaRPr lang="en-US" sz="1800" dirty="0"/>
          </a:p>
        </p:txBody>
      </p:sp>
      <p:sp>
        <p:nvSpPr>
          <p:cNvPr id="5" name="Shape 3"/>
          <p:cNvSpPr/>
          <p:nvPr/>
        </p:nvSpPr>
        <p:spPr>
          <a:xfrm>
            <a:off x="838200" y="1438275"/>
            <a:ext cx="95250" cy="95250"/>
          </a:xfrm>
          <a:prstGeom prst="rect">
            <a:avLst/>
          </a:prstGeom>
          <a:solidFill>
            <a:srgbClr val="FF5B1F"/>
          </a:solidFill>
          <a:ln/>
        </p:spPr>
      </p:sp>
      <p:sp>
        <p:nvSpPr>
          <p:cNvPr id="6" name="Text 4"/>
          <p:cNvSpPr/>
          <p:nvPr/>
        </p:nvSpPr>
        <p:spPr>
          <a:xfrm>
            <a:off x="1066800" y="1356360"/>
            <a:ext cx="815697" cy="289560"/>
          </a:xfrm>
          <a:prstGeom prst="rect">
            <a:avLst/>
          </a:prstGeom>
          <a:noFill/>
          <a:ln/>
        </p:spPr>
        <p:txBody>
          <a:bodyPr wrap="square" lIns="0" tIns="0" rIns="0" bIns="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CH.01</a:t>
            </a:r>
            <a:endParaRPr lang="en-US" sz="1800" dirty="0"/>
          </a:p>
        </p:txBody>
      </p:sp>
      <p:sp>
        <p:nvSpPr>
          <p:cNvPr id="7" name="Text 5"/>
          <p:cNvSpPr/>
          <p:nvPr/>
        </p:nvSpPr>
        <p:spPr>
          <a:xfrm>
            <a:off x="1939647" y="1333500"/>
            <a:ext cx="6884817" cy="34290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2A2A2A"/>
                </a:solidFill>
                <a:latin typeface="Arial" pitchFamily="34" charset="0"/>
                <a:ea typeface="Arial" pitchFamily="34" charset="-122"/>
                <a:cs typeface="Arial" pitchFamily="34" charset="-120"/>
              </a:rPr>
              <a:t>— 200 PAGES OF NOTES · 9 DAYS TO ASSESSMENT</a:t>
            </a:r>
            <a:endParaRPr lang="en-US" sz="1800" dirty="0"/>
          </a:p>
        </p:txBody>
      </p:sp>
      <p:sp>
        <p:nvSpPr>
          <p:cNvPr id="8" name="Text 6"/>
          <p:cNvSpPr/>
          <p:nvPr/>
        </p:nvSpPr>
        <p:spPr>
          <a:xfrm>
            <a:off x="838200" y="1924050"/>
            <a:ext cx="17109948" cy="1280160"/>
          </a:xfrm>
          <a:prstGeom prst="rect">
            <a:avLst/>
          </a:prstGeom>
          <a:noFill/>
          <a:ln/>
        </p:spPr>
        <p:txBody>
          <a:bodyPr wrap="square" lIns="25400" tIns="25400" rIns="25400" bIns="25400" rtlCol="0" anchor="t">
            <a:normAutofit/>
          </a:bodyPr>
          <a:lstStyle/>
          <a:p>
            <a:pPr algn="l" indent="0" marL="0">
              <a:lnSpc>
                <a:spcPct val="92000"/>
              </a:lnSpc>
              <a:buNone/>
            </a:pPr>
            <a:r>
              <a:rPr lang="en-US" sz="10500" spc="-315" kern="0" dirty="0">
                <a:solidFill>
                  <a:srgbClr val="0E0E0E"/>
                </a:solidFill>
                <a:latin typeface="Arial" pitchFamily="34" charset="0"/>
                <a:ea typeface="Arial" pitchFamily="34" charset="-122"/>
                <a:cs typeface="Arial" pitchFamily="34" charset="-120"/>
              </a:rPr>
              <a:t>The illusion of </a:t>
            </a:r>
            <a:pPr algn="l" indent="0" marL="0">
              <a:lnSpc>
                <a:spcPct val="92000"/>
              </a:lnSpc>
              <a:buNone/>
            </a:pPr>
            <a:r>
              <a:rPr lang="en-US" sz="10500" i="1" spc="-315" kern="0" dirty="0">
                <a:solidFill>
                  <a:srgbClr val="0E0E0E"/>
                </a:solidFill>
                <a:latin typeface="Arial" pitchFamily="34" charset="0"/>
                <a:ea typeface="Arial" pitchFamily="34" charset="-122"/>
                <a:cs typeface="Arial" pitchFamily="34" charset="-120"/>
              </a:rPr>
              <a:t>fluency.</a:t>
            </a:r>
            <a:endParaRPr lang="en-US" sz="10500" dirty="0"/>
          </a:p>
        </p:txBody>
      </p:sp>
      <p:sp>
        <p:nvSpPr>
          <p:cNvPr id="9" name="Shape 7"/>
          <p:cNvSpPr/>
          <p:nvPr/>
        </p:nvSpPr>
        <p:spPr>
          <a:xfrm>
            <a:off x="838200" y="3737610"/>
            <a:ext cx="16611600" cy="5787390"/>
          </a:xfrm>
          <a:prstGeom prst="rect">
            <a:avLst/>
          </a:prstGeom>
          <a:ln w="15240">
            <a:solidFill>
              <a:srgbClr val="0E0E0E"/>
            </a:solidFill>
            <a:prstDash val="solid"/>
          </a:ln>
        </p:spPr>
      </p:sp>
      <p:sp>
        <p:nvSpPr>
          <p:cNvPr id="10" name="Text 8"/>
          <p:cNvSpPr/>
          <p:nvPr/>
        </p:nvSpPr>
        <p:spPr>
          <a:xfrm>
            <a:off x="1196340" y="4057650"/>
            <a:ext cx="7832903" cy="297180"/>
          </a:xfrm>
          <a:prstGeom prst="rect">
            <a:avLst/>
          </a:prstGeom>
          <a:noFill/>
          <a:ln/>
        </p:spPr>
        <p:txBody>
          <a:bodyPr wrap="square" lIns="25400" tIns="25400" rIns="25400" bIns="25400" rtlCol="0" anchor="t">
            <a:normAutofit/>
          </a:bodyPr>
          <a:lstStyle/>
          <a:p>
            <a:pPr algn="l" indent="0" marL="0">
              <a:buNone/>
            </a:pPr>
            <a:r>
              <a:rPr lang="en-US" sz="1800" spc="180" kern="0" dirty="0">
                <a:solidFill>
                  <a:srgbClr val="FF3355"/>
                </a:solidFill>
                <a:latin typeface="Arial" pitchFamily="34" charset="0"/>
                <a:ea typeface="Arial" pitchFamily="34" charset="-122"/>
                <a:cs typeface="Arial" pitchFamily="34" charset="-120"/>
              </a:rPr>
              <a:t>▼ PASSIVE INTAKE</a:t>
            </a:r>
            <a:endParaRPr lang="en-US" sz="1800" dirty="0"/>
          </a:p>
        </p:txBody>
      </p:sp>
      <p:sp>
        <p:nvSpPr>
          <p:cNvPr id="11" name="Text 9"/>
          <p:cNvSpPr/>
          <p:nvPr/>
        </p:nvSpPr>
        <p:spPr>
          <a:xfrm>
            <a:off x="1196340" y="4450080"/>
            <a:ext cx="7832903" cy="918210"/>
          </a:xfrm>
          <a:prstGeom prst="rect">
            <a:avLst/>
          </a:prstGeom>
          <a:noFill/>
          <a:ln/>
        </p:spPr>
        <p:txBody>
          <a:bodyPr wrap="square" lIns="25400" tIns="25400" rIns="25400" bIns="25400" rtlCol="0" anchor="t">
            <a:normAutofit/>
          </a:bodyPr>
          <a:lstStyle/>
          <a:p>
            <a:pPr algn="l" indent="0" marL="0">
              <a:lnSpc>
                <a:spcPct val="105000"/>
              </a:lnSpc>
              <a:buNone/>
            </a:pPr>
            <a:r>
              <a:rPr lang="en-US" sz="3300" spc="-66" kern="0" dirty="0">
                <a:solidFill>
                  <a:srgbClr val="0E0E0E"/>
                </a:solidFill>
                <a:latin typeface="Arial" pitchFamily="34" charset="0"/>
                <a:ea typeface="Arial" pitchFamily="34" charset="-122"/>
                <a:cs typeface="Arial" pitchFamily="34" charset="-120"/>
              </a:rPr>
              <a:t>"summarise my notes"</a:t>
            </a:r>
            <a:endParaRPr lang="en-US" sz="3300" dirty="0"/>
          </a:p>
        </p:txBody>
      </p:sp>
      <p:sp>
        <p:nvSpPr>
          <p:cNvPr id="12" name="Shape 10"/>
          <p:cNvSpPr/>
          <p:nvPr/>
        </p:nvSpPr>
        <p:spPr>
          <a:xfrm>
            <a:off x="1196340" y="5463540"/>
            <a:ext cx="7604760" cy="601980"/>
          </a:xfrm>
          <a:prstGeom prst="rect">
            <a:avLst/>
          </a:prstGeom>
          <a:solidFill>
            <a:srgbClr val="FF3355">
              <a:alpha val="8000"/>
            </a:srgbClr>
          </a:solidFill>
          <a:ln/>
        </p:spPr>
      </p:sp>
      <p:sp>
        <p:nvSpPr>
          <p:cNvPr id="13" name="Shape 11"/>
          <p:cNvSpPr/>
          <p:nvPr/>
        </p:nvSpPr>
        <p:spPr>
          <a:xfrm>
            <a:off x="1196340" y="5463540"/>
            <a:ext cx="45720" cy="601980"/>
          </a:xfrm>
          <a:prstGeom prst="rect">
            <a:avLst/>
          </a:prstGeom>
          <a:solidFill>
            <a:srgbClr val="FF3355"/>
          </a:solidFill>
          <a:ln/>
        </p:spPr>
      </p:sp>
      <p:sp>
        <p:nvSpPr>
          <p:cNvPr id="14" name="Text 12"/>
          <p:cNvSpPr/>
          <p:nvPr/>
        </p:nvSpPr>
        <p:spPr>
          <a:xfrm>
            <a:off x="1470660" y="5634990"/>
            <a:ext cx="7329983" cy="297180"/>
          </a:xfrm>
          <a:prstGeom prst="rect">
            <a:avLst/>
          </a:prstGeom>
          <a:noFill/>
          <a:ln/>
        </p:spPr>
        <p:txBody>
          <a:bodyPr wrap="square" lIns="25400" tIns="25400" rIns="25400" bIns="25400" rtlCol="0" anchor="t">
            <a:normAutofit/>
          </a:bodyPr>
          <a:lstStyle/>
          <a:p>
            <a:pPr algn="l" indent="0" marL="0">
              <a:buNone/>
            </a:pPr>
            <a:r>
              <a:rPr lang="en-US" sz="1800" i="1" dirty="0">
                <a:solidFill>
                  <a:srgbClr val="2A2A2A"/>
                </a:solidFill>
                <a:latin typeface="Arial" pitchFamily="34" charset="0"/>
                <a:ea typeface="Arial" pitchFamily="34" charset="-122"/>
                <a:cs typeface="Arial" pitchFamily="34" charset="-120"/>
              </a:rPr>
              <a:t>reads summary → perceives progress → sleeps → underperforms</a:t>
            </a:r>
            <a:endParaRPr lang="en-US" sz="1800" dirty="0"/>
          </a:p>
        </p:txBody>
      </p:sp>
      <p:sp>
        <p:nvSpPr>
          <p:cNvPr id="15" name="Text 13"/>
          <p:cNvSpPr/>
          <p:nvPr/>
        </p:nvSpPr>
        <p:spPr>
          <a:xfrm>
            <a:off x="1196340" y="6198870"/>
            <a:ext cx="7832903" cy="1032510"/>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2A2A2A"/>
                </a:solidFill>
                <a:latin typeface="Arial" pitchFamily="34" charset="0"/>
                <a:ea typeface="Arial" pitchFamily="34" charset="-122"/>
                <a:cs typeface="Arial" pitchFamily="34" charset="-120"/>
              </a:rPr>
              <a:t>Reading a summary </a:t>
            </a:r>
            <a:pPr algn="l" indent="0" marL="0">
              <a:lnSpc>
                <a:spcPct val="145000"/>
              </a:lnSpc>
              <a:buNone/>
            </a:pPr>
            <a:r>
              <a:rPr lang="en-US" sz="1800" b="1" dirty="0">
                <a:solidFill>
                  <a:srgbClr val="2A2A2A"/>
                </a:solidFill>
                <a:latin typeface="Arial" pitchFamily="34" charset="0"/>
                <a:ea typeface="Arial" pitchFamily="34" charset="-122"/>
                <a:cs typeface="Arial" pitchFamily="34" charset="-120"/>
              </a:rPr>
              <a:t>is not encoding. </a:t>
            </a:r>
            <a:pPr algn="l" indent="0" marL="0">
              <a:lnSpc>
                <a:spcPct val="145000"/>
              </a:lnSpc>
              <a:buNone/>
            </a:pPr>
            <a:r>
              <a:rPr lang="en-US" sz="1800" dirty="0">
                <a:solidFill>
                  <a:srgbClr val="2A2A2A"/>
                </a:solidFill>
                <a:latin typeface="Arial" pitchFamily="34" charset="0"/>
                <a:ea typeface="Arial" pitchFamily="34" charset="-122"/>
                <a:cs typeface="Arial" pitchFamily="34" charset="-120"/>
              </a:rPr>
              <a:t>Roediger &amp; Karpicke (2006) demonstrated near-zero retention gains from re-reading. A summary is re-reading at higher density. </a:t>
            </a:r>
            <a:pPr algn="l" indent="0" marL="0">
              <a:lnSpc>
                <a:spcPct val="145000"/>
              </a:lnSpc>
              <a:buNone/>
            </a:pPr>
            <a:r>
              <a:rPr lang="en-US" sz="1800" i="1" dirty="0">
                <a:solidFill>
                  <a:srgbClr val="2A2A2A"/>
                </a:solidFill>
                <a:latin typeface="Arial" pitchFamily="34" charset="0"/>
                <a:ea typeface="Arial" pitchFamily="34" charset="-122"/>
                <a:cs typeface="Arial" pitchFamily="34" charset="-120"/>
              </a:rPr>
              <a:t>The illusion of fluency.</a:t>
            </a:r>
            <a:endParaRPr lang="en-US" sz="1800" dirty="0"/>
          </a:p>
        </p:txBody>
      </p:sp>
      <p:sp>
        <p:nvSpPr>
          <p:cNvPr id="16" name="Shape 14"/>
          <p:cNvSpPr/>
          <p:nvPr/>
        </p:nvSpPr>
        <p:spPr>
          <a:xfrm>
            <a:off x="9144000" y="3752850"/>
            <a:ext cx="15240" cy="5756910"/>
          </a:xfrm>
          <a:prstGeom prst="rect">
            <a:avLst/>
          </a:prstGeom>
          <a:solidFill>
            <a:srgbClr val="0E0E0E"/>
          </a:solidFill>
          <a:ln/>
        </p:spPr>
      </p:sp>
      <p:sp>
        <p:nvSpPr>
          <p:cNvPr id="17" name="Text 15"/>
          <p:cNvSpPr/>
          <p:nvPr/>
        </p:nvSpPr>
        <p:spPr>
          <a:xfrm>
            <a:off x="9502140" y="4057650"/>
            <a:ext cx="7817205" cy="297180"/>
          </a:xfrm>
          <a:prstGeom prst="rect">
            <a:avLst/>
          </a:prstGeom>
          <a:noFill/>
          <a:ln/>
        </p:spPr>
        <p:txBody>
          <a:bodyPr wrap="square" lIns="25400" tIns="25400" rIns="25400" bIns="25400" rtlCol="0" anchor="t">
            <a:normAutofit/>
          </a:bodyPr>
          <a:lstStyle/>
          <a:p>
            <a:pPr algn="l" indent="0" marL="0">
              <a:buNone/>
            </a:pPr>
            <a:r>
              <a:rPr lang="en-US" sz="1800" spc="180" kern="0" dirty="0">
                <a:solidFill>
                  <a:srgbClr val="FF5B1F"/>
                </a:solidFill>
                <a:latin typeface="Arial" pitchFamily="34" charset="0"/>
                <a:ea typeface="Arial" pitchFamily="34" charset="-122"/>
                <a:cs typeface="Arial" pitchFamily="34" charset="-120"/>
              </a:rPr>
              <a:t>▲ STRUCTURED RETRIEVAL</a:t>
            </a:r>
            <a:endParaRPr lang="en-US" sz="1800" dirty="0"/>
          </a:p>
        </p:txBody>
      </p:sp>
      <p:sp>
        <p:nvSpPr>
          <p:cNvPr id="18" name="Text 16"/>
          <p:cNvSpPr/>
          <p:nvPr/>
        </p:nvSpPr>
        <p:spPr>
          <a:xfrm>
            <a:off x="9502140" y="4450080"/>
            <a:ext cx="7817205" cy="933450"/>
          </a:xfrm>
          <a:prstGeom prst="rect">
            <a:avLst/>
          </a:prstGeom>
          <a:noFill/>
          <a:ln/>
        </p:spPr>
        <p:txBody>
          <a:bodyPr wrap="square" lIns="25400" tIns="25400" rIns="25400" bIns="25400" rtlCol="0" anchor="t">
            <a:normAutofit/>
          </a:bodyPr>
          <a:lstStyle/>
          <a:p>
            <a:pPr algn="l" indent="0" marL="0">
              <a:lnSpc>
                <a:spcPct val="105000"/>
              </a:lnSpc>
              <a:buNone/>
            </a:pPr>
            <a:r>
              <a:rPr lang="en-US" sz="3300" spc="-66" kern="0" dirty="0">
                <a:solidFill>
                  <a:srgbClr val="0E0E0E"/>
                </a:solidFill>
                <a:latin typeface="Arial" pitchFamily="34" charset="0"/>
                <a:ea typeface="Arial" pitchFamily="34" charset="-122"/>
                <a:cs typeface="Arial" pitchFamily="34" charset="-120"/>
              </a:rPr>
              <a:t>"Architect a study system </a:t>
            </a:r>
            <a:pPr algn="l" indent="0" marL="0">
              <a:lnSpc>
                <a:spcPct val="105000"/>
              </a:lnSpc>
              <a:buNone/>
            </a:pPr>
            <a:r>
              <a:rPr lang="en-US" sz="3300" i="1" spc="-66" kern="0" dirty="0">
                <a:solidFill>
                  <a:srgbClr val="0E0E0E"/>
                </a:solidFill>
                <a:latin typeface="Arial" pitchFamily="34" charset="0"/>
                <a:ea typeface="Arial" pitchFamily="34" charset="-122"/>
                <a:cs typeface="Arial" pitchFamily="34" charset="-120"/>
              </a:rPr>
              <a:t>around </a:t>
            </a:r>
            <a:pPr algn="l" indent="0" marL="0">
              <a:lnSpc>
                <a:spcPct val="105000"/>
              </a:lnSpc>
              <a:buNone/>
            </a:pPr>
            <a:r>
              <a:rPr lang="en-US" sz="3300" spc="-66" kern="0" dirty="0">
                <a:solidFill>
                  <a:srgbClr val="0E0E0E"/>
                </a:solidFill>
                <a:latin typeface="Arial" pitchFamily="34" charset="0"/>
                <a:ea typeface="Arial" pitchFamily="34" charset="-122"/>
                <a:cs typeface="Arial" pitchFamily="34" charset="-120"/>
              </a:rPr>
              <a:t>me — do not study </a:t>
            </a:r>
            <a:pPr algn="l" indent="0" marL="0">
              <a:lnSpc>
                <a:spcPct val="105000"/>
              </a:lnSpc>
              <a:buNone/>
            </a:pPr>
            <a:r>
              <a:rPr lang="en-US" sz="3300" i="1" spc="-66" kern="0" dirty="0">
                <a:solidFill>
                  <a:srgbClr val="0E0E0E"/>
                </a:solidFill>
                <a:latin typeface="Arial" pitchFamily="34" charset="0"/>
                <a:ea typeface="Arial" pitchFamily="34" charset="-122"/>
                <a:cs typeface="Arial" pitchFamily="34" charset="-120"/>
              </a:rPr>
              <a:t>for </a:t>
            </a:r>
            <a:pPr algn="l" indent="0" marL="0">
              <a:lnSpc>
                <a:spcPct val="105000"/>
              </a:lnSpc>
              <a:buNone/>
            </a:pPr>
            <a:r>
              <a:rPr lang="en-US" sz="3300" spc="-66" kern="0" dirty="0">
                <a:solidFill>
                  <a:srgbClr val="0E0E0E"/>
                </a:solidFill>
                <a:latin typeface="Arial" pitchFamily="34" charset="0"/>
                <a:ea typeface="Arial" pitchFamily="34" charset="-122"/>
                <a:cs typeface="Arial" pitchFamily="34" charset="-120"/>
              </a:rPr>
              <a:t>me."</a:t>
            </a:r>
            <a:endParaRPr lang="en-US" sz="3300" dirty="0"/>
          </a:p>
        </p:txBody>
      </p:sp>
      <p:sp>
        <p:nvSpPr>
          <p:cNvPr id="19" name="Text 17"/>
          <p:cNvSpPr/>
          <p:nvPr/>
        </p:nvSpPr>
        <p:spPr>
          <a:xfrm>
            <a:off x="9502140" y="5478780"/>
            <a:ext cx="7817205" cy="1695450"/>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2A2A2A"/>
                </a:solidFill>
                <a:latin typeface="Arial" pitchFamily="34" charset="0"/>
                <a:ea typeface="Arial" pitchFamily="34" charset="-122"/>
                <a:cs typeface="Arial" pitchFamily="34" charset="-120"/>
              </a:rPr>
              <a:t>Identical timeline. Identical source material. Identical free-tier tools. The variable is prompt structure: every interaction forces retrieval, exposes contradiction, identifies the boundary of comprehension. The next four slides specify the exact templates.</a:t>
            </a:r>
            <a:endParaRPr lang="en-US" sz="1800" dirty="0"/>
          </a:p>
        </p:txBody>
      </p:sp>
      <p:sp>
        <p:nvSpPr>
          <p:cNvPr id="20" name="Text 18"/>
          <p:cNvSpPr/>
          <p:nvPr/>
        </p:nvSpPr>
        <p:spPr>
          <a:xfrm>
            <a:off x="838200" y="9643110"/>
            <a:ext cx="9978269"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THE VARIABLE IS NOT ACCESS — IT IS THE STRUCTURE OF THE INTERACTION</a:t>
            </a:r>
            <a:endParaRPr lang="en-US" sz="1800" dirty="0"/>
          </a:p>
        </p:txBody>
      </p:sp>
      <p:sp>
        <p:nvSpPr>
          <p:cNvPr id="21" name="Text 19"/>
          <p:cNvSpPr/>
          <p:nvPr/>
        </p:nvSpPr>
        <p:spPr>
          <a:xfrm>
            <a:off x="16406812" y="9563100"/>
            <a:ext cx="1119188"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888076"/>
                </a:solidFill>
                <a:latin typeface="Arial" pitchFamily="34" charset="0"/>
                <a:ea typeface="Arial" pitchFamily="34" charset="-122"/>
                <a:cs typeface="Arial" pitchFamily="34" charset="-120"/>
              </a:rPr>
              <a:t>04 / 25</a:t>
            </a:r>
            <a:endParaRPr lang="en-US" sz="2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E3D6"/>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3360955" y="327660"/>
            <a:ext cx="4211510"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CH.01 · INSTRUMENT SELECTION</a:t>
            </a:r>
            <a:endParaRPr lang="en-US" sz="1800" dirty="0"/>
          </a:p>
        </p:txBody>
      </p:sp>
      <p:sp>
        <p:nvSpPr>
          <p:cNvPr id="5" name="Shape 3"/>
          <p:cNvSpPr/>
          <p:nvPr/>
        </p:nvSpPr>
        <p:spPr>
          <a:xfrm>
            <a:off x="838200" y="1343025"/>
            <a:ext cx="95250" cy="95250"/>
          </a:xfrm>
          <a:prstGeom prst="rect">
            <a:avLst/>
          </a:prstGeom>
          <a:solidFill>
            <a:srgbClr val="FF5B1F"/>
          </a:solidFill>
          <a:ln/>
        </p:spPr>
      </p:sp>
      <p:sp>
        <p:nvSpPr>
          <p:cNvPr id="6" name="Text 4"/>
          <p:cNvSpPr/>
          <p:nvPr/>
        </p:nvSpPr>
        <p:spPr>
          <a:xfrm>
            <a:off x="1066800" y="1261110"/>
            <a:ext cx="1967032" cy="289560"/>
          </a:xfrm>
          <a:prstGeom prst="rect">
            <a:avLst/>
          </a:prstGeom>
          <a:noFill/>
          <a:ln/>
        </p:spPr>
        <p:txBody>
          <a:bodyPr wrap="square" lIns="0" tIns="0" rIns="0" bIns="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CH.01 · STEP 1</a:t>
            </a:r>
            <a:endParaRPr lang="en-US" sz="1800" dirty="0"/>
          </a:p>
        </p:txBody>
      </p:sp>
      <p:sp>
        <p:nvSpPr>
          <p:cNvPr id="7" name="Text 5"/>
          <p:cNvSpPr/>
          <p:nvPr/>
        </p:nvSpPr>
        <p:spPr>
          <a:xfrm>
            <a:off x="3090982" y="1238250"/>
            <a:ext cx="5603901" cy="34290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2A2A2A"/>
                </a:solidFill>
                <a:latin typeface="Arial" pitchFamily="34" charset="0"/>
                <a:ea typeface="Arial" pitchFamily="34" charset="-122"/>
                <a:cs typeface="Arial" pitchFamily="34" charset="-120"/>
              </a:rPr>
              <a:t>— TWO PRIMARY TOOLS · USED FLUENTLY</a:t>
            </a:r>
            <a:endParaRPr lang="en-US" sz="1800" dirty="0"/>
          </a:p>
        </p:txBody>
      </p:sp>
      <p:sp>
        <p:nvSpPr>
          <p:cNvPr id="8" name="Text 6"/>
          <p:cNvSpPr/>
          <p:nvPr/>
        </p:nvSpPr>
        <p:spPr>
          <a:xfrm>
            <a:off x="838200" y="1733550"/>
            <a:ext cx="17109948" cy="923449"/>
          </a:xfrm>
          <a:prstGeom prst="rect">
            <a:avLst/>
          </a:prstGeom>
          <a:noFill/>
          <a:ln/>
        </p:spPr>
        <p:txBody>
          <a:bodyPr wrap="square" lIns="25400" tIns="25400" rIns="25400" bIns="25400" rtlCol="0" anchor="t">
            <a:normAutofit/>
          </a:bodyPr>
          <a:lstStyle/>
          <a:p>
            <a:pPr algn="l" indent="0" marL="0">
              <a:lnSpc>
                <a:spcPct val="96000"/>
              </a:lnSpc>
              <a:buNone/>
            </a:pPr>
            <a:r>
              <a:rPr lang="en-US" sz="7200" spc="-180" kern="0" dirty="0">
                <a:solidFill>
                  <a:srgbClr val="0E0E0E"/>
                </a:solidFill>
                <a:latin typeface="Arial" pitchFamily="34" charset="0"/>
                <a:ea typeface="Arial" pitchFamily="34" charset="-122"/>
                <a:cs typeface="Arial" pitchFamily="34" charset="-120"/>
              </a:rPr>
              <a:t>The study </a:t>
            </a:r>
            <a:pPr algn="l" indent="0" marL="0">
              <a:lnSpc>
                <a:spcPct val="96000"/>
              </a:lnSpc>
              <a:buNone/>
            </a:pPr>
            <a:r>
              <a:rPr lang="en-US" sz="7200" i="1" spc="-180" kern="0" dirty="0">
                <a:solidFill>
                  <a:srgbClr val="0E0E0E"/>
                </a:solidFill>
                <a:latin typeface="Arial" pitchFamily="34" charset="0"/>
                <a:ea typeface="Arial" pitchFamily="34" charset="-122"/>
                <a:cs typeface="Arial" pitchFamily="34" charset="-120"/>
              </a:rPr>
              <a:t>stack.</a:t>
            </a:r>
            <a:endParaRPr lang="en-US" sz="7200" dirty="0"/>
          </a:p>
        </p:txBody>
      </p:sp>
      <p:sp>
        <p:nvSpPr>
          <p:cNvPr id="9" name="Shape 7"/>
          <p:cNvSpPr/>
          <p:nvPr/>
        </p:nvSpPr>
        <p:spPr>
          <a:xfrm>
            <a:off x="838200" y="3095149"/>
            <a:ext cx="5422821" cy="3293745"/>
          </a:xfrm>
          <a:prstGeom prst="rect">
            <a:avLst/>
          </a:prstGeom>
          <a:solidFill>
            <a:srgbClr val="FF5B1F"/>
          </a:solidFill>
          <a:ln w="15240">
            <a:solidFill>
              <a:srgbClr val="FF5B1F"/>
            </a:solidFill>
            <a:prstDash val="solid"/>
          </a:ln>
        </p:spPr>
      </p:sp>
      <p:sp>
        <p:nvSpPr>
          <p:cNvPr id="10" name="Text 8"/>
          <p:cNvSpPr/>
          <p:nvPr/>
        </p:nvSpPr>
        <p:spPr>
          <a:xfrm>
            <a:off x="1120140" y="3338989"/>
            <a:ext cx="5004709" cy="3429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0E0E0E">
                    <a:alpha val="65000"/>
                  </a:srgbClr>
                </a:solidFill>
                <a:latin typeface="Arial" pitchFamily="34" charset="0"/>
                <a:ea typeface="Arial" pitchFamily="34" charset="-122"/>
                <a:cs typeface="Arial" pitchFamily="34" charset="-120"/>
              </a:rPr>
              <a:t>★ PRIMARY · CLOSED-DOMAIN</a:t>
            </a:r>
            <a:endParaRPr lang="en-US" sz="1800" dirty="0"/>
          </a:p>
        </p:txBody>
      </p:sp>
      <p:sp>
        <p:nvSpPr>
          <p:cNvPr id="11" name="Text 9"/>
          <p:cNvSpPr/>
          <p:nvPr/>
        </p:nvSpPr>
        <p:spPr>
          <a:xfrm>
            <a:off x="1120140" y="3739039"/>
            <a:ext cx="5004709" cy="55626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0E0E0E"/>
                </a:solidFill>
                <a:latin typeface="Arial" pitchFamily="34" charset="0"/>
                <a:ea typeface="Arial" pitchFamily="34" charset="-122"/>
                <a:cs typeface="Arial" pitchFamily="34" charset="-120"/>
              </a:rPr>
              <a:t>FREE · ANSWERS BOUNDED TO YOUR SOURCES</a:t>
            </a:r>
            <a:endParaRPr lang="en-US" sz="1800" dirty="0"/>
          </a:p>
        </p:txBody>
      </p:sp>
      <p:sp>
        <p:nvSpPr>
          <p:cNvPr id="12" name="Text 10"/>
          <p:cNvSpPr/>
          <p:nvPr/>
        </p:nvSpPr>
        <p:spPr>
          <a:xfrm>
            <a:off x="1120140" y="4371499"/>
            <a:ext cx="5004709"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NotebookLM</a:t>
            </a:r>
            <a:endParaRPr lang="en-US" sz="3300" dirty="0"/>
          </a:p>
        </p:txBody>
      </p:sp>
      <p:sp>
        <p:nvSpPr>
          <p:cNvPr id="13" name="Text 11"/>
          <p:cNvSpPr/>
          <p:nvPr/>
        </p:nvSpPr>
        <p:spPr>
          <a:xfrm>
            <a:off x="1120140" y="4864894"/>
            <a:ext cx="5004709" cy="131826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0E0E0E">
                    <a:alpha val="85000"/>
                  </a:srgbClr>
                </a:solidFill>
                <a:latin typeface="Arial" pitchFamily="34" charset="0"/>
                <a:ea typeface="Arial" pitchFamily="34" charset="-122"/>
                <a:cs typeface="Arial" pitchFamily="34" charset="-120"/>
              </a:rPr>
              <a:t>Constrains output to user-supplied documents. Inline page-level citations. </a:t>
            </a:r>
            <a:pPr algn="l" indent="0" marL="0">
              <a:lnSpc>
                <a:spcPct val="140000"/>
              </a:lnSpc>
              <a:buNone/>
            </a:pPr>
            <a:r>
              <a:rPr lang="en-US" sz="1800" b="1" dirty="0">
                <a:solidFill>
                  <a:srgbClr val="0E0E0E">
                    <a:alpha val="85000"/>
                  </a:srgbClr>
                </a:solidFill>
                <a:latin typeface="Arial" pitchFamily="34" charset="0"/>
                <a:ea typeface="Arial" pitchFamily="34" charset="-122"/>
                <a:cs typeface="Arial" pitchFamily="34" charset="-120"/>
              </a:rPr>
              <a:t>Substantially reduces hallucination risk </a:t>
            </a:r>
            <a:pPr algn="l" indent="0" marL="0">
              <a:lnSpc>
                <a:spcPct val="140000"/>
              </a:lnSpc>
              <a:buNone/>
            </a:pPr>
            <a:r>
              <a:rPr lang="en-US" sz="1800" dirty="0">
                <a:solidFill>
                  <a:srgbClr val="0E0E0E">
                    <a:alpha val="85000"/>
                  </a:srgbClr>
                </a:solidFill>
                <a:latin typeface="Arial" pitchFamily="34" charset="0"/>
                <a:ea typeface="Arial" pitchFamily="34" charset="-122"/>
                <a:cs typeface="Arial" pitchFamily="34" charset="-120"/>
              </a:rPr>
              <a:t>for examinable material.</a:t>
            </a:r>
            <a:endParaRPr lang="en-US" sz="1800" dirty="0"/>
          </a:p>
        </p:txBody>
      </p:sp>
      <p:sp>
        <p:nvSpPr>
          <p:cNvPr id="14" name="Shape 12"/>
          <p:cNvSpPr/>
          <p:nvPr/>
        </p:nvSpPr>
        <p:spPr>
          <a:xfrm>
            <a:off x="6432471" y="3095149"/>
            <a:ext cx="5422940" cy="3293745"/>
          </a:xfrm>
          <a:prstGeom prst="rect">
            <a:avLst/>
          </a:prstGeom>
          <a:solidFill>
            <a:srgbClr val="F2EFE8"/>
          </a:solidFill>
          <a:ln w="15240">
            <a:solidFill>
              <a:srgbClr val="0E0E0E"/>
            </a:solidFill>
            <a:prstDash val="solid"/>
          </a:ln>
        </p:spPr>
      </p:sp>
      <p:sp>
        <p:nvSpPr>
          <p:cNvPr id="15" name="Text 13"/>
          <p:cNvSpPr/>
          <p:nvPr/>
        </p:nvSpPr>
        <p:spPr>
          <a:xfrm>
            <a:off x="6714411" y="3338989"/>
            <a:ext cx="5004832"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01</a:t>
            </a:r>
            <a:endParaRPr lang="en-US" sz="1800" dirty="0"/>
          </a:p>
        </p:txBody>
      </p:sp>
      <p:sp>
        <p:nvSpPr>
          <p:cNvPr id="16" name="Text 14"/>
          <p:cNvSpPr/>
          <p:nvPr/>
        </p:nvSpPr>
        <p:spPr>
          <a:xfrm>
            <a:off x="6714411" y="3693319"/>
            <a:ext cx="5004832"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 GENERAL-PURPOSE TUTOR</a:t>
            </a:r>
            <a:endParaRPr lang="en-US" sz="1800" dirty="0"/>
          </a:p>
        </p:txBody>
      </p:sp>
      <p:sp>
        <p:nvSpPr>
          <p:cNvPr id="17" name="Text 15"/>
          <p:cNvSpPr/>
          <p:nvPr/>
        </p:nvSpPr>
        <p:spPr>
          <a:xfrm>
            <a:off x="6714411" y="4066699"/>
            <a:ext cx="5004832"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ChatGPT</a:t>
            </a:r>
            <a:endParaRPr lang="en-US" sz="3300" dirty="0"/>
          </a:p>
        </p:txBody>
      </p:sp>
      <p:sp>
        <p:nvSpPr>
          <p:cNvPr id="18" name="Text 16"/>
          <p:cNvSpPr/>
          <p:nvPr/>
        </p:nvSpPr>
        <p:spPr>
          <a:xfrm>
            <a:off x="6714411" y="5504974"/>
            <a:ext cx="5004832" cy="6781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Conceptual explanation, structured rephrasing, calibrated questioning across difficulty levels.</a:t>
            </a:r>
            <a:endParaRPr lang="en-US" sz="1800" dirty="0"/>
          </a:p>
        </p:txBody>
      </p:sp>
      <p:sp>
        <p:nvSpPr>
          <p:cNvPr id="19" name="Shape 17"/>
          <p:cNvSpPr/>
          <p:nvPr/>
        </p:nvSpPr>
        <p:spPr>
          <a:xfrm>
            <a:off x="12026860" y="3095149"/>
            <a:ext cx="5422940" cy="3293745"/>
          </a:xfrm>
          <a:prstGeom prst="rect">
            <a:avLst/>
          </a:prstGeom>
          <a:solidFill>
            <a:srgbClr val="F2EFE8"/>
          </a:solidFill>
          <a:ln w="15240">
            <a:solidFill>
              <a:srgbClr val="0E0E0E"/>
            </a:solidFill>
            <a:prstDash val="solid"/>
          </a:ln>
        </p:spPr>
      </p:sp>
      <p:sp>
        <p:nvSpPr>
          <p:cNvPr id="20" name="Text 18"/>
          <p:cNvSpPr/>
          <p:nvPr/>
        </p:nvSpPr>
        <p:spPr>
          <a:xfrm>
            <a:off x="12308801" y="3338989"/>
            <a:ext cx="5004832"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02</a:t>
            </a:r>
            <a:endParaRPr lang="en-US" sz="1800" dirty="0"/>
          </a:p>
        </p:txBody>
      </p:sp>
      <p:sp>
        <p:nvSpPr>
          <p:cNvPr id="21" name="Text 19"/>
          <p:cNvSpPr/>
          <p:nvPr/>
        </p:nvSpPr>
        <p:spPr>
          <a:xfrm>
            <a:off x="12308801" y="3693319"/>
            <a:ext cx="5004832"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 LONG-CONTEXT REASONING</a:t>
            </a:r>
            <a:endParaRPr lang="en-US" sz="1800" dirty="0"/>
          </a:p>
        </p:txBody>
      </p:sp>
      <p:sp>
        <p:nvSpPr>
          <p:cNvPr id="22" name="Text 20"/>
          <p:cNvSpPr/>
          <p:nvPr/>
        </p:nvSpPr>
        <p:spPr>
          <a:xfrm>
            <a:off x="12308801" y="4066699"/>
            <a:ext cx="5004832"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Claude</a:t>
            </a:r>
            <a:endParaRPr lang="en-US" sz="3300" dirty="0"/>
          </a:p>
        </p:txBody>
      </p:sp>
      <p:sp>
        <p:nvSpPr>
          <p:cNvPr id="23" name="Text 21"/>
          <p:cNvSpPr/>
          <p:nvPr/>
        </p:nvSpPr>
        <p:spPr>
          <a:xfrm>
            <a:off x="12308801" y="5184934"/>
            <a:ext cx="5004832"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Extended documents, careful reasoning chains, structured academic writing. 200K-token context window.</a:t>
            </a:r>
            <a:endParaRPr lang="en-US" sz="1800" dirty="0"/>
          </a:p>
        </p:txBody>
      </p:sp>
      <p:sp>
        <p:nvSpPr>
          <p:cNvPr id="24" name="Shape 22"/>
          <p:cNvSpPr/>
          <p:nvPr/>
        </p:nvSpPr>
        <p:spPr>
          <a:xfrm>
            <a:off x="838200" y="6560344"/>
            <a:ext cx="5422821" cy="2668905"/>
          </a:xfrm>
          <a:prstGeom prst="rect">
            <a:avLst/>
          </a:prstGeom>
          <a:solidFill>
            <a:srgbClr val="F2EFE8"/>
          </a:solidFill>
          <a:ln w="15240">
            <a:solidFill>
              <a:srgbClr val="0E0E0E"/>
            </a:solidFill>
            <a:prstDash val="solid"/>
          </a:ln>
        </p:spPr>
      </p:sp>
      <p:sp>
        <p:nvSpPr>
          <p:cNvPr id="25" name="Text 23"/>
          <p:cNvSpPr/>
          <p:nvPr/>
        </p:nvSpPr>
        <p:spPr>
          <a:xfrm>
            <a:off x="1120140" y="6804184"/>
            <a:ext cx="5004709"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03</a:t>
            </a:r>
            <a:endParaRPr lang="en-US" sz="1800" dirty="0"/>
          </a:p>
        </p:txBody>
      </p:sp>
      <p:sp>
        <p:nvSpPr>
          <p:cNvPr id="26" name="Text 24"/>
          <p:cNvSpPr/>
          <p:nvPr/>
        </p:nvSpPr>
        <p:spPr>
          <a:xfrm>
            <a:off x="1120140" y="7158514"/>
            <a:ext cx="5004709"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 LIVE WEB · CITATIONS</a:t>
            </a:r>
            <a:endParaRPr lang="en-US" sz="1800" dirty="0"/>
          </a:p>
        </p:txBody>
      </p:sp>
      <p:sp>
        <p:nvSpPr>
          <p:cNvPr id="27" name="Text 25"/>
          <p:cNvSpPr/>
          <p:nvPr/>
        </p:nvSpPr>
        <p:spPr>
          <a:xfrm>
            <a:off x="1120140" y="7531894"/>
            <a:ext cx="5004709"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Perplexity</a:t>
            </a:r>
            <a:endParaRPr lang="en-US" sz="3300" dirty="0"/>
          </a:p>
        </p:txBody>
      </p:sp>
      <p:sp>
        <p:nvSpPr>
          <p:cNvPr id="28" name="Text 26"/>
          <p:cNvSpPr/>
          <p:nvPr/>
        </p:nvSpPr>
        <p:spPr>
          <a:xfrm>
            <a:off x="1120140" y="8025289"/>
            <a:ext cx="5004709"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Search with linked source citations on every claim. Replaces ten browser tabs with one verifiable answer.</a:t>
            </a:r>
            <a:endParaRPr lang="en-US" sz="1800" dirty="0"/>
          </a:p>
        </p:txBody>
      </p:sp>
      <p:sp>
        <p:nvSpPr>
          <p:cNvPr id="29" name="Shape 27"/>
          <p:cNvSpPr/>
          <p:nvPr/>
        </p:nvSpPr>
        <p:spPr>
          <a:xfrm>
            <a:off x="6432471" y="6560344"/>
            <a:ext cx="5422940" cy="2668905"/>
          </a:xfrm>
          <a:prstGeom prst="rect">
            <a:avLst/>
          </a:prstGeom>
          <a:solidFill>
            <a:srgbClr val="F2EFE8"/>
          </a:solidFill>
          <a:ln w="15240">
            <a:solidFill>
              <a:srgbClr val="0E0E0E"/>
            </a:solidFill>
            <a:prstDash val="solid"/>
          </a:ln>
        </p:spPr>
      </p:sp>
      <p:sp>
        <p:nvSpPr>
          <p:cNvPr id="30" name="Text 28"/>
          <p:cNvSpPr/>
          <p:nvPr/>
        </p:nvSpPr>
        <p:spPr>
          <a:xfrm>
            <a:off x="6714411" y="6804184"/>
            <a:ext cx="5004832"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04</a:t>
            </a:r>
            <a:endParaRPr lang="en-US" sz="1800" dirty="0"/>
          </a:p>
        </p:txBody>
      </p:sp>
      <p:sp>
        <p:nvSpPr>
          <p:cNvPr id="31" name="Text 29"/>
          <p:cNvSpPr/>
          <p:nvPr/>
        </p:nvSpPr>
        <p:spPr>
          <a:xfrm>
            <a:off x="6714411" y="7158514"/>
            <a:ext cx="5004832"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 INTEGRATED WORKSPACE</a:t>
            </a:r>
            <a:endParaRPr lang="en-US" sz="1800" dirty="0"/>
          </a:p>
        </p:txBody>
      </p:sp>
      <p:sp>
        <p:nvSpPr>
          <p:cNvPr id="32" name="Text 30"/>
          <p:cNvSpPr/>
          <p:nvPr/>
        </p:nvSpPr>
        <p:spPr>
          <a:xfrm>
            <a:off x="6714411" y="7531894"/>
            <a:ext cx="5004832"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Gemini</a:t>
            </a:r>
            <a:endParaRPr lang="en-US" sz="3300" dirty="0"/>
          </a:p>
        </p:txBody>
      </p:sp>
      <p:sp>
        <p:nvSpPr>
          <p:cNvPr id="33" name="Text 31"/>
          <p:cNvSpPr/>
          <p:nvPr/>
        </p:nvSpPr>
        <p:spPr>
          <a:xfrm>
            <a:off x="6714411" y="8025289"/>
            <a:ext cx="5004832"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Native to the Google account ecosystem. Operates within Docs, Sheets, and Gmail without context switching.</a:t>
            </a:r>
            <a:endParaRPr lang="en-US" sz="1800" dirty="0"/>
          </a:p>
        </p:txBody>
      </p:sp>
      <p:sp>
        <p:nvSpPr>
          <p:cNvPr id="34" name="Shape 32"/>
          <p:cNvSpPr/>
          <p:nvPr/>
        </p:nvSpPr>
        <p:spPr>
          <a:xfrm>
            <a:off x="12026860" y="6560344"/>
            <a:ext cx="5422940" cy="2668905"/>
          </a:xfrm>
          <a:prstGeom prst="rect">
            <a:avLst/>
          </a:prstGeom>
          <a:solidFill>
            <a:srgbClr val="0E0E0E"/>
          </a:solidFill>
          <a:ln w="15240">
            <a:solidFill>
              <a:srgbClr val="0E0E0E"/>
            </a:solidFill>
            <a:prstDash val="solid"/>
          </a:ln>
        </p:spPr>
      </p:sp>
      <p:sp>
        <p:nvSpPr>
          <p:cNvPr id="35" name="Text 33"/>
          <p:cNvSpPr/>
          <p:nvPr/>
        </p:nvSpPr>
        <p:spPr>
          <a:xfrm>
            <a:off x="12308801" y="6804184"/>
            <a:ext cx="5004832"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SELECTION PRINCIPLE</a:t>
            </a:r>
            <a:endParaRPr lang="en-US" sz="1800" dirty="0"/>
          </a:p>
        </p:txBody>
      </p:sp>
      <p:sp>
        <p:nvSpPr>
          <p:cNvPr id="36" name="Text 34"/>
          <p:cNvSpPr/>
          <p:nvPr/>
        </p:nvSpPr>
        <p:spPr>
          <a:xfrm>
            <a:off x="12308801" y="7177564"/>
            <a:ext cx="5004832" cy="1065848"/>
          </a:xfrm>
          <a:prstGeom prst="rect">
            <a:avLst/>
          </a:prstGeom>
          <a:noFill/>
          <a:ln/>
        </p:spPr>
        <p:txBody>
          <a:bodyPr wrap="square" lIns="25400" tIns="25400" rIns="25400" bIns="25400" rtlCol="0" anchor="t">
            <a:normAutofit/>
          </a:bodyPr>
          <a:lstStyle/>
          <a:p>
            <a:pPr algn="l" indent="0" marL="0">
              <a:lnSpc>
                <a:spcPct val="105000"/>
              </a:lnSpc>
              <a:buNone/>
            </a:pPr>
            <a:r>
              <a:rPr lang="en-US" sz="2550" spc="-51" kern="0" dirty="0">
                <a:solidFill>
                  <a:srgbClr val="F2EFE8"/>
                </a:solidFill>
                <a:latin typeface="Arial" pitchFamily="34" charset="0"/>
                <a:ea typeface="Arial" pitchFamily="34" charset="-122"/>
                <a:cs typeface="Arial" pitchFamily="34" charset="-120"/>
              </a:rPr>
              <a:t>Two tools. Used fluently. </a:t>
            </a:r>
            <a:pPr algn="l" indent="0" marL="0">
              <a:lnSpc>
                <a:spcPct val="105000"/>
              </a:lnSpc>
              <a:buNone/>
            </a:pPr>
            <a:r>
              <a:rPr lang="en-US" sz="2550" i="1" spc="-51" kern="0" dirty="0">
                <a:solidFill>
                  <a:srgbClr val="D6FF3D"/>
                </a:solidFill>
                <a:latin typeface="Arial" pitchFamily="34" charset="0"/>
                <a:ea typeface="Arial" pitchFamily="34" charset="-122"/>
                <a:cs typeface="Arial" pitchFamily="34" charset="-120"/>
              </a:rPr>
              <a:t>Disregard the rest.</a:t>
            </a:r>
            <a:endParaRPr lang="en-US" sz="2550" dirty="0"/>
          </a:p>
        </p:txBody>
      </p:sp>
      <p:sp>
        <p:nvSpPr>
          <p:cNvPr id="37" name="Text 35"/>
          <p:cNvSpPr/>
          <p:nvPr/>
        </p:nvSpPr>
        <p:spPr>
          <a:xfrm>
            <a:off x="12308801" y="8345329"/>
            <a:ext cx="5004832" cy="6781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F2EFE8">
                    <a:alpha val="78000"/>
                  </a:srgbClr>
                </a:solidFill>
                <a:latin typeface="Arial" pitchFamily="34" charset="0"/>
                <a:ea typeface="Arial" pitchFamily="34" charset="-122"/>
                <a:cs typeface="Arial" pitchFamily="34" charset="-120"/>
              </a:rPr>
              <a:t>Tool churn is a measurable productivity loss. Depth of fluency exceeds breadth of access.</a:t>
            </a:r>
            <a:endParaRPr lang="en-US" sz="1800" dirty="0"/>
          </a:p>
        </p:txBody>
      </p:sp>
      <p:sp>
        <p:nvSpPr>
          <p:cNvPr id="38" name="Text 36"/>
          <p:cNvSpPr/>
          <p:nvPr/>
        </p:nvSpPr>
        <p:spPr>
          <a:xfrm>
            <a:off x="838200" y="9643110"/>
            <a:ext cx="6951898"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FIVE CANDIDATES · SELECT TWO · DEVELOP FLUENCY</a:t>
            </a:r>
            <a:endParaRPr lang="en-US" sz="1800" dirty="0"/>
          </a:p>
        </p:txBody>
      </p:sp>
      <p:sp>
        <p:nvSpPr>
          <p:cNvPr id="39" name="Text 37"/>
          <p:cNvSpPr/>
          <p:nvPr/>
        </p:nvSpPr>
        <p:spPr>
          <a:xfrm>
            <a:off x="16411932" y="9563100"/>
            <a:ext cx="1114068"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888076"/>
                </a:solidFill>
                <a:latin typeface="Arial" pitchFamily="34" charset="0"/>
                <a:ea typeface="Arial" pitchFamily="34" charset="-122"/>
                <a:cs typeface="Arial" pitchFamily="34" charset="-120"/>
              </a:rPr>
              <a:t>05 / 25</a:t>
            </a:r>
            <a:endParaRPr lang="en-US" sz="2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FE8"/>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1980784" y="327660"/>
            <a:ext cx="5633087"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CH.01 · PROMPT 01 / 07 · THE STUDY TUTOR</a:t>
            </a:r>
            <a:endParaRPr lang="en-US" sz="1800" dirty="0"/>
          </a:p>
        </p:txBody>
      </p:sp>
      <p:sp>
        <p:nvSpPr>
          <p:cNvPr id="5" name="Shape 3"/>
          <p:cNvSpPr/>
          <p:nvPr/>
        </p:nvSpPr>
        <p:spPr>
          <a:xfrm>
            <a:off x="838200" y="1209675"/>
            <a:ext cx="95250" cy="95250"/>
          </a:xfrm>
          <a:prstGeom prst="rect">
            <a:avLst/>
          </a:prstGeom>
          <a:solidFill>
            <a:srgbClr val="FF5B1F"/>
          </a:solidFill>
          <a:ln/>
        </p:spPr>
      </p:sp>
      <p:sp>
        <p:nvSpPr>
          <p:cNvPr id="6" name="Text 4"/>
          <p:cNvSpPr/>
          <p:nvPr/>
        </p:nvSpPr>
        <p:spPr>
          <a:xfrm>
            <a:off x="1066800" y="1127760"/>
            <a:ext cx="1163955" cy="289560"/>
          </a:xfrm>
          <a:prstGeom prst="rect">
            <a:avLst/>
          </a:prstGeom>
          <a:noFill/>
          <a:ln/>
        </p:spPr>
        <p:txBody>
          <a:bodyPr wrap="square" lIns="0" tIns="0" rIns="0" bIns="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PROMPT</a:t>
            </a:r>
            <a:endParaRPr lang="en-US" sz="1800" dirty="0"/>
          </a:p>
        </p:txBody>
      </p:sp>
      <p:sp>
        <p:nvSpPr>
          <p:cNvPr id="7" name="Text 5"/>
          <p:cNvSpPr/>
          <p:nvPr/>
        </p:nvSpPr>
        <p:spPr>
          <a:xfrm>
            <a:off x="2287905" y="1104900"/>
            <a:ext cx="5924222" cy="34290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2A2A2A"/>
                </a:solidFill>
                <a:latin typeface="Arial" pitchFamily="34" charset="0"/>
                <a:ea typeface="Arial" pitchFamily="34" charset="-122"/>
                <a:cs typeface="Arial" pitchFamily="34" charset="-120"/>
              </a:rPr>
              <a:t>01 OF 07 — THE STRUCTURED STUDY TUTOR</a:t>
            </a:r>
            <a:endParaRPr lang="en-US" sz="1800" dirty="0"/>
          </a:p>
        </p:txBody>
      </p:sp>
      <p:sp>
        <p:nvSpPr>
          <p:cNvPr id="8" name="Text 6"/>
          <p:cNvSpPr/>
          <p:nvPr/>
        </p:nvSpPr>
        <p:spPr>
          <a:xfrm>
            <a:off x="838200" y="1543050"/>
            <a:ext cx="17109948" cy="923449"/>
          </a:xfrm>
          <a:prstGeom prst="rect">
            <a:avLst/>
          </a:prstGeom>
          <a:noFill/>
          <a:ln/>
        </p:spPr>
        <p:txBody>
          <a:bodyPr wrap="square" lIns="25400" tIns="25400" rIns="25400" bIns="25400" rtlCol="0" anchor="t">
            <a:normAutofit/>
          </a:bodyPr>
          <a:lstStyle/>
          <a:p>
            <a:pPr algn="l" indent="0" marL="0">
              <a:lnSpc>
                <a:spcPct val="96000"/>
              </a:lnSpc>
              <a:buNone/>
            </a:pPr>
            <a:r>
              <a:rPr lang="en-US" sz="7200" spc="-180" kern="0" dirty="0">
                <a:solidFill>
                  <a:srgbClr val="0E0E0E"/>
                </a:solidFill>
                <a:latin typeface="Arial" pitchFamily="34" charset="0"/>
                <a:ea typeface="Arial" pitchFamily="34" charset="-122"/>
                <a:cs typeface="Arial" pitchFamily="34" charset="-120"/>
              </a:rPr>
              <a:t>Replaces </a:t>
            </a:r>
            <a:pPr algn="l" indent="0" marL="0">
              <a:lnSpc>
                <a:spcPct val="96000"/>
              </a:lnSpc>
              <a:buNone/>
            </a:pPr>
            <a:r>
              <a:rPr lang="en-US" sz="7200" i="1" spc="-180" kern="0" dirty="0">
                <a:solidFill>
                  <a:srgbClr val="0E0E0E"/>
                </a:solidFill>
                <a:latin typeface="Arial" pitchFamily="34" charset="0"/>
                <a:ea typeface="Arial" pitchFamily="34" charset="-122"/>
                <a:cs typeface="Arial" pitchFamily="34" charset="-120"/>
              </a:rPr>
              <a:t>“summarise my notes.”</a:t>
            </a:r>
            <a:endParaRPr lang="en-US" sz="7200" dirty="0"/>
          </a:p>
        </p:txBody>
      </p:sp>
      <p:sp>
        <p:nvSpPr>
          <p:cNvPr id="9" name="Text 7"/>
          <p:cNvSpPr/>
          <p:nvPr/>
        </p:nvSpPr>
        <p:spPr>
          <a:xfrm>
            <a:off x="838200" y="2656999"/>
            <a:ext cx="8358759" cy="342900"/>
          </a:xfrm>
          <a:prstGeom prst="rect">
            <a:avLst/>
          </a:prstGeom>
          <a:noFill/>
          <a:ln/>
        </p:spPr>
        <p:txBody>
          <a:bodyPr wrap="square" lIns="25400" tIns="25400" rIns="25400" bIns="25400" rtlCol="0" anchor="t">
            <a:normAutofit/>
          </a:bodyPr>
          <a:lstStyle/>
          <a:p>
            <a:pPr algn="l" indent="0" marL="0">
              <a:buNone/>
            </a:pPr>
            <a:r>
              <a:rPr lang="en-US" sz="1800" spc="180" kern="0" dirty="0">
                <a:solidFill>
                  <a:srgbClr val="FF5B1F"/>
                </a:solidFill>
                <a:latin typeface="Arial" pitchFamily="34" charset="0"/>
                <a:ea typeface="Arial" pitchFamily="34" charset="-122"/>
                <a:cs typeface="Arial" pitchFamily="34" charset="-120"/>
              </a:rPr>
              <a:t>PROMPT TEMPLATE</a:t>
            </a:r>
            <a:endParaRPr lang="en-US" sz="1800" dirty="0"/>
          </a:p>
        </p:txBody>
      </p:sp>
      <p:sp>
        <p:nvSpPr>
          <p:cNvPr id="10" name="Shape 8"/>
          <p:cNvSpPr/>
          <p:nvPr/>
        </p:nvSpPr>
        <p:spPr>
          <a:xfrm>
            <a:off x="838200" y="3057049"/>
            <a:ext cx="8115300" cy="5723573"/>
          </a:xfrm>
          <a:prstGeom prst="rect">
            <a:avLst/>
          </a:prstGeom>
          <a:solidFill>
            <a:srgbClr val="0E0E0E"/>
          </a:solidFill>
          <a:ln/>
        </p:spPr>
      </p:sp>
      <p:sp>
        <p:nvSpPr>
          <p:cNvPr id="11" name="Shape 9"/>
          <p:cNvSpPr/>
          <p:nvPr/>
        </p:nvSpPr>
        <p:spPr>
          <a:xfrm>
            <a:off x="838200" y="3057049"/>
            <a:ext cx="45720" cy="5723573"/>
          </a:xfrm>
          <a:prstGeom prst="rect">
            <a:avLst/>
          </a:prstGeom>
          <a:solidFill>
            <a:srgbClr val="FF5B1F"/>
          </a:solidFill>
          <a:ln/>
        </p:spPr>
      </p:sp>
      <p:sp>
        <p:nvSpPr>
          <p:cNvPr id="12" name="Text 10"/>
          <p:cNvSpPr/>
          <p:nvPr/>
        </p:nvSpPr>
        <p:spPr>
          <a:xfrm>
            <a:off x="1169670" y="3285649"/>
            <a:ext cx="7741539" cy="5304473"/>
          </a:xfrm>
          <a:prstGeom prst="rect">
            <a:avLst/>
          </a:prstGeom>
          <a:noFill/>
          <a:ln/>
        </p:spPr>
        <p:txBody>
          <a:bodyPr wrap="square" lIns="25400" tIns="25400" rIns="25400" bIns="25400" rtlCol="0" anchor="t">
            <a:normAutofit/>
          </a:bodyPr>
          <a:lstStyle/>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[ROLE] You are a graduate-level tutor in</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[discipline]. Adopt a Socratic method.</a:t>
            </a:r>
            <a:endParaRPr lang="en-US" sz="1350" dirty="0"/>
          </a:p>
          <a:p>
            <a:pPr algn="l" indent="0" marL="0">
              <a:lnSpc>
                <a:spcPct val="128000"/>
              </a:lnSpc>
              <a:buNone/>
            </a:pP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[CONTEXT] Final assessment in 9 days.</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Lecture transcript follows. My strengths:</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[list]. Gaps: [list]. Prior errors: [paste].</a:t>
            </a:r>
            <a:endParaRPr lang="en-US" sz="1350" dirty="0"/>
          </a:p>
          <a:p>
            <a:pPr algn="l" indent="0" marL="0">
              <a:lnSpc>
                <a:spcPct val="128000"/>
              </a:lnSpc>
              <a:buNone/>
            </a:pP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[TASK] Produce, in order:</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1. Three-sentence executive summary.</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2. Taxonomy of 8–12 key concepts,</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one-line definitions.</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3. Ten exam-grade questions ranked</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by Bloom's level (recall → analysis).</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4. Any internal contradictions in source.</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5. Two concepts likely tested but absent.</a:t>
            </a:r>
            <a:endParaRPr lang="en-US" sz="1350" dirty="0"/>
          </a:p>
          <a:p>
            <a:pPr algn="l" indent="0" marL="0">
              <a:lnSpc>
                <a:spcPct val="128000"/>
              </a:lnSpc>
              <a:buNone/>
            </a:pP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[FORMAT] Plain text. Numbered. No emoji.</a:t>
            </a:r>
            <a:endParaRPr lang="en-US" sz="1350" dirty="0"/>
          </a:p>
          <a:p>
            <a:pPr algn="l" indent="0" marL="0">
              <a:lnSpc>
                <a:spcPct val="128000"/>
              </a:lnSpc>
              <a:buNone/>
            </a:pP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[CONSTRAINTS]</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Cite timestamp or page for every claim.</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If not in source, state “not in source.”</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Do not infer beyond evidence.</a:t>
            </a:r>
            <a:endParaRPr lang="en-US" sz="1350" dirty="0"/>
          </a:p>
          <a:p>
            <a:pPr algn="l" indent="0" marL="0">
              <a:lnSpc>
                <a:spcPct val="128000"/>
              </a:lnSpc>
              <a:buNone/>
            </a:pP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[SOURCE] [paste notes]</a:t>
            </a:r>
            <a:endParaRPr lang="en-US" sz="1350" dirty="0"/>
          </a:p>
        </p:txBody>
      </p:sp>
      <p:sp>
        <p:nvSpPr>
          <p:cNvPr id="13" name="Text 11"/>
          <p:cNvSpPr/>
          <p:nvPr/>
        </p:nvSpPr>
        <p:spPr>
          <a:xfrm>
            <a:off x="9334500" y="2656999"/>
            <a:ext cx="8358759" cy="342900"/>
          </a:xfrm>
          <a:prstGeom prst="rect">
            <a:avLst/>
          </a:prstGeom>
          <a:noFill/>
          <a:ln/>
        </p:spPr>
        <p:txBody>
          <a:bodyPr wrap="square" lIns="25400" tIns="25400" rIns="25400" bIns="25400" rtlCol="0" anchor="t">
            <a:normAutofit/>
          </a:bodyPr>
          <a:lstStyle/>
          <a:p>
            <a:pPr algn="l" indent="0" marL="0">
              <a:buNone/>
            </a:pPr>
            <a:r>
              <a:rPr lang="en-US" sz="1800" spc="180" kern="0" dirty="0">
                <a:solidFill>
                  <a:srgbClr val="888076"/>
                </a:solidFill>
                <a:latin typeface="Arial" pitchFamily="34" charset="0"/>
                <a:ea typeface="Arial" pitchFamily="34" charset="-122"/>
                <a:cs typeface="Arial" pitchFamily="34" charset="-120"/>
              </a:rPr>
              <a:t>DESIGN RATIONALE</a:t>
            </a:r>
            <a:endParaRPr lang="en-US" sz="1800" dirty="0"/>
          </a:p>
        </p:txBody>
      </p:sp>
      <p:sp>
        <p:nvSpPr>
          <p:cNvPr id="14" name="Shape 12"/>
          <p:cNvSpPr/>
          <p:nvPr/>
        </p:nvSpPr>
        <p:spPr>
          <a:xfrm>
            <a:off x="9334500" y="3133249"/>
            <a:ext cx="8115300" cy="15240"/>
          </a:xfrm>
          <a:prstGeom prst="rect">
            <a:avLst/>
          </a:prstGeom>
          <a:solidFill>
            <a:srgbClr val="0E0E0E"/>
          </a:solidFill>
          <a:ln/>
        </p:spPr>
      </p:sp>
      <p:sp>
        <p:nvSpPr>
          <p:cNvPr id="15" name="Text 13"/>
          <p:cNvSpPr/>
          <p:nvPr/>
        </p:nvSpPr>
        <p:spPr>
          <a:xfrm>
            <a:off x="9334500" y="3224689"/>
            <a:ext cx="476250" cy="342900"/>
          </a:xfrm>
          <a:prstGeom prst="rect">
            <a:avLst/>
          </a:prstGeom>
          <a:noFill/>
          <a:ln/>
        </p:spPr>
        <p:txBody>
          <a:bodyPr wrap="square" lIns="25400" tIns="25400" rIns="25400" bIns="25400" rtlCol="0" anchor="t">
            <a:normAutofit/>
          </a:bodyPr>
          <a:lstStyle/>
          <a:p>
            <a:pPr algn="l" indent="0" marL="0">
              <a:lnSpc>
                <a:spcPct val="100000"/>
              </a:lnSpc>
              <a:buNone/>
            </a:pPr>
            <a:r>
              <a:rPr lang="en-US" sz="2400" i="1" dirty="0">
                <a:solidFill>
                  <a:srgbClr val="FF5B1F"/>
                </a:solidFill>
                <a:latin typeface="Arial" pitchFamily="34" charset="0"/>
                <a:ea typeface="Arial" pitchFamily="34" charset="-122"/>
                <a:cs typeface="Arial" pitchFamily="34" charset="-120"/>
              </a:rPr>
              <a:t>R</a:t>
            </a:r>
            <a:endParaRPr lang="en-US" sz="2400" dirty="0"/>
          </a:p>
        </p:txBody>
      </p:sp>
      <p:sp>
        <p:nvSpPr>
          <p:cNvPr id="16" name="Text 14"/>
          <p:cNvSpPr/>
          <p:nvPr/>
        </p:nvSpPr>
        <p:spPr>
          <a:xfrm>
            <a:off x="9848850" y="3224689"/>
            <a:ext cx="7828979" cy="282416"/>
          </a:xfrm>
          <a:prstGeom prst="rect">
            <a:avLst/>
          </a:prstGeom>
          <a:noFill/>
          <a:ln/>
        </p:spPr>
        <p:txBody>
          <a:bodyPr wrap="square" lIns="25400" tIns="25400" rIns="25400" bIns="25400" rtlCol="0" anchor="t">
            <a:normAutofit/>
          </a:bodyPr>
          <a:lstStyle/>
          <a:p>
            <a:pPr algn="l" indent="0" marL="0">
              <a:lnSpc>
                <a:spcPct val="135000"/>
              </a:lnSpc>
              <a:buNone/>
            </a:pPr>
            <a:r>
              <a:rPr lang="en-US" sz="1425" b="1" dirty="0">
                <a:solidFill>
                  <a:srgbClr val="0E0E0E"/>
                </a:solidFill>
                <a:latin typeface="Arial" pitchFamily="34" charset="0"/>
                <a:ea typeface="Arial" pitchFamily="34" charset="-122"/>
                <a:cs typeface="Arial" pitchFamily="34" charset="-120"/>
              </a:rPr>
              <a:t>Role.</a:t>
            </a:r>
            <a:endParaRPr lang="en-US" sz="1425" dirty="0"/>
          </a:p>
        </p:txBody>
      </p:sp>
      <p:sp>
        <p:nvSpPr>
          <p:cNvPr id="17" name="Text 15"/>
          <p:cNvSpPr/>
          <p:nvPr/>
        </p:nvSpPr>
        <p:spPr>
          <a:xfrm>
            <a:off x="9848850" y="3484245"/>
            <a:ext cx="5333124" cy="243840"/>
          </a:xfrm>
          <a:prstGeom prst="rect">
            <a:avLst/>
          </a:prstGeom>
          <a:noFill/>
          <a:ln/>
        </p:spPr>
        <p:txBody>
          <a:bodyPr wrap="square" lIns="25400" tIns="25400" rIns="25400" bIns="25400" rtlCol="0" anchor="t">
            <a:normAutofit/>
          </a:bodyPr>
          <a:lstStyle/>
          <a:p>
            <a:pPr algn="l" indent="0" marL="0">
              <a:lnSpc>
                <a:spcPct val="135000"/>
              </a:lnSpc>
              <a:buNone/>
            </a:pPr>
            <a:r>
              <a:rPr lang="en-US" sz="1425" dirty="0">
                <a:solidFill>
                  <a:srgbClr val="2A2A2A"/>
                </a:solidFill>
                <a:latin typeface="Arial" pitchFamily="34" charset="0"/>
                <a:ea typeface="Arial" pitchFamily="34" charset="-122"/>
                <a:cs typeface="Arial" pitchFamily="34" charset="-120"/>
              </a:rPr>
              <a:t>Specifies discipline and pedagogy. Anchors register and method.</a:t>
            </a:r>
            <a:endParaRPr lang="en-US" sz="1425" dirty="0"/>
          </a:p>
        </p:txBody>
      </p:sp>
      <p:sp>
        <p:nvSpPr>
          <p:cNvPr id="18" name="Shape 16"/>
          <p:cNvSpPr/>
          <p:nvPr/>
        </p:nvSpPr>
        <p:spPr>
          <a:xfrm>
            <a:off x="9334500" y="3865721"/>
            <a:ext cx="8115300" cy="15240"/>
          </a:xfrm>
          <a:prstGeom prst="rect">
            <a:avLst/>
          </a:prstGeom>
          <a:solidFill>
            <a:srgbClr val="0E0E0E"/>
          </a:solidFill>
          <a:ln/>
        </p:spPr>
      </p:sp>
      <p:sp>
        <p:nvSpPr>
          <p:cNvPr id="19" name="Text 17"/>
          <p:cNvSpPr/>
          <p:nvPr/>
        </p:nvSpPr>
        <p:spPr>
          <a:xfrm>
            <a:off x="9334500" y="3957161"/>
            <a:ext cx="476250" cy="342900"/>
          </a:xfrm>
          <a:prstGeom prst="rect">
            <a:avLst/>
          </a:prstGeom>
          <a:noFill/>
          <a:ln/>
        </p:spPr>
        <p:txBody>
          <a:bodyPr wrap="square" lIns="25400" tIns="25400" rIns="25400" bIns="25400" rtlCol="0" anchor="t">
            <a:normAutofit/>
          </a:bodyPr>
          <a:lstStyle/>
          <a:p>
            <a:pPr algn="l" indent="0" marL="0">
              <a:lnSpc>
                <a:spcPct val="100000"/>
              </a:lnSpc>
              <a:buNone/>
            </a:pPr>
            <a:r>
              <a:rPr lang="en-US" sz="2400" i="1" dirty="0">
                <a:solidFill>
                  <a:srgbClr val="FF5B1F"/>
                </a:solidFill>
                <a:latin typeface="Arial" pitchFamily="34" charset="0"/>
                <a:ea typeface="Arial" pitchFamily="34" charset="-122"/>
                <a:cs typeface="Arial" pitchFamily="34" charset="-120"/>
              </a:rPr>
              <a:t>C</a:t>
            </a:r>
            <a:endParaRPr lang="en-US" sz="2400" dirty="0"/>
          </a:p>
        </p:txBody>
      </p:sp>
      <p:sp>
        <p:nvSpPr>
          <p:cNvPr id="20" name="Text 18"/>
          <p:cNvSpPr/>
          <p:nvPr/>
        </p:nvSpPr>
        <p:spPr>
          <a:xfrm>
            <a:off x="9848850" y="3957161"/>
            <a:ext cx="7828979" cy="282416"/>
          </a:xfrm>
          <a:prstGeom prst="rect">
            <a:avLst/>
          </a:prstGeom>
          <a:noFill/>
          <a:ln/>
        </p:spPr>
        <p:txBody>
          <a:bodyPr wrap="square" lIns="25400" tIns="25400" rIns="25400" bIns="25400" rtlCol="0" anchor="t">
            <a:normAutofit/>
          </a:bodyPr>
          <a:lstStyle/>
          <a:p>
            <a:pPr algn="l" indent="0" marL="0">
              <a:lnSpc>
                <a:spcPct val="135000"/>
              </a:lnSpc>
              <a:buNone/>
            </a:pPr>
            <a:r>
              <a:rPr lang="en-US" sz="1425" b="1" dirty="0">
                <a:solidFill>
                  <a:srgbClr val="0E0E0E"/>
                </a:solidFill>
                <a:latin typeface="Arial" pitchFamily="34" charset="0"/>
                <a:ea typeface="Arial" pitchFamily="34" charset="-122"/>
                <a:cs typeface="Arial" pitchFamily="34" charset="-120"/>
              </a:rPr>
              <a:t>Context.</a:t>
            </a:r>
            <a:endParaRPr lang="en-US" sz="1425" dirty="0"/>
          </a:p>
        </p:txBody>
      </p:sp>
      <p:sp>
        <p:nvSpPr>
          <p:cNvPr id="21" name="Text 19"/>
          <p:cNvSpPr/>
          <p:nvPr/>
        </p:nvSpPr>
        <p:spPr>
          <a:xfrm>
            <a:off x="9848850" y="4216718"/>
            <a:ext cx="7705241" cy="488156"/>
          </a:xfrm>
          <a:prstGeom prst="rect">
            <a:avLst/>
          </a:prstGeom>
          <a:noFill/>
          <a:ln/>
        </p:spPr>
        <p:txBody>
          <a:bodyPr wrap="square" lIns="25400" tIns="25400" rIns="25400" bIns="25400" rtlCol="0" anchor="t">
            <a:normAutofit/>
          </a:bodyPr>
          <a:lstStyle/>
          <a:p>
            <a:pPr algn="l" indent="0" marL="0">
              <a:lnSpc>
                <a:spcPct val="135000"/>
              </a:lnSpc>
              <a:buNone/>
            </a:pPr>
            <a:r>
              <a:rPr lang="en-US" sz="1425" dirty="0">
                <a:solidFill>
                  <a:srgbClr val="2A2A2A"/>
                </a:solidFill>
                <a:latin typeface="Arial" pitchFamily="34" charset="0"/>
                <a:ea typeface="Arial" pitchFamily="34" charset="-122"/>
                <a:cs typeface="Arial" pitchFamily="34" charset="-120"/>
              </a:rPr>
              <a:t>Horizon, scope, declared gaps, error history. Without context the model averages to a generic learner.</a:t>
            </a:r>
            <a:endParaRPr lang="en-US" sz="1425" dirty="0"/>
          </a:p>
        </p:txBody>
      </p:sp>
      <p:sp>
        <p:nvSpPr>
          <p:cNvPr id="22" name="Shape 20"/>
          <p:cNvSpPr/>
          <p:nvPr/>
        </p:nvSpPr>
        <p:spPr>
          <a:xfrm>
            <a:off x="9334500" y="4842510"/>
            <a:ext cx="8115300" cy="15240"/>
          </a:xfrm>
          <a:prstGeom prst="rect">
            <a:avLst/>
          </a:prstGeom>
          <a:solidFill>
            <a:srgbClr val="0E0E0E"/>
          </a:solidFill>
          <a:ln/>
        </p:spPr>
      </p:sp>
      <p:sp>
        <p:nvSpPr>
          <p:cNvPr id="23" name="Text 21"/>
          <p:cNvSpPr/>
          <p:nvPr/>
        </p:nvSpPr>
        <p:spPr>
          <a:xfrm>
            <a:off x="9334500" y="4933950"/>
            <a:ext cx="476250" cy="342900"/>
          </a:xfrm>
          <a:prstGeom prst="rect">
            <a:avLst/>
          </a:prstGeom>
          <a:noFill/>
          <a:ln/>
        </p:spPr>
        <p:txBody>
          <a:bodyPr wrap="square" lIns="25400" tIns="25400" rIns="25400" bIns="25400" rtlCol="0" anchor="t">
            <a:normAutofit/>
          </a:bodyPr>
          <a:lstStyle/>
          <a:p>
            <a:pPr algn="l" indent="0" marL="0">
              <a:lnSpc>
                <a:spcPct val="100000"/>
              </a:lnSpc>
              <a:buNone/>
            </a:pPr>
            <a:r>
              <a:rPr lang="en-US" sz="2400" i="1" dirty="0">
                <a:solidFill>
                  <a:srgbClr val="FF5B1F"/>
                </a:solidFill>
                <a:latin typeface="Arial" pitchFamily="34" charset="0"/>
                <a:ea typeface="Arial" pitchFamily="34" charset="-122"/>
                <a:cs typeface="Arial" pitchFamily="34" charset="-120"/>
              </a:rPr>
              <a:t>T</a:t>
            </a:r>
            <a:endParaRPr lang="en-US" sz="2400" dirty="0"/>
          </a:p>
        </p:txBody>
      </p:sp>
      <p:sp>
        <p:nvSpPr>
          <p:cNvPr id="24" name="Text 22"/>
          <p:cNvSpPr/>
          <p:nvPr/>
        </p:nvSpPr>
        <p:spPr>
          <a:xfrm>
            <a:off x="9848850" y="4933950"/>
            <a:ext cx="7828979" cy="282416"/>
          </a:xfrm>
          <a:prstGeom prst="rect">
            <a:avLst/>
          </a:prstGeom>
          <a:noFill/>
          <a:ln/>
        </p:spPr>
        <p:txBody>
          <a:bodyPr wrap="square" lIns="25400" tIns="25400" rIns="25400" bIns="25400" rtlCol="0" anchor="t">
            <a:normAutofit/>
          </a:bodyPr>
          <a:lstStyle/>
          <a:p>
            <a:pPr algn="l" indent="0" marL="0">
              <a:lnSpc>
                <a:spcPct val="135000"/>
              </a:lnSpc>
              <a:buNone/>
            </a:pPr>
            <a:r>
              <a:rPr lang="en-US" sz="1425" b="1" dirty="0">
                <a:solidFill>
                  <a:srgbClr val="0E0E0E"/>
                </a:solidFill>
                <a:latin typeface="Arial" pitchFamily="34" charset="0"/>
                <a:ea typeface="Arial" pitchFamily="34" charset="-122"/>
                <a:cs typeface="Arial" pitchFamily="34" charset="-120"/>
              </a:rPr>
              <a:t>Task.</a:t>
            </a:r>
            <a:endParaRPr lang="en-US" sz="1425" dirty="0"/>
          </a:p>
        </p:txBody>
      </p:sp>
      <p:sp>
        <p:nvSpPr>
          <p:cNvPr id="25" name="Text 23"/>
          <p:cNvSpPr/>
          <p:nvPr/>
        </p:nvSpPr>
        <p:spPr>
          <a:xfrm>
            <a:off x="9848850" y="5193506"/>
            <a:ext cx="6144350" cy="243840"/>
          </a:xfrm>
          <a:prstGeom prst="rect">
            <a:avLst/>
          </a:prstGeom>
          <a:noFill/>
          <a:ln/>
        </p:spPr>
        <p:txBody>
          <a:bodyPr wrap="square" lIns="25400" tIns="25400" rIns="25400" bIns="25400" rtlCol="0" anchor="t">
            <a:normAutofit/>
          </a:bodyPr>
          <a:lstStyle/>
          <a:p>
            <a:pPr algn="l" indent="0" marL="0">
              <a:lnSpc>
                <a:spcPct val="135000"/>
              </a:lnSpc>
              <a:buNone/>
            </a:pPr>
            <a:r>
              <a:rPr lang="en-US" sz="1425" dirty="0">
                <a:solidFill>
                  <a:srgbClr val="2A2A2A"/>
                </a:solidFill>
                <a:latin typeface="Arial" pitchFamily="34" charset="0"/>
                <a:ea typeface="Arial" pitchFamily="34" charset="-122"/>
                <a:cs typeface="Arial" pitchFamily="34" charset="-120"/>
              </a:rPr>
              <a:t>Five enumerated outputs, Bloom-graded. Forces analysis, not paraphrase.</a:t>
            </a:r>
            <a:endParaRPr lang="en-US" sz="1425" dirty="0"/>
          </a:p>
        </p:txBody>
      </p:sp>
      <p:sp>
        <p:nvSpPr>
          <p:cNvPr id="26" name="Shape 24"/>
          <p:cNvSpPr/>
          <p:nvPr/>
        </p:nvSpPr>
        <p:spPr>
          <a:xfrm>
            <a:off x="9334500" y="5574982"/>
            <a:ext cx="8115300" cy="15240"/>
          </a:xfrm>
          <a:prstGeom prst="rect">
            <a:avLst/>
          </a:prstGeom>
          <a:solidFill>
            <a:srgbClr val="0E0E0E"/>
          </a:solidFill>
          <a:ln/>
        </p:spPr>
      </p:sp>
      <p:sp>
        <p:nvSpPr>
          <p:cNvPr id="27" name="Text 25"/>
          <p:cNvSpPr/>
          <p:nvPr/>
        </p:nvSpPr>
        <p:spPr>
          <a:xfrm>
            <a:off x="9334500" y="5666423"/>
            <a:ext cx="476250" cy="342900"/>
          </a:xfrm>
          <a:prstGeom prst="rect">
            <a:avLst/>
          </a:prstGeom>
          <a:noFill/>
          <a:ln/>
        </p:spPr>
        <p:txBody>
          <a:bodyPr wrap="square" lIns="25400" tIns="25400" rIns="25400" bIns="25400" rtlCol="0" anchor="t">
            <a:normAutofit/>
          </a:bodyPr>
          <a:lstStyle/>
          <a:p>
            <a:pPr algn="l" indent="0" marL="0">
              <a:lnSpc>
                <a:spcPct val="100000"/>
              </a:lnSpc>
              <a:buNone/>
            </a:pPr>
            <a:r>
              <a:rPr lang="en-US" sz="2400" i="1" dirty="0">
                <a:solidFill>
                  <a:srgbClr val="FF5B1F"/>
                </a:solidFill>
                <a:latin typeface="Arial" pitchFamily="34" charset="0"/>
                <a:ea typeface="Arial" pitchFamily="34" charset="-122"/>
                <a:cs typeface="Arial" pitchFamily="34" charset="-120"/>
              </a:rPr>
              <a:t>F</a:t>
            </a:r>
            <a:endParaRPr lang="en-US" sz="2400" dirty="0"/>
          </a:p>
        </p:txBody>
      </p:sp>
      <p:sp>
        <p:nvSpPr>
          <p:cNvPr id="28" name="Text 26"/>
          <p:cNvSpPr/>
          <p:nvPr/>
        </p:nvSpPr>
        <p:spPr>
          <a:xfrm>
            <a:off x="9848850" y="5666423"/>
            <a:ext cx="7828979" cy="282416"/>
          </a:xfrm>
          <a:prstGeom prst="rect">
            <a:avLst/>
          </a:prstGeom>
          <a:noFill/>
          <a:ln/>
        </p:spPr>
        <p:txBody>
          <a:bodyPr wrap="square" lIns="25400" tIns="25400" rIns="25400" bIns="25400" rtlCol="0" anchor="t">
            <a:normAutofit/>
          </a:bodyPr>
          <a:lstStyle/>
          <a:p>
            <a:pPr algn="l" indent="0" marL="0">
              <a:lnSpc>
                <a:spcPct val="135000"/>
              </a:lnSpc>
              <a:buNone/>
            </a:pPr>
            <a:r>
              <a:rPr lang="en-US" sz="1425" b="1" dirty="0">
                <a:solidFill>
                  <a:srgbClr val="0E0E0E"/>
                </a:solidFill>
                <a:latin typeface="Arial" pitchFamily="34" charset="0"/>
                <a:ea typeface="Arial" pitchFamily="34" charset="-122"/>
                <a:cs typeface="Arial" pitchFamily="34" charset="-120"/>
              </a:rPr>
              <a:t>Format.</a:t>
            </a:r>
            <a:endParaRPr lang="en-US" sz="1425" dirty="0"/>
          </a:p>
        </p:txBody>
      </p:sp>
      <p:sp>
        <p:nvSpPr>
          <p:cNvPr id="29" name="Text 27"/>
          <p:cNvSpPr/>
          <p:nvPr/>
        </p:nvSpPr>
        <p:spPr>
          <a:xfrm>
            <a:off x="9848850" y="5925979"/>
            <a:ext cx="6569033" cy="243840"/>
          </a:xfrm>
          <a:prstGeom prst="rect">
            <a:avLst/>
          </a:prstGeom>
          <a:noFill/>
          <a:ln/>
        </p:spPr>
        <p:txBody>
          <a:bodyPr wrap="square" lIns="25400" tIns="25400" rIns="25400" bIns="25400" rtlCol="0" anchor="t">
            <a:normAutofit/>
          </a:bodyPr>
          <a:lstStyle/>
          <a:p>
            <a:pPr algn="l" indent="0" marL="0">
              <a:lnSpc>
                <a:spcPct val="135000"/>
              </a:lnSpc>
              <a:buNone/>
            </a:pPr>
            <a:r>
              <a:rPr lang="en-US" sz="1425" dirty="0">
                <a:solidFill>
                  <a:srgbClr val="2A2A2A"/>
                </a:solidFill>
                <a:latin typeface="Arial" pitchFamily="34" charset="0"/>
                <a:ea typeface="Arial" pitchFamily="34" charset="-122"/>
                <a:cs typeface="Arial" pitchFamily="34" charset="-120"/>
              </a:rPr>
              <a:t>Constrains presentation. Eliminates decorative output that masks weak content.</a:t>
            </a:r>
            <a:endParaRPr lang="en-US" sz="1425" dirty="0"/>
          </a:p>
        </p:txBody>
      </p:sp>
      <p:sp>
        <p:nvSpPr>
          <p:cNvPr id="30" name="Shape 28"/>
          <p:cNvSpPr/>
          <p:nvPr/>
        </p:nvSpPr>
        <p:spPr>
          <a:xfrm>
            <a:off x="9334500" y="6963728"/>
            <a:ext cx="8115300" cy="15240"/>
          </a:xfrm>
          <a:prstGeom prst="rect">
            <a:avLst/>
          </a:prstGeom>
          <a:solidFill>
            <a:srgbClr val="0E0E0E"/>
          </a:solidFill>
          <a:ln/>
        </p:spPr>
      </p:sp>
      <p:sp>
        <p:nvSpPr>
          <p:cNvPr id="31" name="Shape 29"/>
          <p:cNvSpPr/>
          <p:nvPr/>
        </p:nvSpPr>
        <p:spPr>
          <a:xfrm>
            <a:off x="9334500" y="6307455"/>
            <a:ext cx="8115300" cy="15240"/>
          </a:xfrm>
          <a:prstGeom prst="rect">
            <a:avLst/>
          </a:prstGeom>
          <a:solidFill>
            <a:srgbClr val="0E0E0E"/>
          </a:solidFill>
          <a:ln/>
        </p:spPr>
      </p:sp>
      <p:sp>
        <p:nvSpPr>
          <p:cNvPr id="32" name="Text 30"/>
          <p:cNvSpPr/>
          <p:nvPr/>
        </p:nvSpPr>
        <p:spPr>
          <a:xfrm>
            <a:off x="9334500" y="6398895"/>
            <a:ext cx="476250" cy="342900"/>
          </a:xfrm>
          <a:prstGeom prst="rect">
            <a:avLst/>
          </a:prstGeom>
          <a:noFill/>
          <a:ln/>
        </p:spPr>
        <p:txBody>
          <a:bodyPr wrap="square" lIns="25400" tIns="25400" rIns="25400" bIns="25400" rtlCol="0" anchor="t">
            <a:normAutofit/>
          </a:bodyPr>
          <a:lstStyle/>
          <a:p>
            <a:pPr algn="l" indent="0" marL="0">
              <a:lnSpc>
                <a:spcPct val="100000"/>
              </a:lnSpc>
              <a:buNone/>
            </a:pPr>
            <a:r>
              <a:rPr lang="en-US" sz="2400" i="1" dirty="0">
                <a:solidFill>
                  <a:srgbClr val="FF3355"/>
                </a:solidFill>
                <a:latin typeface="Arial" pitchFamily="34" charset="0"/>
                <a:ea typeface="Arial" pitchFamily="34" charset="-122"/>
                <a:cs typeface="Arial" pitchFamily="34" charset="-120"/>
              </a:rPr>
              <a:t>!</a:t>
            </a:r>
            <a:endParaRPr lang="en-US" sz="2400" dirty="0"/>
          </a:p>
        </p:txBody>
      </p:sp>
      <p:sp>
        <p:nvSpPr>
          <p:cNvPr id="33" name="Text 31"/>
          <p:cNvSpPr/>
          <p:nvPr/>
        </p:nvSpPr>
        <p:spPr>
          <a:xfrm>
            <a:off x="9848850" y="6398895"/>
            <a:ext cx="7828979" cy="282416"/>
          </a:xfrm>
          <a:prstGeom prst="rect">
            <a:avLst/>
          </a:prstGeom>
          <a:noFill/>
          <a:ln/>
        </p:spPr>
        <p:txBody>
          <a:bodyPr wrap="square" lIns="25400" tIns="25400" rIns="25400" bIns="25400" rtlCol="0" anchor="t">
            <a:normAutofit/>
          </a:bodyPr>
          <a:lstStyle/>
          <a:p>
            <a:pPr algn="l" indent="0" marL="0">
              <a:lnSpc>
                <a:spcPct val="135000"/>
              </a:lnSpc>
              <a:buNone/>
            </a:pPr>
            <a:r>
              <a:rPr lang="en-US" sz="1425" b="1" dirty="0">
                <a:solidFill>
                  <a:srgbClr val="0E0E0E"/>
                </a:solidFill>
                <a:latin typeface="Arial" pitchFamily="34" charset="0"/>
                <a:ea typeface="Arial" pitchFamily="34" charset="-122"/>
                <a:cs typeface="Arial" pitchFamily="34" charset="-120"/>
              </a:rPr>
              <a:t>Constraints.</a:t>
            </a:r>
            <a:endParaRPr lang="en-US" sz="1425" dirty="0"/>
          </a:p>
        </p:txBody>
      </p:sp>
      <p:sp>
        <p:nvSpPr>
          <p:cNvPr id="34" name="Text 32"/>
          <p:cNvSpPr/>
          <p:nvPr/>
        </p:nvSpPr>
        <p:spPr>
          <a:xfrm>
            <a:off x="9848850" y="6658451"/>
            <a:ext cx="7674092" cy="243840"/>
          </a:xfrm>
          <a:prstGeom prst="rect">
            <a:avLst/>
          </a:prstGeom>
          <a:noFill/>
          <a:ln/>
        </p:spPr>
        <p:txBody>
          <a:bodyPr wrap="square" lIns="25400" tIns="25400" rIns="25400" bIns="25400" rtlCol="0" anchor="t">
            <a:normAutofit/>
          </a:bodyPr>
          <a:lstStyle/>
          <a:p>
            <a:pPr algn="l" indent="0" marL="0">
              <a:lnSpc>
                <a:spcPct val="135000"/>
              </a:lnSpc>
              <a:buNone/>
            </a:pPr>
            <a:r>
              <a:rPr lang="en-US" sz="1425" dirty="0">
                <a:solidFill>
                  <a:srgbClr val="2A2A2A"/>
                </a:solidFill>
                <a:latin typeface="Arial" pitchFamily="34" charset="0"/>
                <a:ea typeface="Arial" pitchFamily="34" charset="-122"/>
                <a:cs typeface="Arial" pitchFamily="34" charset="-120"/>
              </a:rPr>
              <a:t>Source-only assertions. “Not in source” is a valid response. The line that prevents fabrication.</a:t>
            </a:r>
            <a:endParaRPr lang="en-US" sz="1425" dirty="0"/>
          </a:p>
        </p:txBody>
      </p:sp>
      <p:sp>
        <p:nvSpPr>
          <p:cNvPr id="35" name="Text 33"/>
          <p:cNvSpPr/>
          <p:nvPr/>
        </p:nvSpPr>
        <p:spPr>
          <a:xfrm>
            <a:off x="838200" y="9643110"/>
            <a:ext cx="3329033"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THE R · C · T · F · ! FRAME</a:t>
            </a:r>
            <a:endParaRPr lang="en-US" sz="1800" dirty="0"/>
          </a:p>
        </p:txBody>
      </p:sp>
      <p:sp>
        <p:nvSpPr>
          <p:cNvPr id="36" name="Text 34"/>
          <p:cNvSpPr/>
          <p:nvPr/>
        </p:nvSpPr>
        <p:spPr>
          <a:xfrm>
            <a:off x="16398598" y="9563100"/>
            <a:ext cx="1127403"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888076"/>
                </a:solidFill>
                <a:latin typeface="Arial" pitchFamily="34" charset="0"/>
                <a:ea typeface="Arial" pitchFamily="34" charset="-122"/>
                <a:cs typeface="Arial" pitchFamily="34" charset="-120"/>
              </a:rPr>
              <a:t>06 / 25</a:t>
            </a:r>
            <a:endParaRPr lang="en-US" sz="2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0E0E"/>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F2EFE8">
                    <a:alpha val="55000"/>
                  </a:srgbClr>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3787794" y="327660"/>
            <a:ext cx="3771865"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F2EFE8">
                    <a:alpha val="55000"/>
                  </a:srgbClr>
                </a:solidFill>
                <a:latin typeface="Arial" pitchFamily="34" charset="0"/>
                <a:ea typeface="Arial" pitchFamily="34" charset="-122"/>
                <a:cs typeface="Arial" pitchFamily="34" charset="-120"/>
              </a:rPr>
              <a:t>CH.01 · PROMPTS 02 &amp; 03 / 07</a:t>
            </a:r>
            <a:endParaRPr lang="en-US" sz="1800" dirty="0"/>
          </a:p>
        </p:txBody>
      </p:sp>
      <p:sp>
        <p:nvSpPr>
          <p:cNvPr id="5" name="Shape 3"/>
          <p:cNvSpPr/>
          <p:nvPr/>
        </p:nvSpPr>
        <p:spPr>
          <a:xfrm>
            <a:off x="838200" y="1343025"/>
            <a:ext cx="95250" cy="95250"/>
          </a:xfrm>
          <a:prstGeom prst="rect">
            <a:avLst/>
          </a:prstGeom>
          <a:solidFill>
            <a:srgbClr val="FF5B1F"/>
          </a:solidFill>
          <a:ln/>
        </p:spPr>
      </p:sp>
      <p:sp>
        <p:nvSpPr>
          <p:cNvPr id="6" name="Text 4"/>
          <p:cNvSpPr/>
          <p:nvPr/>
        </p:nvSpPr>
        <p:spPr>
          <a:xfrm>
            <a:off x="1066800" y="1261110"/>
            <a:ext cx="1334691" cy="289560"/>
          </a:xfrm>
          <a:prstGeom prst="rect">
            <a:avLst/>
          </a:prstGeom>
          <a:noFill/>
          <a:ln/>
        </p:spPr>
        <p:txBody>
          <a:bodyPr wrap="square" lIns="0" tIns="0" rIns="0" bIns="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PROMPTS</a:t>
            </a:r>
            <a:endParaRPr lang="en-US" sz="1800" dirty="0"/>
          </a:p>
        </p:txBody>
      </p:sp>
      <p:sp>
        <p:nvSpPr>
          <p:cNvPr id="7" name="Text 5"/>
          <p:cNvSpPr/>
          <p:nvPr/>
        </p:nvSpPr>
        <p:spPr>
          <a:xfrm>
            <a:off x="2458641" y="1238250"/>
            <a:ext cx="7525336" cy="34290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F2EFE8">
                    <a:alpha val="70000"/>
                  </a:srgbClr>
                </a:solidFill>
                <a:latin typeface="Arial" pitchFamily="34" charset="0"/>
                <a:ea typeface="Arial" pitchFamily="34" charset="-122"/>
                <a:cs typeface="Arial" pitchFamily="34" charset="-120"/>
              </a:rPr>
              <a:t>02 &amp; 03 — RETRIEVAL PRACTICE · FEYNMAN PROTOCOL</a:t>
            </a:r>
            <a:endParaRPr lang="en-US" sz="1800" dirty="0"/>
          </a:p>
        </p:txBody>
      </p:sp>
      <p:sp>
        <p:nvSpPr>
          <p:cNvPr id="8" name="Text 6"/>
          <p:cNvSpPr/>
          <p:nvPr/>
        </p:nvSpPr>
        <p:spPr>
          <a:xfrm>
            <a:off x="838200" y="1733550"/>
            <a:ext cx="17109948" cy="923449"/>
          </a:xfrm>
          <a:prstGeom prst="rect">
            <a:avLst/>
          </a:prstGeom>
          <a:noFill/>
          <a:ln/>
        </p:spPr>
        <p:txBody>
          <a:bodyPr wrap="square" lIns="25400" tIns="25400" rIns="25400" bIns="25400" rtlCol="0" anchor="t">
            <a:normAutofit/>
          </a:bodyPr>
          <a:lstStyle/>
          <a:p>
            <a:pPr algn="l" indent="0" marL="0">
              <a:lnSpc>
                <a:spcPct val="96000"/>
              </a:lnSpc>
              <a:buNone/>
            </a:pPr>
            <a:r>
              <a:rPr lang="en-US" sz="7200" spc="-180" kern="0" dirty="0">
                <a:solidFill>
                  <a:srgbClr val="F2EFE8"/>
                </a:solidFill>
                <a:latin typeface="Arial" pitchFamily="34" charset="0"/>
                <a:ea typeface="Arial" pitchFamily="34" charset="-122"/>
                <a:cs typeface="Arial" pitchFamily="34" charset="-120"/>
              </a:rPr>
              <a:t>Two protocols. </a:t>
            </a:r>
            <a:pPr algn="l" indent="0" marL="0">
              <a:lnSpc>
                <a:spcPct val="96000"/>
              </a:lnSpc>
              <a:buNone/>
            </a:pPr>
            <a:r>
              <a:rPr lang="en-US" sz="7200" i="1" spc="-180" kern="0" dirty="0">
                <a:solidFill>
                  <a:srgbClr val="D6FF3D"/>
                </a:solidFill>
                <a:latin typeface="Arial" pitchFamily="34" charset="0"/>
                <a:ea typeface="Arial" pitchFamily="34" charset="-122"/>
                <a:cs typeface="Arial" pitchFamily="34" charset="-120"/>
              </a:rPr>
              <a:t>Run nightly.</a:t>
            </a:r>
            <a:endParaRPr lang="en-US" sz="7200" dirty="0"/>
          </a:p>
        </p:txBody>
      </p:sp>
      <p:sp>
        <p:nvSpPr>
          <p:cNvPr id="9" name="Text 7"/>
          <p:cNvSpPr/>
          <p:nvPr/>
        </p:nvSpPr>
        <p:spPr>
          <a:xfrm>
            <a:off x="838200" y="3095149"/>
            <a:ext cx="8358759" cy="342900"/>
          </a:xfrm>
          <a:prstGeom prst="rect">
            <a:avLst/>
          </a:prstGeom>
          <a:noFill/>
          <a:ln/>
        </p:spPr>
        <p:txBody>
          <a:bodyPr wrap="square" lIns="25400" tIns="25400" rIns="25400" bIns="25400" rtlCol="0" anchor="t">
            <a:normAutofit/>
          </a:bodyPr>
          <a:lstStyle/>
          <a:p>
            <a:pPr algn="l" indent="0" marL="0">
              <a:buNone/>
            </a:pPr>
            <a:r>
              <a:rPr lang="en-US" sz="1800" spc="180" kern="0" dirty="0">
                <a:solidFill>
                  <a:srgbClr val="FF5B1F"/>
                </a:solidFill>
                <a:latin typeface="Arial" pitchFamily="34" charset="0"/>
                <a:ea typeface="Arial" pitchFamily="34" charset="-122"/>
                <a:cs typeface="Arial" pitchFamily="34" charset="-120"/>
              </a:rPr>
              <a:t>PROMPT 02 · ACTIVE RECALL</a:t>
            </a:r>
            <a:endParaRPr lang="en-US" sz="1800" dirty="0"/>
          </a:p>
        </p:txBody>
      </p:sp>
      <p:sp>
        <p:nvSpPr>
          <p:cNvPr id="10" name="Shape 8"/>
          <p:cNvSpPr/>
          <p:nvPr/>
        </p:nvSpPr>
        <p:spPr>
          <a:xfrm>
            <a:off x="838200" y="3495199"/>
            <a:ext cx="8115300" cy="4756309"/>
          </a:xfrm>
          <a:prstGeom prst="rect">
            <a:avLst/>
          </a:prstGeom>
          <a:solidFill>
            <a:srgbClr val="0E0E0E"/>
          </a:solidFill>
          <a:ln/>
        </p:spPr>
      </p:sp>
      <p:sp>
        <p:nvSpPr>
          <p:cNvPr id="11" name="Shape 9"/>
          <p:cNvSpPr/>
          <p:nvPr/>
        </p:nvSpPr>
        <p:spPr>
          <a:xfrm>
            <a:off x="838200" y="3495199"/>
            <a:ext cx="45720" cy="4756309"/>
          </a:xfrm>
          <a:prstGeom prst="rect">
            <a:avLst/>
          </a:prstGeom>
          <a:solidFill>
            <a:srgbClr val="FF5B1F"/>
          </a:solidFill>
          <a:ln/>
        </p:spPr>
      </p:sp>
      <p:sp>
        <p:nvSpPr>
          <p:cNvPr id="12" name="Text 10"/>
          <p:cNvSpPr/>
          <p:nvPr/>
        </p:nvSpPr>
        <p:spPr>
          <a:xfrm>
            <a:off x="1169670" y="3723799"/>
            <a:ext cx="7741539" cy="4337209"/>
          </a:xfrm>
          <a:prstGeom prst="rect">
            <a:avLst/>
          </a:prstGeom>
          <a:noFill/>
          <a:ln/>
        </p:spPr>
        <p:txBody>
          <a:bodyPr wrap="square" lIns="25400" tIns="25400" rIns="25400" bIns="25400" rtlCol="0" anchor="t">
            <a:normAutofit/>
          </a:bodyPr>
          <a:lstStyle/>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Generate 20 examination items on</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[chapter / topic]. Distribution:</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 8 multiple-choice (4 options)</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 6 short-answer</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 4 application / case-based</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 2 transfer to a novel context</a:t>
            </a:r>
            <a:endParaRPr lang="en-US" sz="1425" dirty="0"/>
          </a:p>
          <a:p>
            <a:pPr algn="l" indent="0" marL="0">
              <a:lnSpc>
                <a:spcPct val="132000"/>
              </a:lnSpc>
              <a:buNone/>
            </a:pP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Mix Bloom levels. Withhold answers.</a:t>
            </a:r>
            <a:endParaRPr lang="en-US" sz="1425" dirty="0"/>
          </a:p>
          <a:p>
            <a:pPr algn="l" indent="0" marL="0">
              <a:lnSpc>
                <a:spcPct val="132000"/>
              </a:lnSpc>
              <a:buNone/>
            </a:pP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After I respond, mark each item.</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For every error, produce:</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1. The misconception in my reasoning,</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named precisely.</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2. The corrected reasoning chain.</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3. The principle I should have applied.</a:t>
            </a:r>
            <a:endParaRPr lang="en-US" sz="1425" dirty="0"/>
          </a:p>
          <a:p>
            <a:pPr algn="l" indent="0" marL="0">
              <a:lnSpc>
                <a:spcPct val="132000"/>
              </a:lnSpc>
              <a:buNone/>
            </a:pP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Then issue 5 follow-ups isolating</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the weakest concept identified.</a:t>
            </a:r>
            <a:endParaRPr lang="en-US" sz="1425" dirty="0"/>
          </a:p>
        </p:txBody>
      </p:sp>
      <p:sp>
        <p:nvSpPr>
          <p:cNvPr id="13" name="Text 11"/>
          <p:cNvSpPr/>
          <p:nvPr/>
        </p:nvSpPr>
        <p:spPr>
          <a:xfrm>
            <a:off x="838200" y="8365807"/>
            <a:ext cx="8358759" cy="278130"/>
          </a:xfrm>
          <a:prstGeom prst="rect">
            <a:avLst/>
          </a:prstGeom>
          <a:noFill/>
          <a:ln/>
        </p:spPr>
        <p:txBody>
          <a:bodyPr wrap="square" lIns="25400" tIns="25400" rIns="25400" bIns="25400" rtlCol="0" anchor="t">
            <a:normAutofit/>
          </a:bodyPr>
          <a:lstStyle/>
          <a:p>
            <a:pPr algn="l" indent="0" marL="0">
              <a:lnSpc>
                <a:spcPct val="140000"/>
              </a:lnSpc>
              <a:buNone/>
            </a:pPr>
            <a:r>
              <a:rPr lang="en-US" sz="1350" dirty="0">
                <a:solidFill>
                  <a:srgbClr val="F2EFE8">
                    <a:alpha val="70000"/>
                  </a:srgbClr>
                </a:solidFill>
                <a:latin typeface="Arial" pitchFamily="34" charset="0"/>
                <a:ea typeface="Arial" pitchFamily="34" charset="-122"/>
                <a:cs typeface="Arial" pitchFamily="34" charset="-120"/>
              </a:rPr>
              <a:t>Retrieval practice yields </a:t>
            </a:r>
            <a:pPr algn="l" indent="0" marL="0">
              <a:lnSpc>
                <a:spcPct val="140000"/>
              </a:lnSpc>
              <a:buNone/>
            </a:pPr>
            <a:r>
              <a:rPr lang="en-US" sz="1350" b="1" dirty="0">
                <a:solidFill>
                  <a:srgbClr val="D6FF3D"/>
                </a:solidFill>
                <a:latin typeface="Arial" pitchFamily="34" charset="0"/>
                <a:ea typeface="Arial" pitchFamily="34" charset="-122"/>
                <a:cs typeface="Arial" pitchFamily="34" charset="-120"/>
              </a:rPr>
              <a:t>d ≈ 0.7 </a:t>
            </a:r>
            <a:pPr algn="l" indent="0" marL="0">
              <a:lnSpc>
                <a:spcPct val="140000"/>
              </a:lnSpc>
              <a:buNone/>
            </a:pPr>
            <a:r>
              <a:rPr lang="en-US" sz="1350" dirty="0">
                <a:solidFill>
                  <a:srgbClr val="F2EFE8">
                    <a:alpha val="70000"/>
                  </a:srgbClr>
                </a:solidFill>
                <a:latin typeface="Arial" pitchFamily="34" charset="0"/>
                <a:ea typeface="Arial" pitchFamily="34" charset="-122"/>
                <a:cs typeface="Arial" pitchFamily="34" charset="-120"/>
              </a:rPr>
              <a:t>over re-reading (Roediger &amp; Karpicke, 2006).</a:t>
            </a:r>
            <a:endParaRPr lang="en-US" sz="1350" dirty="0"/>
          </a:p>
        </p:txBody>
      </p:sp>
      <p:sp>
        <p:nvSpPr>
          <p:cNvPr id="14" name="Text 12"/>
          <p:cNvSpPr/>
          <p:nvPr/>
        </p:nvSpPr>
        <p:spPr>
          <a:xfrm>
            <a:off x="9334500" y="3095149"/>
            <a:ext cx="8358759" cy="342900"/>
          </a:xfrm>
          <a:prstGeom prst="rect">
            <a:avLst/>
          </a:prstGeom>
          <a:noFill/>
          <a:ln/>
        </p:spPr>
        <p:txBody>
          <a:bodyPr wrap="square" lIns="25400" tIns="25400" rIns="25400" bIns="25400" rtlCol="0" anchor="t">
            <a:normAutofit/>
          </a:bodyPr>
          <a:lstStyle/>
          <a:p>
            <a:pPr algn="l" indent="0" marL="0">
              <a:buNone/>
            </a:pPr>
            <a:r>
              <a:rPr lang="en-US" sz="1800" spc="180" kern="0" dirty="0">
                <a:solidFill>
                  <a:srgbClr val="FF5B1F"/>
                </a:solidFill>
                <a:latin typeface="Arial" pitchFamily="34" charset="0"/>
                <a:ea typeface="Arial" pitchFamily="34" charset="-122"/>
                <a:cs typeface="Arial" pitchFamily="34" charset="-120"/>
              </a:rPr>
              <a:t>PROMPT 03 · THE FEYNMAN PROTOCOL</a:t>
            </a:r>
            <a:endParaRPr lang="en-US" sz="1800" dirty="0"/>
          </a:p>
        </p:txBody>
      </p:sp>
      <p:sp>
        <p:nvSpPr>
          <p:cNvPr id="15" name="Shape 13"/>
          <p:cNvSpPr/>
          <p:nvPr/>
        </p:nvSpPr>
        <p:spPr>
          <a:xfrm>
            <a:off x="9334500" y="3495199"/>
            <a:ext cx="8115300" cy="5472827"/>
          </a:xfrm>
          <a:prstGeom prst="rect">
            <a:avLst/>
          </a:prstGeom>
          <a:solidFill>
            <a:srgbClr val="0E0E0E"/>
          </a:solidFill>
          <a:ln/>
        </p:spPr>
      </p:sp>
      <p:sp>
        <p:nvSpPr>
          <p:cNvPr id="16" name="Shape 14"/>
          <p:cNvSpPr/>
          <p:nvPr/>
        </p:nvSpPr>
        <p:spPr>
          <a:xfrm>
            <a:off x="9334500" y="3495199"/>
            <a:ext cx="45720" cy="5472827"/>
          </a:xfrm>
          <a:prstGeom prst="rect">
            <a:avLst/>
          </a:prstGeom>
          <a:solidFill>
            <a:srgbClr val="FF5B1F"/>
          </a:solidFill>
          <a:ln/>
        </p:spPr>
      </p:sp>
      <p:sp>
        <p:nvSpPr>
          <p:cNvPr id="17" name="Text 15"/>
          <p:cNvSpPr/>
          <p:nvPr/>
        </p:nvSpPr>
        <p:spPr>
          <a:xfrm>
            <a:off x="9665970" y="3723799"/>
            <a:ext cx="7741539" cy="5053727"/>
          </a:xfrm>
          <a:prstGeom prst="rect">
            <a:avLst/>
          </a:prstGeom>
          <a:noFill/>
          <a:ln/>
        </p:spPr>
        <p:txBody>
          <a:bodyPr wrap="square" lIns="25400" tIns="25400" rIns="25400" bIns="25400" rtlCol="0" anchor="t">
            <a:normAutofit/>
          </a:bodyPr>
          <a:lstStyle/>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Adopt the role of an intelligent</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non-specialist with no domain prior.</a:t>
            </a:r>
            <a:endParaRPr lang="en-US" sz="1425" dirty="0"/>
          </a:p>
          <a:p>
            <a:pPr algn="l" indent="0" marL="0">
              <a:lnSpc>
                <a:spcPct val="132000"/>
              </a:lnSpc>
              <a:buNone/>
            </a:pP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I will explain [concept] to you.</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At every step, ask the most fundamental</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clarifying question you genuinely</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do not understand.</a:t>
            </a:r>
            <a:endParaRPr lang="en-US" sz="1425" dirty="0"/>
          </a:p>
          <a:p>
            <a:pPr algn="l" indent="0" marL="0">
              <a:lnSpc>
                <a:spcPct val="132000"/>
              </a:lnSpc>
              <a:buNone/>
            </a:pP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Rules:</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 Do not fill in gaps for me.</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 Do not accept jargon as explanation;</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ask what it means.</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 When my explanation becomes circular,</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name the exact step where reasoning</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breaks down.</a:t>
            </a:r>
            <a:endParaRPr lang="en-US" sz="1425" dirty="0"/>
          </a:p>
          <a:p>
            <a:pPr algn="l" indent="0" marL="0">
              <a:lnSpc>
                <a:spcPct val="132000"/>
              </a:lnSpc>
              <a:buNone/>
            </a:pP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Output:</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1. The precise idea I cannot yet</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explain without jargon.</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2. The minimum reading required</a:t>
            </a:r>
            <a:endParaRPr lang="en-US" sz="1425" dirty="0"/>
          </a:p>
          <a:p>
            <a:pPr algn="l" indent="0" marL="0">
              <a:lnSpc>
                <a:spcPct val="132000"/>
              </a:lnSpc>
              <a:buNone/>
            </a:pPr>
            <a:r>
              <a:rPr lang="en-US" sz="1425" dirty="0">
                <a:solidFill>
                  <a:srgbClr val="F2EFE8"/>
                </a:solidFill>
                <a:latin typeface="Arial" pitchFamily="34" charset="0"/>
                <a:ea typeface="Arial" pitchFamily="34" charset="-122"/>
                <a:cs typeface="Arial" pitchFamily="34" charset="-120"/>
              </a:rPr>
              <a:t>     to close the gap.</a:t>
            </a:r>
            <a:endParaRPr lang="en-US" sz="1425" dirty="0"/>
          </a:p>
        </p:txBody>
      </p:sp>
      <p:sp>
        <p:nvSpPr>
          <p:cNvPr id="18" name="Text 16"/>
          <p:cNvSpPr/>
          <p:nvPr/>
        </p:nvSpPr>
        <p:spPr>
          <a:xfrm>
            <a:off x="9334500" y="9082326"/>
            <a:ext cx="8358759" cy="278130"/>
          </a:xfrm>
          <a:prstGeom prst="rect">
            <a:avLst/>
          </a:prstGeom>
          <a:noFill/>
          <a:ln/>
        </p:spPr>
        <p:txBody>
          <a:bodyPr wrap="square" lIns="25400" tIns="25400" rIns="25400" bIns="25400" rtlCol="0" anchor="t">
            <a:normAutofit/>
          </a:bodyPr>
          <a:lstStyle/>
          <a:p>
            <a:pPr algn="l" indent="0" marL="0">
              <a:lnSpc>
                <a:spcPct val="140000"/>
              </a:lnSpc>
              <a:buNone/>
            </a:pPr>
            <a:r>
              <a:rPr lang="en-US" sz="1350" dirty="0">
                <a:solidFill>
                  <a:srgbClr val="F2EFE8">
                    <a:alpha val="70000"/>
                  </a:srgbClr>
                </a:solidFill>
                <a:latin typeface="Arial" pitchFamily="34" charset="0"/>
                <a:ea typeface="Arial" pitchFamily="34" charset="-122"/>
                <a:cs typeface="Arial" pitchFamily="34" charset="-120"/>
              </a:rPr>
              <a:t>Identifies the actual boundary of comprehension, not the topic the student perceives as weak.</a:t>
            </a:r>
            <a:endParaRPr lang="en-US" sz="1350" dirty="0"/>
          </a:p>
        </p:txBody>
      </p:sp>
      <p:sp>
        <p:nvSpPr>
          <p:cNvPr id="19" name="Shape 17"/>
          <p:cNvSpPr/>
          <p:nvPr/>
        </p:nvSpPr>
        <p:spPr>
          <a:xfrm>
            <a:off x="838200" y="9493806"/>
            <a:ext cx="16611600" cy="9525"/>
          </a:xfrm>
          <a:prstGeom prst="rect">
            <a:avLst/>
          </a:prstGeom>
          <a:solidFill>
            <a:srgbClr val="F2EFE8">
              <a:alpha val="30000"/>
            </a:srgbClr>
          </a:solidFill>
          <a:ln/>
        </p:spPr>
      </p:sp>
      <p:sp>
        <p:nvSpPr>
          <p:cNvPr id="20" name="Text 18"/>
          <p:cNvSpPr/>
          <p:nvPr/>
        </p:nvSpPr>
        <p:spPr>
          <a:xfrm>
            <a:off x="838200" y="9787176"/>
            <a:ext cx="14716125" cy="352425"/>
          </a:xfrm>
          <a:prstGeom prst="rect">
            <a:avLst/>
          </a:prstGeom>
          <a:noFill/>
          <a:ln/>
        </p:spPr>
        <p:txBody>
          <a:bodyPr wrap="square" lIns="25400" tIns="25400" rIns="25400" bIns="25400" rtlCol="0" anchor="t">
            <a:normAutofit/>
          </a:bodyPr>
          <a:lstStyle/>
          <a:p>
            <a:pPr algn="l" indent="0" marL="0">
              <a:lnSpc>
                <a:spcPct val="110000"/>
              </a:lnSpc>
              <a:buNone/>
            </a:pPr>
            <a:r>
              <a:rPr lang="en-US" sz="2250" i="1" spc="-22" kern="0" dirty="0">
                <a:solidFill>
                  <a:srgbClr val="F2EFE8"/>
                </a:solidFill>
                <a:latin typeface="Arial" pitchFamily="34" charset="0"/>
                <a:ea typeface="Arial" pitchFamily="34" charset="-122"/>
                <a:cs typeface="Arial" pitchFamily="34" charset="-120"/>
              </a:rPr>
              <a:t>The objective is not memorisation. </a:t>
            </a:r>
            <a:pPr algn="l" indent="0" marL="0">
              <a:lnSpc>
                <a:spcPct val="110000"/>
              </a:lnSpc>
              <a:buNone/>
            </a:pPr>
            <a:r>
              <a:rPr lang="en-US" sz="2250" i="1" spc="-22" kern="0" dirty="0">
                <a:solidFill>
                  <a:srgbClr val="FF5B1F"/>
                </a:solidFill>
                <a:latin typeface="Arial" pitchFamily="34" charset="0"/>
                <a:ea typeface="Arial" pitchFamily="34" charset="-122"/>
                <a:cs typeface="Arial" pitchFamily="34" charset="-120"/>
              </a:rPr>
              <a:t>It is the training of judgment under uncertainty.</a:t>
            </a:r>
            <a:endParaRPr lang="en-US" sz="2250" dirty="0"/>
          </a:p>
        </p:txBody>
      </p:sp>
      <p:sp>
        <p:nvSpPr>
          <p:cNvPr id="21" name="Text 19"/>
          <p:cNvSpPr/>
          <p:nvPr/>
        </p:nvSpPr>
        <p:spPr>
          <a:xfrm>
            <a:off x="838200" y="9643110"/>
            <a:ext cx="11181435"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F2EFE8">
                    <a:alpha val="50000"/>
                  </a:srgbClr>
                </a:solidFill>
                <a:latin typeface="Arial" pitchFamily="34" charset="0"/>
                <a:ea typeface="Arial" pitchFamily="34" charset="-122"/>
                <a:cs typeface="Arial" pitchFamily="34" charset="-120"/>
              </a:rPr>
              <a:t>RETRIEVAL PRACTICE · THE MOST REPLICATED FINDING IN THE SCIENCE OF LEARNING</a:t>
            </a:r>
            <a:endParaRPr lang="en-US" sz="1800" dirty="0"/>
          </a:p>
        </p:txBody>
      </p:sp>
      <p:sp>
        <p:nvSpPr>
          <p:cNvPr id="22" name="Text 20"/>
          <p:cNvSpPr/>
          <p:nvPr/>
        </p:nvSpPr>
        <p:spPr>
          <a:xfrm>
            <a:off x="16430863" y="9563100"/>
            <a:ext cx="1095137"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F2EFE8">
                    <a:alpha val="50000"/>
                  </a:srgbClr>
                </a:solidFill>
                <a:latin typeface="Arial" pitchFamily="34" charset="0"/>
                <a:ea typeface="Arial" pitchFamily="34" charset="-122"/>
                <a:cs typeface="Arial" pitchFamily="34" charset="-120"/>
              </a:rPr>
              <a:t>07 / 25</a:t>
            </a:r>
            <a:endParaRPr lang="en-US" sz="2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5B1F"/>
        </a:solidFill>
      </p:bgPr>
    </p:bg>
    <p:spTree>
      <p:nvGrpSpPr>
        <p:cNvPr id="1" name=""/>
        <p:cNvGrpSpPr/>
        <p:nvPr/>
      </p:nvGrpSpPr>
      <p:grpSpPr>
        <a:xfrm>
          <a:off x="0" y="0"/>
          <a:ext cx="0" cy="0"/>
          <a:chOff x="0" y="0"/>
          <a:chExt cx="0" cy="0"/>
        </a:xfrm>
      </p:grpSpPr>
      <p:sp>
        <p:nvSpPr>
          <p:cNvPr id="2" name="Text 0"/>
          <p:cNvSpPr/>
          <p:nvPr/>
        </p:nvSpPr>
        <p:spPr>
          <a:xfrm>
            <a:off x="838200" y="304800"/>
            <a:ext cx="4584073"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0E0E0E">
                    <a:alpha val="70000"/>
                  </a:srgbClr>
                </a:solidFill>
                <a:latin typeface="Arial" pitchFamily="34" charset="0"/>
                <a:ea typeface="Arial" pitchFamily="34" charset="-122"/>
                <a:cs typeface="Arial" pitchFamily="34" charset="-120"/>
              </a:rPr>
              <a:t>CH.01 · OUTCOME · ONE SEMESTER</a:t>
            </a:r>
            <a:endParaRPr lang="en-US" sz="1800" dirty="0"/>
          </a:p>
        </p:txBody>
      </p:sp>
      <p:sp>
        <p:nvSpPr>
          <p:cNvPr id="3" name="Text 1"/>
          <p:cNvSpPr/>
          <p:nvPr/>
        </p:nvSpPr>
        <p:spPr>
          <a:xfrm>
            <a:off x="16654701" y="304800"/>
            <a:ext cx="871299"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0E0E0E">
                    <a:alpha val="70000"/>
                  </a:srgbClr>
                </a:solidFill>
                <a:latin typeface="Arial" pitchFamily="34" charset="0"/>
                <a:ea typeface="Arial" pitchFamily="34" charset="-122"/>
                <a:cs typeface="Arial" pitchFamily="34" charset="-120"/>
              </a:rPr>
              <a:t>08 / 25</a:t>
            </a:r>
            <a:endParaRPr lang="en-US" sz="1800" dirty="0"/>
          </a:p>
        </p:txBody>
      </p:sp>
      <p:sp>
        <p:nvSpPr>
          <p:cNvPr id="4" name="Text 2"/>
          <p:cNvSpPr/>
          <p:nvPr/>
        </p:nvSpPr>
        <p:spPr>
          <a:xfrm>
            <a:off x="838200" y="1524000"/>
            <a:ext cx="3790996" cy="3114675"/>
          </a:xfrm>
          <a:prstGeom prst="rect">
            <a:avLst/>
          </a:prstGeom>
          <a:noFill/>
          <a:ln/>
        </p:spPr>
        <p:txBody>
          <a:bodyPr wrap="square" lIns="25400" tIns="25400" rIns="25400" bIns="25400" rtlCol="0" anchor="t">
            <a:normAutofit/>
          </a:bodyPr>
          <a:lstStyle/>
          <a:p>
            <a:pPr algn="l" indent="0" marL="0">
              <a:lnSpc>
                <a:spcPct val="85000"/>
              </a:lnSpc>
              <a:buNone/>
            </a:pPr>
            <a:r>
              <a:rPr lang="en-US" sz="28500" i="1" spc="-1425" kern="0" dirty="0">
                <a:solidFill>
                  <a:srgbClr val="0E0E0E"/>
                </a:solidFill>
                <a:latin typeface="Arial" pitchFamily="34" charset="0"/>
                <a:ea typeface="Arial" pitchFamily="34" charset="-122"/>
                <a:cs typeface="Arial" pitchFamily="34" charset="-120"/>
              </a:rPr>
              <a:t>91</a:t>
            </a:r>
            <a:pPr algn="l" indent="0" marL="0">
              <a:lnSpc>
                <a:spcPct val="85000"/>
              </a:lnSpc>
              <a:buNone/>
            </a:pPr>
            <a:r>
              <a:rPr lang="en-US" sz="12000" i="1" spc="-1425" kern="0" dirty="0">
                <a:solidFill>
                  <a:srgbClr val="0E0E0E"/>
                </a:solidFill>
                <a:latin typeface="Arial" pitchFamily="34" charset="0"/>
                <a:ea typeface="Arial" pitchFamily="34" charset="-122"/>
                <a:cs typeface="Arial" pitchFamily="34" charset="-120"/>
              </a:rPr>
              <a:t>%</a:t>
            </a:r>
            <a:endParaRPr lang="en-US" sz="28500" dirty="0"/>
          </a:p>
        </p:txBody>
      </p:sp>
      <p:sp>
        <p:nvSpPr>
          <p:cNvPr id="5" name="Text 3"/>
          <p:cNvSpPr/>
          <p:nvPr/>
        </p:nvSpPr>
        <p:spPr>
          <a:xfrm>
            <a:off x="5280779" y="2168842"/>
            <a:ext cx="4884282" cy="342900"/>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0E0E0E"/>
                </a:solidFill>
                <a:latin typeface="Arial" pitchFamily="34" charset="0"/>
                <a:ea typeface="Arial" pitchFamily="34" charset="-122"/>
                <a:cs typeface="Arial" pitchFamily="34" charset="-120"/>
              </a:rPr>
              <a:t>BASELINE 68%</a:t>
            </a:r>
            <a:endParaRPr lang="en-US" sz="1800" dirty="0"/>
          </a:p>
        </p:txBody>
      </p:sp>
      <p:sp>
        <p:nvSpPr>
          <p:cNvPr id="6" name="Text 4"/>
          <p:cNvSpPr/>
          <p:nvPr/>
        </p:nvSpPr>
        <p:spPr>
          <a:xfrm>
            <a:off x="5280779" y="2568893"/>
            <a:ext cx="4884282" cy="1424940"/>
          </a:xfrm>
          <a:prstGeom prst="rect">
            <a:avLst/>
          </a:prstGeom>
          <a:noFill/>
          <a:ln/>
        </p:spPr>
        <p:txBody>
          <a:bodyPr wrap="square" lIns="25400" tIns="25400" rIns="25400" bIns="25400" rtlCol="0" anchor="t">
            <a:normAutofit/>
          </a:bodyPr>
          <a:lstStyle/>
          <a:p>
            <a:pPr algn="l" indent="0" marL="0">
              <a:lnSpc>
                <a:spcPct val="100000"/>
              </a:lnSpc>
              <a:buNone/>
            </a:pPr>
            <a:r>
              <a:rPr lang="en-US" sz="3600" spc="-72" kern="0" dirty="0">
                <a:solidFill>
                  <a:srgbClr val="0E0E0E"/>
                </a:solidFill>
                <a:latin typeface="Arial" pitchFamily="34" charset="0"/>
                <a:ea typeface="Arial" pitchFamily="34" charset="-122"/>
                <a:cs typeface="Arial" pitchFamily="34" charset="-120"/>
              </a:rPr>
              <a:t>Identical hours. Identical material. </a:t>
            </a:r>
            <a:pPr algn="l" indent="0" marL="0">
              <a:lnSpc>
                <a:spcPct val="100000"/>
              </a:lnSpc>
              <a:buNone/>
            </a:pPr>
            <a:r>
              <a:rPr lang="en-US" sz="3600" i="1" spc="-72" kern="0" dirty="0">
                <a:solidFill>
                  <a:srgbClr val="0E0E0E"/>
                </a:solidFill>
                <a:latin typeface="Arial" pitchFamily="34" charset="0"/>
                <a:ea typeface="Arial" pitchFamily="34" charset="-122"/>
                <a:cs typeface="Arial" pitchFamily="34" charset="-120"/>
              </a:rPr>
              <a:t>Restructured interaction.</a:t>
            </a:r>
            <a:endParaRPr lang="en-US" sz="3600" dirty="0"/>
          </a:p>
        </p:txBody>
      </p:sp>
      <p:sp>
        <p:nvSpPr>
          <p:cNvPr id="7" name="Shape 5"/>
          <p:cNvSpPr/>
          <p:nvPr/>
        </p:nvSpPr>
        <p:spPr>
          <a:xfrm>
            <a:off x="838200" y="7633335"/>
            <a:ext cx="16611600" cy="15240"/>
          </a:xfrm>
          <a:prstGeom prst="rect">
            <a:avLst/>
          </a:prstGeom>
          <a:solidFill>
            <a:srgbClr val="0E0E0E"/>
          </a:solidFill>
          <a:ln/>
        </p:spPr>
      </p:sp>
      <p:sp>
        <p:nvSpPr>
          <p:cNvPr id="8" name="Text 6"/>
          <p:cNvSpPr/>
          <p:nvPr/>
        </p:nvSpPr>
        <p:spPr>
          <a:xfrm>
            <a:off x="838200" y="8029575"/>
            <a:ext cx="8358759" cy="342900"/>
          </a:xfrm>
          <a:prstGeom prst="rect">
            <a:avLst/>
          </a:prstGeom>
          <a:noFill/>
          <a:ln/>
        </p:spPr>
        <p:txBody>
          <a:bodyPr wrap="square" lIns="25400" tIns="25400" rIns="25400" bIns="25400" rtlCol="0" anchor="t">
            <a:normAutofit/>
          </a:bodyPr>
          <a:lstStyle/>
          <a:p>
            <a:pPr algn="l" indent="0" marL="0">
              <a:buNone/>
            </a:pPr>
            <a:r>
              <a:rPr lang="en-US" sz="1800" b="1" spc="72" kern="0" dirty="0">
                <a:solidFill>
                  <a:srgbClr val="0E0E0E"/>
                </a:solidFill>
                <a:latin typeface="Arial" pitchFamily="34" charset="0"/>
                <a:ea typeface="Arial" pitchFamily="34" charset="-122"/>
                <a:cs typeface="Arial" pitchFamily="34" charset="-120"/>
              </a:rPr>
              <a:t>▲ OPERATOR PROTOCOL</a:t>
            </a:r>
            <a:endParaRPr lang="en-US" sz="1800" dirty="0"/>
          </a:p>
        </p:txBody>
      </p:sp>
      <p:sp>
        <p:nvSpPr>
          <p:cNvPr id="9" name="Text 7"/>
          <p:cNvSpPr/>
          <p:nvPr/>
        </p:nvSpPr>
        <p:spPr>
          <a:xfrm>
            <a:off x="838200" y="8410575"/>
            <a:ext cx="8358759" cy="8667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0E0E0E"/>
                </a:solidFill>
                <a:latin typeface="Arial" pitchFamily="34" charset="0"/>
                <a:ea typeface="Arial" pitchFamily="34" charset="-122"/>
                <a:cs typeface="Arial" pitchFamily="34" charset="-120"/>
              </a:rPr>
              <a:t>Prompts engineered to </a:t>
            </a:r>
            <a:pPr algn="l" indent="0" marL="0">
              <a:lnSpc>
                <a:spcPct val="145000"/>
              </a:lnSpc>
              <a:buNone/>
            </a:pPr>
            <a:r>
              <a:rPr lang="en-US" sz="2250" b="1" dirty="0">
                <a:solidFill>
                  <a:srgbClr val="0E0E0E"/>
                </a:solidFill>
                <a:latin typeface="Arial" pitchFamily="34" charset="0"/>
                <a:ea typeface="Arial" pitchFamily="34" charset="-122"/>
                <a:cs typeface="Arial" pitchFamily="34" charset="-120"/>
              </a:rPr>
              <a:t>force retrieval and analysis. </a:t>
            </a:r>
            <a:pPr algn="l" indent="0" marL="0">
              <a:lnSpc>
                <a:spcPct val="145000"/>
              </a:lnSpc>
              <a:buNone/>
            </a:pPr>
            <a:r>
              <a:rPr lang="en-US" sz="2250" dirty="0">
                <a:solidFill>
                  <a:srgbClr val="0E0E0E"/>
                </a:solidFill>
                <a:latin typeface="Arial" pitchFamily="34" charset="0"/>
                <a:ea typeface="Arial" pitchFamily="34" charset="-122"/>
                <a:cs typeface="Arial" pitchFamily="34" charset="-120"/>
              </a:rPr>
              <a:t>Capability accrues across the term.</a:t>
            </a:r>
            <a:endParaRPr lang="en-US" sz="2250" dirty="0"/>
          </a:p>
        </p:txBody>
      </p:sp>
      <p:sp>
        <p:nvSpPr>
          <p:cNvPr id="10" name="Text 8"/>
          <p:cNvSpPr/>
          <p:nvPr/>
        </p:nvSpPr>
        <p:spPr>
          <a:xfrm>
            <a:off x="9334500" y="8029575"/>
            <a:ext cx="8358759" cy="342900"/>
          </a:xfrm>
          <a:prstGeom prst="rect">
            <a:avLst/>
          </a:prstGeom>
          <a:noFill/>
          <a:ln/>
        </p:spPr>
        <p:txBody>
          <a:bodyPr wrap="square" lIns="25400" tIns="25400" rIns="25400" bIns="25400" rtlCol="0" anchor="t">
            <a:normAutofit/>
          </a:bodyPr>
          <a:lstStyle/>
          <a:p>
            <a:pPr algn="l" indent="0" marL="0">
              <a:buNone/>
            </a:pPr>
            <a:r>
              <a:rPr lang="en-US" sz="1800" b="1" spc="72" kern="0" dirty="0">
                <a:solidFill>
                  <a:srgbClr val="FF3355"/>
                </a:solidFill>
                <a:latin typeface="Arial" pitchFamily="34" charset="0"/>
                <a:ea typeface="Arial" pitchFamily="34" charset="-122"/>
                <a:cs typeface="Arial" pitchFamily="34" charset="-120"/>
              </a:rPr>
              <a:t>▼ CONTROL CASE · IDENTICAL ACCESS</a:t>
            </a:r>
            <a:endParaRPr lang="en-US" sz="1800" dirty="0"/>
          </a:p>
        </p:txBody>
      </p:sp>
      <p:sp>
        <p:nvSpPr>
          <p:cNvPr id="11" name="Text 9"/>
          <p:cNvSpPr/>
          <p:nvPr/>
        </p:nvSpPr>
        <p:spPr>
          <a:xfrm>
            <a:off x="9334500" y="8410575"/>
            <a:ext cx="8358759" cy="8667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0E0E0E"/>
                </a:solidFill>
                <a:latin typeface="Arial" pitchFamily="34" charset="0"/>
                <a:ea typeface="Arial" pitchFamily="34" charset="-122"/>
                <a:cs typeface="Arial" pitchFamily="34" charset="-120"/>
              </a:rPr>
              <a:t>Prompts that </a:t>
            </a:r>
            <a:pPr algn="l" indent="0" marL="0">
              <a:lnSpc>
                <a:spcPct val="145000"/>
              </a:lnSpc>
              <a:buNone/>
            </a:pPr>
            <a:r>
              <a:rPr lang="en-US" sz="2250" b="1" dirty="0">
                <a:solidFill>
                  <a:srgbClr val="0E0E0E"/>
                </a:solidFill>
                <a:latin typeface="Arial" pitchFamily="34" charset="0"/>
                <a:ea typeface="Arial" pitchFamily="34" charset="-122"/>
                <a:cs typeface="Arial" pitchFamily="34" charset="-120"/>
              </a:rPr>
              <a:t>substitute for thinking. </a:t>
            </a:r>
            <a:pPr algn="l" indent="0" marL="0">
              <a:lnSpc>
                <a:spcPct val="145000"/>
              </a:lnSpc>
              <a:buNone/>
            </a:pPr>
            <a:r>
              <a:rPr lang="en-US" sz="2250" dirty="0">
                <a:solidFill>
                  <a:srgbClr val="0E0E0E"/>
                </a:solidFill>
                <a:latin typeface="Arial" pitchFamily="34" charset="0"/>
                <a:ea typeface="Arial" pitchFamily="34" charset="-122"/>
                <a:cs typeface="Arial" pitchFamily="34" charset="-120"/>
              </a:rPr>
              <a:t>Comprehension declines over the same period.</a:t>
            </a:r>
            <a:endParaRPr lang="en-US" sz="2250" dirty="0"/>
          </a:p>
        </p:txBody>
      </p:sp>
      <p:sp>
        <p:nvSpPr>
          <p:cNvPr id="12" name="Text 10"/>
          <p:cNvSpPr/>
          <p:nvPr/>
        </p:nvSpPr>
        <p:spPr>
          <a:xfrm>
            <a:off x="838200" y="9643110"/>
            <a:ext cx="5642776"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0E0E0E">
                    <a:alpha val="70000"/>
                  </a:srgbClr>
                </a:solidFill>
                <a:latin typeface="Arial" pitchFamily="34" charset="0"/>
                <a:ea typeface="Arial" pitchFamily="34" charset="-122"/>
                <a:cs typeface="Arial" pitchFamily="34" charset="-120"/>
              </a:rPr>
              <a:t>THE VARIABLE IS STRUCTURE, NOT ACCESS</a:t>
            </a:r>
            <a:endParaRPr lang="en-US" sz="1800" dirty="0"/>
          </a:p>
        </p:txBody>
      </p:sp>
      <p:sp>
        <p:nvSpPr>
          <p:cNvPr id="13" name="Text 11"/>
          <p:cNvSpPr/>
          <p:nvPr/>
        </p:nvSpPr>
        <p:spPr>
          <a:xfrm>
            <a:off x="17182981" y="9563100"/>
            <a:ext cx="343019"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0E0E0E">
                    <a:alpha val="70000"/>
                  </a:srgbClr>
                </a:solidFill>
                <a:latin typeface="Arial" pitchFamily="34" charset="0"/>
                <a:ea typeface="Arial" pitchFamily="34" charset="-122"/>
                <a:cs typeface="Arial" pitchFamily="34" charset="-120"/>
              </a:rPr>
              <a:t>—</a:t>
            </a:r>
            <a:endParaRPr lang="en-US" sz="2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3355"/>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2EFE8"/>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F2EFE8">
                    <a:alpha val="85000"/>
                  </a:srgbClr>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2344877" y="327660"/>
            <a:ext cx="5258072"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F2EFE8">
                    <a:alpha val="85000"/>
                  </a:srgbClr>
                </a:solidFill>
                <a:latin typeface="Arial" pitchFamily="34" charset="0"/>
                <a:ea typeface="Arial" pitchFamily="34" charset="-122"/>
                <a:cs typeface="Arial" pitchFamily="34" charset="-120"/>
              </a:rPr>
              <a:t>CHAPTER 02 / 05 · RESEARCH INTEGRITY</a:t>
            </a:r>
            <a:endParaRPr lang="en-US" sz="1800" dirty="0"/>
          </a:p>
        </p:txBody>
      </p:sp>
      <p:sp>
        <p:nvSpPr>
          <p:cNvPr id="5" name="Shape 3"/>
          <p:cNvSpPr/>
          <p:nvPr/>
        </p:nvSpPr>
        <p:spPr>
          <a:xfrm>
            <a:off x="838200" y="1343025"/>
            <a:ext cx="95250" cy="95250"/>
          </a:xfrm>
          <a:prstGeom prst="rect">
            <a:avLst/>
          </a:prstGeom>
          <a:solidFill>
            <a:srgbClr val="F2EFE8"/>
          </a:solidFill>
          <a:ln/>
        </p:spPr>
      </p:sp>
      <p:sp>
        <p:nvSpPr>
          <p:cNvPr id="6" name="Text 4"/>
          <p:cNvSpPr/>
          <p:nvPr/>
        </p:nvSpPr>
        <p:spPr>
          <a:xfrm>
            <a:off x="1066800" y="1261110"/>
            <a:ext cx="815697" cy="289560"/>
          </a:xfrm>
          <a:prstGeom prst="rect">
            <a:avLst/>
          </a:prstGeom>
          <a:noFill/>
          <a:ln/>
        </p:spPr>
        <p:txBody>
          <a:bodyPr wrap="square" lIns="0" tIns="0" rIns="0" bIns="0" rtlCol="0" anchor="t">
            <a:normAutofit/>
          </a:bodyPr>
          <a:lstStyle/>
          <a:p>
            <a:pPr algn="l" indent="0" marL="0">
              <a:buNone/>
            </a:pPr>
            <a:r>
              <a:rPr lang="en-US" sz="1800" spc="144" kern="0" dirty="0">
                <a:solidFill>
                  <a:srgbClr val="F2EFE8"/>
                </a:solidFill>
                <a:latin typeface="Arial" pitchFamily="34" charset="0"/>
                <a:ea typeface="Arial" pitchFamily="34" charset="-122"/>
                <a:cs typeface="Arial" pitchFamily="34" charset="-120"/>
              </a:rPr>
              <a:t>CH.02</a:t>
            </a:r>
            <a:endParaRPr lang="en-US" sz="1800" dirty="0"/>
          </a:p>
        </p:txBody>
      </p:sp>
      <p:sp>
        <p:nvSpPr>
          <p:cNvPr id="7" name="Text 5"/>
          <p:cNvSpPr/>
          <p:nvPr/>
        </p:nvSpPr>
        <p:spPr>
          <a:xfrm>
            <a:off x="1939647" y="1238250"/>
            <a:ext cx="6724779" cy="34290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F2EFE8">
                    <a:alpha val="85000"/>
                  </a:srgbClr>
                </a:solidFill>
                <a:latin typeface="Arial" pitchFamily="34" charset="0"/>
                <a:ea typeface="Arial" pitchFamily="34" charset="-122"/>
                <a:cs typeface="Arial" pitchFamily="34" charset="-120"/>
              </a:rPr>
              <a:t>— LITERATURE REVIEW · 40 SOURCES · 14 DAYS</a:t>
            </a:r>
            <a:endParaRPr lang="en-US" sz="1800" dirty="0"/>
          </a:p>
        </p:txBody>
      </p:sp>
      <p:sp>
        <p:nvSpPr>
          <p:cNvPr id="8" name="Shape 6"/>
          <p:cNvSpPr/>
          <p:nvPr/>
        </p:nvSpPr>
        <p:spPr>
          <a:xfrm>
            <a:off x="838200" y="1924050"/>
            <a:ext cx="8210312" cy="518160"/>
          </a:xfrm>
          <a:prstGeom prst="rect">
            <a:avLst/>
          </a:prstGeom>
          <a:solidFill>
            <a:srgbClr val="0E0E0E"/>
          </a:solidFill>
          <a:ln/>
        </p:spPr>
      </p:sp>
      <p:sp>
        <p:nvSpPr>
          <p:cNvPr id="9" name="Text 7"/>
          <p:cNvSpPr/>
          <p:nvPr/>
        </p:nvSpPr>
        <p:spPr>
          <a:xfrm>
            <a:off x="1028700" y="2019300"/>
            <a:ext cx="200858" cy="365760"/>
          </a:xfrm>
          <a:prstGeom prst="rect">
            <a:avLst/>
          </a:prstGeom>
          <a:noFill/>
          <a:ln/>
        </p:spPr>
        <p:txBody>
          <a:bodyPr wrap="square" lIns="25400" tIns="25400" rIns="25400" bIns="25400" rtlCol="0" anchor="t">
            <a:normAutofit/>
          </a:bodyPr>
          <a:lstStyle/>
          <a:p>
            <a:pPr algn="l" indent="0" marL="0">
              <a:buNone/>
            </a:pPr>
            <a:r>
              <a:rPr lang="en-US" sz="2100" b="1" i="1" spc="216" kern="0" dirty="0">
                <a:solidFill>
                  <a:srgbClr val="F2EFE8"/>
                </a:solidFill>
                <a:latin typeface="Arial" pitchFamily="34" charset="0"/>
                <a:ea typeface="Arial" pitchFamily="34" charset="-122"/>
                <a:cs typeface="Arial" pitchFamily="34" charset="-120"/>
              </a:rPr>
              <a:t>!</a:t>
            </a:r>
            <a:endParaRPr lang="en-US" sz="2100" dirty="0"/>
          </a:p>
        </p:txBody>
      </p:sp>
      <p:sp>
        <p:nvSpPr>
          <p:cNvPr id="10" name="Text 8"/>
          <p:cNvSpPr/>
          <p:nvPr/>
        </p:nvSpPr>
        <p:spPr>
          <a:xfrm>
            <a:off x="1286709" y="2030730"/>
            <a:ext cx="7798443" cy="342900"/>
          </a:xfrm>
          <a:prstGeom prst="rect">
            <a:avLst/>
          </a:prstGeom>
          <a:noFill/>
          <a:ln/>
        </p:spPr>
        <p:txBody>
          <a:bodyPr wrap="square" lIns="0" tIns="0" rIns="0" bIns="0" rtlCol="0" anchor="t">
            <a:normAutofit/>
          </a:bodyPr>
          <a:lstStyle/>
          <a:p>
            <a:pPr algn="l" indent="0" marL="0">
              <a:buNone/>
            </a:pPr>
            <a:r>
              <a:rPr lang="en-US" sz="1800" b="1" spc="216" kern="0" dirty="0">
                <a:solidFill>
                  <a:srgbClr val="F2EFE8"/>
                </a:solidFill>
                <a:latin typeface="Arial" pitchFamily="34" charset="0"/>
                <a:ea typeface="Arial" pitchFamily="34" charset="-122"/>
                <a:cs typeface="Arial" pitchFamily="34" charset="-120"/>
              </a:rPr>
              <a:t>DOCUMENTED FAILURE MODE · FABRICATED CITATIONS</a:t>
            </a:r>
            <a:endParaRPr lang="en-US" sz="1800" dirty="0"/>
          </a:p>
        </p:txBody>
      </p:sp>
      <p:sp>
        <p:nvSpPr>
          <p:cNvPr id="11" name="Text 9"/>
          <p:cNvSpPr/>
          <p:nvPr/>
        </p:nvSpPr>
        <p:spPr>
          <a:xfrm>
            <a:off x="838200" y="2670810"/>
            <a:ext cx="17109948" cy="3125510"/>
          </a:xfrm>
          <a:prstGeom prst="rect">
            <a:avLst/>
          </a:prstGeom>
          <a:noFill/>
          <a:ln/>
        </p:spPr>
        <p:txBody>
          <a:bodyPr wrap="square" lIns="25400" tIns="25400" rIns="25400" bIns="25400" rtlCol="0" anchor="t">
            <a:normAutofit/>
          </a:bodyPr>
          <a:lstStyle/>
          <a:p>
            <a:pPr algn="l" indent="0" marL="0">
              <a:lnSpc>
                <a:spcPct val="112000"/>
              </a:lnSpc>
              <a:buNone/>
            </a:pPr>
            <a:r>
              <a:rPr lang="en-US" sz="7200" spc="-252" kern="0" dirty="0">
                <a:solidFill>
                  <a:srgbClr val="F2EFE8"/>
                </a:solidFill>
                <a:latin typeface="Arial" pitchFamily="34" charset="0"/>
                <a:ea typeface="Arial" pitchFamily="34" charset="-122"/>
                <a:cs typeface="Arial" pitchFamily="34" charset="-120"/>
              </a:rPr>
              <a:t>“This citation does </a:t>
            </a:r>
            <a:pPr algn="l" indent="0" marL="0">
              <a:lnSpc>
                <a:spcPct val="112000"/>
              </a:lnSpc>
              <a:buNone/>
            </a:pPr>
            <a:r>
              <a:rPr lang="en-US" sz="7200" i="1" spc="-252" kern="0" dirty="0">
                <a:solidFill>
                  <a:srgbClr val="F2EFE8"/>
                </a:solidFill>
                <a:latin typeface="Arial" pitchFamily="34" charset="0"/>
                <a:ea typeface="Arial" pitchFamily="34" charset="-122"/>
                <a:cs typeface="Arial" pitchFamily="34" charset="-120"/>
              </a:rPr>
              <a:t>not appear in the literature.”</a:t>
            </a:r>
            <a:endParaRPr lang="en-US" sz="7200" dirty="0"/>
          </a:p>
        </p:txBody>
      </p:sp>
      <p:sp>
        <p:nvSpPr>
          <p:cNvPr id="12" name="Text 10"/>
          <p:cNvSpPr/>
          <p:nvPr/>
        </p:nvSpPr>
        <p:spPr>
          <a:xfrm>
            <a:off x="838200" y="8301990"/>
            <a:ext cx="14716125" cy="1032510"/>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F2EFE8"/>
                </a:solidFill>
                <a:latin typeface="Arial" pitchFamily="34" charset="0"/>
                <a:ea typeface="Arial" pitchFamily="34" charset="-122"/>
                <a:cs typeface="Arial" pitchFamily="34" charset="-120"/>
              </a:rPr>
              <a:t>Large language models generate citations that are syntactically plausible but bibliographically nonexistent. Bohannon (2023, </a:t>
            </a:r>
            <a:pPr algn="l" indent="0" marL="0">
              <a:lnSpc>
                <a:spcPct val="145000"/>
              </a:lnSpc>
              <a:buNone/>
            </a:pPr>
            <a:r>
              <a:rPr lang="en-US" sz="1800" i="1" dirty="0">
                <a:solidFill>
                  <a:srgbClr val="F2EFE8"/>
                </a:solidFill>
                <a:latin typeface="Arial" pitchFamily="34" charset="0"/>
                <a:ea typeface="Arial" pitchFamily="34" charset="-122"/>
                <a:cs typeface="Arial" pitchFamily="34" charset="-120"/>
              </a:rPr>
              <a:t>Science </a:t>
            </a:r>
            <a:pPr algn="l" indent="0" marL="0">
              <a:lnSpc>
                <a:spcPct val="145000"/>
              </a:lnSpc>
              <a:buNone/>
            </a:pPr>
            <a:r>
              <a:rPr lang="en-US" sz="1800" dirty="0">
                <a:solidFill>
                  <a:srgbClr val="F2EFE8"/>
                </a:solidFill>
                <a:latin typeface="Arial" pitchFamily="34" charset="0"/>
                <a:ea typeface="Arial" pitchFamily="34" charset="-122"/>
                <a:cs typeface="Arial" pitchFamily="34" charset="-120"/>
              </a:rPr>
              <a:t>) documented the pattern across submitted student work; multiple institutions have updated academic-integrity policies in response. </a:t>
            </a:r>
            <a:pPr algn="l" indent="0" marL="0">
              <a:lnSpc>
                <a:spcPct val="145000"/>
              </a:lnSpc>
              <a:buNone/>
            </a:pPr>
            <a:r>
              <a:rPr lang="en-US" sz="1800" b="1" dirty="0">
                <a:solidFill>
                  <a:srgbClr val="F2EFE8"/>
                </a:solidFill>
                <a:latin typeface="Arial" pitchFamily="34" charset="0"/>
                <a:ea typeface="Arial" pitchFamily="34" charset="-122"/>
                <a:cs typeface="Arial" pitchFamily="34" charset="-120"/>
              </a:rPr>
              <a:t>The student who pastes a generated paragraph into a literature review is not saving time — they are creating disciplinary risk.</a:t>
            </a:r>
            <a:endParaRPr lang="en-US" sz="1800" dirty="0"/>
          </a:p>
        </p:txBody>
      </p:sp>
      <p:sp>
        <p:nvSpPr>
          <p:cNvPr id="13" name="Text 11"/>
          <p:cNvSpPr/>
          <p:nvPr/>
        </p:nvSpPr>
        <p:spPr>
          <a:xfrm>
            <a:off x="838200" y="9643110"/>
            <a:ext cx="4063858"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F2EFE8">
                    <a:alpha val="70000"/>
                  </a:srgbClr>
                </a:solidFill>
                <a:latin typeface="Arial" pitchFamily="34" charset="0"/>
                <a:ea typeface="Arial" pitchFamily="34" charset="-122"/>
                <a:cs typeface="Arial" pitchFamily="34" charset="-120"/>
              </a:rPr>
              <a:t>PLAUSIBILITY IS NOT EVIDENCE</a:t>
            </a:r>
            <a:endParaRPr lang="en-US" sz="1800" dirty="0"/>
          </a:p>
        </p:txBody>
      </p:sp>
      <p:sp>
        <p:nvSpPr>
          <p:cNvPr id="14" name="Text 12"/>
          <p:cNvSpPr/>
          <p:nvPr/>
        </p:nvSpPr>
        <p:spPr>
          <a:xfrm>
            <a:off x="16398716" y="9563100"/>
            <a:ext cx="1127284"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F2EFE8">
                    <a:alpha val="70000"/>
                  </a:srgbClr>
                </a:solidFill>
                <a:latin typeface="Arial" pitchFamily="34" charset="0"/>
                <a:ea typeface="Arial" pitchFamily="34" charset="-122"/>
                <a:cs typeface="Arial" pitchFamily="34" charset="-120"/>
              </a:rPr>
              <a:t>09 / 25</a:t>
            </a:r>
            <a:endParaRPr lang="en-US" sz="2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FE8"/>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1325106" y="327660"/>
            <a:ext cx="6308435"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CH.02 · PROMPT 04 / 07 · STRUCTURED CRITIQUE</a:t>
            </a:r>
            <a:endParaRPr lang="en-US" sz="1800" dirty="0"/>
          </a:p>
        </p:txBody>
      </p:sp>
      <p:sp>
        <p:nvSpPr>
          <p:cNvPr id="5" name="Shape 3"/>
          <p:cNvSpPr/>
          <p:nvPr/>
        </p:nvSpPr>
        <p:spPr>
          <a:xfrm>
            <a:off x="838200" y="1343025"/>
            <a:ext cx="95250" cy="95250"/>
          </a:xfrm>
          <a:prstGeom prst="rect">
            <a:avLst/>
          </a:prstGeom>
          <a:solidFill>
            <a:srgbClr val="FF5B1F"/>
          </a:solidFill>
          <a:ln/>
        </p:spPr>
      </p:sp>
      <p:sp>
        <p:nvSpPr>
          <p:cNvPr id="6" name="Text 4"/>
          <p:cNvSpPr/>
          <p:nvPr/>
        </p:nvSpPr>
        <p:spPr>
          <a:xfrm>
            <a:off x="1066800" y="1261110"/>
            <a:ext cx="1163955" cy="289560"/>
          </a:xfrm>
          <a:prstGeom prst="rect">
            <a:avLst/>
          </a:prstGeom>
          <a:noFill/>
          <a:ln/>
        </p:spPr>
        <p:txBody>
          <a:bodyPr wrap="square" lIns="0" tIns="0" rIns="0" bIns="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PROMPT</a:t>
            </a:r>
            <a:endParaRPr lang="en-US" sz="1800" dirty="0"/>
          </a:p>
        </p:txBody>
      </p:sp>
      <p:sp>
        <p:nvSpPr>
          <p:cNvPr id="7" name="Text 5"/>
          <p:cNvSpPr/>
          <p:nvPr/>
        </p:nvSpPr>
        <p:spPr>
          <a:xfrm>
            <a:off x="2287905" y="1238250"/>
            <a:ext cx="7044977" cy="34290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2A2A2A"/>
                </a:solidFill>
                <a:latin typeface="Arial" pitchFamily="34" charset="0"/>
                <a:ea typeface="Arial" pitchFamily="34" charset="-122"/>
                <a:cs typeface="Arial" pitchFamily="34" charset="-120"/>
              </a:rPr>
              <a:t>04 — STRUCTURED CRITIQUE OF A PRIMARY SOURCE</a:t>
            </a:r>
            <a:endParaRPr lang="en-US" sz="1800" dirty="0"/>
          </a:p>
        </p:txBody>
      </p:sp>
      <p:sp>
        <p:nvSpPr>
          <p:cNvPr id="8" name="Text 6"/>
          <p:cNvSpPr/>
          <p:nvPr/>
        </p:nvSpPr>
        <p:spPr>
          <a:xfrm>
            <a:off x="838200" y="1733550"/>
            <a:ext cx="17109948" cy="923449"/>
          </a:xfrm>
          <a:prstGeom prst="rect">
            <a:avLst/>
          </a:prstGeom>
          <a:noFill/>
          <a:ln/>
        </p:spPr>
        <p:txBody>
          <a:bodyPr wrap="square" lIns="25400" tIns="25400" rIns="25400" bIns="25400" rtlCol="0" anchor="t">
            <a:normAutofit/>
          </a:bodyPr>
          <a:lstStyle/>
          <a:p>
            <a:pPr algn="l" indent="0" marL="0">
              <a:lnSpc>
                <a:spcPct val="96000"/>
              </a:lnSpc>
              <a:buNone/>
            </a:pPr>
            <a:r>
              <a:rPr lang="en-US" sz="7200" spc="-180" kern="0" dirty="0">
                <a:solidFill>
                  <a:srgbClr val="0E0E0E"/>
                </a:solidFill>
                <a:latin typeface="Arial" pitchFamily="34" charset="0"/>
                <a:ea typeface="Arial" pitchFamily="34" charset="-122"/>
                <a:cs typeface="Arial" pitchFamily="34" charset="-120"/>
              </a:rPr>
              <a:t>Three questions, </a:t>
            </a:r>
            <a:pPr algn="l" indent="0" marL="0">
              <a:lnSpc>
                <a:spcPct val="96000"/>
              </a:lnSpc>
              <a:buNone/>
            </a:pPr>
            <a:r>
              <a:rPr lang="en-US" sz="7200" i="1" spc="-180" kern="0" dirty="0">
                <a:solidFill>
                  <a:srgbClr val="0E0E0E"/>
                </a:solidFill>
                <a:latin typeface="Arial" pitchFamily="34" charset="0"/>
                <a:ea typeface="Arial" pitchFamily="34" charset="-122"/>
                <a:cs typeface="Arial" pitchFamily="34" charset="-120"/>
              </a:rPr>
              <a:t>not one summary.</a:t>
            </a:r>
            <a:endParaRPr lang="en-US" sz="7200" dirty="0"/>
          </a:p>
        </p:txBody>
      </p:sp>
      <p:sp>
        <p:nvSpPr>
          <p:cNvPr id="9" name="Shape 7"/>
          <p:cNvSpPr/>
          <p:nvPr/>
        </p:nvSpPr>
        <p:spPr>
          <a:xfrm>
            <a:off x="838200" y="3095149"/>
            <a:ext cx="5422821" cy="3680460"/>
          </a:xfrm>
          <a:prstGeom prst="rect">
            <a:avLst/>
          </a:prstGeom>
          <a:ln w="15240">
            <a:solidFill>
              <a:srgbClr val="0E0E0E"/>
            </a:solidFill>
            <a:prstDash val="solid"/>
          </a:ln>
        </p:spPr>
      </p:sp>
      <p:sp>
        <p:nvSpPr>
          <p:cNvPr id="10" name="Text 8"/>
          <p:cNvSpPr/>
          <p:nvPr/>
        </p:nvSpPr>
        <p:spPr>
          <a:xfrm>
            <a:off x="1139190" y="3396139"/>
            <a:ext cx="4965466" cy="800100"/>
          </a:xfrm>
          <a:prstGeom prst="rect">
            <a:avLst/>
          </a:prstGeom>
          <a:noFill/>
          <a:ln/>
        </p:spPr>
        <p:txBody>
          <a:bodyPr wrap="square" lIns="25400" tIns="25400" rIns="25400" bIns="25400" rtlCol="0" anchor="t">
            <a:normAutofit/>
          </a:bodyPr>
          <a:lstStyle/>
          <a:p>
            <a:pPr algn="l" indent="0" marL="0">
              <a:lnSpc>
                <a:spcPct val="100000"/>
              </a:lnSpc>
              <a:buNone/>
            </a:pPr>
            <a:r>
              <a:rPr lang="en-US" sz="6000" i="1" dirty="0">
                <a:solidFill>
                  <a:srgbClr val="FF5B1F"/>
                </a:solidFill>
                <a:latin typeface="Arial" pitchFamily="34" charset="0"/>
                <a:ea typeface="Arial" pitchFamily="34" charset="-122"/>
                <a:cs typeface="Arial" pitchFamily="34" charset="-120"/>
              </a:rPr>
              <a:t>01</a:t>
            </a:r>
            <a:endParaRPr lang="en-US" sz="6000" dirty="0"/>
          </a:p>
        </p:txBody>
      </p:sp>
      <p:sp>
        <p:nvSpPr>
          <p:cNvPr id="11" name="Text 9"/>
          <p:cNvSpPr/>
          <p:nvPr/>
        </p:nvSpPr>
        <p:spPr>
          <a:xfrm>
            <a:off x="1139190" y="4291489"/>
            <a:ext cx="4965466" cy="381000"/>
          </a:xfrm>
          <a:prstGeom prst="rect">
            <a:avLst/>
          </a:prstGeom>
          <a:noFill/>
          <a:ln/>
        </p:spPr>
        <p:txBody>
          <a:bodyPr wrap="square" lIns="25400" tIns="25400" rIns="25400" bIns="25400" rtlCol="0" anchor="t">
            <a:normAutofit/>
          </a:bodyPr>
          <a:lstStyle/>
          <a:p>
            <a:pPr algn="l" indent="0" marL="0">
              <a:lnSpc>
                <a:spcPct val="100000"/>
              </a:lnSpc>
              <a:buNone/>
            </a:pPr>
            <a:r>
              <a:rPr lang="en-US" sz="2700" spc="-54" kern="0" dirty="0">
                <a:solidFill>
                  <a:srgbClr val="0E0E0E"/>
                </a:solidFill>
                <a:latin typeface="Arial" pitchFamily="34" charset="0"/>
                <a:ea typeface="Arial" pitchFamily="34" charset="-122"/>
                <a:cs typeface="Arial" pitchFamily="34" charset="-120"/>
              </a:rPr>
              <a:t>The thesis.</a:t>
            </a:r>
            <a:endParaRPr lang="en-US" sz="2700" dirty="0"/>
          </a:p>
        </p:txBody>
      </p:sp>
      <p:sp>
        <p:nvSpPr>
          <p:cNvPr id="12" name="Shape 10"/>
          <p:cNvSpPr/>
          <p:nvPr/>
        </p:nvSpPr>
        <p:spPr>
          <a:xfrm>
            <a:off x="1139190" y="4805839"/>
            <a:ext cx="4820841" cy="1668780"/>
          </a:xfrm>
          <a:prstGeom prst="rect">
            <a:avLst/>
          </a:prstGeom>
          <a:solidFill>
            <a:srgbClr val="0E0E0E"/>
          </a:solidFill>
          <a:ln/>
        </p:spPr>
      </p:sp>
      <p:sp>
        <p:nvSpPr>
          <p:cNvPr id="13" name="Shape 11"/>
          <p:cNvSpPr/>
          <p:nvPr/>
        </p:nvSpPr>
        <p:spPr>
          <a:xfrm>
            <a:off x="1139190" y="4805839"/>
            <a:ext cx="38100" cy="1668780"/>
          </a:xfrm>
          <a:prstGeom prst="rect">
            <a:avLst/>
          </a:prstGeom>
          <a:solidFill>
            <a:srgbClr val="FF5B1F"/>
          </a:solidFill>
          <a:ln/>
        </p:spPr>
      </p:sp>
      <p:sp>
        <p:nvSpPr>
          <p:cNvPr id="14" name="Text 12"/>
          <p:cNvSpPr/>
          <p:nvPr/>
        </p:nvSpPr>
        <p:spPr>
          <a:xfrm>
            <a:off x="1386840" y="4977289"/>
            <a:ext cx="4508266" cy="1363980"/>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F2EFE8"/>
                </a:solidFill>
                <a:latin typeface="Arial" pitchFamily="34" charset="0"/>
                <a:ea typeface="Arial" pitchFamily="34" charset="-122"/>
                <a:cs typeface="Arial" pitchFamily="34" charset="-120"/>
              </a:rPr>
              <a:t>State the central claim, the</a:t>
            </a:r>
            <a:endParaRPr lang="en-US" sz="1800" dirty="0"/>
          </a:p>
          <a:p>
            <a:pPr algn="l" indent="0" marL="0">
              <a:lnSpc>
                <a:spcPct val="145000"/>
              </a:lnSpc>
              <a:buNone/>
            </a:pPr>
            <a:r>
              <a:rPr lang="en-US" sz="1800" dirty="0">
                <a:solidFill>
                  <a:srgbClr val="F2EFE8"/>
                </a:solidFill>
                <a:latin typeface="Arial" pitchFamily="34" charset="0"/>
                <a:ea typeface="Arial" pitchFamily="34" charset="-122"/>
                <a:cs typeface="Arial" pitchFamily="34" charset="-120"/>
              </a:rPr>
              <a:t>method, the population, and the</a:t>
            </a:r>
            <a:endParaRPr lang="en-US" sz="1800" dirty="0"/>
          </a:p>
          <a:p>
            <a:pPr algn="l" indent="0" marL="0">
              <a:lnSpc>
                <a:spcPct val="145000"/>
              </a:lnSpc>
              <a:buNone/>
            </a:pPr>
            <a:r>
              <a:rPr lang="en-US" sz="1800" dirty="0">
                <a:solidFill>
                  <a:srgbClr val="F2EFE8"/>
                </a:solidFill>
                <a:latin typeface="Arial" pitchFamily="34" charset="0"/>
                <a:ea typeface="Arial" pitchFamily="34" charset="-122"/>
                <a:cs typeface="Arial" pitchFamily="34" charset="-120"/>
              </a:rPr>
              <a:t>reported effect size in three</a:t>
            </a:r>
            <a:endParaRPr lang="en-US" sz="1800" dirty="0"/>
          </a:p>
          <a:p>
            <a:pPr algn="l" indent="0" marL="0">
              <a:lnSpc>
                <a:spcPct val="145000"/>
              </a:lnSpc>
              <a:buNone/>
            </a:pPr>
            <a:r>
              <a:rPr lang="en-US" sz="1800" dirty="0">
                <a:solidFill>
                  <a:srgbClr val="F2EFE8"/>
                </a:solidFill>
                <a:latin typeface="Arial" pitchFamily="34" charset="0"/>
                <a:ea typeface="Arial" pitchFamily="34" charset="-122"/>
                <a:cs typeface="Arial" pitchFamily="34" charset="-120"/>
              </a:rPr>
              <a:t>sentences. No interpretation.</a:t>
            </a:r>
            <a:endParaRPr lang="en-US" sz="1800" dirty="0"/>
          </a:p>
        </p:txBody>
      </p:sp>
      <p:sp>
        <p:nvSpPr>
          <p:cNvPr id="15" name="Shape 13"/>
          <p:cNvSpPr/>
          <p:nvPr/>
        </p:nvSpPr>
        <p:spPr>
          <a:xfrm>
            <a:off x="6432471" y="3095149"/>
            <a:ext cx="5422940" cy="3680460"/>
          </a:xfrm>
          <a:prstGeom prst="rect">
            <a:avLst/>
          </a:prstGeom>
          <a:solidFill>
            <a:srgbClr val="0E0E0E"/>
          </a:solidFill>
          <a:ln w="15240">
            <a:solidFill>
              <a:srgbClr val="0E0E0E"/>
            </a:solidFill>
            <a:prstDash val="solid"/>
          </a:ln>
        </p:spPr>
      </p:sp>
      <p:sp>
        <p:nvSpPr>
          <p:cNvPr id="16" name="Text 14"/>
          <p:cNvSpPr/>
          <p:nvPr/>
        </p:nvSpPr>
        <p:spPr>
          <a:xfrm>
            <a:off x="6733461" y="3396139"/>
            <a:ext cx="4965589" cy="800100"/>
          </a:xfrm>
          <a:prstGeom prst="rect">
            <a:avLst/>
          </a:prstGeom>
          <a:noFill/>
          <a:ln/>
        </p:spPr>
        <p:txBody>
          <a:bodyPr wrap="square" lIns="25400" tIns="25400" rIns="25400" bIns="25400" rtlCol="0" anchor="t">
            <a:normAutofit/>
          </a:bodyPr>
          <a:lstStyle/>
          <a:p>
            <a:pPr algn="l" indent="0" marL="0">
              <a:lnSpc>
                <a:spcPct val="100000"/>
              </a:lnSpc>
              <a:buNone/>
            </a:pPr>
            <a:r>
              <a:rPr lang="en-US" sz="6000" i="1" dirty="0">
                <a:solidFill>
                  <a:srgbClr val="FF5B1F"/>
                </a:solidFill>
                <a:latin typeface="Arial" pitchFamily="34" charset="0"/>
                <a:ea typeface="Arial" pitchFamily="34" charset="-122"/>
                <a:cs typeface="Arial" pitchFamily="34" charset="-120"/>
              </a:rPr>
              <a:t>02</a:t>
            </a:r>
            <a:endParaRPr lang="en-US" sz="6000" dirty="0"/>
          </a:p>
        </p:txBody>
      </p:sp>
      <p:sp>
        <p:nvSpPr>
          <p:cNvPr id="17" name="Text 15"/>
          <p:cNvSpPr/>
          <p:nvPr/>
        </p:nvSpPr>
        <p:spPr>
          <a:xfrm>
            <a:off x="6733461" y="4291489"/>
            <a:ext cx="4965589" cy="381000"/>
          </a:xfrm>
          <a:prstGeom prst="rect">
            <a:avLst/>
          </a:prstGeom>
          <a:noFill/>
          <a:ln/>
        </p:spPr>
        <p:txBody>
          <a:bodyPr wrap="square" lIns="25400" tIns="25400" rIns="25400" bIns="25400" rtlCol="0" anchor="t">
            <a:normAutofit/>
          </a:bodyPr>
          <a:lstStyle/>
          <a:p>
            <a:pPr algn="l" indent="0" marL="0">
              <a:lnSpc>
                <a:spcPct val="100000"/>
              </a:lnSpc>
              <a:buNone/>
            </a:pPr>
            <a:r>
              <a:rPr lang="en-US" sz="2700" spc="-54" kern="0" dirty="0">
                <a:solidFill>
                  <a:srgbClr val="F2EFE8"/>
                </a:solidFill>
                <a:latin typeface="Arial" pitchFamily="34" charset="0"/>
                <a:ea typeface="Arial" pitchFamily="34" charset="-122"/>
                <a:cs typeface="Arial" pitchFamily="34" charset="-120"/>
              </a:rPr>
              <a:t>The fragility.</a:t>
            </a:r>
            <a:endParaRPr lang="en-US" sz="2700" dirty="0"/>
          </a:p>
        </p:txBody>
      </p:sp>
      <p:sp>
        <p:nvSpPr>
          <p:cNvPr id="18" name="Shape 16"/>
          <p:cNvSpPr/>
          <p:nvPr/>
        </p:nvSpPr>
        <p:spPr>
          <a:xfrm>
            <a:off x="6733461" y="4805839"/>
            <a:ext cx="4820960" cy="1668780"/>
          </a:xfrm>
          <a:prstGeom prst="rect">
            <a:avLst/>
          </a:prstGeom>
          <a:solidFill>
            <a:srgbClr val="F2EFE8"/>
          </a:solidFill>
          <a:ln/>
        </p:spPr>
      </p:sp>
      <p:sp>
        <p:nvSpPr>
          <p:cNvPr id="19" name="Shape 17"/>
          <p:cNvSpPr/>
          <p:nvPr/>
        </p:nvSpPr>
        <p:spPr>
          <a:xfrm>
            <a:off x="6733461" y="4805839"/>
            <a:ext cx="38100" cy="1668780"/>
          </a:xfrm>
          <a:prstGeom prst="rect">
            <a:avLst/>
          </a:prstGeom>
          <a:solidFill>
            <a:srgbClr val="FF5B1F"/>
          </a:solidFill>
          <a:ln/>
        </p:spPr>
      </p:sp>
      <p:sp>
        <p:nvSpPr>
          <p:cNvPr id="20" name="Text 18"/>
          <p:cNvSpPr/>
          <p:nvPr/>
        </p:nvSpPr>
        <p:spPr>
          <a:xfrm>
            <a:off x="6981111" y="4977289"/>
            <a:ext cx="4508389" cy="1363980"/>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0E0E0E"/>
                </a:solidFill>
                <a:latin typeface="Arial" pitchFamily="34" charset="0"/>
                <a:ea typeface="Arial" pitchFamily="34" charset="-122"/>
                <a:cs typeface="Arial" pitchFamily="34" charset="-120"/>
              </a:rPr>
              <a:t>Enumerate the three load-bearing</a:t>
            </a:r>
            <a:endParaRPr lang="en-US" sz="1800" dirty="0"/>
          </a:p>
          <a:p>
            <a:pPr algn="l" indent="0" marL="0">
              <a:lnSpc>
                <a:spcPct val="145000"/>
              </a:lnSpc>
              <a:buNone/>
            </a:pPr>
            <a:r>
              <a:rPr lang="en-US" sz="1800" dirty="0">
                <a:solidFill>
                  <a:srgbClr val="0E0E0E"/>
                </a:solidFill>
                <a:latin typeface="Arial" pitchFamily="34" charset="0"/>
                <a:ea typeface="Arial" pitchFamily="34" charset="-122"/>
                <a:cs typeface="Arial" pitchFamily="34" charset="-120"/>
              </a:rPr>
              <a:t>assumptions. For each, state</a:t>
            </a:r>
            <a:endParaRPr lang="en-US" sz="1800" dirty="0"/>
          </a:p>
          <a:p>
            <a:pPr algn="l" indent="0" marL="0">
              <a:lnSpc>
                <a:spcPct val="145000"/>
              </a:lnSpc>
              <a:buNone/>
            </a:pPr>
            <a:r>
              <a:rPr lang="en-US" sz="1800" dirty="0">
                <a:solidFill>
                  <a:srgbClr val="0E0E0E"/>
                </a:solidFill>
                <a:latin typeface="Arial" pitchFamily="34" charset="0"/>
                <a:ea typeface="Arial" pitchFamily="34" charset="-122"/>
                <a:cs typeface="Arial" pitchFamily="34" charset="-120"/>
              </a:rPr>
              <a:t>the condition under which the</a:t>
            </a:r>
            <a:endParaRPr lang="en-US" sz="1800" dirty="0"/>
          </a:p>
          <a:p>
            <a:pPr algn="l" indent="0" marL="0">
              <a:lnSpc>
                <a:spcPct val="145000"/>
              </a:lnSpc>
              <a:buNone/>
            </a:pPr>
            <a:r>
              <a:rPr lang="en-US" sz="1800" dirty="0">
                <a:solidFill>
                  <a:srgbClr val="0E0E0E"/>
                </a:solidFill>
                <a:latin typeface="Arial" pitchFamily="34" charset="0"/>
                <a:ea typeface="Arial" pitchFamily="34" charset="-122"/>
                <a:cs typeface="Arial" pitchFamily="34" charset="-120"/>
              </a:rPr>
              <a:t>finding would not generalise.</a:t>
            </a:r>
            <a:endParaRPr lang="en-US" sz="1800" dirty="0"/>
          </a:p>
        </p:txBody>
      </p:sp>
      <p:sp>
        <p:nvSpPr>
          <p:cNvPr id="21" name="Shape 19"/>
          <p:cNvSpPr/>
          <p:nvPr/>
        </p:nvSpPr>
        <p:spPr>
          <a:xfrm>
            <a:off x="12026860" y="3095149"/>
            <a:ext cx="5422940" cy="3680460"/>
          </a:xfrm>
          <a:prstGeom prst="rect">
            <a:avLst/>
          </a:prstGeom>
          <a:ln w="15240">
            <a:solidFill>
              <a:srgbClr val="0E0E0E"/>
            </a:solidFill>
            <a:prstDash val="solid"/>
          </a:ln>
        </p:spPr>
      </p:sp>
      <p:sp>
        <p:nvSpPr>
          <p:cNvPr id="22" name="Text 20"/>
          <p:cNvSpPr/>
          <p:nvPr/>
        </p:nvSpPr>
        <p:spPr>
          <a:xfrm>
            <a:off x="12327851" y="3396139"/>
            <a:ext cx="4965589" cy="800100"/>
          </a:xfrm>
          <a:prstGeom prst="rect">
            <a:avLst/>
          </a:prstGeom>
          <a:noFill/>
          <a:ln/>
        </p:spPr>
        <p:txBody>
          <a:bodyPr wrap="square" lIns="25400" tIns="25400" rIns="25400" bIns="25400" rtlCol="0" anchor="t">
            <a:normAutofit/>
          </a:bodyPr>
          <a:lstStyle/>
          <a:p>
            <a:pPr algn="l" indent="0" marL="0">
              <a:lnSpc>
                <a:spcPct val="100000"/>
              </a:lnSpc>
              <a:buNone/>
            </a:pPr>
            <a:r>
              <a:rPr lang="en-US" sz="6000" i="1" dirty="0">
                <a:solidFill>
                  <a:srgbClr val="FF5B1F"/>
                </a:solidFill>
                <a:latin typeface="Arial" pitchFamily="34" charset="0"/>
                <a:ea typeface="Arial" pitchFamily="34" charset="-122"/>
                <a:cs typeface="Arial" pitchFamily="34" charset="-120"/>
              </a:rPr>
              <a:t>03</a:t>
            </a:r>
            <a:endParaRPr lang="en-US" sz="6000" dirty="0"/>
          </a:p>
        </p:txBody>
      </p:sp>
      <p:sp>
        <p:nvSpPr>
          <p:cNvPr id="23" name="Text 21"/>
          <p:cNvSpPr/>
          <p:nvPr/>
        </p:nvSpPr>
        <p:spPr>
          <a:xfrm>
            <a:off x="12327851" y="4291489"/>
            <a:ext cx="4965589" cy="381000"/>
          </a:xfrm>
          <a:prstGeom prst="rect">
            <a:avLst/>
          </a:prstGeom>
          <a:noFill/>
          <a:ln/>
        </p:spPr>
        <p:txBody>
          <a:bodyPr wrap="square" lIns="25400" tIns="25400" rIns="25400" bIns="25400" rtlCol="0" anchor="t">
            <a:normAutofit/>
          </a:bodyPr>
          <a:lstStyle/>
          <a:p>
            <a:pPr algn="l" indent="0" marL="0">
              <a:lnSpc>
                <a:spcPct val="100000"/>
              </a:lnSpc>
              <a:buNone/>
            </a:pPr>
            <a:r>
              <a:rPr lang="en-US" sz="2700" spc="-54" kern="0" dirty="0">
                <a:solidFill>
                  <a:srgbClr val="0E0E0E"/>
                </a:solidFill>
                <a:latin typeface="Arial" pitchFamily="34" charset="0"/>
                <a:ea typeface="Arial" pitchFamily="34" charset="-122"/>
                <a:cs typeface="Arial" pitchFamily="34" charset="-120"/>
              </a:rPr>
              <a:t>The opposition.</a:t>
            </a:r>
            <a:endParaRPr lang="en-US" sz="2700" dirty="0"/>
          </a:p>
        </p:txBody>
      </p:sp>
      <p:sp>
        <p:nvSpPr>
          <p:cNvPr id="24" name="Shape 22"/>
          <p:cNvSpPr/>
          <p:nvPr/>
        </p:nvSpPr>
        <p:spPr>
          <a:xfrm>
            <a:off x="12327851" y="4805839"/>
            <a:ext cx="4820960" cy="1668780"/>
          </a:xfrm>
          <a:prstGeom prst="rect">
            <a:avLst/>
          </a:prstGeom>
          <a:solidFill>
            <a:srgbClr val="0E0E0E"/>
          </a:solidFill>
          <a:ln/>
        </p:spPr>
      </p:sp>
      <p:sp>
        <p:nvSpPr>
          <p:cNvPr id="25" name="Shape 23"/>
          <p:cNvSpPr/>
          <p:nvPr/>
        </p:nvSpPr>
        <p:spPr>
          <a:xfrm>
            <a:off x="12327851" y="4805839"/>
            <a:ext cx="38100" cy="1668780"/>
          </a:xfrm>
          <a:prstGeom prst="rect">
            <a:avLst/>
          </a:prstGeom>
          <a:solidFill>
            <a:srgbClr val="FF5B1F"/>
          </a:solidFill>
          <a:ln/>
        </p:spPr>
      </p:sp>
      <p:sp>
        <p:nvSpPr>
          <p:cNvPr id="26" name="Text 24"/>
          <p:cNvSpPr/>
          <p:nvPr/>
        </p:nvSpPr>
        <p:spPr>
          <a:xfrm>
            <a:off x="12575501" y="4977289"/>
            <a:ext cx="4508389" cy="1363980"/>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F2EFE8"/>
                </a:solidFill>
                <a:latin typeface="Arial" pitchFamily="34" charset="0"/>
                <a:ea typeface="Arial" pitchFamily="34" charset="-122"/>
                <a:cs typeface="Arial" pitchFamily="34" charset="-120"/>
              </a:rPr>
              <a:t>Identify the strongest counter-</a:t>
            </a:r>
            <a:endParaRPr lang="en-US" sz="1800" dirty="0"/>
          </a:p>
          <a:p>
            <a:pPr algn="l" indent="0" marL="0">
              <a:lnSpc>
                <a:spcPct val="145000"/>
              </a:lnSpc>
              <a:buNone/>
            </a:pPr>
            <a:r>
              <a:rPr lang="en-US" sz="1800" dirty="0">
                <a:solidFill>
                  <a:srgbClr val="F2EFE8"/>
                </a:solidFill>
                <a:latin typeface="Arial" pitchFamily="34" charset="0"/>
                <a:ea typeface="Arial" pitchFamily="34" charset="-122"/>
                <a:cs typeface="Arial" pitchFamily="34" charset="-120"/>
              </a:rPr>
              <a:t>position in the literature, with</a:t>
            </a:r>
            <a:endParaRPr lang="en-US" sz="1800" dirty="0"/>
          </a:p>
          <a:p>
            <a:pPr algn="l" indent="0" marL="0">
              <a:lnSpc>
                <a:spcPct val="145000"/>
              </a:lnSpc>
              <a:buNone/>
            </a:pPr>
            <a:r>
              <a:rPr lang="en-US" sz="1800" dirty="0">
                <a:solidFill>
                  <a:srgbClr val="F2EFE8"/>
                </a:solidFill>
                <a:latin typeface="Arial" pitchFamily="34" charset="0"/>
                <a:ea typeface="Arial" pitchFamily="34" charset="-122"/>
                <a:cs typeface="Arial" pitchFamily="34" charset="-120"/>
              </a:rPr>
              <a:t>a citation. Steelman it before</a:t>
            </a:r>
            <a:endParaRPr lang="en-US" sz="1800" dirty="0"/>
          </a:p>
          <a:p>
            <a:pPr algn="l" indent="0" marL="0">
              <a:lnSpc>
                <a:spcPct val="145000"/>
              </a:lnSpc>
              <a:buNone/>
            </a:pPr>
            <a:r>
              <a:rPr lang="en-US" sz="1800" dirty="0">
                <a:solidFill>
                  <a:srgbClr val="F2EFE8"/>
                </a:solidFill>
                <a:latin typeface="Arial" pitchFamily="34" charset="0"/>
                <a:ea typeface="Arial" pitchFamily="34" charset="-122"/>
                <a:cs typeface="Arial" pitchFamily="34" charset="-120"/>
              </a:rPr>
              <a:t>dismissing it.</a:t>
            </a:r>
            <a:endParaRPr lang="en-US" sz="1800" dirty="0"/>
          </a:p>
        </p:txBody>
      </p:sp>
      <p:sp>
        <p:nvSpPr>
          <p:cNvPr id="27" name="Text 25"/>
          <p:cNvSpPr/>
          <p:nvPr/>
        </p:nvSpPr>
        <p:spPr>
          <a:xfrm>
            <a:off x="838200" y="8812530"/>
            <a:ext cx="6316652" cy="750570"/>
          </a:xfrm>
          <a:prstGeom prst="rect">
            <a:avLst/>
          </a:prstGeom>
          <a:noFill/>
          <a:ln/>
        </p:spPr>
        <p:txBody>
          <a:bodyPr wrap="square" lIns="25400" tIns="25400" rIns="25400" bIns="25400" rtlCol="0" anchor="t">
            <a:normAutofit/>
          </a:bodyPr>
          <a:lstStyle/>
          <a:p>
            <a:pPr algn="l" indent="0" marL="0">
              <a:lnSpc>
                <a:spcPct val="110000"/>
              </a:lnSpc>
              <a:buNone/>
            </a:pPr>
            <a:r>
              <a:rPr lang="en-US" sz="2550" i="1" spc="-25" kern="0" dirty="0">
                <a:solidFill>
                  <a:srgbClr val="0E0E0E"/>
                </a:solidFill>
                <a:latin typeface="Arial" pitchFamily="34" charset="0"/>
                <a:ea typeface="Arial" pitchFamily="34" charset="-122"/>
                <a:cs typeface="Arial" pitchFamily="34" charset="-120"/>
              </a:rPr>
              <a:t>A summary produces transcription. Three structured questions produce analysis.</a:t>
            </a:r>
            <a:endParaRPr lang="en-US" sz="2550" dirty="0"/>
          </a:p>
        </p:txBody>
      </p:sp>
      <p:sp>
        <p:nvSpPr>
          <p:cNvPr id="28" name="Shape 26"/>
          <p:cNvSpPr/>
          <p:nvPr/>
        </p:nvSpPr>
        <p:spPr>
          <a:xfrm>
            <a:off x="13502640" y="9098280"/>
            <a:ext cx="3947160" cy="426720"/>
          </a:xfrm>
          <a:prstGeom prst="rect">
            <a:avLst/>
          </a:prstGeom>
          <a:solidFill>
            <a:srgbClr val="0E0E0E"/>
          </a:solidFill>
          <a:ln w="7620">
            <a:solidFill>
              <a:srgbClr val="0E0E0E"/>
            </a:solidFill>
            <a:prstDash val="solid"/>
          </a:ln>
        </p:spPr>
      </p:sp>
      <p:sp>
        <p:nvSpPr>
          <p:cNvPr id="29" name="Text 27"/>
          <p:cNvSpPr/>
          <p:nvPr/>
        </p:nvSpPr>
        <p:spPr>
          <a:xfrm>
            <a:off x="13662660" y="9182100"/>
            <a:ext cx="3745535" cy="297180"/>
          </a:xfrm>
          <a:prstGeom prst="rect">
            <a:avLst/>
          </a:prstGeom>
          <a:noFill/>
          <a:ln/>
        </p:spPr>
        <p:txBody>
          <a:bodyPr wrap="square" lIns="25400" tIns="25400" rIns="25400" bIns="25400" rtlCol="0" anchor="t">
            <a:normAutofit/>
          </a:bodyPr>
          <a:lstStyle/>
          <a:p>
            <a:pPr algn="l" indent="0" marL="0">
              <a:buNone/>
            </a:pPr>
            <a:r>
              <a:rPr lang="en-US" sz="1500" spc="120" kern="0" dirty="0">
                <a:solidFill>
                  <a:srgbClr val="F2EFE8"/>
                </a:solidFill>
                <a:latin typeface="Arial" pitchFamily="34" charset="0"/>
                <a:ea typeface="Arial" pitchFamily="34" charset="-122"/>
                <a:cs typeface="Arial" pitchFamily="34" charset="-120"/>
              </a:rPr>
              <a:t>DEFENSIBLE LITERATURE REVIEW</a:t>
            </a:r>
            <a:endParaRPr lang="en-US" sz="1500" dirty="0"/>
          </a:p>
        </p:txBody>
      </p:sp>
      <p:sp>
        <p:nvSpPr>
          <p:cNvPr id="30" name="Text 28"/>
          <p:cNvSpPr/>
          <p:nvPr/>
        </p:nvSpPr>
        <p:spPr>
          <a:xfrm>
            <a:off x="838200" y="9643110"/>
            <a:ext cx="5196387"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THE STRUCTURED-CRITIQUE PROTOCOL</a:t>
            </a:r>
            <a:endParaRPr lang="en-US" sz="1800" dirty="0"/>
          </a:p>
        </p:txBody>
      </p:sp>
      <p:sp>
        <p:nvSpPr>
          <p:cNvPr id="31" name="Text 29"/>
          <p:cNvSpPr/>
          <p:nvPr/>
        </p:nvSpPr>
        <p:spPr>
          <a:xfrm>
            <a:off x="16453247" y="9563100"/>
            <a:ext cx="1072753"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888076"/>
                </a:solidFill>
                <a:latin typeface="Arial" pitchFamily="34" charset="0"/>
                <a:ea typeface="Arial" pitchFamily="34" charset="-122"/>
                <a:cs typeface="Arial" pitchFamily="34" charset="-120"/>
              </a:rPr>
              <a:t>10 / 25</a:t>
            </a:r>
            <a:endParaRPr lang="en-US" sz="2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E3D6"/>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2982456" y="327660"/>
            <a:ext cx="4601365"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CH.02 · SOURCE INSTRUMENTATION</a:t>
            </a:r>
            <a:endParaRPr lang="en-US" sz="1800" dirty="0"/>
          </a:p>
        </p:txBody>
      </p:sp>
      <p:sp>
        <p:nvSpPr>
          <p:cNvPr id="5" name="Shape 3"/>
          <p:cNvSpPr/>
          <p:nvPr/>
        </p:nvSpPr>
        <p:spPr>
          <a:xfrm>
            <a:off x="838200" y="1343025"/>
            <a:ext cx="95250" cy="95250"/>
          </a:xfrm>
          <a:prstGeom prst="rect">
            <a:avLst/>
          </a:prstGeom>
          <a:solidFill>
            <a:srgbClr val="FF5B1F"/>
          </a:solidFill>
          <a:ln/>
        </p:spPr>
      </p:sp>
      <p:sp>
        <p:nvSpPr>
          <p:cNvPr id="6" name="Text 4"/>
          <p:cNvSpPr/>
          <p:nvPr/>
        </p:nvSpPr>
        <p:spPr>
          <a:xfrm>
            <a:off x="1066800" y="1261110"/>
            <a:ext cx="1967032" cy="289560"/>
          </a:xfrm>
          <a:prstGeom prst="rect">
            <a:avLst/>
          </a:prstGeom>
          <a:noFill/>
          <a:ln/>
        </p:spPr>
        <p:txBody>
          <a:bodyPr wrap="square" lIns="0" tIns="0" rIns="0" bIns="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CH.02 · STEP 2</a:t>
            </a:r>
            <a:endParaRPr lang="en-US" sz="1800" dirty="0"/>
          </a:p>
        </p:txBody>
      </p:sp>
      <p:sp>
        <p:nvSpPr>
          <p:cNvPr id="7" name="Text 5"/>
          <p:cNvSpPr/>
          <p:nvPr/>
        </p:nvSpPr>
        <p:spPr>
          <a:xfrm>
            <a:off x="3090982" y="1238250"/>
            <a:ext cx="6724779" cy="34290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2A2A2A"/>
                </a:solidFill>
                <a:latin typeface="Arial" pitchFamily="34" charset="0"/>
                <a:ea typeface="Arial" pitchFamily="34" charset="-122"/>
                <a:cs typeface="Arial" pitchFamily="34" charset="-120"/>
              </a:rPr>
              <a:t>— LOCATE PRIMARY SOURCES · NEVER FABRICATE</a:t>
            </a:r>
            <a:endParaRPr lang="en-US" sz="1800" dirty="0"/>
          </a:p>
        </p:txBody>
      </p:sp>
      <p:sp>
        <p:nvSpPr>
          <p:cNvPr id="8" name="Text 6"/>
          <p:cNvSpPr/>
          <p:nvPr/>
        </p:nvSpPr>
        <p:spPr>
          <a:xfrm>
            <a:off x="838200" y="1733550"/>
            <a:ext cx="17109948" cy="923449"/>
          </a:xfrm>
          <a:prstGeom prst="rect">
            <a:avLst/>
          </a:prstGeom>
          <a:noFill/>
          <a:ln/>
        </p:spPr>
        <p:txBody>
          <a:bodyPr wrap="square" lIns="25400" tIns="25400" rIns="25400" bIns="25400" rtlCol="0" anchor="t">
            <a:normAutofit/>
          </a:bodyPr>
          <a:lstStyle/>
          <a:p>
            <a:pPr algn="l" indent="0" marL="0">
              <a:lnSpc>
                <a:spcPct val="96000"/>
              </a:lnSpc>
              <a:buNone/>
            </a:pPr>
            <a:r>
              <a:rPr lang="en-US" sz="7200" spc="-180" kern="0" dirty="0">
                <a:solidFill>
                  <a:srgbClr val="0E0E0E"/>
                </a:solidFill>
                <a:latin typeface="Arial" pitchFamily="34" charset="0"/>
                <a:ea typeface="Arial" pitchFamily="34" charset="-122"/>
                <a:cs typeface="Arial" pitchFamily="34" charset="-120"/>
              </a:rPr>
              <a:t>Free academic </a:t>
            </a:r>
            <a:pPr algn="l" indent="0" marL="0">
              <a:lnSpc>
                <a:spcPct val="96000"/>
              </a:lnSpc>
              <a:buNone/>
            </a:pPr>
            <a:r>
              <a:rPr lang="en-US" sz="7200" i="1" spc="-180" kern="0" dirty="0">
                <a:solidFill>
                  <a:srgbClr val="0E0E0E"/>
                </a:solidFill>
                <a:latin typeface="Arial" pitchFamily="34" charset="0"/>
                <a:ea typeface="Arial" pitchFamily="34" charset="-122"/>
                <a:cs typeface="Arial" pitchFamily="34" charset="-120"/>
              </a:rPr>
              <a:t>discovery tools.</a:t>
            </a:r>
            <a:endParaRPr lang="en-US" sz="7200" dirty="0"/>
          </a:p>
        </p:txBody>
      </p:sp>
      <p:sp>
        <p:nvSpPr>
          <p:cNvPr id="9" name="Shape 7"/>
          <p:cNvSpPr/>
          <p:nvPr/>
        </p:nvSpPr>
        <p:spPr>
          <a:xfrm>
            <a:off x="838200" y="3095149"/>
            <a:ext cx="5422821" cy="2573655"/>
          </a:xfrm>
          <a:prstGeom prst="rect">
            <a:avLst/>
          </a:prstGeom>
          <a:solidFill>
            <a:srgbClr val="F2EFE8"/>
          </a:solidFill>
          <a:ln w="15240">
            <a:solidFill>
              <a:srgbClr val="0E0E0E"/>
            </a:solidFill>
            <a:prstDash val="solid"/>
          </a:ln>
        </p:spPr>
      </p:sp>
      <p:sp>
        <p:nvSpPr>
          <p:cNvPr id="10" name="Text 8"/>
          <p:cNvSpPr/>
          <p:nvPr/>
        </p:nvSpPr>
        <p:spPr>
          <a:xfrm>
            <a:off x="1120140" y="3338989"/>
            <a:ext cx="5004709"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 LIVE WEB · CITATIONS</a:t>
            </a:r>
            <a:endParaRPr lang="en-US" sz="1800" dirty="0"/>
          </a:p>
        </p:txBody>
      </p:sp>
      <p:sp>
        <p:nvSpPr>
          <p:cNvPr id="11" name="Text 9"/>
          <p:cNvSpPr/>
          <p:nvPr/>
        </p:nvSpPr>
        <p:spPr>
          <a:xfrm>
            <a:off x="1120140" y="3712369"/>
            <a:ext cx="5004709"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Perplexity</a:t>
            </a:r>
            <a:endParaRPr lang="en-US" sz="3300" dirty="0"/>
          </a:p>
        </p:txBody>
      </p:sp>
      <p:sp>
        <p:nvSpPr>
          <p:cNvPr id="12" name="Text 10"/>
          <p:cNvSpPr/>
          <p:nvPr/>
        </p:nvSpPr>
        <p:spPr>
          <a:xfrm>
            <a:off x="1120140" y="4784884"/>
            <a:ext cx="5004709" cy="6781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Linked source citations on every claim. Each link must be opened and verified before use.</a:t>
            </a:r>
            <a:endParaRPr lang="en-US" sz="1800" dirty="0"/>
          </a:p>
        </p:txBody>
      </p:sp>
      <p:sp>
        <p:nvSpPr>
          <p:cNvPr id="13" name="Shape 11"/>
          <p:cNvSpPr/>
          <p:nvPr/>
        </p:nvSpPr>
        <p:spPr>
          <a:xfrm>
            <a:off x="6432471" y="3095149"/>
            <a:ext cx="5422940" cy="2573655"/>
          </a:xfrm>
          <a:prstGeom prst="rect">
            <a:avLst/>
          </a:prstGeom>
          <a:solidFill>
            <a:srgbClr val="F2EFE8"/>
          </a:solidFill>
          <a:ln w="15240">
            <a:solidFill>
              <a:srgbClr val="0E0E0E"/>
            </a:solidFill>
            <a:prstDash val="solid"/>
          </a:ln>
        </p:spPr>
      </p:sp>
      <p:sp>
        <p:nvSpPr>
          <p:cNvPr id="14" name="Text 12"/>
          <p:cNvSpPr/>
          <p:nvPr/>
        </p:nvSpPr>
        <p:spPr>
          <a:xfrm>
            <a:off x="6714411" y="3338989"/>
            <a:ext cx="5004832" cy="55626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TIER · PEER-REVIEWED CORPUS</a:t>
            </a:r>
            <a:endParaRPr lang="en-US" sz="1800" dirty="0"/>
          </a:p>
        </p:txBody>
      </p:sp>
      <p:sp>
        <p:nvSpPr>
          <p:cNvPr id="15" name="Text 13"/>
          <p:cNvSpPr/>
          <p:nvPr/>
        </p:nvSpPr>
        <p:spPr>
          <a:xfrm>
            <a:off x="6714411" y="3971449"/>
            <a:ext cx="5004832"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Elicit</a:t>
            </a:r>
            <a:endParaRPr lang="en-US" sz="3300" dirty="0"/>
          </a:p>
        </p:txBody>
      </p:sp>
      <p:sp>
        <p:nvSpPr>
          <p:cNvPr id="16" name="Text 14"/>
          <p:cNvSpPr/>
          <p:nvPr/>
        </p:nvSpPr>
        <p:spPr>
          <a:xfrm>
            <a:off x="6714411" y="4464844"/>
            <a:ext cx="5004832"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Aggregates findings across hundreds of peer-reviewed studies. Returns structured tables of method, sample, effect.</a:t>
            </a:r>
            <a:endParaRPr lang="en-US" sz="1800" dirty="0"/>
          </a:p>
        </p:txBody>
      </p:sp>
      <p:sp>
        <p:nvSpPr>
          <p:cNvPr id="17" name="Shape 15"/>
          <p:cNvSpPr/>
          <p:nvPr/>
        </p:nvSpPr>
        <p:spPr>
          <a:xfrm>
            <a:off x="12026860" y="3095149"/>
            <a:ext cx="5422940" cy="2573655"/>
          </a:xfrm>
          <a:prstGeom prst="rect">
            <a:avLst/>
          </a:prstGeom>
          <a:solidFill>
            <a:srgbClr val="F2EFE8"/>
          </a:solidFill>
          <a:ln w="15240">
            <a:solidFill>
              <a:srgbClr val="0E0E0E"/>
            </a:solidFill>
            <a:prstDash val="solid"/>
          </a:ln>
        </p:spPr>
      </p:sp>
      <p:sp>
        <p:nvSpPr>
          <p:cNvPr id="18" name="Text 16"/>
          <p:cNvSpPr/>
          <p:nvPr/>
        </p:nvSpPr>
        <p:spPr>
          <a:xfrm>
            <a:off x="12308801" y="3338989"/>
            <a:ext cx="5004832"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 EVIDENCE SYNTHESIS</a:t>
            </a:r>
            <a:endParaRPr lang="en-US" sz="1800" dirty="0"/>
          </a:p>
        </p:txBody>
      </p:sp>
      <p:sp>
        <p:nvSpPr>
          <p:cNvPr id="19" name="Text 17"/>
          <p:cNvSpPr/>
          <p:nvPr/>
        </p:nvSpPr>
        <p:spPr>
          <a:xfrm>
            <a:off x="12308801" y="3712369"/>
            <a:ext cx="5004832"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Consensus</a:t>
            </a:r>
            <a:endParaRPr lang="en-US" sz="3300" dirty="0"/>
          </a:p>
        </p:txBody>
      </p:sp>
      <p:sp>
        <p:nvSpPr>
          <p:cNvPr id="20" name="Text 18"/>
          <p:cNvSpPr/>
          <p:nvPr/>
        </p:nvSpPr>
        <p:spPr>
          <a:xfrm>
            <a:off x="12308801" y="4464844"/>
            <a:ext cx="5004832"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Yes / no / mixed verdicts on empirical questions, weighted by study quality. Useful for orientation only.</a:t>
            </a:r>
            <a:endParaRPr lang="en-US" sz="1800" dirty="0"/>
          </a:p>
        </p:txBody>
      </p:sp>
      <p:sp>
        <p:nvSpPr>
          <p:cNvPr id="21" name="Shape 19"/>
          <p:cNvSpPr/>
          <p:nvPr/>
        </p:nvSpPr>
        <p:spPr>
          <a:xfrm>
            <a:off x="838200" y="5840254"/>
            <a:ext cx="5422821" cy="2577465"/>
          </a:xfrm>
          <a:prstGeom prst="rect">
            <a:avLst/>
          </a:prstGeom>
          <a:solidFill>
            <a:srgbClr val="F2EFE8"/>
          </a:solidFill>
          <a:ln w="15240">
            <a:solidFill>
              <a:srgbClr val="0E0E0E"/>
            </a:solidFill>
            <a:prstDash val="solid"/>
          </a:ln>
        </p:spPr>
      </p:sp>
      <p:sp>
        <p:nvSpPr>
          <p:cNvPr id="22" name="Text 20"/>
          <p:cNvSpPr/>
          <p:nvPr/>
        </p:nvSpPr>
        <p:spPr>
          <a:xfrm>
            <a:off x="1120140" y="6084094"/>
            <a:ext cx="5004709"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 TECHNICAL EXPOSITION</a:t>
            </a:r>
            <a:endParaRPr lang="en-US" sz="1800" dirty="0"/>
          </a:p>
        </p:txBody>
      </p:sp>
      <p:sp>
        <p:nvSpPr>
          <p:cNvPr id="23" name="Text 21"/>
          <p:cNvSpPr/>
          <p:nvPr/>
        </p:nvSpPr>
        <p:spPr>
          <a:xfrm>
            <a:off x="1120140" y="6457474"/>
            <a:ext cx="5004709"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SciSpace</a:t>
            </a:r>
            <a:endParaRPr lang="en-US" sz="3300" dirty="0"/>
          </a:p>
        </p:txBody>
      </p:sp>
      <p:sp>
        <p:nvSpPr>
          <p:cNvPr id="24" name="Text 22"/>
          <p:cNvSpPr/>
          <p:nvPr/>
        </p:nvSpPr>
        <p:spPr>
          <a:xfrm>
            <a:off x="1120140" y="7533799"/>
            <a:ext cx="5004709" cy="6781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Highlight any equation or technical passage. Returns derivation in your selected language.</a:t>
            </a:r>
            <a:endParaRPr lang="en-US" sz="1800" dirty="0"/>
          </a:p>
        </p:txBody>
      </p:sp>
      <p:sp>
        <p:nvSpPr>
          <p:cNvPr id="25" name="Shape 23"/>
          <p:cNvSpPr/>
          <p:nvPr/>
        </p:nvSpPr>
        <p:spPr>
          <a:xfrm>
            <a:off x="6432471" y="5840254"/>
            <a:ext cx="5422940" cy="2577465"/>
          </a:xfrm>
          <a:prstGeom prst="rect">
            <a:avLst/>
          </a:prstGeom>
          <a:solidFill>
            <a:srgbClr val="F2EFE8"/>
          </a:solidFill>
          <a:ln w="15240">
            <a:solidFill>
              <a:srgbClr val="0E0E0E"/>
            </a:solidFill>
            <a:prstDash val="solid"/>
          </a:ln>
        </p:spPr>
      </p:sp>
      <p:sp>
        <p:nvSpPr>
          <p:cNvPr id="26" name="Text 24"/>
          <p:cNvSpPr/>
          <p:nvPr/>
        </p:nvSpPr>
        <p:spPr>
          <a:xfrm>
            <a:off x="6714411" y="6084094"/>
            <a:ext cx="5004832"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 CITATION GRAPH</a:t>
            </a:r>
            <a:endParaRPr lang="en-US" sz="1800" dirty="0"/>
          </a:p>
        </p:txBody>
      </p:sp>
      <p:sp>
        <p:nvSpPr>
          <p:cNvPr id="27" name="Text 25"/>
          <p:cNvSpPr/>
          <p:nvPr/>
        </p:nvSpPr>
        <p:spPr>
          <a:xfrm>
            <a:off x="6714411" y="6457474"/>
            <a:ext cx="5004832"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Connected Papers</a:t>
            </a:r>
            <a:endParaRPr lang="en-US" sz="3300" dirty="0"/>
          </a:p>
        </p:txBody>
      </p:sp>
      <p:sp>
        <p:nvSpPr>
          <p:cNvPr id="28" name="Text 26"/>
          <p:cNvSpPr/>
          <p:nvPr/>
        </p:nvSpPr>
        <p:spPr>
          <a:xfrm>
            <a:off x="6714411" y="7213759"/>
            <a:ext cx="5004832"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Visualises citation networks. Surfaces foundational work that abstract-level search reliably misses.</a:t>
            </a:r>
            <a:endParaRPr lang="en-US" sz="1800" dirty="0"/>
          </a:p>
        </p:txBody>
      </p:sp>
      <p:sp>
        <p:nvSpPr>
          <p:cNvPr id="29" name="Shape 27"/>
          <p:cNvSpPr/>
          <p:nvPr/>
        </p:nvSpPr>
        <p:spPr>
          <a:xfrm>
            <a:off x="12026860" y="5840254"/>
            <a:ext cx="5422940" cy="2577465"/>
          </a:xfrm>
          <a:prstGeom prst="rect">
            <a:avLst/>
          </a:prstGeom>
          <a:solidFill>
            <a:srgbClr val="FF5B1F"/>
          </a:solidFill>
          <a:ln w="15240">
            <a:solidFill>
              <a:srgbClr val="FF5B1F"/>
            </a:solidFill>
            <a:prstDash val="solid"/>
          </a:ln>
        </p:spPr>
      </p:sp>
      <p:sp>
        <p:nvSpPr>
          <p:cNvPr id="30" name="Text 28"/>
          <p:cNvSpPr/>
          <p:nvPr/>
        </p:nvSpPr>
        <p:spPr>
          <a:xfrm>
            <a:off x="12308801" y="6084094"/>
            <a:ext cx="5004832" cy="350520"/>
          </a:xfrm>
          <a:prstGeom prst="rect">
            <a:avLst/>
          </a:prstGeom>
          <a:noFill/>
          <a:ln/>
        </p:spPr>
        <p:txBody>
          <a:bodyPr wrap="square" lIns="25400" tIns="25400" rIns="25400" bIns="25400" rtlCol="0" anchor="t">
            <a:normAutofit/>
          </a:bodyPr>
          <a:lstStyle/>
          <a:p>
            <a:pPr algn="l" indent="0" marL="0">
              <a:buNone/>
            </a:pPr>
            <a:r>
              <a:rPr lang="en-US" sz="1800" b="1" spc="144" kern="0" dirty="0">
                <a:solidFill>
                  <a:srgbClr val="0E0E0E"/>
                </a:solidFill>
                <a:latin typeface="Arial" pitchFamily="34" charset="0"/>
                <a:ea typeface="Arial" pitchFamily="34" charset="-122"/>
                <a:cs typeface="Arial" pitchFamily="34" charset="-120"/>
              </a:rPr>
              <a:t>★ NON-NEGOTIABLE PROTOCOL</a:t>
            </a:r>
            <a:endParaRPr lang="en-US" sz="1800" dirty="0"/>
          </a:p>
        </p:txBody>
      </p:sp>
      <p:sp>
        <p:nvSpPr>
          <p:cNvPr id="31" name="Text 29"/>
          <p:cNvSpPr/>
          <p:nvPr/>
        </p:nvSpPr>
        <p:spPr>
          <a:xfrm>
            <a:off x="12308801" y="6510814"/>
            <a:ext cx="5004832" cy="645795"/>
          </a:xfrm>
          <a:prstGeom prst="rect">
            <a:avLst/>
          </a:prstGeom>
          <a:noFill/>
          <a:ln/>
        </p:spPr>
        <p:txBody>
          <a:bodyPr wrap="square" lIns="25400" tIns="25400" rIns="25400" bIns="25400" rtlCol="0" anchor="t">
            <a:normAutofit/>
          </a:bodyPr>
          <a:lstStyle/>
          <a:p>
            <a:pPr algn="l" indent="0" marL="0">
              <a:lnSpc>
                <a:spcPct val="105000"/>
              </a:lnSpc>
              <a:buNone/>
            </a:pPr>
            <a:r>
              <a:rPr lang="en-US" sz="2250" spc="-45" kern="0" dirty="0">
                <a:solidFill>
                  <a:srgbClr val="0E0E0E"/>
                </a:solidFill>
                <a:latin typeface="Arial" pitchFamily="34" charset="0"/>
                <a:ea typeface="Arial" pitchFamily="34" charset="-122"/>
                <a:cs typeface="Arial" pitchFamily="34" charset="-120"/>
              </a:rPr>
              <a:t>No citation appears in your work that you have </a:t>
            </a:r>
            <a:pPr algn="l" indent="0" marL="0">
              <a:lnSpc>
                <a:spcPct val="105000"/>
              </a:lnSpc>
              <a:buNone/>
            </a:pPr>
            <a:r>
              <a:rPr lang="en-US" sz="2250" i="1" spc="-45" kern="0" dirty="0">
                <a:solidFill>
                  <a:srgbClr val="0E0E0E"/>
                </a:solidFill>
                <a:latin typeface="Arial" pitchFamily="34" charset="0"/>
                <a:ea typeface="Arial" pitchFamily="34" charset="-122"/>
                <a:cs typeface="Arial" pitchFamily="34" charset="-120"/>
              </a:rPr>
              <a:t>not personally read.</a:t>
            </a:r>
            <a:endParaRPr lang="en-US" sz="2250" dirty="0"/>
          </a:p>
        </p:txBody>
      </p:sp>
      <p:sp>
        <p:nvSpPr>
          <p:cNvPr id="32" name="Text 30"/>
          <p:cNvSpPr/>
          <p:nvPr/>
        </p:nvSpPr>
        <p:spPr>
          <a:xfrm>
            <a:off x="12308801" y="7213759"/>
            <a:ext cx="5004832"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0E0E0E"/>
                </a:solidFill>
                <a:latin typeface="Arial" pitchFamily="34" charset="0"/>
                <a:ea typeface="Arial" pitchFamily="34" charset="-122"/>
                <a:cs typeface="Arial" pitchFamily="34" charset="-120"/>
              </a:rPr>
              <a:t>Verification is a thirty-second action. The consequence of skipping it is the invalidation of the entire submission.</a:t>
            </a:r>
            <a:endParaRPr lang="en-US" sz="1800" dirty="0"/>
          </a:p>
        </p:txBody>
      </p:sp>
      <p:sp>
        <p:nvSpPr>
          <p:cNvPr id="33" name="Text 31"/>
          <p:cNvSpPr/>
          <p:nvPr/>
        </p:nvSpPr>
        <p:spPr>
          <a:xfrm>
            <a:off x="838200" y="9643110"/>
            <a:ext cx="8641554"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FIVE INSTRUMENTS · INSTITUTIONAL CREDENTIALS NOT REQUIRED</a:t>
            </a:r>
            <a:endParaRPr lang="en-US" sz="1800" dirty="0"/>
          </a:p>
        </p:txBody>
      </p:sp>
      <p:sp>
        <p:nvSpPr>
          <p:cNvPr id="34" name="Text 32"/>
          <p:cNvSpPr/>
          <p:nvPr/>
        </p:nvSpPr>
        <p:spPr>
          <a:xfrm>
            <a:off x="16526352" y="9563100"/>
            <a:ext cx="999649"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888076"/>
                </a:solidFill>
                <a:latin typeface="Arial" pitchFamily="34" charset="0"/>
                <a:ea typeface="Arial" pitchFamily="34" charset="-122"/>
                <a:cs typeface="Arial" pitchFamily="34" charset="-120"/>
              </a:rPr>
              <a:t>11 / 25</a:t>
            </a:r>
            <a:endParaRPr lang="en-US" sz="2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4DFF"/>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F2EFE8">
                    <a:alpha val="70000"/>
                  </a:srgbClr>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0043756" y="327660"/>
            <a:ext cx="7628226"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F2EFE8">
                    <a:alpha val="70000"/>
                  </a:srgbClr>
                </a:solidFill>
                <a:latin typeface="Arial" pitchFamily="34" charset="0"/>
                <a:ea typeface="Arial" pitchFamily="34" charset="-122"/>
                <a:cs typeface="Arial" pitchFamily="34" charset="-120"/>
              </a:rPr>
              <a:t>CHAPTER 03 / 05 · COMMUNICATION &amp; VISUAL PRODUCTION</a:t>
            </a:r>
            <a:endParaRPr lang="en-US" sz="1800" dirty="0"/>
          </a:p>
        </p:txBody>
      </p:sp>
      <p:sp>
        <p:nvSpPr>
          <p:cNvPr id="5" name="Shape 3"/>
          <p:cNvSpPr/>
          <p:nvPr/>
        </p:nvSpPr>
        <p:spPr>
          <a:xfrm>
            <a:off x="838200" y="1438275"/>
            <a:ext cx="95250" cy="95250"/>
          </a:xfrm>
          <a:prstGeom prst="rect">
            <a:avLst/>
          </a:prstGeom>
          <a:solidFill>
            <a:srgbClr val="D6FF3D"/>
          </a:solidFill>
          <a:ln/>
        </p:spPr>
      </p:sp>
      <p:sp>
        <p:nvSpPr>
          <p:cNvPr id="6" name="Text 4"/>
          <p:cNvSpPr/>
          <p:nvPr/>
        </p:nvSpPr>
        <p:spPr>
          <a:xfrm>
            <a:off x="1066800" y="1356360"/>
            <a:ext cx="815697" cy="289560"/>
          </a:xfrm>
          <a:prstGeom prst="rect">
            <a:avLst/>
          </a:prstGeom>
          <a:noFill/>
          <a:ln/>
        </p:spPr>
        <p:txBody>
          <a:bodyPr wrap="square" lIns="0" tIns="0" rIns="0" bIns="0" rtlCol="0" anchor="t">
            <a:normAutofit/>
          </a:bodyPr>
          <a:lstStyle/>
          <a:p>
            <a:pPr algn="l" indent="0" marL="0">
              <a:buNone/>
            </a:pPr>
            <a:r>
              <a:rPr lang="en-US" sz="1800" spc="144" kern="0" dirty="0">
                <a:solidFill>
                  <a:srgbClr val="D6FF3D"/>
                </a:solidFill>
                <a:latin typeface="Arial" pitchFamily="34" charset="0"/>
                <a:ea typeface="Arial" pitchFamily="34" charset="-122"/>
                <a:cs typeface="Arial" pitchFamily="34" charset="-120"/>
              </a:rPr>
              <a:t>CH.03</a:t>
            </a:r>
            <a:endParaRPr lang="en-US" sz="1800" dirty="0"/>
          </a:p>
        </p:txBody>
      </p:sp>
      <p:sp>
        <p:nvSpPr>
          <p:cNvPr id="7" name="Text 5"/>
          <p:cNvSpPr/>
          <p:nvPr/>
        </p:nvSpPr>
        <p:spPr>
          <a:xfrm>
            <a:off x="1939647" y="1333500"/>
            <a:ext cx="6724779" cy="34290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F2EFE8">
                    <a:alpha val="85000"/>
                  </a:srgbClr>
                </a:solidFill>
                <a:latin typeface="Arial" pitchFamily="34" charset="0"/>
                <a:ea typeface="Arial" pitchFamily="34" charset="-122"/>
                <a:cs typeface="Arial" pitchFamily="34" charset="-120"/>
              </a:rPr>
              <a:t>— PROJECT DEFENCE · PRESENTATION MATERIALS</a:t>
            </a:r>
            <a:endParaRPr lang="en-US" sz="1800" dirty="0"/>
          </a:p>
        </p:txBody>
      </p:sp>
      <p:sp>
        <p:nvSpPr>
          <p:cNvPr id="8" name="Text 6"/>
          <p:cNvSpPr/>
          <p:nvPr/>
        </p:nvSpPr>
        <p:spPr>
          <a:xfrm>
            <a:off x="838200" y="2602230"/>
            <a:ext cx="17109948" cy="3733800"/>
          </a:xfrm>
          <a:prstGeom prst="rect">
            <a:avLst/>
          </a:prstGeom>
          <a:noFill/>
          <a:ln/>
        </p:spPr>
        <p:txBody>
          <a:bodyPr wrap="square" lIns="25400" tIns="25400" rIns="25400" bIns="25400" rtlCol="0" anchor="t">
            <a:normAutofit/>
          </a:bodyPr>
          <a:lstStyle/>
          <a:p>
            <a:pPr algn="l" indent="0" marL="0">
              <a:lnSpc>
                <a:spcPct val="92000"/>
              </a:lnSpc>
              <a:buNone/>
            </a:pPr>
            <a:r>
              <a:rPr lang="en-US" sz="10500" spc="-367" kern="0" dirty="0">
                <a:solidFill>
                  <a:srgbClr val="F2EFE8"/>
                </a:solidFill>
                <a:latin typeface="Arial" pitchFamily="34" charset="0"/>
                <a:ea typeface="Arial" pitchFamily="34" charset="-122"/>
                <a:cs typeface="Arial" pitchFamily="34" charset="-120"/>
              </a:rPr>
              <a:t>Design training is </a:t>
            </a:r>
            <a:pPr algn="l" indent="0" marL="0">
              <a:lnSpc>
                <a:spcPct val="92000"/>
              </a:lnSpc>
              <a:buNone/>
            </a:pPr>
            <a:r>
              <a:rPr lang="en-US" sz="10500" i="1" spc="-367" kern="0" dirty="0">
                <a:solidFill>
                  <a:srgbClr val="D6FF3D"/>
                </a:solidFill>
                <a:latin typeface="Arial" pitchFamily="34" charset="0"/>
                <a:ea typeface="Arial" pitchFamily="34" charset="-122"/>
                <a:cs typeface="Arial" pitchFamily="34" charset="-120"/>
              </a:rPr>
              <a:t>no longer </a:t>
            </a:r>
            <a:pPr algn="l" indent="0" marL="0">
              <a:lnSpc>
                <a:spcPct val="92000"/>
              </a:lnSpc>
              <a:buNone/>
            </a:pPr>
            <a:r>
              <a:rPr lang="en-US" sz="10500" spc="-367" kern="0" dirty="0">
                <a:solidFill>
                  <a:srgbClr val="F2EFE8"/>
                </a:solidFill>
                <a:latin typeface="Arial" pitchFamily="34" charset="0"/>
                <a:ea typeface="Arial" pitchFamily="34" charset="-122"/>
                <a:cs typeface="Arial" pitchFamily="34" charset="-120"/>
              </a:rPr>
              <a:t>the prerequisite it was.</a:t>
            </a:r>
            <a:endParaRPr lang="en-US" sz="10500" dirty="0"/>
          </a:p>
        </p:txBody>
      </p:sp>
      <p:sp>
        <p:nvSpPr>
          <p:cNvPr id="9" name="Shape 7"/>
          <p:cNvSpPr/>
          <p:nvPr/>
        </p:nvSpPr>
        <p:spPr>
          <a:xfrm>
            <a:off x="838200" y="7261860"/>
            <a:ext cx="16611600" cy="9525"/>
          </a:xfrm>
          <a:prstGeom prst="rect">
            <a:avLst/>
          </a:prstGeom>
          <a:solidFill>
            <a:srgbClr val="F2EFE8">
              <a:alpha val="40000"/>
            </a:srgbClr>
          </a:solidFill>
          <a:ln/>
        </p:spPr>
      </p:sp>
      <p:sp>
        <p:nvSpPr>
          <p:cNvPr id="10" name="Text 8"/>
          <p:cNvSpPr/>
          <p:nvPr/>
        </p:nvSpPr>
        <p:spPr>
          <a:xfrm>
            <a:off x="838200" y="7650480"/>
            <a:ext cx="5494020" cy="342900"/>
          </a:xfrm>
          <a:prstGeom prst="rect">
            <a:avLst/>
          </a:prstGeom>
          <a:noFill/>
          <a:ln/>
        </p:spPr>
        <p:txBody>
          <a:bodyPr wrap="square" lIns="25400" tIns="25400" rIns="25400" bIns="25400" rtlCol="0" anchor="t">
            <a:normAutofit/>
          </a:bodyPr>
          <a:lstStyle/>
          <a:p>
            <a:pPr algn="l" indent="0" marL="0">
              <a:buNone/>
            </a:pPr>
            <a:r>
              <a:rPr lang="en-US" sz="1800" b="1" spc="72" kern="0" dirty="0">
                <a:solidFill>
                  <a:srgbClr val="D6FF3D"/>
                </a:solidFill>
                <a:latin typeface="Arial" pitchFamily="34" charset="0"/>
                <a:ea typeface="Arial" pitchFamily="34" charset="-122"/>
                <a:cs typeface="Arial" pitchFamily="34" charset="-120"/>
              </a:rPr>
              <a:t>DIAGRAMS</a:t>
            </a:r>
            <a:endParaRPr lang="en-US" sz="1800" dirty="0"/>
          </a:p>
        </p:txBody>
      </p:sp>
      <p:sp>
        <p:nvSpPr>
          <p:cNvPr id="11" name="Text 9"/>
          <p:cNvSpPr/>
          <p:nvPr/>
        </p:nvSpPr>
        <p:spPr>
          <a:xfrm>
            <a:off x="838200" y="8012430"/>
            <a:ext cx="5494020" cy="369570"/>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F2EFE8"/>
                </a:solidFill>
                <a:latin typeface="Arial" pitchFamily="34" charset="0"/>
                <a:ea typeface="Arial" pitchFamily="34" charset="-122"/>
                <a:cs typeface="Arial" pitchFamily="34" charset="-120"/>
              </a:rPr>
              <a:t>Mermaid · text-to-diagram syntax</a:t>
            </a:r>
            <a:endParaRPr lang="en-US" sz="1800" dirty="0"/>
          </a:p>
        </p:txBody>
      </p:sp>
      <p:sp>
        <p:nvSpPr>
          <p:cNvPr id="12" name="Text 10"/>
          <p:cNvSpPr/>
          <p:nvPr/>
        </p:nvSpPr>
        <p:spPr>
          <a:xfrm>
            <a:off x="6477000" y="7650480"/>
            <a:ext cx="5494020" cy="342900"/>
          </a:xfrm>
          <a:prstGeom prst="rect">
            <a:avLst/>
          </a:prstGeom>
          <a:noFill/>
          <a:ln/>
        </p:spPr>
        <p:txBody>
          <a:bodyPr wrap="square" lIns="25400" tIns="25400" rIns="25400" bIns="25400" rtlCol="0" anchor="t">
            <a:normAutofit/>
          </a:bodyPr>
          <a:lstStyle/>
          <a:p>
            <a:pPr algn="l" indent="0" marL="0">
              <a:buNone/>
            </a:pPr>
            <a:r>
              <a:rPr lang="en-US" sz="1800" b="1" spc="72" kern="0" dirty="0">
                <a:solidFill>
                  <a:srgbClr val="D6FF3D"/>
                </a:solidFill>
                <a:latin typeface="Arial" pitchFamily="34" charset="0"/>
                <a:ea typeface="Arial" pitchFamily="34" charset="-122"/>
                <a:cs typeface="Arial" pitchFamily="34" charset="-120"/>
              </a:rPr>
              <a:t>STATIC ASSETS</a:t>
            </a:r>
            <a:endParaRPr lang="en-US" sz="1800" dirty="0"/>
          </a:p>
        </p:txBody>
      </p:sp>
      <p:sp>
        <p:nvSpPr>
          <p:cNvPr id="13" name="Text 11"/>
          <p:cNvSpPr/>
          <p:nvPr/>
        </p:nvSpPr>
        <p:spPr>
          <a:xfrm>
            <a:off x="6477000" y="8012430"/>
            <a:ext cx="5494020" cy="369570"/>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F2EFE8"/>
                </a:solidFill>
                <a:latin typeface="Arial" pitchFamily="34" charset="0"/>
                <a:ea typeface="Arial" pitchFamily="34" charset="-122"/>
                <a:cs typeface="Arial" pitchFamily="34" charset="-120"/>
              </a:rPr>
              <a:t>Canva · Microsoft Designer · Ideogram</a:t>
            </a:r>
            <a:endParaRPr lang="en-US" sz="1800" dirty="0"/>
          </a:p>
        </p:txBody>
      </p:sp>
      <p:sp>
        <p:nvSpPr>
          <p:cNvPr id="14" name="Text 12"/>
          <p:cNvSpPr/>
          <p:nvPr/>
        </p:nvSpPr>
        <p:spPr>
          <a:xfrm>
            <a:off x="12115800" y="7650480"/>
            <a:ext cx="5494020" cy="342900"/>
          </a:xfrm>
          <a:prstGeom prst="rect">
            <a:avLst/>
          </a:prstGeom>
          <a:noFill/>
          <a:ln/>
        </p:spPr>
        <p:txBody>
          <a:bodyPr wrap="square" lIns="25400" tIns="25400" rIns="25400" bIns="25400" rtlCol="0" anchor="t">
            <a:normAutofit/>
          </a:bodyPr>
          <a:lstStyle/>
          <a:p>
            <a:pPr algn="l" indent="0" marL="0">
              <a:buNone/>
            </a:pPr>
            <a:r>
              <a:rPr lang="en-US" sz="1800" b="1" spc="72" kern="0" dirty="0">
                <a:solidFill>
                  <a:srgbClr val="D6FF3D"/>
                </a:solidFill>
                <a:latin typeface="Arial" pitchFamily="34" charset="0"/>
                <a:ea typeface="Arial" pitchFamily="34" charset="-122"/>
                <a:cs typeface="Arial" pitchFamily="34" charset="-120"/>
              </a:rPr>
              <a:t>DECK COMPOSITION</a:t>
            </a:r>
            <a:endParaRPr lang="en-US" sz="1800" dirty="0"/>
          </a:p>
        </p:txBody>
      </p:sp>
      <p:sp>
        <p:nvSpPr>
          <p:cNvPr id="15" name="Text 13"/>
          <p:cNvSpPr/>
          <p:nvPr/>
        </p:nvSpPr>
        <p:spPr>
          <a:xfrm>
            <a:off x="12115800" y="8012430"/>
            <a:ext cx="5494020" cy="369570"/>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F2EFE8"/>
                </a:solidFill>
                <a:latin typeface="Arial" pitchFamily="34" charset="0"/>
                <a:ea typeface="Arial" pitchFamily="34" charset="-122"/>
                <a:cs typeface="Arial" pitchFamily="34" charset="-120"/>
              </a:rPr>
              <a:t>Gamma · prompt to editable deck</a:t>
            </a:r>
            <a:endParaRPr lang="en-US" sz="1800" dirty="0"/>
          </a:p>
        </p:txBody>
      </p:sp>
      <p:sp>
        <p:nvSpPr>
          <p:cNvPr id="16" name="Text 14"/>
          <p:cNvSpPr/>
          <p:nvPr/>
        </p:nvSpPr>
        <p:spPr>
          <a:xfrm>
            <a:off x="838200" y="9643110"/>
            <a:ext cx="9825221"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F2EFE8">
                    <a:alpha val="65000"/>
                  </a:srgbClr>
                </a:solidFill>
                <a:latin typeface="Arial" pitchFamily="34" charset="0"/>
                <a:ea typeface="Arial" pitchFamily="34" charset="-122"/>
                <a:cs typeface="Arial" pitchFamily="34" charset="-120"/>
              </a:rPr>
              <a:t>THE CONSTRAINT HAS SHIFTED FROM EXECUTION TO EDITORIAL JUDGMENT</a:t>
            </a:r>
            <a:endParaRPr lang="en-US" sz="1800" dirty="0"/>
          </a:p>
        </p:txBody>
      </p:sp>
      <p:sp>
        <p:nvSpPr>
          <p:cNvPr id="17" name="Text 15"/>
          <p:cNvSpPr/>
          <p:nvPr/>
        </p:nvSpPr>
        <p:spPr>
          <a:xfrm>
            <a:off x="16475035" y="9563100"/>
            <a:ext cx="1050965"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F2EFE8">
                    <a:alpha val="65000"/>
                  </a:srgbClr>
                </a:solidFill>
                <a:latin typeface="Arial" pitchFamily="34" charset="0"/>
                <a:ea typeface="Arial" pitchFamily="34" charset="-122"/>
                <a:cs typeface="Arial" pitchFamily="34" charset="-120"/>
              </a:rPr>
              <a:t>12 / 25</a:t>
            </a:r>
            <a:endParaRPr lang="en-US" sz="2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FE8"/>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1161991" y="327660"/>
            <a:ext cx="6476444"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CH.03 · PROMPT 05 / 07 · DIAGRAM SPECIFICATION</a:t>
            </a:r>
            <a:endParaRPr lang="en-US" sz="1800" dirty="0"/>
          </a:p>
        </p:txBody>
      </p:sp>
      <p:sp>
        <p:nvSpPr>
          <p:cNvPr id="5" name="Shape 3"/>
          <p:cNvSpPr/>
          <p:nvPr/>
        </p:nvSpPr>
        <p:spPr>
          <a:xfrm>
            <a:off x="838200" y="1343025"/>
            <a:ext cx="95250" cy="95250"/>
          </a:xfrm>
          <a:prstGeom prst="rect">
            <a:avLst/>
          </a:prstGeom>
          <a:solidFill>
            <a:srgbClr val="FF5B1F"/>
          </a:solidFill>
          <a:ln/>
        </p:spPr>
      </p:sp>
      <p:sp>
        <p:nvSpPr>
          <p:cNvPr id="6" name="Text 4"/>
          <p:cNvSpPr/>
          <p:nvPr/>
        </p:nvSpPr>
        <p:spPr>
          <a:xfrm>
            <a:off x="1066800" y="1261110"/>
            <a:ext cx="1163955" cy="289560"/>
          </a:xfrm>
          <a:prstGeom prst="rect">
            <a:avLst/>
          </a:prstGeom>
          <a:noFill/>
          <a:ln/>
        </p:spPr>
        <p:txBody>
          <a:bodyPr wrap="square" lIns="0" tIns="0" rIns="0" bIns="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PROMPT</a:t>
            </a:r>
            <a:endParaRPr lang="en-US" sz="1800" dirty="0"/>
          </a:p>
        </p:txBody>
      </p:sp>
      <p:sp>
        <p:nvSpPr>
          <p:cNvPr id="7" name="Text 5"/>
          <p:cNvSpPr/>
          <p:nvPr/>
        </p:nvSpPr>
        <p:spPr>
          <a:xfrm>
            <a:off x="2287905" y="1238250"/>
            <a:ext cx="6084260" cy="34290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2A2A2A"/>
                </a:solidFill>
                <a:latin typeface="Arial" pitchFamily="34" charset="0"/>
                <a:ea typeface="Arial" pitchFamily="34" charset="-122"/>
                <a:cs typeface="Arial" pitchFamily="34" charset="-120"/>
              </a:rPr>
              <a:t>05 — PROGRAMMATIC DIAGRAMS VIA MERMAID</a:t>
            </a:r>
            <a:endParaRPr lang="en-US" sz="1800" dirty="0"/>
          </a:p>
        </p:txBody>
      </p:sp>
      <p:sp>
        <p:nvSpPr>
          <p:cNvPr id="8" name="Text 6"/>
          <p:cNvSpPr/>
          <p:nvPr/>
        </p:nvSpPr>
        <p:spPr>
          <a:xfrm>
            <a:off x="838200" y="1733550"/>
            <a:ext cx="17109948" cy="923449"/>
          </a:xfrm>
          <a:prstGeom prst="rect">
            <a:avLst/>
          </a:prstGeom>
          <a:noFill/>
          <a:ln/>
        </p:spPr>
        <p:txBody>
          <a:bodyPr wrap="square" lIns="25400" tIns="25400" rIns="25400" bIns="25400" rtlCol="0" anchor="t">
            <a:normAutofit/>
          </a:bodyPr>
          <a:lstStyle/>
          <a:p>
            <a:pPr algn="l" indent="0" marL="0">
              <a:lnSpc>
                <a:spcPct val="96000"/>
              </a:lnSpc>
              <a:buNone/>
            </a:pPr>
            <a:r>
              <a:rPr lang="en-US" sz="7200" spc="-180" kern="0" dirty="0">
                <a:solidFill>
                  <a:srgbClr val="0E0E0E"/>
                </a:solidFill>
                <a:latin typeface="Arial" pitchFamily="34" charset="0"/>
                <a:ea typeface="Arial" pitchFamily="34" charset="-122"/>
                <a:cs typeface="Arial" pitchFamily="34" charset="-120"/>
              </a:rPr>
              <a:t>Text-to-diagram. </a:t>
            </a:r>
            <a:pPr algn="l" indent="0" marL="0">
              <a:lnSpc>
                <a:spcPct val="96000"/>
              </a:lnSpc>
              <a:buNone/>
            </a:pPr>
            <a:r>
              <a:rPr lang="en-US" sz="7200" i="1" spc="-180" kern="0" dirty="0">
                <a:solidFill>
                  <a:srgbClr val="0E0E0E"/>
                </a:solidFill>
                <a:latin typeface="Arial" pitchFamily="34" charset="0"/>
                <a:ea typeface="Arial" pitchFamily="34" charset="-122"/>
                <a:cs typeface="Arial" pitchFamily="34" charset="-120"/>
              </a:rPr>
              <a:t>Version-controllable.</a:t>
            </a:r>
            <a:endParaRPr lang="en-US" sz="7200" dirty="0"/>
          </a:p>
        </p:txBody>
      </p:sp>
      <p:sp>
        <p:nvSpPr>
          <p:cNvPr id="9" name="Text 7"/>
          <p:cNvSpPr/>
          <p:nvPr/>
        </p:nvSpPr>
        <p:spPr>
          <a:xfrm>
            <a:off x="838200" y="3095149"/>
            <a:ext cx="8319516" cy="342900"/>
          </a:xfrm>
          <a:prstGeom prst="rect">
            <a:avLst/>
          </a:prstGeom>
          <a:noFill/>
          <a:ln/>
        </p:spPr>
        <p:txBody>
          <a:bodyPr wrap="square" lIns="25400" tIns="25400" rIns="25400" bIns="25400" rtlCol="0" anchor="t">
            <a:normAutofit/>
          </a:bodyPr>
          <a:lstStyle/>
          <a:p>
            <a:pPr algn="l" indent="0" marL="0">
              <a:buNone/>
            </a:pPr>
            <a:r>
              <a:rPr lang="en-US" sz="1800" spc="180" kern="0" dirty="0">
                <a:solidFill>
                  <a:srgbClr val="FF5B1F"/>
                </a:solidFill>
                <a:latin typeface="Arial" pitchFamily="34" charset="0"/>
                <a:ea typeface="Arial" pitchFamily="34" charset="-122"/>
                <a:cs typeface="Arial" pitchFamily="34" charset="-120"/>
              </a:rPr>
              <a:t>PROMPT TEMPLATE</a:t>
            </a:r>
            <a:endParaRPr lang="en-US" sz="1800" dirty="0"/>
          </a:p>
        </p:txBody>
      </p:sp>
      <p:sp>
        <p:nvSpPr>
          <p:cNvPr id="10" name="Shape 8"/>
          <p:cNvSpPr/>
          <p:nvPr/>
        </p:nvSpPr>
        <p:spPr>
          <a:xfrm>
            <a:off x="838200" y="3495199"/>
            <a:ext cx="8077200" cy="6031230"/>
          </a:xfrm>
          <a:prstGeom prst="rect">
            <a:avLst/>
          </a:prstGeom>
          <a:solidFill>
            <a:srgbClr val="0E0E0E"/>
          </a:solidFill>
          <a:ln/>
        </p:spPr>
      </p:sp>
      <p:sp>
        <p:nvSpPr>
          <p:cNvPr id="11" name="Shape 9"/>
          <p:cNvSpPr/>
          <p:nvPr/>
        </p:nvSpPr>
        <p:spPr>
          <a:xfrm>
            <a:off x="838200" y="3495199"/>
            <a:ext cx="45720" cy="6031230"/>
          </a:xfrm>
          <a:prstGeom prst="rect">
            <a:avLst/>
          </a:prstGeom>
          <a:solidFill>
            <a:srgbClr val="FF5B1F"/>
          </a:solidFill>
          <a:ln/>
        </p:spPr>
      </p:sp>
      <p:sp>
        <p:nvSpPr>
          <p:cNvPr id="12" name="Text 10"/>
          <p:cNvSpPr/>
          <p:nvPr/>
        </p:nvSpPr>
        <p:spPr>
          <a:xfrm>
            <a:off x="1169670" y="3723799"/>
            <a:ext cx="7702296" cy="5612130"/>
          </a:xfrm>
          <a:prstGeom prst="rect">
            <a:avLst/>
          </a:prstGeom>
          <a:noFill/>
          <a:ln/>
        </p:spPr>
        <p:txBody>
          <a:bodyPr wrap="square" lIns="25400" tIns="25400" rIns="25400" bIns="25400" rtlCol="0" anchor="t">
            <a:normAutofit/>
          </a:bodyPr>
          <a:lstStyle/>
          <a:p>
            <a:pPr algn="l" indent="0" marL="0">
              <a:lnSpc>
                <a:spcPct val="140000"/>
              </a:lnSpc>
              <a:buNone/>
            </a:pPr>
            <a:r>
              <a:rPr lang="en-US" sz="1650" dirty="0">
                <a:solidFill>
                  <a:srgbClr val="F2EFE8"/>
                </a:solidFill>
                <a:latin typeface="Arial" pitchFamily="34" charset="0"/>
                <a:ea typeface="Arial" pitchFamily="34" charset="-122"/>
                <a:cs typeface="Arial" pitchFamily="34" charset="-120"/>
              </a:rPr>
              <a:t>Convert the following system</a:t>
            </a:r>
            <a:endParaRPr lang="en-US" sz="1650" dirty="0"/>
          </a:p>
          <a:p>
            <a:pPr algn="l" indent="0" marL="0">
              <a:lnSpc>
                <a:spcPct val="140000"/>
              </a:lnSpc>
              <a:buNone/>
            </a:pPr>
            <a:r>
              <a:rPr lang="en-US" sz="1650" dirty="0">
                <a:solidFill>
                  <a:srgbClr val="F2EFE8"/>
                </a:solidFill>
                <a:latin typeface="Arial" pitchFamily="34" charset="0"/>
                <a:ea typeface="Arial" pitchFamily="34" charset="-122"/>
                <a:cs typeface="Arial" pitchFamily="34" charset="-120"/>
              </a:rPr>
              <a:t>description into a Mermaid flowchart</a:t>
            </a:r>
            <a:endParaRPr lang="en-US" sz="1650" dirty="0"/>
          </a:p>
          <a:p>
            <a:pPr algn="l" indent="0" marL="0">
              <a:lnSpc>
                <a:spcPct val="140000"/>
              </a:lnSpc>
              <a:buNone/>
            </a:pPr>
            <a:r>
              <a:rPr lang="en-US" sz="1650" dirty="0">
                <a:solidFill>
                  <a:srgbClr val="F2EFE8"/>
                </a:solidFill>
                <a:latin typeface="Arial" pitchFamily="34" charset="0"/>
                <a:ea typeface="Arial" pitchFamily="34" charset="-122"/>
                <a:cs typeface="Arial" pitchFamily="34" charset="-120"/>
              </a:rPr>
              <a:t>in TD orientation.</a:t>
            </a:r>
            <a:endParaRPr lang="en-US" sz="1650" dirty="0"/>
          </a:p>
          <a:p>
            <a:pPr algn="l" indent="0" marL="0">
              <a:lnSpc>
                <a:spcPct val="140000"/>
              </a:lnSpc>
              <a:buNone/>
            </a:pPr>
            <a:endParaRPr lang="en-US" sz="1650" dirty="0"/>
          </a:p>
          <a:p>
            <a:pPr algn="l" indent="0" marL="0">
              <a:lnSpc>
                <a:spcPct val="140000"/>
              </a:lnSpc>
              <a:buNone/>
            </a:pPr>
            <a:r>
              <a:rPr lang="en-US" sz="1650" dirty="0">
                <a:solidFill>
                  <a:srgbClr val="F2EFE8"/>
                </a:solidFill>
                <a:latin typeface="Arial" pitchFamily="34" charset="0"/>
                <a:ea typeface="Arial" pitchFamily="34" charset="-122"/>
                <a:cs typeface="Arial" pitchFamily="34" charset="-120"/>
              </a:rPr>
              <a:t>System: A registered user authenticates,</a:t>
            </a:r>
            <a:endParaRPr lang="en-US" sz="1650" dirty="0"/>
          </a:p>
          <a:p>
            <a:pPr algn="l" indent="0" marL="0">
              <a:lnSpc>
                <a:spcPct val="140000"/>
              </a:lnSpc>
              <a:buNone/>
            </a:pPr>
            <a:r>
              <a:rPr lang="en-US" sz="1650" dirty="0">
                <a:solidFill>
                  <a:srgbClr val="F2EFE8"/>
                </a:solidFill>
                <a:latin typeface="Arial" pitchFamily="34" charset="0"/>
                <a:ea typeface="Arial" pitchFamily="34" charset="-122"/>
                <a:cs typeface="Arial" pitchFamily="34" charset="-120"/>
              </a:rPr>
              <a:t>selects a course, and completes a</a:t>
            </a:r>
            <a:endParaRPr lang="en-US" sz="1650" dirty="0"/>
          </a:p>
          <a:p>
            <a:pPr algn="l" indent="0" marL="0">
              <a:lnSpc>
                <a:spcPct val="140000"/>
              </a:lnSpc>
              <a:buNone/>
            </a:pPr>
            <a:r>
              <a:rPr lang="en-US" sz="1650" dirty="0">
                <a:solidFill>
                  <a:srgbClr val="F2EFE8"/>
                </a:solidFill>
                <a:latin typeface="Arial" pitchFamily="34" charset="0"/>
                <a:ea typeface="Arial" pitchFamily="34" charset="-122"/>
                <a:cs typeface="Arial" pitchFamily="34" charset="-120"/>
              </a:rPr>
              <a:t>summative assessment. A score of 70%</a:t>
            </a:r>
            <a:endParaRPr lang="en-US" sz="1650" dirty="0"/>
          </a:p>
          <a:p>
            <a:pPr algn="l" indent="0" marL="0">
              <a:lnSpc>
                <a:spcPct val="140000"/>
              </a:lnSpc>
              <a:buNone/>
            </a:pPr>
            <a:r>
              <a:rPr lang="en-US" sz="1650" dirty="0">
                <a:solidFill>
                  <a:srgbClr val="F2EFE8"/>
                </a:solidFill>
                <a:latin typeface="Arial" pitchFamily="34" charset="0"/>
                <a:ea typeface="Arial" pitchFamily="34" charset="-122"/>
                <a:cs typeface="Arial" pitchFamily="34" charset="-120"/>
              </a:rPr>
              <a:t>or above issues a certificate. Below</a:t>
            </a:r>
            <a:endParaRPr lang="en-US" sz="1650" dirty="0"/>
          </a:p>
          <a:p>
            <a:pPr algn="l" indent="0" marL="0">
              <a:lnSpc>
                <a:spcPct val="140000"/>
              </a:lnSpc>
              <a:buNone/>
            </a:pPr>
            <a:r>
              <a:rPr lang="en-US" sz="1650" dirty="0">
                <a:solidFill>
                  <a:srgbClr val="F2EFE8"/>
                </a:solidFill>
                <a:latin typeface="Arial" pitchFamily="34" charset="0"/>
                <a:ea typeface="Arial" pitchFamily="34" charset="-122"/>
                <a:cs typeface="Arial" pitchFamily="34" charset="-120"/>
              </a:rPr>
              <a:t>70%, the user may retake the assessment</a:t>
            </a:r>
            <a:endParaRPr lang="en-US" sz="1650" dirty="0"/>
          </a:p>
          <a:p>
            <a:pPr algn="l" indent="0" marL="0">
              <a:lnSpc>
                <a:spcPct val="140000"/>
              </a:lnSpc>
              <a:buNone/>
            </a:pPr>
            <a:r>
              <a:rPr lang="en-US" sz="1650" dirty="0">
                <a:solidFill>
                  <a:srgbClr val="F2EFE8"/>
                </a:solidFill>
                <a:latin typeface="Arial" pitchFamily="34" charset="0"/>
                <a:ea typeface="Arial" pitchFamily="34" charset="-122"/>
                <a:cs typeface="Arial" pitchFamily="34" charset="-120"/>
              </a:rPr>
              <a:t>up to three times before being locked</a:t>
            </a:r>
            <a:endParaRPr lang="en-US" sz="1650" dirty="0"/>
          </a:p>
          <a:p>
            <a:pPr algn="l" indent="0" marL="0">
              <a:lnSpc>
                <a:spcPct val="140000"/>
              </a:lnSpc>
              <a:buNone/>
            </a:pPr>
            <a:r>
              <a:rPr lang="en-US" sz="1650" dirty="0">
                <a:solidFill>
                  <a:srgbClr val="F2EFE8"/>
                </a:solidFill>
                <a:latin typeface="Arial" pitchFamily="34" charset="0"/>
                <a:ea typeface="Arial" pitchFamily="34" charset="-122"/>
                <a:cs typeface="Arial" pitchFamily="34" charset="-120"/>
              </a:rPr>
              <a:t>out for institutional review.</a:t>
            </a:r>
            <a:endParaRPr lang="en-US" sz="1650" dirty="0"/>
          </a:p>
          <a:p>
            <a:pPr algn="l" indent="0" marL="0">
              <a:lnSpc>
                <a:spcPct val="140000"/>
              </a:lnSpc>
              <a:buNone/>
            </a:pPr>
            <a:endParaRPr lang="en-US" sz="1650" dirty="0"/>
          </a:p>
          <a:p>
            <a:pPr algn="l" indent="0" marL="0">
              <a:lnSpc>
                <a:spcPct val="140000"/>
              </a:lnSpc>
              <a:buNone/>
            </a:pPr>
            <a:r>
              <a:rPr lang="en-US" sz="1650" dirty="0">
                <a:solidFill>
                  <a:srgbClr val="F2EFE8"/>
                </a:solidFill>
                <a:latin typeface="Arial" pitchFamily="34" charset="0"/>
                <a:ea typeface="Arial" pitchFamily="34" charset="-122"/>
                <a:cs typeface="Arial" pitchFamily="34" charset="-120"/>
              </a:rPr>
              <a:t>Requirements:</a:t>
            </a:r>
            <a:endParaRPr lang="en-US" sz="1650" dirty="0"/>
          </a:p>
          <a:p>
            <a:pPr algn="l" indent="0" marL="0">
              <a:lnSpc>
                <a:spcPct val="140000"/>
              </a:lnSpc>
              <a:buNone/>
            </a:pPr>
            <a:r>
              <a:rPr lang="en-US" sz="1650" dirty="0">
                <a:solidFill>
                  <a:srgbClr val="F2EFE8"/>
                </a:solidFill>
                <a:latin typeface="Arial" pitchFamily="34" charset="0"/>
                <a:ea typeface="Arial" pitchFamily="34" charset="-122"/>
                <a:cs typeface="Arial" pitchFamily="34" charset="-120"/>
              </a:rPr>
              <a:t>  — Decision nodes as diamonds.</a:t>
            </a:r>
            <a:endParaRPr lang="en-US" sz="1650" dirty="0"/>
          </a:p>
          <a:p>
            <a:pPr algn="l" indent="0" marL="0">
              <a:lnSpc>
                <a:spcPct val="140000"/>
              </a:lnSpc>
              <a:buNone/>
            </a:pPr>
            <a:r>
              <a:rPr lang="en-US" sz="1650" dirty="0">
                <a:solidFill>
                  <a:srgbClr val="F2EFE8"/>
                </a:solidFill>
                <a:latin typeface="Arial" pitchFamily="34" charset="0"/>
                <a:ea typeface="Arial" pitchFamily="34" charset="-122"/>
                <a:cs typeface="Arial" pitchFamily="34" charset="-120"/>
              </a:rPr>
              <a:t>  — Terminal states explicit.</a:t>
            </a:r>
            <a:endParaRPr lang="en-US" sz="1650" dirty="0"/>
          </a:p>
          <a:p>
            <a:pPr algn="l" indent="0" marL="0">
              <a:lnSpc>
                <a:spcPct val="140000"/>
              </a:lnSpc>
              <a:buNone/>
            </a:pPr>
            <a:r>
              <a:rPr lang="en-US" sz="1650" dirty="0">
                <a:solidFill>
                  <a:srgbClr val="F2EFE8"/>
                </a:solidFill>
                <a:latin typeface="Arial" pitchFamily="34" charset="0"/>
                <a:ea typeface="Arial" pitchFamily="34" charset="-122"/>
                <a:cs typeface="Arial" pitchFamily="34" charset="-120"/>
              </a:rPr>
              <a:t>  — Edge labels in passive voice.</a:t>
            </a:r>
            <a:endParaRPr lang="en-US" sz="1650" dirty="0"/>
          </a:p>
          <a:p>
            <a:pPr algn="l" indent="0" marL="0">
              <a:lnSpc>
                <a:spcPct val="140000"/>
              </a:lnSpc>
              <a:buNone/>
            </a:pPr>
            <a:r>
              <a:rPr lang="en-US" sz="1650" dirty="0">
                <a:solidFill>
                  <a:srgbClr val="F2EFE8"/>
                </a:solidFill>
                <a:latin typeface="Arial" pitchFamily="34" charset="0"/>
                <a:ea typeface="Arial" pitchFamily="34" charset="-122"/>
                <a:cs typeface="Arial" pitchFamily="34" charset="-120"/>
              </a:rPr>
              <a:t>  — Output ONLY valid Mermaid syntax.</a:t>
            </a:r>
            <a:endParaRPr lang="en-US" sz="1650" dirty="0"/>
          </a:p>
          <a:p>
            <a:pPr algn="l" indent="0" marL="0">
              <a:lnSpc>
                <a:spcPct val="140000"/>
              </a:lnSpc>
              <a:buNone/>
            </a:pPr>
            <a:r>
              <a:rPr lang="en-US" sz="1650" dirty="0">
                <a:solidFill>
                  <a:srgbClr val="F2EFE8"/>
                </a:solidFill>
                <a:latin typeface="Arial" pitchFamily="34" charset="0"/>
                <a:ea typeface="Arial" pitchFamily="34" charset="-122"/>
                <a:cs typeface="Arial" pitchFamily="34" charset="-120"/>
              </a:rPr>
              <a:t>  — No prose, no commentary,</a:t>
            </a:r>
            <a:endParaRPr lang="en-US" sz="1650" dirty="0"/>
          </a:p>
          <a:p>
            <a:pPr algn="l" indent="0" marL="0">
              <a:lnSpc>
                <a:spcPct val="140000"/>
              </a:lnSpc>
              <a:buNone/>
            </a:pPr>
            <a:r>
              <a:rPr lang="en-US" sz="1650" dirty="0">
                <a:solidFill>
                  <a:srgbClr val="F2EFE8"/>
                </a:solidFill>
                <a:latin typeface="Arial" pitchFamily="34" charset="0"/>
                <a:ea typeface="Arial" pitchFamily="34" charset="-122"/>
                <a:cs typeface="Arial" pitchFamily="34" charset="-120"/>
              </a:rPr>
              <a:t>    no fenced code block.</a:t>
            </a:r>
            <a:endParaRPr lang="en-US" sz="1650" dirty="0"/>
          </a:p>
        </p:txBody>
      </p:sp>
      <p:sp>
        <p:nvSpPr>
          <p:cNvPr id="13" name="Text 11"/>
          <p:cNvSpPr/>
          <p:nvPr/>
        </p:nvSpPr>
        <p:spPr>
          <a:xfrm>
            <a:off x="838200" y="9659779"/>
            <a:ext cx="8319516" cy="6781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888076"/>
                </a:solidFill>
                <a:latin typeface="Arial" pitchFamily="34" charset="0"/>
                <a:ea typeface="Arial" pitchFamily="34" charset="-122"/>
                <a:cs typeface="Arial" pitchFamily="34" charset="-120"/>
              </a:rPr>
              <a:t>Render at </a:t>
            </a:r>
            <a:pPr algn="l" indent="0" marL="0">
              <a:lnSpc>
                <a:spcPct val="140000"/>
              </a:lnSpc>
              <a:buNone/>
            </a:pPr>
            <a:r>
              <a:rPr lang="en-US" sz="1800" b="1" dirty="0">
                <a:solidFill>
                  <a:srgbClr val="888076"/>
                </a:solidFill>
                <a:latin typeface="Arial" pitchFamily="34" charset="0"/>
                <a:ea typeface="Arial" pitchFamily="34" charset="-122"/>
                <a:cs typeface="Arial" pitchFamily="34" charset="-120"/>
              </a:rPr>
              <a:t>mermaid.live </a:t>
            </a:r>
            <a:pPr algn="l" indent="0" marL="0">
              <a:lnSpc>
                <a:spcPct val="140000"/>
              </a:lnSpc>
              <a:buNone/>
            </a:pPr>
            <a:r>
              <a:rPr lang="en-US" sz="1800" dirty="0">
                <a:solidFill>
                  <a:srgbClr val="888076"/>
                </a:solidFill>
                <a:latin typeface="Arial" pitchFamily="34" charset="0"/>
                <a:ea typeface="Arial" pitchFamily="34" charset="-122"/>
                <a:cs typeface="Arial" pitchFamily="34" charset="-120"/>
              </a:rPr>
              <a:t>or directly within Notion, GitHub, and Obsidian. The output is editable and version-controllable as plain text.</a:t>
            </a:r>
            <a:endParaRPr lang="en-US" sz="1800" dirty="0"/>
          </a:p>
        </p:txBody>
      </p:sp>
      <p:sp>
        <p:nvSpPr>
          <p:cNvPr id="14" name="Text 12"/>
          <p:cNvSpPr/>
          <p:nvPr/>
        </p:nvSpPr>
        <p:spPr>
          <a:xfrm>
            <a:off x="9372600" y="3095149"/>
            <a:ext cx="8319516" cy="342900"/>
          </a:xfrm>
          <a:prstGeom prst="rect">
            <a:avLst/>
          </a:prstGeom>
          <a:noFill/>
          <a:ln/>
        </p:spPr>
        <p:txBody>
          <a:bodyPr wrap="square" lIns="25400" tIns="25400" rIns="25400" bIns="25400" rtlCol="0" anchor="t">
            <a:normAutofit/>
          </a:bodyPr>
          <a:lstStyle/>
          <a:p>
            <a:pPr algn="l" indent="0" marL="0">
              <a:buNone/>
            </a:pPr>
            <a:r>
              <a:rPr lang="en-US" sz="1800" spc="180" kern="0" dirty="0">
                <a:solidFill>
                  <a:srgbClr val="888076"/>
                </a:solidFill>
                <a:latin typeface="Arial" pitchFamily="34" charset="0"/>
                <a:ea typeface="Arial" pitchFamily="34" charset="-122"/>
                <a:cs typeface="Arial" pitchFamily="34" charset="-120"/>
              </a:rPr>
              <a:t>EXPECTED OUTPUT</a:t>
            </a:r>
            <a:endParaRPr lang="en-US" sz="1800" dirty="0"/>
          </a:p>
        </p:txBody>
      </p:sp>
      <p:sp>
        <p:nvSpPr>
          <p:cNvPr id="15" name="Shape 13"/>
          <p:cNvSpPr/>
          <p:nvPr/>
        </p:nvSpPr>
        <p:spPr>
          <a:xfrm>
            <a:off x="9372600" y="3495199"/>
            <a:ext cx="8077200" cy="2849880"/>
          </a:xfrm>
          <a:prstGeom prst="rect">
            <a:avLst/>
          </a:prstGeom>
          <a:solidFill>
            <a:srgbClr val="E8E3D6"/>
          </a:solidFill>
          <a:ln/>
        </p:spPr>
      </p:sp>
      <p:sp>
        <p:nvSpPr>
          <p:cNvPr id="16" name="Text 14"/>
          <p:cNvSpPr/>
          <p:nvPr/>
        </p:nvSpPr>
        <p:spPr>
          <a:xfrm>
            <a:off x="9639300" y="3704749"/>
            <a:ext cx="7786116" cy="2468880"/>
          </a:xfrm>
          <a:prstGeom prst="rect">
            <a:avLst/>
          </a:prstGeom>
          <a:noFill/>
          <a:ln/>
        </p:spPr>
        <p:txBody>
          <a:bodyPr wrap="square" lIns="25400" tIns="25400" rIns="25400" bIns="25400" rtlCol="0" anchor="t">
            <a:normAutofit/>
          </a:bodyPr>
          <a:lstStyle/>
          <a:p>
            <a:pPr algn="l" indent="0" marL="0">
              <a:lnSpc>
                <a:spcPct val="145000"/>
              </a:lnSpc>
              <a:buNone/>
            </a:pPr>
            <a:r>
              <a:rPr lang="en-US" sz="1650" dirty="0">
                <a:solidFill>
                  <a:srgbClr val="0E0E0E"/>
                </a:solidFill>
                <a:latin typeface="Arial" pitchFamily="34" charset="0"/>
                <a:ea typeface="Arial" pitchFamily="34" charset="-122"/>
                <a:cs typeface="Arial" pitchFamily="34" charset="-120"/>
              </a:rPr>
              <a:t>flowchart TD</a:t>
            </a:r>
            <a:endParaRPr lang="en-US" sz="1650" dirty="0"/>
          </a:p>
          <a:p>
            <a:pPr algn="l" indent="0" marL="0">
              <a:lnSpc>
                <a:spcPct val="145000"/>
              </a:lnSpc>
              <a:buNone/>
            </a:pPr>
            <a:r>
              <a:rPr lang="en-US" sz="1650" dirty="0">
                <a:solidFill>
                  <a:srgbClr val="0E0E0E"/>
                </a:solidFill>
                <a:latin typeface="Arial" pitchFamily="34" charset="0"/>
                <a:ea typeface="Arial" pitchFamily="34" charset="-122"/>
                <a:cs typeface="Arial" pitchFamily="34" charset="-120"/>
              </a:rPr>
              <a:t>  A[User authenticates] --&gt; B[Course selected]</a:t>
            </a:r>
            <a:endParaRPr lang="en-US" sz="1650" dirty="0"/>
          </a:p>
          <a:p>
            <a:pPr algn="l" indent="0" marL="0">
              <a:lnSpc>
                <a:spcPct val="145000"/>
              </a:lnSpc>
              <a:buNone/>
            </a:pPr>
            <a:r>
              <a:rPr lang="en-US" sz="1650" dirty="0">
                <a:solidFill>
                  <a:srgbClr val="0E0E0E"/>
                </a:solidFill>
                <a:latin typeface="Arial" pitchFamily="34" charset="0"/>
                <a:ea typeface="Arial" pitchFamily="34" charset="-122"/>
                <a:cs typeface="Arial" pitchFamily="34" charset="-120"/>
              </a:rPr>
              <a:t>  B --&gt; C[Assessment taken]</a:t>
            </a:r>
            <a:endParaRPr lang="en-US" sz="1650" dirty="0"/>
          </a:p>
          <a:p>
            <a:pPr algn="l" indent="0" marL="0">
              <a:lnSpc>
                <a:spcPct val="145000"/>
              </a:lnSpc>
              <a:buNone/>
            </a:pPr>
            <a:r>
              <a:rPr lang="en-US" sz="1650" dirty="0">
                <a:solidFill>
                  <a:srgbClr val="0E0E0E"/>
                </a:solidFill>
                <a:latin typeface="Arial" pitchFamily="34" charset="0"/>
                <a:ea typeface="Arial" pitchFamily="34" charset="-122"/>
                <a:cs typeface="Arial" pitchFamily="34" charset="-120"/>
              </a:rPr>
              <a:t>  C --&gt; D{Score ≥ 70%?}</a:t>
            </a:r>
            <a:endParaRPr lang="en-US" sz="1650" dirty="0"/>
          </a:p>
          <a:p>
            <a:pPr algn="l" indent="0" marL="0">
              <a:lnSpc>
                <a:spcPct val="145000"/>
              </a:lnSpc>
              <a:buNone/>
            </a:pPr>
            <a:r>
              <a:rPr lang="en-US" sz="1650" dirty="0">
                <a:solidFill>
                  <a:srgbClr val="0E0E0E"/>
                </a:solidFill>
                <a:latin typeface="Arial" pitchFamily="34" charset="0"/>
                <a:ea typeface="Arial" pitchFamily="34" charset="-122"/>
                <a:cs typeface="Arial" pitchFamily="34" charset="-120"/>
              </a:rPr>
              <a:t>  D --&gt;|Yes| E[Certificate issued]</a:t>
            </a:r>
            <a:endParaRPr lang="en-US" sz="1650" dirty="0"/>
          </a:p>
          <a:p>
            <a:pPr algn="l" indent="0" marL="0">
              <a:lnSpc>
                <a:spcPct val="145000"/>
              </a:lnSpc>
              <a:buNone/>
            </a:pPr>
            <a:r>
              <a:rPr lang="en-US" sz="1650" dirty="0">
                <a:solidFill>
                  <a:srgbClr val="0E0E0E"/>
                </a:solidFill>
                <a:latin typeface="Arial" pitchFamily="34" charset="0"/>
                <a:ea typeface="Arial" pitchFamily="34" charset="-122"/>
                <a:cs typeface="Arial" pitchFamily="34" charset="-120"/>
              </a:rPr>
              <a:t>  D --&gt;|No| F{Attempts &lt; 3?}</a:t>
            </a:r>
            <a:endParaRPr lang="en-US" sz="1650" dirty="0"/>
          </a:p>
          <a:p>
            <a:pPr algn="l" indent="0" marL="0">
              <a:lnSpc>
                <a:spcPct val="145000"/>
              </a:lnSpc>
              <a:buNone/>
            </a:pPr>
            <a:r>
              <a:rPr lang="en-US" sz="1650" dirty="0">
                <a:solidFill>
                  <a:srgbClr val="0E0E0E"/>
                </a:solidFill>
                <a:latin typeface="Arial" pitchFamily="34" charset="0"/>
                <a:ea typeface="Arial" pitchFamily="34" charset="-122"/>
                <a:cs typeface="Arial" pitchFamily="34" charset="-120"/>
              </a:rPr>
              <a:t>  F --&gt;|Yes| C</a:t>
            </a:r>
            <a:endParaRPr lang="en-US" sz="1650" dirty="0"/>
          </a:p>
          <a:p>
            <a:pPr algn="l" indent="0" marL="0">
              <a:lnSpc>
                <a:spcPct val="145000"/>
              </a:lnSpc>
              <a:buNone/>
            </a:pPr>
            <a:r>
              <a:rPr lang="en-US" sz="1650" dirty="0">
                <a:solidFill>
                  <a:srgbClr val="0E0E0E"/>
                </a:solidFill>
                <a:latin typeface="Arial" pitchFamily="34" charset="0"/>
                <a:ea typeface="Arial" pitchFamily="34" charset="-122"/>
                <a:cs typeface="Arial" pitchFamily="34" charset="-120"/>
              </a:rPr>
              <a:t>  F --&gt;|No| G[Account locked for review]</a:t>
            </a:r>
            <a:endParaRPr lang="en-US" sz="1650" dirty="0"/>
          </a:p>
        </p:txBody>
      </p:sp>
      <p:sp>
        <p:nvSpPr>
          <p:cNvPr id="17" name="Text 15"/>
          <p:cNvSpPr/>
          <p:nvPr/>
        </p:nvSpPr>
        <p:spPr>
          <a:xfrm>
            <a:off x="9372600" y="6478429"/>
            <a:ext cx="8319516" cy="6781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888076"/>
                </a:solidFill>
                <a:latin typeface="Arial" pitchFamily="34" charset="0"/>
                <a:ea typeface="Arial" pitchFamily="34" charset="-122"/>
                <a:cs typeface="Arial" pitchFamily="34" charset="-120"/>
              </a:rPr>
              <a:t>Renders identically across </a:t>
            </a:r>
            <a:pPr algn="l" indent="0" marL="0">
              <a:lnSpc>
                <a:spcPct val="140000"/>
              </a:lnSpc>
              <a:buNone/>
            </a:pPr>
            <a:r>
              <a:rPr lang="en-US" sz="1800" b="1" dirty="0">
                <a:solidFill>
                  <a:srgbClr val="888076"/>
                </a:solidFill>
                <a:latin typeface="Arial" pitchFamily="34" charset="0"/>
                <a:ea typeface="Arial" pitchFamily="34" charset="-122"/>
                <a:cs typeface="Arial" pitchFamily="34" charset="-120"/>
              </a:rPr>
              <a:t>Notion · GitHub · Obsidian </a:t>
            </a:r>
            <a:pPr algn="l" indent="0" marL="0">
              <a:lnSpc>
                <a:spcPct val="140000"/>
              </a:lnSpc>
              <a:buNone/>
            </a:pPr>
            <a:r>
              <a:rPr lang="en-US" sz="1800" dirty="0">
                <a:solidFill>
                  <a:srgbClr val="888076"/>
                </a:solidFill>
                <a:latin typeface="Arial" pitchFamily="34" charset="0"/>
                <a:ea typeface="Arial" pitchFamily="34" charset="-122"/>
                <a:cs typeface="Arial" pitchFamily="34" charset="-120"/>
              </a:rPr>
              <a:t>and any Markdown environment supporting Mermaid.</a:t>
            </a:r>
            <a:endParaRPr lang="en-US" sz="1800" dirty="0"/>
          </a:p>
        </p:txBody>
      </p:sp>
      <p:sp>
        <p:nvSpPr>
          <p:cNvPr id="18" name="Shape 16"/>
          <p:cNvSpPr/>
          <p:nvPr/>
        </p:nvSpPr>
        <p:spPr>
          <a:xfrm>
            <a:off x="9372600" y="7347109"/>
            <a:ext cx="8077200" cy="1097280"/>
          </a:xfrm>
          <a:prstGeom prst="rect">
            <a:avLst/>
          </a:prstGeom>
          <a:solidFill>
            <a:srgbClr val="0E0E0E"/>
          </a:solidFill>
          <a:ln/>
        </p:spPr>
      </p:sp>
      <p:sp>
        <p:nvSpPr>
          <p:cNvPr id="19" name="Text 17"/>
          <p:cNvSpPr/>
          <p:nvPr/>
        </p:nvSpPr>
        <p:spPr>
          <a:xfrm>
            <a:off x="9563100" y="7537609"/>
            <a:ext cx="7927086" cy="23622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D6FF3D"/>
                </a:solidFill>
                <a:latin typeface="Arial" pitchFamily="34" charset="0"/>
                <a:ea typeface="Arial" pitchFamily="34" charset="-122"/>
                <a:cs typeface="Arial" pitchFamily="34" charset="-120"/>
              </a:rPr>
              <a:t>SUPPORTED VARIANTS</a:t>
            </a:r>
            <a:endParaRPr lang="en-US" sz="1350" dirty="0"/>
          </a:p>
        </p:txBody>
      </p:sp>
      <p:sp>
        <p:nvSpPr>
          <p:cNvPr id="20" name="Text 18"/>
          <p:cNvSpPr/>
          <p:nvPr/>
        </p:nvSpPr>
        <p:spPr>
          <a:xfrm>
            <a:off x="9563100" y="7811929"/>
            <a:ext cx="7927086" cy="480060"/>
          </a:xfrm>
          <a:prstGeom prst="rect">
            <a:avLst/>
          </a:prstGeom>
          <a:noFill/>
          <a:ln/>
        </p:spPr>
        <p:txBody>
          <a:bodyPr wrap="square" lIns="25400" tIns="25400" rIns="25400" bIns="25400" rtlCol="0" anchor="t">
            <a:normAutofit/>
          </a:bodyPr>
          <a:lstStyle/>
          <a:p>
            <a:pPr algn="l" indent="0" marL="0">
              <a:lnSpc>
                <a:spcPct val="145000"/>
              </a:lnSpc>
              <a:buNone/>
            </a:pPr>
            <a:r>
              <a:rPr lang="en-US" sz="1200" spc="48" kern="0" dirty="0">
                <a:solidFill>
                  <a:srgbClr val="F2EFE8">
                    <a:alpha val="85000"/>
                  </a:srgbClr>
                </a:solidFill>
                <a:latin typeface="Arial" pitchFamily="34" charset="0"/>
                <a:ea typeface="Arial" pitchFamily="34" charset="-122"/>
                <a:cs typeface="Arial" pitchFamily="34" charset="-120"/>
              </a:rPr>
              <a:t>sequence diagrams · entity-relationship diagrams state diagrams · Gantt charts · class diagrams</a:t>
            </a:r>
            <a:endParaRPr lang="en-US" sz="1200" dirty="0"/>
          </a:p>
        </p:txBody>
      </p:sp>
      <p:sp>
        <p:nvSpPr>
          <p:cNvPr id="21" name="Text 19"/>
          <p:cNvSpPr/>
          <p:nvPr/>
        </p:nvSpPr>
        <p:spPr>
          <a:xfrm>
            <a:off x="838200" y="9643110"/>
            <a:ext cx="10500692"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PLAIN TEXT · VERSION-CONTROLLABLE · RENDERS ANYWHERE MARKDOWN DOES</a:t>
            </a:r>
            <a:endParaRPr lang="en-US" sz="1800" dirty="0"/>
          </a:p>
        </p:txBody>
      </p:sp>
      <p:sp>
        <p:nvSpPr>
          <p:cNvPr id="22" name="Text 20"/>
          <p:cNvSpPr/>
          <p:nvPr/>
        </p:nvSpPr>
        <p:spPr>
          <a:xfrm>
            <a:off x="16490156" y="9563100"/>
            <a:ext cx="1035844"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888076"/>
                </a:solidFill>
                <a:latin typeface="Arial" pitchFamily="34" charset="0"/>
                <a:ea typeface="Arial" pitchFamily="34" charset="-122"/>
                <a:cs typeface="Arial" pitchFamily="34" charset="-120"/>
              </a:rPr>
              <a:t>13 / 25</a:t>
            </a:r>
            <a:endParaRPr lang="en-US" sz="2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FE8"/>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2277845" y="327660"/>
            <a:ext cx="5327114"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CH.03 · STATIC-ASSET INSTRUMENTATION</a:t>
            </a:r>
            <a:endParaRPr lang="en-US" sz="1800" dirty="0"/>
          </a:p>
        </p:txBody>
      </p:sp>
      <p:sp>
        <p:nvSpPr>
          <p:cNvPr id="5" name="Shape 3"/>
          <p:cNvSpPr/>
          <p:nvPr/>
        </p:nvSpPr>
        <p:spPr>
          <a:xfrm>
            <a:off x="838200" y="1343025"/>
            <a:ext cx="95250" cy="95250"/>
          </a:xfrm>
          <a:prstGeom prst="rect">
            <a:avLst/>
          </a:prstGeom>
          <a:solidFill>
            <a:srgbClr val="FF5B1F"/>
          </a:solidFill>
          <a:ln/>
        </p:spPr>
      </p:sp>
      <p:sp>
        <p:nvSpPr>
          <p:cNvPr id="6" name="Text 4"/>
          <p:cNvSpPr/>
          <p:nvPr/>
        </p:nvSpPr>
        <p:spPr>
          <a:xfrm>
            <a:off x="1066800" y="1261110"/>
            <a:ext cx="1967032" cy="289560"/>
          </a:xfrm>
          <a:prstGeom prst="rect">
            <a:avLst/>
          </a:prstGeom>
          <a:noFill/>
          <a:ln/>
        </p:spPr>
        <p:txBody>
          <a:bodyPr wrap="square" lIns="0" tIns="0" rIns="0" bIns="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CH.03 · STEP 2</a:t>
            </a:r>
            <a:endParaRPr lang="en-US" sz="1800" dirty="0"/>
          </a:p>
        </p:txBody>
      </p:sp>
      <p:sp>
        <p:nvSpPr>
          <p:cNvPr id="7" name="Text 5"/>
          <p:cNvSpPr/>
          <p:nvPr/>
        </p:nvSpPr>
        <p:spPr>
          <a:xfrm>
            <a:off x="3090982" y="1238250"/>
            <a:ext cx="6244420" cy="34290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2A2A2A"/>
                </a:solidFill>
                <a:latin typeface="Arial" pitchFamily="34" charset="0"/>
                <a:ea typeface="Arial" pitchFamily="34" charset="-122"/>
                <a:cs typeface="Arial" pitchFamily="34" charset="-120"/>
              </a:rPr>
              <a:t>— POSTERS · SLIDES · PUBLICATION ASSETS</a:t>
            </a:r>
            <a:endParaRPr lang="en-US" sz="1800" dirty="0"/>
          </a:p>
        </p:txBody>
      </p:sp>
      <p:sp>
        <p:nvSpPr>
          <p:cNvPr id="8" name="Text 6"/>
          <p:cNvSpPr/>
          <p:nvPr/>
        </p:nvSpPr>
        <p:spPr>
          <a:xfrm>
            <a:off x="838200" y="1733550"/>
            <a:ext cx="17109948" cy="923449"/>
          </a:xfrm>
          <a:prstGeom prst="rect">
            <a:avLst/>
          </a:prstGeom>
          <a:noFill/>
          <a:ln/>
        </p:spPr>
        <p:txBody>
          <a:bodyPr wrap="square" lIns="25400" tIns="25400" rIns="25400" bIns="25400" rtlCol="0" anchor="t">
            <a:normAutofit/>
          </a:bodyPr>
          <a:lstStyle/>
          <a:p>
            <a:pPr algn="l" indent="0" marL="0">
              <a:lnSpc>
                <a:spcPct val="96000"/>
              </a:lnSpc>
              <a:buNone/>
            </a:pPr>
            <a:r>
              <a:rPr lang="en-US" sz="7200" spc="-180" kern="0" dirty="0">
                <a:solidFill>
                  <a:srgbClr val="0E0E0E"/>
                </a:solidFill>
                <a:latin typeface="Arial" pitchFamily="34" charset="0"/>
                <a:ea typeface="Arial" pitchFamily="34" charset="-122"/>
                <a:cs typeface="Arial" pitchFamily="34" charset="-120"/>
              </a:rPr>
              <a:t>A studio of one. </a:t>
            </a:r>
            <a:pPr algn="l" indent="0" marL="0">
              <a:lnSpc>
                <a:spcPct val="96000"/>
              </a:lnSpc>
              <a:buNone/>
            </a:pPr>
            <a:r>
              <a:rPr lang="en-US" sz="7200" i="1" spc="-180" kern="0" dirty="0">
                <a:solidFill>
                  <a:srgbClr val="0E0E0E"/>
                </a:solidFill>
                <a:latin typeface="Arial" pitchFamily="34" charset="0"/>
                <a:ea typeface="Arial" pitchFamily="34" charset="-122"/>
                <a:cs typeface="Arial" pitchFamily="34" charset="-120"/>
              </a:rPr>
              <a:t>No subscriptions.</a:t>
            </a:r>
            <a:endParaRPr lang="en-US" sz="7200" dirty="0"/>
          </a:p>
        </p:txBody>
      </p:sp>
      <p:sp>
        <p:nvSpPr>
          <p:cNvPr id="9" name="Shape 7"/>
          <p:cNvSpPr/>
          <p:nvPr/>
        </p:nvSpPr>
        <p:spPr>
          <a:xfrm>
            <a:off x="838200" y="3095149"/>
            <a:ext cx="5422821" cy="2367915"/>
          </a:xfrm>
          <a:prstGeom prst="rect">
            <a:avLst/>
          </a:prstGeom>
          <a:solidFill>
            <a:srgbClr val="F2EFE8"/>
          </a:solidFill>
          <a:ln w="15240">
            <a:solidFill>
              <a:srgbClr val="0E0E0E"/>
            </a:solidFill>
            <a:prstDash val="solid"/>
          </a:ln>
        </p:spPr>
      </p:sp>
      <p:sp>
        <p:nvSpPr>
          <p:cNvPr id="10" name="Text 8"/>
          <p:cNvSpPr/>
          <p:nvPr/>
        </p:nvSpPr>
        <p:spPr>
          <a:xfrm>
            <a:off x="1120140" y="3338989"/>
            <a:ext cx="5004709"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 LAYOUT &amp; BRAND</a:t>
            </a:r>
            <a:endParaRPr lang="en-US" sz="1800" dirty="0"/>
          </a:p>
        </p:txBody>
      </p:sp>
      <p:sp>
        <p:nvSpPr>
          <p:cNvPr id="11" name="Text 9"/>
          <p:cNvSpPr/>
          <p:nvPr/>
        </p:nvSpPr>
        <p:spPr>
          <a:xfrm>
            <a:off x="1120140" y="3712369"/>
            <a:ext cx="5004709"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Canva</a:t>
            </a:r>
            <a:endParaRPr lang="en-US" sz="3300" dirty="0"/>
          </a:p>
        </p:txBody>
      </p:sp>
      <p:sp>
        <p:nvSpPr>
          <p:cNvPr id="12" name="Text 10"/>
          <p:cNvSpPr/>
          <p:nvPr/>
        </p:nvSpPr>
        <p:spPr>
          <a:xfrm>
            <a:off x="1120140" y="4259104"/>
            <a:ext cx="5004709"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Templates with Magic Studio for layout, recolour, and resize. Brand-kit lock for institutional consistency.</a:t>
            </a:r>
            <a:endParaRPr lang="en-US" sz="1800" dirty="0"/>
          </a:p>
        </p:txBody>
      </p:sp>
      <p:sp>
        <p:nvSpPr>
          <p:cNvPr id="13" name="Shape 11"/>
          <p:cNvSpPr/>
          <p:nvPr/>
        </p:nvSpPr>
        <p:spPr>
          <a:xfrm>
            <a:off x="6432471" y="3095149"/>
            <a:ext cx="5422940" cy="2367915"/>
          </a:xfrm>
          <a:prstGeom prst="rect">
            <a:avLst/>
          </a:prstGeom>
          <a:solidFill>
            <a:srgbClr val="F2EFE8"/>
          </a:solidFill>
          <a:ln w="15240">
            <a:solidFill>
              <a:srgbClr val="0E0E0E"/>
            </a:solidFill>
            <a:prstDash val="solid"/>
          </a:ln>
        </p:spPr>
      </p:sp>
      <p:sp>
        <p:nvSpPr>
          <p:cNvPr id="14" name="Text 12"/>
          <p:cNvSpPr/>
          <p:nvPr/>
        </p:nvSpPr>
        <p:spPr>
          <a:xfrm>
            <a:off x="6714411" y="3338989"/>
            <a:ext cx="5004832"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 GRAPHIC PRODUCTION</a:t>
            </a:r>
            <a:endParaRPr lang="en-US" sz="1800" dirty="0"/>
          </a:p>
        </p:txBody>
      </p:sp>
      <p:sp>
        <p:nvSpPr>
          <p:cNvPr id="15" name="Text 13"/>
          <p:cNvSpPr/>
          <p:nvPr/>
        </p:nvSpPr>
        <p:spPr>
          <a:xfrm>
            <a:off x="6714411" y="3712369"/>
            <a:ext cx="5004832"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Microsoft Designer</a:t>
            </a:r>
            <a:endParaRPr lang="en-US" sz="3300" dirty="0"/>
          </a:p>
        </p:txBody>
      </p:sp>
      <p:sp>
        <p:nvSpPr>
          <p:cNvPr id="16" name="Text 14"/>
          <p:cNvSpPr/>
          <p:nvPr/>
        </p:nvSpPr>
        <p:spPr>
          <a:xfrm>
            <a:off x="6714411" y="4579144"/>
            <a:ext cx="5004832" cy="6781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Native to the Microsoft account ecosystem. Appropriate for routine institutional graphics.</a:t>
            </a:r>
            <a:endParaRPr lang="en-US" sz="1800" dirty="0"/>
          </a:p>
        </p:txBody>
      </p:sp>
      <p:sp>
        <p:nvSpPr>
          <p:cNvPr id="17" name="Shape 15"/>
          <p:cNvSpPr/>
          <p:nvPr/>
        </p:nvSpPr>
        <p:spPr>
          <a:xfrm>
            <a:off x="12026860" y="3095149"/>
            <a:ext cx="5422940" cy="2367915"/>
          </a:xfrm>
          <a:prstGeom prst="rect">
            <a:avLst/>
          </a:prstGeom>
          <a:solidFill>
            <a:srgbClr val="FF5B1F"/>
          </a:solidFill>
          <a:ln w="15240">
            <a:solidFill>
              <a:srgbClr val="FF5B1F"/>
            </a:solidFill>
            <a:prstDash val="solid"/>
          </a:ln>
        </p:spPr>
      </p:sp>
      <p:sp>
        <p:nvSpPr>
          <p:cNvPr id="18" name="Text 16"/>
          <p:cNvSpPr/>
          <p:nvPr/>
        </p:nvSpPr>
        <p:spPr>
          <a:xfrm>
            <a:off x="12308801" y="3338989"/>
            <a:ext cx="5004832" cy="350520"/>
          </a:xfrm>
          <a:prstGeom prst="rect">
            <a:avLst/>
          </a:prstGeom>
          <a:noFill/>
          <a:ln/>
        </p:spPr>
        <p:txBody>
          <a:bodyPr wrap="square" lIns="25400" tIns="25400" rIns="25400" bIns="25400" rtlCol="0" anchor="t">
            <a:normAutofit/>
          </a:bodyPr>
          <a:lstStyle/>
          <a:p>
            <a:pPr algn="l" indent="0" marL="0">
              <a:buNone/>
            </a:pPr>
            <a:r>
              <a:rPr lang="en-US" sz="1800" b="1" spc="144" kern="0" dirty="0">
                <a:solidFill>
                  <a:srgbClr val="0E0E0E"/>
                </a:solidFill>
                <a:latin typeface="Arial" pitchFamily="34" charset="0"/>
                <a:ea typeface="Arial" pitchFamily="34" charset="-122"/>
                <a:cs typeface="Arial" pitchFamily="34" charset="-120"/>
              </a:rPr>
              <a:t>★ TYPOGRAPHIC FIDELITY</a:t>
            </a:r>
            <a:endParaRPr lang="en-US" sz="1800" dirty="0"/>
          </a:p>
        </p:txBody>
      </p:sp>
      <p:sp>
        <p:nvSpPr>
          <p:cNvPr id="19" name="Text 17"/>
          <p:cNvSpPr/>
          <p:nvPr/>
        </p:nvSpPr>
        <p:spPr>
          <a:xfrm>
            <a:off x="12308801" y="3765709"/>
            <a:ext cx="5004832"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Ideogram</a:t>
            </a:r>
            <a:endParaRPr lang="en-US" sz="3300" dirty="0"/>
          </a:p>
        </p:txBody>
      </p:sp>
      <p:sp>
        <p:nvSpPr>
          <p:cNvPr id="20" name="Text 18"/>
          <p:cNvSpPr/>
          <p:nvPr/>
        </p:nvSpPr>
        <p:spPr>
          <a:xfrm>
            <a:off x="12308801" y="4259104"/>
            <a:ext cx="5004832"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0E0E0E"/>
                </a:solidFill>
                <a:latin typeface="Arial" pitchFamily="34" charset="0"/>
                <a:ea typeface="Arial" pitchFamily="34" charset="-122"/>
                <a:cs typeface="Arial" pitchFamily="34" charset="-120"/>
              </a:rPr>
              <a:t>Current state of the art for AI-generated images containing legible typography — a capability other diffusion models still fail at reliably.</a:t>
            </a:r>
            <a:endParaRPr lang="en-US" sz="1800" dirty="0"/>
          </a:p>
        </p:txBody>
      </p:sp>
      <p:sp>
        <p:nvSpPr>
          <p:cNvPr id="21" name="Shape 19"/>
          <p:cNvSpPr/>
          <p:nvPr/>
        </p:nvSpPr>
        <p:spPr>
          <a:xfrm>
            <a:off x="838200" y="5634514"/>
            <a:ext cx="5422821" cy="2596515"/>
          </a:xfrm>
          <a:prstGeom prst="rect">
            <a:avLst/>
          </a:prstGeom>
          <a:solidFill>
            <a:srgbClr val="F2EFE8"/>
          </a:solidFill>
          <a:ln w="15240">
            <a:solidFill>
              <a:srgbClr val="0E0E0E"/>
            </a:solidFill>
            <a:prstDash val="solid"/>
          </a:ln>
        </p:spPr>
      </p:sp>
      <p:sp>
        <p:nvSpPr>
          <p:cNvPr id="22" name="Text 20"/>
          <p:cNvSpPr/>
          <p:nvPr/>
        </p:nvSpPr>
        <p:spPr>
          <a:xfrm>
            <a:off x="1120140" y="5878354"/>
            <a:ext cx="5004709"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DAILY · IMAGE CREDITS</a:t>
            </a:r>
            <a:endParaRPr lang="en-US" sz="1800" dirty="0"/>
          </a:p>
        </p:txBody>
      </p:sp>
      <p:sp>
        <p:nvSpPr>
          <p:cNvPr id="23" name="Text 21"/>
          <p:cNvSpPr/>
          <p:nvPr/>
        </p:nvSpPr>
        <p:spPr>
          <a:xfrm>
            <a:off x="1120140" y="6251734"/>
            <a:ext cx="5004709"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Bing Image Creator</a:t>
            </a:r>
            <a:endParaRPr lang="en-US" sz="3300" dirty="0"/>
          </a:p>
        </p:txBody>
      </p:sp>
      <p:sp>
        <p:nvSpPr>
          <p:cNvPr id="24" name="Text 22"/>
          <p:cNvSpPr/>
          <p:nvPr/>
        </p:nvSpPr>
        <p:spPr>
          <a:xfrm>
            <a:off x="1120140" y="7347109"/>
            <a:ext cx="5004709" cy="6781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DALL·E 3 access through a Microsoft account. Daily credit allocation; no subscription required.</a:t>
            </a:r>
            <a:endParaRPr lang="en-US" sz="1800" dirty="0"/>
          </a:p>
        </p:txBody>
      </p:sp>
      <p:sp>
        <p:nvSpPr>
          <p:cNvPr id="25" name="Shape 23"/>
          <p:cNvSpPr/>
          <p:nvPr/>
        </p:nvSpPr>
        <p:spPr>
          <a:xfrm>
            <a:off x="6432471" y="5634514"/>
            <a:ext cx="5422940" cy="2596515"/>
          </a:xfrm>
          <a:prstGeom prst="rect">
            <a:avLst/>
          </a:prstGeom>
          <a:solidFill>
            <a:srgbClr val="F2EFE8"/>
          </a:solidFill>
          <a:ln w="15240">
            <a:solidFill>
              <a:srgbClr val="0E0E0E"/>
            </a:solidFill>
            <a:prstDash val="solid"/>
          </a:ln>
        </p:spPr>
      </p:sp>
      <p:sp>
        <p:nvSpPr>
          <p:cNvPr id="26" name="Text 24"/>
          <p:cNvSpPr/>
          <p:nvPr/>
        </p:nvSpPr>
        <p:spPr>
          <a:xfrm>
            <a:off x="6714411" y="5878354"/>
            <a:ext cx="5004832"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 PROMPT-TO-DECK</a:t>
            </a:r>
            <a:endParaRPr lang="en-US" sz="1800" dirty="0"/>
          </a:p>
        </p:txBody>
      </p:sp>
      <p:sp>
        <p:nvSpPr>
          <p:cNvPr id="27" name="Text 25"/>
          <p:cNvSpPr/>
          <p:nvPr/>
        </p:nvSpPr>
        <p:spPr>
          <a:xfrm>
            <a:off x="6714411" y="6251734"/>
            <a:ext cx="5004832"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Gamma</a:t>
            </a:r>
            <a:endParaRPr lang="en-US" sz="3300" dirty="0"/>
          </a:p>
        </p:txBody>
      </p:sp>
      <p:sp>
        <p:nvSpPr>
          <p:cNvPr id="28" name="Text 26"/>
          <p:cNvSpPr/>
          <p:nvPr/>
        </p:nvSpPr>
        <p:spPr>
          <a:xfrm>
            <a:off x="6714411" y="7027069"/>
            <a:ext cx="5004832"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Generates editable presentation decks from a single prompt. Suitable for scaffolding; expect editorial revision.</a:t>
            </a:r>
            <a:endParaRPr lang="en-US" sz="1800" dirty="0"/>
          </a:p>
        </p:txBody>
      </p:sp>
      <p:sp>
        <p:nvSpPr>
          <p:cNvPr id="29" name="Shape 27"/>
          <p:cNvSpPr/>
          <p:nvPr/>
        </p:nvSpPr>
        <p:spPr>
          <a:xfrm>
            <a:off x="12026860" y="5634514"/>
            <a:ext cx="5422940" cy="2596515"/>
          </a:xfrm>
          <a:prstGeom prst="rect">
            <a:avLst/>
          </a:prstGeom>
          <a:solidFill>
            <a:srgbClr val="0E0E0E"/>
          </a:solidFill>
          <a:ln w="15240">
            <a:solidFill>
              <a:srgbClr val="0E0E0E"/>
            </a:solidFill>
            <a:prstDash val="solid"/>
          </a:ln>
        </p:spPr>
      </p:sp>
      <p:sp>
        <p:nvSpPr>
          <p:cNvPr id="30" name="Text 28"/>
          <p:cNvSpPr/>
          <p:nvPr/>
        </p:nvSpPr>
        <p:spPr>
          <a:xfrm>
            <a:off x="12308801" y="5878354"/>
            <a:ext cx="5004832"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THE OPERATIVE CONSTRAINT</a:t>
            </a:r>
            <a:endParaRPr lang="en-US" sz="1800" dirty="0"/>
          </a:p>
        </p:txBody>
      </p:sp>
      <p:sp>
        <p:nvSpPr>
          <p:cNvPr id="31" name="Text 29"/>
          <p:cNvSpPr/>
          <p:nvPr/>
        </p:nvSpPr>
        <p:spPr>
          <a:xfrm>
            <a:off x="12308801" y="6251734"/>
            <a:ext cx="5004832" cy="718185"/>
          </a:xfrm>
          <a:prstGeom prst="rect">
            <a:avLst/>
          </a:prstGeom>
          <a:noFill/>
          <a:ln/>
        </p:spPr>
        <p:txBody>
          <a:bodyPr wrap="square" lIns="25400" tIns="25400" rIns="25400" bIns="25400" rtlCol="0" anchor="t">
            <a:normAutofit/>
          </a:bodyPr>
          <a:lstStyle/>
          <a:p>
            <a:pPr algn="l" indent="0" marL="0">
              <a:lnSpc>
                <a:spcPct val="105000"/>
              </a:lnSpc>
              <a:buNone/>
            </a:pPr>
            <a:r>
              <a:rPr lang="en-US" sz="2550" spc="-51" kern="0" dirty="0">
                <a:solidFill>
                  <a:srgbClr val="F2EFE8"/>
                </a:solidFill>
                <a:latin typeface="Arial" pitchFamily="34" charset="0"/>
                <a:ea typeface="Arial" pitchFamily="34" charset="-122"/>
                <a:cs typeface="Arial" pitchFamily="34" charset="-120"/>
              </a:rPr>
              <a:t>Editorial judgment.</a:t>
            </a:r>
            <a:endParaRPr lang="en-US" sz="2550" dirty="0"/>
          </a:p>
        </p:txBody>
      </p:sp>
      <p:sp>
        <p:nvSpPr>
          <p:cNvPr id="32" name="Text 30"/>
          <p:cNvSpPr/>
          <p:nvPr/>
        </p:nvSpPr>
        <p:spPr>
          <a:xfrm>
            <a:off x="12308801" y="7027069"/>
            <a:ext cx="5004832"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F2EFE8">
                    <a:alpha val="78000"/>
                  </a:srgbClr>
                </a:solidFill>
                <a:latin typeface="Arial" pitchFamily="34" charset="0"/>
                <a:ea typeface="Arial" pitchFamily="34" charset="-122"/>
                <a:cs typeface="Arial" pitchFamily="34" charset="-120"/>
              </a:rPr>
              <a:t>The model produces ten options. The operator selects the one that </a:t>
            </a:r>
            <a:pPr algn="l" indent="0" marL="0">
              <a:lnSpc>
                <a:spcPct val="140000"/>
              </a:lnSpc>
              <a:buNone/>
            </a:pPr>
            <a:r>
              <a:rPr lang="en-US" sz="1800" i="1" dirty="0">
                <a:solidFill>
                  <a:srgbClr val="F2EFE8">
                    <a:alpha val="78000"/>
                  </a:srgbClr>
                </a:solidFill>
                <a:latin typeface="Arial" pitchFamily="34" charset="0"/>
                <a:ea typeface="Arial" pitchFamily="34" charset="-122"/>
                <a:cs typeface="Arial" pitchFamily="34" charset="-120"/>
              </a:rPr>
              <a:t>does not appear generic. </a:t>
            </a:r>
            <a:pPr algn="l" indent="0" marL="0">
              <a:lnSpc>
                <a:spcPct val="140000"/>
              </a:lnSpc>
              <a:buNone/>
            </a:pPr>
            <a:r>
              <a:rPr lang="en-US" sz="1800" dirty="0">
                <a:solidFill>
                  <a:srgbClr val="F2EFE8">
                    <a:alpha val="78000"/>
                  </a:srgbClr>
                </a:solidFill>
                <a:latin typeface="Arial" pitchFamily="34" charset="0"/>
                <a:ea typeface="Arial" pitchFamily="34" charset="-122"/>
                <a:cs typeface="Arial" pitchFamily="34" charset="-120"/>
              </a:rPr>
              <a:t>Selection is the new bottleneck.</a:t>
            </a:r>
            <a:endParaRPr lang="en-US" sz="1800" dirty="0"/>
          </a:p>
        </p:txBody>
      </p:sp>
      <p:sp>
        <p:nvSpPr>
          <p:cNvPr id="33" name="Text 31"/>
          <p:cNvSpPr/>
          <p:nvPr/>
        </p:nvSpPr>
        <p:spPr>
          <a:xfrm>
            <a:off x="838200" y="9643110"/>
            <a:ext cx="5427675"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FIVE INSTRUMENTS · ZERO LICENCE FEES</a:t>
            </a:r>
            <a:endParaRPr lang="en-US" sz="1800" dirty="0"/>
          </a:p>
        </p:txBody>
      </p:sp>
      <p:sp>
        <p:nvSpPr>
          <p:cNvPr id="34" name="Text 32"/>
          <p:cNvSpPr/>
          <p:nvPr/>
        </p:nvSpPr>
        <p:spPr>
          <a:xfrm>
            <a:off x="16483251" y="9563100"/>
            <a:ext cx="1042749"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888076"/>
                </a:solidFill>
                <a:latin typeface="Arial" pitchFamily="34" charset="0"/>
                <a:ea typeface="Arial" pitchFamily="34" charset="-122"/>
                <a:cs typeface="Arial" pitchFamily="34" charset="-120"/>
              </a:rPr>
              <a:t>14 / 25</a:t>
            </a:r>
            <a:endParaRPr lang="en-US" sz="2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FE8"/>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1792545" y="327660"/>
            <a:ext cx="5826972"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CHAPTER 04 / 05 · SOFTWARE DEVELOPMENT</a:t>
            </a:r>
            <a:endParaRPr lang="en-US" sz="1800" dirty="0"/>
          </a:p>
        </p:txBody>
      </p:sp>
      <p:sp>
        <p:nvSpPr>
          <p:cNvPr id="5" name="Shape 3"/>
          <p:cNvSpPr/>
          <p:nvPr/>
        </p:nvSpPr>
        <p:spPr>
          <a:xfrm>
            <a:off x="838200" y="1438275"/>
            <a:ext cx="95250" cy="95250"/>
          </a:xfrm>
          <a:prstGeom prst="rect">
            <a:avLst/>
          </a:prstGeom>
          <a:solidFill>
            <a:srgbClr val="FF5B1F"/>
          </a:solidFill>
          <a:ln/>
        </p:spPr>
      </p:sp>
      <p:sp>
        <p:nvSpPr>
          <p:cNvPr id="6" name="Text 4"/>
          <p:cNvSpPr/>
          <p:nvPr/>
        </p:nvSpPr>
        <p:spPr>
          <a:xfrm>
            <a:off x="1066800" y="1356360"/>
            <a:ext cx="815697" cy="289560"/>
          </a:xfrm>
          <a:prstGeom prst="rect">
            <a:avLst/>
          </a:prstGeom>
          <a:noFill/>
          <a:ln/>
        </p:spPr>
        <p:txBody>
          <a:bodyPr wrap="square" lIns="0" tIns="0" rIns="0" bIns="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CH.04</a:t>
            </a:r>
            <a:endParaRPr lang="en-US" sz="1800" dirty="0"/>
          </a:p>
        </p:txBody>
      </p:sp>
      <p:sp>
        <p:nvSpPr>
          <p:cNvPr id="7" name="Text 5"/>
          <p:cNvSpPr/>
          <p:nvPr/>
        </p:nvSpPr>
        <p:spPr>
          <a:xfrm>
            <a:off x="1939647" y="1333500"/>
            <a:ext cx="6404457" cy="34290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2A2A2A"/>
                </a:solidFill>
                <a:latin typeface="Arial" pitchFamily="34" charset="0"/>
                <a:ea typeface="Arial" pitchFamily="34" charset="-122"/>
                <a:cs typeface="Arial" pitchFamily="34" charset="-120"/>
              </a:rPr>
              <a:t>— FROM SPECIFICATION TO DEPLOYED PRODUCT</a:t>
            </a:r>
            <a:endParaRPr lang="en-US" sz="1800" dirty="0"/>
          </a:p>
        </p:txBody>
      </p:sp>
      <p:sp>
        <p:nvSpPr>
          <p:cNvPr id="8" name="Text 6"/>
          <p:cNvSpPr/>
          <p:nvPr/>
        </p:nvSpPr>
        <p:spPr>
          <a:xfrm>
            <a:off x="838200" y="1924050"/>
            <a:ext cx="17109948" cy="2506980"/>
          </a:xfrm>
          <a:prstGeom prst="rect">
            <a:avLst/>
          </a:prstGeom>
          <a:noFill/>
          <a:ln/>
        </p:spPr>
        <p:txBody>
          <a:bodyPr wrap="square" lIns="25400" tIns="25400" rIns="25400" bIns="25400" rtlCol="0" anchor="t">
            <a:normAutofit/>
          </a:bodyPr>
          <a:lstStyle/>
          <a:p>
            <a:pPr algn="l" indent="0" marL="0">
              <a:lnSpc>
                <a:spcPct val="92000"/>
              </a:lnSpc>
              <a:buNone/>
            </a:pPr>
            <a:r>
              <a:rPr lang="en-US" sz="10500" spc="-315" kern="0" dirty="0">
                <a:solidFill>
                  <a:srgbClr val="0E0E0E"/>
                </a:solidFill>
                <a:latin typeface="Arial" pitchFamily="34" charset="0"/>
                <a:ea typeface="Arial" pitchFamily="34" charset="-122"/>
                <a:cs typeface="Arial" pitchFamily="34" charset="-120"/>
              </a:rPr>
              <a:t>One programming course of </a:t>
            </a:r>
            <a:pPr algn="l" indent="0" marL="0">
              <a:lnSpc>
                <a:spcPct val="92000"/>
              </a:lnSpc>
              <a:buNone/>
            </a:pPr>
            <a:r>
              <a:rPr lang="en-US" sz="10500" i="1" spc="-315" kern="0" dirty="0">
                <a:solidFill>
                  <a:srgbClr val="0E0E0E"/>
                </a:solidFill>
                <a:latin typeface="Arial" pitchFamily="34" charset="0"/>
                <a:ea typeface="Arial" pitchFamily="34" charset="-122"/>
                <a:cs typeface="Arial" pitchFamily="34" charset="-120"/>
              </a:rPr>
              <a:t>prior </a:t>
            </a:r>
            <a:pPr algn="l" indent="0" marL="0">
              <a:lnSpc>
                <a:spcPct val="92000"/>
              </a:lnSpc>
              <a:buNone/>
            </a:pPr>
            <a:r>
              <a:rPr lang="en-US" sz="10500" spc="-315" kern="0" dirty="0">
                <a:solidFill>
                  <a:srgbClr val="0E0E0E"/>
                </a:solidFill>
                <a:latin typeface="Arial" pitchFamily="34" charset="0"/>
                <a:ea typeface="Arial" pitchFamily="34" charset="-122"/>
                <a:cs typeface="Arial" pitchFamily="34" charset="-120"/>
              </a:rPr>
              <a:t>training.</a:t>
            </a:r>
            <a:endParaRPr lang="en-US" sz="10500" dirty="0"/>
          </a:p>
        </p:txBody>
      </p:sp>
      <p:sp>
        <p:nvSpPr>
          <p:cNvPr id="9" name="Text 7"/>
          <p:cNvSpPr/>
          <p:nvPr/>
        </p:nvSpPr>
        <p:spPr>
          <a:xfrm>
            <a:off x="838200" y="4964430"/>
            <a:ext cx="9011542" cy="918210"/>
          </a:xfrm>
          <a:prstGeom prst="rect">
            <a:avLst/>
          </a:prstGeom>
          <a:noFill/>
          <a:ln/>
        </p:spPr>
        <p:txBody>
          <a:bodyPr wrap="square" lIns="25400" tIns="25400" rIns="25400" bIns="25400" rtlCol="0" anchor="t">
            <a:normAutofit/>
          </a:bodyPr>
          <a:lstStyle/>
          <a:p>
            <a:pPr algn="l" indent="0" marL="0">
              <a:lnSpc>
                <a:spcPct val="110000"/>
              </a:lnSpc>
              <a:buNone/>
            </a:pPr>
            <a:r>
              <a:rPr lang="en-US" sz="3150" i="1" spc="-31" kern="0" dirty="0">
                <a:solidFill>
                  <a:srgbClr val="0E0E0E"/>
                </a:solidFill>
                <a:latin typeface="Arial" pitchFamily="34" charset="0"/>
                <a:ea typeface="Arial" pitchFamily="34" charset="-122"/>
                <a:cs typeface="Arial" pitchFamily="34" charset="-120"/>
              </a:rPr>
              <a:t>A functional study-planning application, deployed within one academic semester.</a:t>
            </a:r>
            <a:endParaRPr lang="en-US" sz="3150" dirty="0"/>
          </a:p>
        </p:txBody>
      </p:sp>
      <p:sp>
        <p:nvSpPr>
          <p:cNvPr id="10" name="Text 8"/>
          <p:cNvSpPr/>
          <p:nvPr/>
        </p:nvSpPr>
        <p:spPr>
          <a:xfrm>
            <a:off x="838200" y="6073140"/>
            <a:ext cx="9011542" cy="1032510"/>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2A2A2A"/>
                </a:solidFill>
                <a:latin typeface="Arial" pitchFamily="34" charset="0"/>
                <a:ea typeface="Arial" pitchFamily="34" charset="-122"/>
                <a:cs typeface="Arial" pitchFamily="34" charset="-120"/>
              </a:rPr>
              <a:t>Under current conditions this is the median outcome for students who engage seriously, not the exceptional one. The technical barrier to a first shipped product is now measured in days.</a:t>
            </a:r>
            <a:endParaRPr lang="en-US" sz="1800" dirty="0"/>
          </a:p>
        </p:txBody>
      </p:sp>
      <p:sp>
        <p:nvSpPr>
          <p:cNvPr id="11" name="Shape 9"/>
          <p:cNvSpPr/>
          <p:nvPr/>
        </p:nvSpPr>
        <p:spPr>
          <a:xfrm>
            <a:off x="10158769" y="4964430"/>
            <a:ext cx="7291031" cy="800100"/>
          </a:xfrm>
          <a:prstGeom prst="rect">
            <a:avLst/>
          </a:prstGeom>
          <a:solidFill>
            <a:srgbClr val="FF3355"/>
          </a:solidFill>
          <a:ln/>
        </p:spPr>
      </p:sp>
      <p:sp>
        <p:nvSpPr>
          <p:cNvPr id="12" name="Text 10"/>
          <p:cNvSpPr/>
          <p:nvPr/>
        </p:nvSpPr>
        <p:spPr>
          <a:xfrm>
            <a:off x="10349269" y="5200650"/>
            <a:ext cx="200858" cy="365760"/>
          </a:xfrm>
          <a:prstGeom prst="rect">
            <a:avLst/>
          </a:prstGeom>
          <a:noFill/>
          <a:ln/>
        </p:spPr>
        <p:txBody>
          <a:bodyPr wrap="square" lIns="25400" tIns="25400" rIns="25400" bIns="25400" rtlCol="0" anchor="t">
            <a:normAutofit/>
          </a:bodyPr>
          <a:lstStyle/>
          <a:p>
            <a:pPr algn="l" indent="0" marL="0">
              <a:buNone/>
            </a:pPr>
            <a:r>
              <a:rPr lang="en-US" sz="2100" b="1" i="1" spc="216" kern="0" dirty="0">
                <a:solidFill>
                  <a:srgbClr val="F2EFE8"/>
                </a:solidFill>
                <a:latin typeface="Arial" pitchFamily="34" charset="0"/>
                <a:ea typeface="Arial" pitchFamily="34" charset="-122"/>
                <a:cs typeface="Arial" pitchFamily="34" charset="-120"/>
              </a:rPr>
              <a:t>!</a:t>
            </a:r>
            <a:endParaRPr lang="en-US" sz="2100" dirty="0"/>
          </a:p>
        </p:txBody>
      </p:sp>
      <p:sp>
        <p:nvSpPr>
          <p:cNvPr id="13" name="Text 11"/>
          <p:cNvSpPr/>
          <p:nvPr/>
        </p:nvSpPr>
        <p:spPr>
          <a:xfrm>
            <a:off x="10607278" y="5059680"/>
            <a:ext cx="6442229" cy="647700"/>
          </a:xfrm>
          <a:prstGeom prst="rect">
            <a:avLst/>
          </a:prstGeom>
          <a:noFill/>
          <a:ln/>
        </p:spPr>
        <p:txBody>
          <a:bodyPr wrap="square" lIns="0" tIns="0" rIns="0" bIns="0" rtlCol="0" anchor="t">
            <a:normAutofit/>
          </a:bodyPr>
          <a:lstStyle/>
          <a:p>
            <a:pPr algn="l" indent="0" marL="0">
              <a:buNone/>
            </a:pPr>
            <a:r>
              <a:rPr lang="en-US" sz="1800" b="1" spc="216" kern="0" dirty="0">
                <a:solidFill>
                  <a:srgbClr val="F2EFE8"/>
                </a:solidFill>
                <a:latin typeface="Arial" pitchFamily="34" charset="0"/>
                <a:ea typeface="Arial" pitchFamily="34" charset="-122"/>
                <a:cs typeface="Arial" pitchFamily="34" charset="-120"/>
              </a:rPr>
              <a:t>THE CORRESPONDING RISK · COMPREHENSION DEBT</a:t>
            </a:r>
            <a:endParaRPr lang="en-US" sz="1800" dirty="0"/>
          </a:p>
        </p:txBody>
      </p:sp>
      <p:sp>
        <p:nvSpPr>
          <p:cNvPr id="14" name="Text 12"/>
          <p:cNvSpPr/>
          <p:nvPr/>
        </p:nvSpPr>
        <p:spPr>
          <a:xfrm>
            <a:off x="10158769" y="6107430"/>
            <a:ext cx="7509761" cy="1253490"/>
          </a:xfrm>
          <a:prstGeom prst="rect">
            <a:avLst/>
          </a:prstGeom>
          <a:noFill/>
          <a:ln/>
        </p:spPr>
        <p:txBody>
          <a:bodyPr wrap="square" lIns="25400" tIns="25400" rIns="25400" bIns="25400" rtlCol="0" anchor="t">
            <a:normAutofit/>
          </a:bodyPr>
          <a:lstStyle/>
          <a:p>
            <a:pPr algn="l" indent="0" marL="0">
              <a:lnSpc>
                <a:spcPct val="145000"/>
              </a:lnSpc>
              <a:buNone/>
            </a:pPr>
            <a:r>
              <a:rPr lang="en-US" sz="1650" dirty="0">
                <a:solidFill>
                  <a:srgbClr val="2A2A2A"/>
                </a:solidFill>
                <a:latin typeface="Arial" pitchFamily="34" charset="0"/>
                <a:ea typeface="Arial" pitchFamily="34" charset="-122"/>
                <a:cs typeface="Arial" pitchFamily="34" charset="-120"/>
              </a:rPr>
              <a:t>The risk surface has shifted from the build to the understanding of what was built. </a:t>
            </a:r>
            <a:pPr algn="l" indent="0" marL="0">
              <a:lnSpc>
                <a:spcPct val="145000"/>
              </a:lnSpc>
              <a:buNone/>
            </a:pPr>
            <a:r>
              <a:rPr lang="en-US" sz="1650" b="1" dirty="0">
                <a:solidFill>
                  <a:srgbClr val="0E0E0E"/>
                </a:solidFill>
                <a:latin typeface="Arial" pitchFamily="34" charset="0"/>
                <a:ea typeface="Arial" pitchFamily="34" charset="-122"/>
                <a:cs typeface="Arial" pitchFamily="34" charset="-120"/>
              </a:rPr>
              <a:t>A peer using the same stack shipped equivalent functionality and was subsequently unable to reason about the codebase in a technical assessment. </a:t>
            </a:r>
            <a:pPr algn="l" indent="0" marL="0">
              <a:lnSpc>
                <a:spcPct val="145000"/>
              </a:lnSpc>
              <a:buNone/>
            </a:pPr>
            <a:r>
              <a:rPr lang="en-US" sz="1650" dirty="0">
                <a:solidFill>
                  <a:srgbClr val="2A2A2A"/>
                </a:solidFill>
                <a:latin typeface="Arial" pitchFamily="34" charset="0"/>
                <a:ea typeface="Arial" pitchFamily="34" charset="-122"/>
                <a:cs typeface="Arial" pitchFamily="34" charset="-120"/>
              </a:rPr>
              <a:t>The model wrote every line; the operator never read it.</a:t>
            </a:r>
            <a:endParaRPr lang="en-US" sz="1650" dirty="0"/>
          </a:p>
        </p:txBody>
      </p:sp>
      <p:sp>
        <p:nvSpPr>
          <p:cNvPr id="15" name="Text 13"/>
          <p:cNvSpPr/>
          <p:nvPr/>
        </p:nvSpPr>
        <p:spPr>
          <a:xfrm>
            <a:off x="10158769" y="7532370"/>
            <a:ext cx="7509761" cy="358140"/>
          </a:xfrm>
          <a:prstGeom prst="rect">
            <a:avLst/>
          </a:prstGeom>
          <a:noFill/>
          <a:ln/>
        </p:spPr>
        <p:txBody>
          <a:bodyPr wrap="square" lIns="25400" tIns="25400" rIns="25400" bIns="25400" rtlCol="0" anchor="t">
            <a:normAutofit/>
          </a:bodyPr>
          <a:lstStyle/>
          <a:p>
            <a:pPr algn="l" indent="0" marL="0">
              <a:lnSpc>
                <a:spcPct val="140000"/>
              </a:lnSpc>
              <a:buNone/>
            </a:pPr>
            <a:r>
              <a:rPr lang="en-US" sz="1800" i="1" dirty="0">
                <a:solidFill>
                  <a:srgbClr val="888076"/>
                </a:solidFill>
                <a:latin typeface="Arial" pitchFamily="34" charset="0"/>
                <a:ea typeface="Arial" pitchFamily="34" charset="-122"/>
                <a:cs typeface="Arial" pitchFamily="34" charset="-120"/>
              </a:rPr>
              <a:t>The next two slides specify the protocol that prevents this outcome.</a:t>
            </a:r>
            <a:endParaRPr lang="en-US" sz="1800" dirty="0"/>
          </a:p>
        </p:txBody>
      </p:sp>
      <p:sp>
        <p:nvSpPr>
          <p:cNvPr id="16" name="Text 14"/>
          <p:cNvSpPr/>
          <p:nvPr/>
        </p:nvSpPr>
        <p:spPr>
          <a:xfrm>
            <a:off x="838200" y="9643110"/>
            <a:ext cx="7180243"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BUILD WITH AI · RETAIN OWNERSHIP OF THE CODEBASE</a:t>
            </a:r>
            <a:endParaRPr lang="en-US" sz="1800" dirty="0"/>
          </a:p>
        </p:txBody>
      </p:sp>
      <p:sp>
        <p:nvSpPr>
          <p:cNvPr id="17" name="Text 15"/>
          <p:cNvSpPr/>
          <p:nvPr/>
        </p:nvSpPr>
        <p:spPr>
          <a:xfrm>
            <a:off x="16484323" y="9563100"/>
            <a:ext cx="1041678"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888076"/>
                </a:solidFill>
                <a:latin typeface="Arial" pitchFamily="34" charset="0"/>
                <a:ea typeface="Arial" pitchFamily="34" charset="-122"/>
                <a:cs typeface="Arial" pitchFamily="34" charset="-120"/>
              </a:rPr>
              <a:t>15 / 25</a:t>
            </a:r>
            <a:endParaRPr lang="en-US" sz="2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8E3D6"/>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2168544" y="327660"/>
            <a:ext cx="5439693"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CH.04 · DEVELOPMENT INSTRUMENTATION</a:t>
            </a:r>
            <a:endParaRPr lang="en-US" sz="1800" dirty="0"/>
          </a:p>
        </p:txBody>
      </p:sp>
      <p:sp>
        <p:nvSpPr>
          <p:cNvPr id="5" name="Shape 3"/>
          <p:cNvSpPr/>
          <p:nvPr/>
        </p:nvSpPr>
        <p:spPr>
          <a:xfrm>
            <a:off x="838200" y="1343025"/>
            <a:ext cx="95250" cy="95250"/>
          </a:xfrm>
          <a:prstGeom prst="rect">
            <a:avLst/>
          </a:prstGeom>
          <a:solidFill>
            <a:srgbClr val="FF5B1F"/>
          </a:solidFill>
          <a:ln/>
        </p:spPr>
      </p:sp>
      <p:sp>
        <p:nvSpPr>
          <p:cNvPr id="6" name="Text 4"/>
          <p:cNvSpPr/>
          <p:nvPr/>
        </p:nvSpPr>
        <p:spPr>
          <a:xfrm>
            <a:off x="1066800" y="1261110"/>
            <a:ext cx="1967032" cy="289560"/>
          </a:xfrm>
          <a:prstGeom prst="rect">
            <a:avLst/>
          </a:prstGeom>
          <a:noFill/>
          <a:ln/>
        </p:spPr>
        <p:txBody>
          <a:bodyPr wrap="square" lIns="0" tIns="0" rIns="0" bIns="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CH.04 · STEP 1</a:t>
            </a:r>
            <a:endParaRPr lang="en-US" sz="1800" dirty="0"/>
          </a:p>
        </p:txBody>
      </p:sp>
      <p:sp>
        <p:nvSpPr>
          <p:cNvPr id="7" name="Text 5"/>
          <p:cNvSpPr/>
          <p:nvPr/>
        </p:nvSpPr>
        <p:spPr>
          <a:xfrm>
            <a:off x="3090982" y="1238250"/>
            <a:ext cx="8165733" cy="34290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2A2A2A"/>
                </a:solidFill>
                <a:latin typeface="Arial" pitchFamily="34" charset="0"/>
                <a:ea typeface="Arial" pitchFamily="34" charset="-122"/>
                <a:cs typeface="Arial" pitchFamily="34" charset="-120"/>
              </a:rPr>
              <a:t>— STUDENT ACCESS · INSTITUTIONAL EMAIL VERIFICATION</a:t>
            </a:r>
            <a:endParaRPr lang="en-US" sz="1800" dirty="0"/>
          </a:p>
        </p:txBody>
      </p:sp>
      <p:sp>
        <p:nvSpPr>
          <p:cNvPr id="8" name="Text 6"/>
          <p:cNvSpPr/>
          <p:nvPr/>
        </p:nvSpPr>
        <p:spPr>
          <a:xfrm>
            <a:off x="838200" y="1733550"/>
            <a:ext cx="17109948" cy="923449"/>
          </a:xfrm>
          <a:prstGeom prst="rect">
            <a:avLst/>
          </a:prstGeom>
          <a:noFill/>
          <a:ln/>
        </p:spPr>
        <p:txBody>
          <a:bodyPr wrap="square" lIns="25400" tIns="25400" rIns="25400" bIns="25400" rtlCol="0" anchor="t">
            <a:normAutofit/>
          </a:bodyPr>
          <a:lstStyle/>
          <a:p>
            <a:pPr algn="l" indent="0" marL="0">
              <a:lnSpc>
                <a:spcPct val="96000"/>
              </a:lnSpc>
              <a:buNone/>
            </a:pPr>
            <a:r>
              <a:rPr lang="en-US" sz="7200" spc="-180" kern="0" dirty="0">
                <a:solidFill>
                  <a:srgbClr val="0E0E0E"/>
                </a:solidFill>
                <a:latin typeface="Arial" pitchFamily="34" charset="0"/>
                <a:ea typeface="Arial" pitchFamily="34" charset="-122"/>
                <a:cs typeface="Arial" pitchFamily="34" charset="-120"/>
              </a:rPr>
              <a:t>A first shipped product. </a:t>
            </a:r>
            <a:pPr algn="l" indent="0" marL="0">
              <a:lnSpc>
                <a:spcPct val="96000"/>
              </a:lnSpc>
              <a:buNone/>
            </a:pPr>
            <a:r>
              <a:rPr lang="en-US" sz="7200" i="1" spc="-180" kern="0" dirty="0">
                <a:solidFill>
                  <a:srgbClr val="0E0E0E"/>
                </a:solidFill>
                <a:latin typeface="Arial" pitchFamily="34" charset="0"/>
                <a:ea typeface="Arial" pitchFamily="34" charset="-122"/>
                <a:cs typeface="Arial" pitchFamily="34" charset="-120"/>
              </a:rPr>
              <a:t>This term.</a:t>
            </a:r>
            <a:endParaRPr lang="en-US" sz="7200" dirty="0"/>
          </a:p>
        </p:txBody>
      </p:sp>
      <p:sp>
        <p:nvSpPr>
          <p:cNvPr id="9" name="Shape 7"/>
          <p:cNvSpPr/>
          <p:nvPr/>
        </p:nvSpPr>
        <p:spPr>
          <a:xfrm>
            <a:off x="838200" y="3095149"/>
            <a:ext cx="5422821" cy="2687955"/>
          </a:xfrm>
          <a:prstGeom prst="rect">
            <a:avLst/>
          </a:prstGeom>
          <a:solidFill>
            <a:srgbClr val="F2EFE8"/>
          </a:solidFill>
          <a:ln w="15240">
            <a:solidFill>
              <a:srgbClr val="0E0E0E"/>
            </a:solidFill>
            <a:prstDash val="solid"/>
          </a:ln>
        </p:spPr>
      </p:sp>
      <p:sp>
        <p:nvSpPr>
          <p:cNvPr id="10" name="Text 8"/>
          <p:cNvSpPr/>
          <p:nvPr/>
        </p:nvSpPr>
        <p:spPr>
          <a:xfrm>
            <a:off x="1120140" y="3338989"/>
            <a:ext cx="5004709"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TIER · AI-NATIVE EDITOR</a:t>
            </a:r>
            <a:endParaRPr lang="en-US" sz="1800" dirty="0"/>
          </a:p>
        </p:txBody>
      </p:sp>
      <p:sp>
        <p:nvSpPr>
          <p:cNvPr id="11" name="Text 9"/>
          <p:cNvSpPr/>
          <p:nvPr/>
        </p:nvSpPr>
        <p:spPr>
          <a:xfrm>
            <a:off x="1120140" y="3712369"/>
            <a:ext cx="5004709"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Cursor</a:t>
            </a:r>
            <a:endParaRPr lang="en-US" sz="3300" dirty="0"/>
          </a:p>
        </p:txBody>
      </p:sp>
      <p:sp>
        <p:nvSpPr>
          <p:cNvPr id="12" name="Text 10"/>
          <p:cNvSpPr/>
          <p:nvPr/>
        </p:nvSpPr>
        <p:spPr>
          <a:xfrm>
            <a:off x="1120140" y="4579144"/>
            <a:ext cx="5004709"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AI-first code editor with multi-file context. Free tier sufficient for the majority of student-scale projects.</a:t>
            </a:r>
            <a:endParaRPr lang="en-US" sz="1800" dirty="0"/>
          </a:p>
        </p:txBody>
      </p:sp>
      <p:sp>
        <p:nvSpPr>
          <p:cNvPr id="13" name="Shape 11"/>
          <p:cNvSpPr/>
          <p:nvPr/>
        </p:nvSpPr>
        <p:spPr>
          <a:xfrm>
            <a:off x="6432471" y="3095149"/>
            <a:ext cx="5422940" cy="2687955"/>
          </a:xfrm>
          <a:prstGeom prst="rect">
            <a:avLst/>
          </a:prstGeom>
          <a:solidFill>
            <a:srgbClr val="FF5B1F"/>
          </a:solidFill>
          <a:ln w="15240">
            <a:solidFill>
              <a:srgbClr val="FF5B1F"/>
            </a:solidFill>
            <a:prstDash val="solid"/>
          </a:ln>
        </p:spPr>
      </p:sp>
      <p:sp>
        <p:nvSpPr>
          <p:cNvPr id="14" name="Text 12"/>
          <p:cNvSpPr/>
          <p:nvPr/>
        </p:nvSpPr>
        <p:spPr>
          <a:xfrm>
            <a:off x="6714411" y="3338989"/>
            <a:ext cx="5004832" cy="350520"/>
          </a:xfrm>
          <a:prstGeom prst="rect">
            <a:avLst/>
          </a:prstGeom>
          <a:noFill/>
          <a:ln/>
        </p:spPr>
        <p:txBody>
          <a:bodyPr wrap="square" lIns="25400" tIns="25400" rIns="25400" bIns="25400" rtlCol="0" anchor="t">
            <a:normAutofit/>
          </a:bodyPr>
          <a:lstStyle/>
          <a:p>
            <a:pPr algn="l" indent="0" marL="0">
              <a:buNone/>
            </a:pPr>
            <a:r>
              <a:rPr lang="en-US" sz="1800" b="1" spc="144" kern="0" dirty="0">
                <a:solidFill>
                  <a:srgbClr val="0E0E0E"/>
                </a:solidFill>
                <a:latin typeface="Arial" pitchFamily="34" charset="0"/>
                <a:ea typeface="Arial" pitchFamily="34" charset="-122"/>
                <a:cs typeface="Arial" pitchFamily="34" charset="-120"/>
              </a:rPr>
              <a:t>★ STUDENT DEVELOPER PACK</a:t>
            </a:r>
            <a:endParaRPr lang="en-US" sz="1800" dirty="0"/>
          </a:p>
        </p:txBody>
      </p:sp>
      <p:sp>
        <p:nvSpPr>
          <p:cNvPr id="15" name="Text 13"/>
          <p:cNvSpPr/>
          <p:nvPr/>
        </p:nvSpPr>
        <p:spPr>
          <a:xfrm>
            <a:off x="6714411" y="3765709"/>
            <a:ext cx="5004832"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GitHub Copilot</a:t>
            </a:r>
            <a:endParaRPr lang="en-US" sz="3300" dirty="0"/>
          </a:p>
        </p:txBody>
      </p:sp>
      <p:sp>
        <p:nvSpPr>
          <p:cNvPr id="16" name="Text 14"/>
          <p:cNvSpPr/>
          <p:nvPr/>
        </p:nvSpPr>
        <p:spPr>
          <a:xfrm>
            <a:off x="6714411" y="4259104"/>
            <a:ext cx="5004832" cy="131826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0E0E0E"/>
                </a:solidFill>
                <a:latin typeface="Arial" pitchFamily="34" charset="0"/>
                <a:ea typeface="Arial" pitchFamily="34" charset="-122"/>
                <a:cs typeface="Arial" pitchFamily="34" charset="-120"/>
              </a:rPr>
              <a:t>Verify institutional email at </a:t>
            </a:r>
            <a:pPr algn="l" indent="0" marL="0">
              <a:lnSpc>
                <a:spcPct val="140000"/>
              </a:lnSpc>
              <a:buNone/>
            </a:pPr>
            <a:r>
              <a:rPr lang="en-US" sz="1800" b="1" dirty="0">
                <a:solidFill>
                  <a:srgbClr val="0E0E0E"/>
                </a:solidFill>
                <a:latin typeface="Arial" pitchFamily="34" charset="0"/>
                <a:ea typeface="Arial" pitchFamily="34" charset="-122"/>
                <a:cs typeface="Arial" pitchFamily="34" charset="-120"/>
              </a:rPr>
              <a:t>education.github.com </a:t>
            </a:r>
            <a:pPr algn="l" indent="0" marL="0">
              <a:lnSpc>
                <a:spcPct val="140000"/>
              </a:lnSpc>
              <a:buNone/>
            </a:pPr>
            <a:r>
              <a:rPr lang="en-US" sz="1800" dirty="0">
                <a:solidFill>
                  <a:srgbClr val="0E0E0E"/>
                </a:solidFill>
                <a:latin typeface="Arial" pitchFamily="34" charset="0"/>
                <a:ea typeface="Arial" pitchFamily="34" charset="-122"/>
                <a:cs typeface="Arial" pitchFamily="34" charset="-120"/>
              </a:rPr>
              <a:t>. Professional-grade code completion. </a:t>
            </a:r>
            <a:pPr algn="l" indent="0" marL="0">
              <a:lnSpc>
                <a:spcPct val="140000"/>
              </a:lnSpc>
              <a:buNone/>
            </a:pPr>
            <a:r>
              <a:rPr lang="en-US" sz="1800" i="1" dirty="0">
                <a:solidFill>
                  <a:srgbClr val="0E0E0E"/>
                </a:solidFill>
                <a:latin typeface="Arial" pitchFamily="34" charset="0"/>
                <a:ea typeface="Arial" pitchFamily="34" charset="-122"/>
                <a:cs typeface="Arial" pitchFamily="34" charset="-120"/>
              </a:rPr>
              <a:t>Annual licence value approximately $1,000.</a:t>
            </a:r>
            <a:endParaRPr lang="en-US" sz="1800" dirty="0"/>
          </a:p>
        </p:txBody>
      </p:sp>
      <p:sp>
        <p:nvSpPr>
          <p:cNvPr id="17" name="Shape 15"/>
          <p:cNvSpPr/>
          <p:nvPr/>
        </p:nvSpPr>
        <p:spPr>
          <a:xfrm>
            <a:off x="12026860" y="3095149"/>
            <a:ext cx="5422940" cy="2687955"/>
          </a:xfrm>
          <a:prstGeom prst="rect">
            <a:avLst/>
          </a:prstGeom>
          <a:solidFill>
            <a:srgbClr val="F2EFE8"/>
          </a:solidFill>
          <a:ln w="15240">
            <a:solidFill>
              <a:srgbClr val="0E0E0E"/>
            </a:solidFill>
            <a:prstDash val="solid"/>
          </a:ln>
        </p:spPr>
      </p:sp>
      <p:sp>
        <p:nvSpPr>
          <p:cNvPr id="18" name="Text 16"/>
          <p:cNvSpPr/>
          <p:nvPr/>
        </p:nvSpPr>
        <p:spPr>
          <a:xfrm>
            <a:off x="12308801" y="3338989"/>
            <a:ext cx="5004832" cy="55626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TIER · PROMPT-TO-APPLICATION</a:t>
            </a:r>
            <a:endParaRPr lang="en-US" sz="1800" dirty="0"/>
          </a:p>
        </p:txBody>
      </p:sp>
      <p:sp>
        <p:nvSpPr>
          <p:cNvPr id="19" name="Text 17"/>
          <p:cNvSpPr/>
          <p:nvPr/>
        </p:nvSpPr>
        <p:spPr>
          <a:xfrm>
            <a:off x="12308801" y="3971449"/>
            <a:ext cx="5004832"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Bolt.new</a:t>
            </a:r>
            <a:endParaRPr lang="en-US" sz="3300" dirty="0"/>
          </a:p>
        </p:txBody>
      </p:sp>
      <p:sp>
        <p:nvSpPr>
          <p:cNvPr id="20" name="Text 18"/>
          <p:cNvSpPr/>
          <p:nvPr/>
        </p:nvSpPr>
        <p:spPr>
          <a:xfrm>
            <a:off x="12308801" y="4579144"/>
            <a:ext cx="5004832"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Natural-language specification produces a running web application within a browser sandbox. Suitable for prototyping.</a:t>
            </a:r>
            <a:endParaRPr lang="en-US" sz="1800" dirty="0"/>
          </a:p>
        </p:txBody>
      </p:sp>
      <p:sp>
        <p:nvSpPr>
          <p:cNvPr id="21" name="Shape 19"/>
          <p:cNvSpPr/>
          <p:nvPr/>
        </p:nvSpPr>
        <p:spPr>
          <a:xfrm>
            <a:off x="838200" y="5954554"/>
            <a:ext cx="5422821" cy="2573655"/>
          </a:xfrm>
          <a:prstGeom prst="rect">
            <a:avLst/>
          </a:prstGeom>
          <a:solidFill>
            <a:srgbClr val="F2EFE8"/>
          </a:solidFill>
          <a:ln w="15240">
            <a:solidFill>
              <a:srgbClr val="0E0E0E"/>
            </a:solidFill>
            <a:prstDash val="solid"/>
          </a:ln>
        </p:spPr>
      </p:sp>
      <p:sp>
        <p:nvSpPr>
          <p:cNvPr id="22" name="Text 20"/>
          <p:cNvSpPr/>
          <p:nvPr/>
        </p:nvSpPr>
        <p:spPr>
          <a:xfrm>
            <a:off x="1120140" y="6198394"/>
            <a:ext cx="5004709"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TIER · PRODUCTION REACT</a:t>
            </a:r>
            <a:endParaRPr lang="en-US" sz="1800" dirty="0"/>
          </a:p>
        </p:txBody>
      </p:sp>
      <p:sp>
        <p:nvSpPr>
          <p:cNvPr id="23" name="Text 21"/>
          <p:cNvSpPr/>
          <p:nvPr/>
        </p:nvSpPr>
        <p:spPr>
          <a:xfrm>
            <a:off x="1120140" y="6571774"/>
            <a:ext cx="5004709"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v0 by Vercel</a:t>
            </a:r>
            <a:endParaRPr lang="en-US" sz="3300" dirty="0"/>
          </a:p>
        </p:txBody>
      </p:sp>
      <p:sp>
        <p:nvSpPr>
          <p:cNvPr id="24" name="Text 22"/>
          <p:cNvSpPr/>
          <p:nvPr/>
        </p:nvSpPr>
        <p:spPr>
          <a:xfrm>
            <a:off x="1120140" y="7324249"/>
            <a:ext cx="5004709"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Generates production-grade React components from interface descriptions. Output is editable and deployable.</a:t>
            </a:r>
            <a:endParaRPr lang="en-US" sz="1800" dirty="0"/>
          </a:p>
        </p:txBody>
      </p:sp>
      <p:sp>
        <p:nvSpPr>
          <p:cNvPr id="25" name="Shape 23"/>
          <p:cNvSpPr/>
          <p:nvPr/>
        </p:nvSpPr>
        <p:spPr>
          <a:xfrm>
            <a:off x="6432471" y="5954554"/>
            <a:ext cx="5422940" cy="2573655"/>
          </a:xfrm>
          <a:prstGeom prst="rect">
            <a:avLst/>
          </a:prstGeom>
          <a:solidFill>
            <a:srgbClr val="F2EFE8"/>
          </a:solidFill>
          <a:ln w="15240">
            <a:solidFill>
              <a:srgbClr val="0E0E0E"/>
            </a:solidFill>
            <a:prstDash val="solid"/>
          </a:ln>
        </p:spPr>
      </p:sp>
      <p:sp>
        <p:nvSpPr>
          <p:cNvPr id="26" name="Text 24"/>
          <p:cNvSpPr/>
          <p:nvPr/>
        </p:nvSpPr>
        <p:spPr>
          <a:xfrm>
            <a:off x="6714411" y="6198394"/>
            <a:ext cx="5004832" cy="55626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TIER · CONSOLIDATED RUNTIME</a:t>
            </a:r>
            <a:endParaRPr lang="en-US" sz="1800" dirty="0"/>
          </a:p>
        </p:txBody>
      </p:sp>
      <p:sp>
        <p:nvSpPr>
          <p:cNvPr id="27" name="Text 25"/>
          <p:cNvSpPr/>
          <p:nvPr/>
        </p:nvSpPr>
        <p:spPr>
          <a:xfrm>
            <a:off x="6714411" y="6830854"/>
            <a:ext cx="5004832"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Replit</a:t>
            </a:r>
            <a:endParaRPr lang="en-US" sz="3300" dirty="0"/>
          </a:p>
        </p:txBody>
      </p:sp>
      <p:sp>
        <p:nvSpPr>
          <p:cNvPr id="28" name="Text 26"/>
          <p:cNvSpPr/>
          <p:nvPr/>
        </p:nvSpPr>
        <p:spPr>
          <a:xfrm>
            <a:off x="6714411" y="7324249"/>
            <a:ext cx="5004832"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Editor, runtime, and deployment within a single browser environment. Operates from desktop or mobile.</a:t>
            </a:r>
            <a:endParaRPr lang="en-US" sz="1800" dirty="0"/>
          </a:p>
        </p:txBody>
      </p:sp>
      <p:sp>
        <p:nvSpPr>
          <p:cNvPr id="29" name="Shape 27"/>
          <p:cNvSpPr/>
          <p:nvPr/>
        </p:nvSpPr>
        <p:spPr>
          <a:xfrm>
            <a:off x="12026860" y="5954554"/>
            <a:ext cx="5422940" cy="2573655"/>
          </a:xfrm>
          <a:prstGeom prst="rect">
            <a:avLst/>
          </a:prstGeom>
          <a:solidFill>
            <a:srgbClr val="0E0E0E"/>
          </a:solidFill>
          <a:ln w="15240">
            <a:solidFill>
              <a:srgbClr val="0E0E0E"/>
            </a:solidFill>
            <a:prstDash val="solid"/>
          </a:ln>
        </p:spPr>
      </p:sp>
      <p:sp>
        <p:nvSpPr>
          <p:cNvPr id="30" name="Text 28"/>
          <p:cNvSpPr/>
          <p:nvPr/>
        </p:nvSpPr>
        <p:spPr>
          <a:xfrm>
            <a:off x="12308801" y="6198394"/>
            <a:ext cx="5004832"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SELECTION CRITERION</a:t>
            </a:r>
            <a:endParaRPr lang="en-US" sz="1800" dirty="0"/>
          </a:p>
        </p:txBody>
      </p:sp>
      <p:sp>
        <p:nvSpPr>
          <p:cNvPr id="31" name="Text 29"/>
          <p:cNvSpPr/>
          <p:nvPr/>
        </p:nvSpPr>
        <p:spPr>
          <a:xfrm>
            <a:off x="12308801" y="6571774"/>
            <a:ext cx="5004832" cy="653415"/>
          </a:xfrm>
          <a:prstGeom prst="rect">
            <a:avLst/>
          </a:prstGeom>
          <a:noFill/>
          <a:ln/>
        </p:spPr>
        <p:txBody>
          <a:bodyPr wrap="square" lIns="25400" tIns="25400" rIns="25400" bIns="25400" rtlCol="0" anchor="t">
            <a:normAutofit/>
          </a:bodyPr>
          <a:lstStyle/>
          <a:p>
            <a:pPr algn="l" indent="0" marL="0">
              <a:lnSpc>
                <a:spcPct val="105000"/>
              </a:lnSpc>
              <a:buNone/>
            </a:pPr>
            <a:r>
              <a:rPr lang="en-US" sz="2250" spc="-45" kern="0" dirty="0">
                <a:solidFill>
                  <a:srgbClr val="F2EFE8"/>
                </a:solidFill>
                <a:latin typeface="Arial" pitchFamily="34" charset="0"/>
                <a:ea typeface="Arial" pitchFamily="34" charset="-122"/>
                <a:cs typeface="Arial" pitchFamily="34" charset="-120"/>
              </a:rPr>
              <a:t>Identify a system you require </a:t>
            </a:r>
            <a:pPr algn="l" indent="0" marL="0">
              <a:lnSpc>
                <a:spcPct val="105000"/>
              </a:lnSpc>
              <a:buNone/>
            </a:pPr>
            <a:r>
              <a:rPr lang="en-US" sz="2250" i="1" spc="-45" kern="0" dirty="0">
                <a:solidFill>
                  <a:srgbClr val="D6FF3D"/>
                </a:solidFill>
                <a:latin typeface="Arial" pitchFamily="34" charset="0"/>
                <a:ea typeface="Arial" pitchFamily="34" charset="-122"/>
                <a:cs typeface="Arial" pitchFamily="34" charset="-120"/>
              </a:rPr>
              <a:t>that does not yet exist.</a:t>
            </a:r>
            <a:endParaRPr lang="en-US" sz="2250" dirty="0"/>
          </a:p>
        </p:txBody>
      </p:sp>
      <p:sp>
        <p:nvSpPr>
          <p:cNvPr id="32" name="Text 30"/>
          <p:cNvSpPr/>
          <p:nvPr/>
        </p:nvSpPr>
        <p:spPr>
          <a:xfrm>
            <a:off x="12308801" y="7964329"/>
            <a:ext cx="5004832" cy="35814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F2EFE8">
                    <a:alpha val="78000"/>
                  </a:srgbClr>
                </a:solidFill>
                <a:latin typeface="Arial" pitchFamily="34" charset="0"/>
                <a:ea typeface="Arial" pitchFamily="34" charset="-122"/>
                <a:cs typeface="Arial" pitchFamily="34" charset="-120"/>
              </a:rPr>
              <a:t>Build it. Deploy it. </a:t>
            </a:r>
            <a:pPr algn="l" indent="0" marL="0">
              <a:lnSpc>
                <a:spcPct val="140000"/>
              </a:lnSpc>
              <a:buNone/>
            </a:pPr>
            <a:r>
              <a:rPr lang="en-US" sz="1800" b="1" dirty="0">
                <a:solidFill>
                  <a:srgbClr val="F2EFE8">
                    <a:alpha val="78000"/>
                  </a:srgbClr>
                </a:solidFill>
                <a:latin typeface="Arial" pitchFamily="34" charset="0"/>
                <a:ea typeface="Arial" pitchFamily="34" charset="-122"/>
                <a:cs typeface="Arial" pitchFamily="34" charset="-120"/>
              </a:rPr>
              <a:t>Read every line you ship.</a:t>
            </a:r>
            <a:endParaRPr lang="en-US" sz="1800" dirty="0"/>
          </a:p>
        </p:txBody>
      </p:sp>
      <p:sp>
        <p:nvSpPr>
          <p:cNvPr id="33" name="Text 31"/>
          <p:cNvSpPr/>
          <p:nvPr/>
        </p:nvSpPr>
        <p:spPr>
          <a:xfrm>
            <a:off x="838200" y="9643110"/>
            <a:ext cx="9034229"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ZERO MARGINAL COST FROM SPECIFICATION TO DEPLOYED PRODUCT</a:t>
            </a:r>
            <a:endParaRPr lang="en-US" sz="1800" dirty="0"/>
          </a:p>
        </p:txBody>
      </p:sp>
      <p:sp>
        <p:nvSpPr>
          <p:cNvPr id="34" name="Text 32"/>
          <p:cNvSpPr/>
          <p:nvPr/>
        </p:nvSpPr>
        <p:spPr>
          <a:xfrm>
            <a:off x="16473012" y="9563100"/>
            <a:ext cx="1052989"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888076"/>
                </a:solidFill>
                <a:latin typeface="Arial" pitchFamily="34" charset="0"/>
                <a:ea typeface="Arial" pitchFamily="34" charset="-122"/>
                <a:cs typeface="Arial" pitchFamily="34" charset="-120"/>
              </a:rPr>
              <a:t>16 / 25</a:t>
            </a:r>
            <a:endParaRPr lang="en-US" sz="2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0E0E"/>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F2EFE8">
                    <a:alpha val="55000"/>
                  </a:srgbClr>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1158657" y="327660"/>
            <a:ext cx="6479878"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F2EFE8">
                    <a:alpha val="55000"/>
                  </a:srgbClr>
                </a:solidFill>
                <a:latin typeface="Arial" pitchFamily="34" charset="0"/>
                <a:ea typeface="Arial" pitchFamily="34" charset="-122"/>
                <a:cs typeface="Arial" pitchFamily="34" charset="-120"/>
              </a:rPr>
              <a:t>CH.04 · PROMPT 06 / 07 · DIAGNOSTIC DEBUGGING</a:t>
            </a:r>
            <a:endParaRPr lang="en-US" sz="1800" dirty="0"/>
          </a:p>
        </p:txBody>
      </p:sp>
      <p:sp>
        <p:nvSpPr>
          <p:cNvPr id="5" name="Shape 3"/>
          <p:cNvSpPr/>
          <p:nvPr/>
        </p:nvSpPr>
        <p:spPr>
          <a:xfrm>
            <a:off x="838200" y="1209675"/>
            <a:ext cx="95250" cy="95250"/>
          </a:xfrm>
          <a:prstGeom prst="rect">
            <a:avLst/>
          </a:prstGeom>
          <a:solidFill>
            <a:srgbClr val="FF5B1F"/>
          </a:solidFill>
          <a:ln/>
        </p:spPr>
      </p:sp>
      <p:sp>
        <p:nvSpPr>
          <p:cNvPr id="6" name="Text 4"/>
          <p:cNvSpPr/>
          <p:nvPr/>
        </p:nvSpPr>
        <p:spPr>
          <a:xfrm>
            <a:off x="1066800" y="1127760"/>
            <a:ext cx="1163955" cy="289560"/>
          </a:xfrm>
          <a:prstGeom prst="rect">
            <a:avLst/>
          </a:prstGeom>
          <a:noFill/>
          <a:ln/>
        </p:spPr>
        <p:txBody>
          <a:bodyPr wrap="square" lIns="0" tIns="0" rIns="0" bIns="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PROMPT</a:t>
            </a:r>
            <a:endParaRPr lang="en-US" sz="1800" dirty="0"/>
          </a:p>
        </p:txBody>
      </p:sp>
      <p:sp>
        <p:nvSpPr>
          <p:cNvPr id="7" name="Text 5"/>
          <p:cNvSpPr/>
          <p:nvPr/>
        </p:nvSpPr>
        <p:spPr>
          <a:xfrm>
            <a:off x="2287905" y="1104900"/>
            <a:ext cx="6084260" cy="34290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F2EFE8">
                    <a:alpha val="70000"/>
                  </a:srgbClr>
                </a:solidFill>
                <a:latin typeface="Arial" pitchFamily="34" charset="0"/>
                <a:ea typeface="Arial" pitchFamily="34" charset="-122"/>
                <a:cs typeface="Arial" pitchFamily="34" charset="-120"/>
              </a:rPr>
              <a:t>06 — THE DIAGNOSTIC DEBUGGING CONTRACT</a:t>
            </a:r>
            <a:endParaRPr lang="en-US" sz="1800" dirty="0"/>
          </a:p>
        </p:txBody>
      </p:sp>
      <p:sp>
        <p:nvSpPr>
          <p:cNvPr id="8" name="Text 6"/>
          <p:cNvSpPr/>
          <p:nvPr/>
        </p:nvSpPr>
        <p:spPr>
          <a:xfrm>
            <a:off x="838200" y="1543050"/>
            <a:ext cx="17109948" cy="1801178"/>
          </a:xfrm>
          <a:prstGeom prst="rect">
            <a:avLst/>
          </a:prstGeom>
          <a:noFill/>
          <a:ln/>
        </p:spPr>
        <p:txBody>
          <a:bodyPr wrap="square" lIns="25400" tIns="25400" rIns="25400" bIns="25400" rtlCol="0" anchor="t">
            <a:normAutofit/>
          </a:bodyPr>
          <a:lstStyle/>
          <a:p>
            <a:pPr algn="l" indent="0" marL="0">
              <a:lnSpc>
                <a:spcPct val="96000"/>
              </a:lnSpc>
              <a:buNone/>
            </a:pPr>
            <a:r>
              <a:rPr lang="en-US" sz="7200" spc="-180" kern="0" dirty="0">
                <a:solidFill>
                  <a:srgbClr val="F2EFE8"/>
                </a:solidFill>
                <a:latin typeface="Arial" pitchFamily="34" charset="0"/>
                <a:ea typeface="Arial" pitchFamily="34" charset="-122"/>
                <a:cs typeface="Arial" pitchFamily="34" charset="-120"/>
              </a:rPr>
              <a:t>Request a diagnosis, </a:t>
            </a:r>
            <a:pPr algn="l" indent="0" marL="0">
              <a:lnSpc>
                <a:spcPct val="96000"/>
              </a:lnSpc>
              <a:buNone/>
            </a:pPr>
            <a:r>
              <a:rPr lang="en-US" sz="7200" i="1" spc="-180" kern="0" dirty="0">
                <a:solidFill>
                  <a:srgbClr val="D6FF3D"/>
                </a:solidFill>
                <a:latin typeface="Arial" pitchFamily="34" charset="0"/>
                <a:ea typeface="Arial" pitchFamily="34" charset="-122"/>
                <a:cs typeface="Arial" pitchFamily="34" charset="-120"/>
              </a:rPr>
              <a:t>not a patch.</a:t>
            </a:r>
            <a:endParaRPr lang="en-US" sz="7200" dirty="0"/>
          </a:p>
        </p:txBody>
      </p:sp>
      <p:sp>
        <p:nvSpPr>
          <p:cNvPr id="9" name="Text 7"/>
          <p:cNvSpPr/>
          <p:nvPr/>
        </p:nvSpPr>
        <p:spPr>
          <a:xfrm>
            <a:off x="838200" y="3534728"/>
            <a:ext cx="8358759" cy="342900"/>
          </a:xfrm>
          <a:prstGeom prst="rect">
            <a:avLst/>
          </a:prstGeom>
          <a:noFill/>
          <a:ln/>
        </p:spPr>
        <p:txBody>
          <a:bodyPr wrap="square" lIns="25400" tIns="25400" rIns="25400" bIns="25400" rtlCol="0" anchor="t">
            <a:normAutofit/>
          </a:bodyPr>
          <a:lstStyle/>
          <a:p>
            <a:pPr algn="l" indent="0" marL="0">
              <a:buNone/>
            </a:pPr>
            <a:r>
              <a:rPr lang="en-US" sz="1800" spc="180" kern="0" dirty="0">
                <a:solidFill>
                  <a:srgbClr val="FF7B7F"/>
                </a:solidFill>
                <a:latin typeface="Arial" pitchFamily="34" charset="0"/>
                <a:ea typeface="Arial" pitchFamily="34" charset="-122"/>
                <a:cs typeface="Arial" pitchFamily="34" charset="-120"/>
              </a:rPr>
              <a:t>▼ DEPENDENCY-PRODUCING PROMPT</a:t>
            </a:r>
            <a:endParaRPr lang="en-US" sz="1800" dirty="0"/>
          </a:p>
        </p:txBody>
      </p:sp>
      <p:sp>
        <p:nvSpPr>
          <p:cNvPr id="10" name="Shape 8"/>
          <p:cNvSpPr/>
          <p:nvPr/>
        </p:nvSpPr>
        <p:spPr>
          <a:xfrm>
            <a:off x="838200" y="3934778"/>
            <a:ext cx="8115300" cy="563880"/>
          </a:xfrm>
          <a:prstGeom prst="rect">
            <a:avLst/>
          </a:prstGeom>
          <a:solidFill>
            <a:srgbClr val="FF3355">
              <a:alpha val="18000"/>
            </a:srgbClr>
          </a:solidFill>
          <a:ln/>
        </p:spPr>
      </p:sp>
      <p:sp>
        <p:nvSpPr>
          <p:cNvPr id="11" name="Shape 9"/>
          <p:cNvSpPr/>
          <p:nvPr/>
        </p:nvSpPr>
        <p:spPr>
          <a:xfrm>
            <a:off x="838200" y="3934778"/>
            <a:ext cx="45720" cy="563880"/>
          </a:xfrm>
          <a:prstGeom prst="rect">
            <a:avLst/>
          </a:prstGeom>
          <a:solidFill>
            <a:srgbClr val="FF3355"/>
          </a:solidFill>
          <a:ln/>
        </p:spPr>
      </p:sp>
      <p:sp>
        <p:nvSpPr>
          <p:cNvPr id="12" name="Text 10"/>
          <p:cNvSpPr/>
          <p:nvPr/>
        </p:nvSpPr>
        <p:spPr>
          <a:xfrm>
            <a:off x="1112520" y="4106228"/>
            <a:ext cx="7855839" cy="259080"/>
          </a:xfrm>
          <a:prstGeom prst="rect">
            <a:avLst/>
          </a:prstGeom>
          <a:noFill/>
          <a:ln/>
        </p:spPr>
        <p:txBody>
          <a:bodyPr wrap="square" lIns="25400" tIns="25400" rIns="25400" bIns="25400" rtlCol="0" anchor="t">
            <a:normAutofit/>
          </a:bodyPr>
          <a:lstStyle/>
          <a:p>
            <a:pPr algn="l" indent="0" marL="0">
              <a:buNone/>
            </a:pPr>
            <a:r>
              <a:rPr lang="en-US" sz="1500" i="1" dirty="0">
                <a:solidFill>
                  <a:srgbClr val="F2EFE8">
                    <a:alpha val="85000"/>
                  </a:srgbClr>
                </a:solidFill>
                <a:latin typeface="Arial" pitchFamily="34" charset="0"/>
                <a:ea typeface="Arial" pitchFamily="34" charset="-122"/>
                <a:cs typeface="Arial" pitchFamily="34" charset="-120"/>
              </a:rPr>
              <a:t>my code throws this error, fix it [error]</a:t>
            </a:r>
            <a:endParaRPr lang="en-US" sz="1500" dirty="0"/>
          </a:p>
        </p:txBody>
      </p:sp>
      <p:sp>
        <p:nvSpPr>
          <p:cNvPr id="13" name="Text 11"/>
          <p:cNvSpPr/>
          <p:nvPr/>
        </p:nvSpPr>
        <p:spPr>
          <a:xfrm>
            <a:off x="838200" y="4593908"/>
            <a:ext cx="8358759" cy="518160"/>
          </a:xfrm>
          <a:prstGeom prst="rect">
            <a:avLst/>
          </a:prstGeom>
          <a:noFill/>
          <a:ln/>
        </p:spPr>
        <p:txBody>
          <a:bodyPr wrap="square" lIns="25400" tIns="25400" rIns="25400" bIns="25400" rtlCol="0" anchor="t">
            <a:normAutofit/>
          </a:bodyPr>
          <a:lstStyle/>
          <a:p>
            <a:pPr algn="l" indent="0" marL="0">
              <a:lnSpc>
                <a:spcPct val="140000"/>
              </a:lnSpc>
              <a:buNone/>
            </a:pPr>
            <a:r>
              <a:rPr lang="en-US" sz="1350" dirty="0">
                <a:solidFill>
                  <a:srgbClr val="F2EFE8">
                    <a:alpha val="65000"/>
                  </a:srgbClr>
                </a:solidFill>
                <a:latin typeface="Arial" pitchFamily="34" charset="0"/>
                <a:ea typeface="Arial" pitchFamily="34" charset="-122"/>
                <a:cs typeface="Arial" pitchFamily="34" charset="-120"/>
              </a:rPr>
              <a:t>Yields working code without producing learning. Failure observable in technical assessments 12–18 months downstream.</a:t>
            </a:r>
            <a:endParaRPr lang="en-US" sz="1350" dirty="0"/>
          </a:p>
        </p:txBody>
      </p:sp>
      <p:sp>
        <p:nvSpPr>
          <p:cNvPr id="14" name="Text 12"/>
          <p:cNvSpPr/>
          <p:nvPr/>
        </p:nvSpPr>
        <p:spPr>
          <a:xfrm>
            <a:off x="838200" y="5264468"/>
            <a:ext cx="8358759" cy="342900"/>
          </a:xfrm>
          <a:prstGeom prst="rect">
            <a:avLst/>
          </a:prstGeom>
          <a:noFill/>
          <a:ln/>
        </p:spPr>
        <p:txBody>
          <a:bodyPr wrap="square" lIns="25400" tIns="25400" rIns="25400" bIns="25400" rtlCol="0" anchor="t">
            <a:normAutofit/>
          </a:bodyPr>
          <a:lstStyle/>
          <a:p>
            <a:pPr algn="l" indent="0" marL="0">
              <a:buNone/>
            </a:pPr>
            <a:r>
              <a:rPr lang="en-US" sz="1800" spc="180" kern="0" dirty="0">
                <a:solidFill>
                  <a:srgbClr val="FF5B1F"/>
                </a:solidFill>
                <a:latin typeface="Arial" pitchFamily="34" charset="0"/>
                <a:ea typeface="Arial" pitchFamily="34" charset="-122"/>
                <a:cs typeface="Arial" pitchFamily="34" charset="-120"/>
              </a:rPr>
              <a:t>▲ DIAGNOSTIC CONTRACT</a:t>
            </a:r>
            <a:endParaRPr lang="en-US" sz="1800" dirty="0"/>
          </a:p>
        </p:txBody>
      </p:sp>
      <p:sp>
        <p:nvSpPr>
          <p:cNvPr id="15" name="Shape 13"/>
          <p:cNvSpPr/>
          <p:nvPr/>
        </p:nvSpPr>
        <p:spPr>
          <a:xfrm>
            <a:off x="838200" y="5664518"/>
            <a:ext cx="8115300" cy="4626412"/>
          </a:xfrm>
          <a:prstGeom prst="rect">
            <a:avLst/>
          </a:prstGeom>
          <a:solidFill>
            <a:srgbClr val="0E0E0E"/>
          </a:solidFill>
          <a:ln/>
        </p:spPr>
      </p:sp>
      <p:sp>
        <p:nvSpPr>
          <p:cNvPr id="16" name="Shape 14"/>
          <p:cNvSpPr/>
          <p:nvPr/>
        </p:nvSpPr>
        <p:spPr>
          <a:xfrm>
            <a:off x="838200" y="5664518"/>
            <a:ext cx="45720" cy="4626412"/>
          </a:xfrm>
          <a:prstGeom prst="rect">
            <a:avLst/>
          </a:prstGeom>
          <a:solidFill>
            <a:srgbClr val="FF5B1F"/>
          </a:solidFill>
          <a:ln/>
        </p:spPr>
      </p:sp>
      <p:sp>
        <p:nvSpPr>
          <p:cNvPr id="17" name="Text 15"/>
          <p:cNvSpPr/>
          <p:nvPr/>
        </p:nvSpPr>
        <p:spPr>
          <a:xfrm>
            <a:off x="1169670" y="5893118"/>
            <a:ext cx="7741539" cy="4207312"/>
          </a:xfrm>
          <a:prstGeom prst="rect">
            <a:avLst/>
          </a:prstGeom>
          <a:noFill/>
          <a:ln/>
        </p:spPr>
        <p:txBody>
          <a:bodyPr wrap="square" lIns="25400" tIns="25400" rIns="25400" bIns="25400" rtlCol="0" anchor="t">
            <a:normAutofit/>
          </a:bodyPr>
          <a:lstStyle/>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Adopt the role of a senior engineer</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conducting a code review with a junior.</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Objective: diagnostic capability.</a:t>
            </a:r>
            <a:endParaRPr lang="en-US" sz="1350" dirty="0"/>
          </a:p>
          <a:p>
            <a:pPr algn="l" indent="0" marL="0">
              <a:lnSpc>
                <a:spcPct val="128000"/>
              </a:lnSpc>
              <a:buNone/>
            </a:pP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Before proposing any fix, return:</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1. Error class — what it means at</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the language level.</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2. Three plausible root causes,</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ordered by prior probability.</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3. The diagnostic procedure to</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discriminate among them — specific</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commands, specific lines.</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4. The minimal failing test that</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     would have caught this earlier.</a:t>
            </a:r>
            <a:endParaRPr lang="en-US" sz="1350" dirty="0"/>
          </a:p>
          <a:p>
            <a:pPr algn="l" indent="0" marL="0">
              <a:lnSpc>
                <a:spcPct val="128000"/>
              </a:lnSpc>
              <a:buNone/>
            </a:pP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Then propose a fix and explain why</a:t>
            </a: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it addresses the cause, not the symptom.</a:t>
            </a:r>
            <a:endParaRPr lang="en-US" sz="1350" dirty="0"/>
          </a:p>
          <a:p>
            <a:pPr algn="l" indent="0" marL="0">
              <a:lnSpc>
                <a:spcPct val="128000"/>
              </a:lnSpc>
              <a:buNone/>
            </a:pPr>
            <a:endParaRPr lang="en-US" sz="1350" dirty="0"/>
          </a:p>
          <a:p>
            <a:pPr algn="l" indent="0" marL="0">
              <a:lnSpc>
                <a:spcPct val="128000"/>
              </a:lnSpc>
              <a:buNone/>
            </a:pPr>
            <a:r>
              <a:rPr lang="en-US" sz="1350" dirty="0">
                <a:solidFill>
                  <a:srgbClr val="F2EFE8"/>
                </a:solidFill>
                <a:latin typeface="Arial" pitchFamily="34" charset="0"/>
                <a:ea typeface="Arial" pitchFamily="34" charset="-122"/>
                <a:cs typeface="Arial" pitchFamily="34" charset="-120"/>
              </a:rPr>
              <a:t>[error + minimal reproduction]</a:t>
            </a:r>
            <a:endParaRPr lang="en-US" sz="1350" dirty="0"/>
          </a:p>
        </p:txBody>
      </p:sp>
      <p:sp>
        <p:nvSpPr>
          <p:cNvPr id="18" name="Text 16"/>
          <p:cNvSpPr/>
          <p:nvPr/>
        </p:nvSpPr>
        <p:spPr>
          <a:xfrm>
            <a:off x="9334500" y="3725228"/>
            <a:ext cx="8358759" cy="352425"/>
          </a:xfrm>
          <a:prstGeom prst="rect">
            <a:avLst/>
          </a:prstGeom>
          <a:noFill/>
          <a:ln/>
        </p:spPr>
        <p:txBody>
          <a:bodyPr wrap="square" lIns="25400" tIns="25400" rIns="25400" bIns="25400" rtlCol="0" anchor="t">
            <a:normAutofit/>
          </a:bodyPr>
          <a:lstStyle/>
          <a:p>
            <a:pPr algn="l" indent="0" marL="0">
              <a:lnSpc>
                <a:spcPct val="110000"/>
              </a:lnSpc>
              <a:buNone/>
            </a:pPr>
            <a:r>
              <a:rPr lang="en-US" sz="2250" i="1" spc="-22" kern="0" dirty="0">
                <a:solidFill>
                  <a:srgbClr val="F2EFE8"/>
                </a:solidFill>
                <a:latin typeface="Arial" pitchFamily="34" charset="0"/>
                <a:ea typeface="Arial" pitchFamily="34" charset="-122"/>
                <a:cs typeface="Arial" pitchFamily="34" charset="-120"/>
              </a:rPr>
              <a:t>The first prompt produces </a:t>
            </a:r>
            <a:pPr algn="l" indent="0" marL="0">
              <a:lnSpc>
                <a:spcPct val="110000"/>
              </a:lnSpc>
              <a:buNone/>
            </a:pPr>
            <a:r>
              <a:rPr lang="en-US" sz="2250" i="1" spc="-22" kern="0" dirty="0">
                <a:solidFill>
                  <a:srgbClr val="FF3355"/>
                </a:solidFill>
                <a:latin typeface="Arial" pitchFamily="34" charset="0"/>
                <a:ea typeface="Arial" pitchFamily="34" charset="-122"/>
                <a:cs typeface="Arial" pitchFamily="34" charset="-120"/>
              </a:rPr>
              <a:t>dependence.</a:t>
            </a:r>
            <a:endParaRPr lang="en-US" sz="2250" dirty="0"/>
          </a:p>
        </p:txBody>
      </p:sp>
      <p:sp>
        <p:nvSpPr>
          <p:cNvPr id="19" name="Text 17"/>
          <p:cNvSpPr/>
          <p:nvPr/>
        </p:nvSpPr>
        <p:spPr>
          <a:xfrm>
            <a:off x="9334500" y="4211003"/>
            <a:ext cx="8358759" cy="352425"/>
          </a:xfrm>
          <a:prstGeom prst="rect">
            <a:avLst/>
          </a:prstGeom>
          <a:noFill/>
          <a:ln/>
        </p:spPr>
        <p:txBody>
          <a:bodyPr wrap="square" lIns="25400" tIns="25400" rIns="25400" bIns="25400" rtlCol="0" anchor="t">
            <a:normAutofit/>
          </a:bodyPr>
          <a:lstStyle/>
          <a:p>
            <a:pPr algn="l" indent="0" marL="0">
              <a:lnSpc>
                <a:spcPct val="110000"/>
              </a:lnSpc>
              <a:buNone/>
            </a:pPr>
            <a:r>
              <a:rPr lang="en-US" sz="2250" i="1" spc="-22" kern="0" dirty="0">
                <a:solidFill>
                  <a:srgbClr val="D6FF3D"/>
                </a:solidFill>
                <a:latin typeface="Arial" pitchFamily="34" charset="0"/>
                <a:ea typeface="Arial" pitchFamily="34" charset="-122"/>
                <a:cs typeface="Arial" pitchFamily="34" charset="-120"/>
              </a:rPr>
              <a:t>The second produces diagnostic capability.</a:t>
            </a:r>
            <a:endParaRPr lang="en-US" sz="2250" dirty="0"/>
          </a:p>
        </p:txBody>
      </p:sp>
      <p:sp>
        <p:nvSpPr>
          <p:cNvPr id="20" name="Shape 18"/>
          <p:cNvSpPr/>
          <p:nvPr/>
        </p:nvSpPr>
        <p:spPr>
          <a:xfrm>
            <a:off x="9334500" y="4772978"/>
            <a:ext cx="8115300" cy="19050"/>
          </a:xfrm>
          <a:prstGeom prst="rect">
            <a:avLst/>
          </a:prstGeom>
          <a:solidFill>
            <a:srgbClr val="F2EFE8">
              <a:alpha val="40000"/>
            </a:srgbClr>
          </a:solidFill>
          <a:ln/>
        </p:spPr>
      </p:sp>
      <p:sp>
        <p:nvSpPr>
          <p:cNvPr id="21" name="Text 19"/>
          <p:cNvSpPr/>
          <p:nvPr/>
        </p:nvSpPr>
        <p:spPr>
          <a:xfrm>
            <a:off x="9334500" y="5249228"/>
            <a:ext cx="8358759" cy="645795"/>
          </a:xfrm>
          <a:prstGeom prst="rect">
            <a:avLst/>
          </a:prstGeom>
          <a:noFill/>
          <a:ln/>
        </p:spPr>
        <p:txBody>
          <a:bodyPr wrap="square" lIns="25400" tIns="25400" rIns="25400" bIns="25400" rtlCol="0" anchor="t">
            <a:normAutofit/>
          </a:bodyPr>
          <a:lstStyle/>
          <a:p>
            <a:pPr algn="l" indent="0" marL="0">
              <a:lnSpc>
                <a:spcPct val="145000"/>
              </a:lnSpc>
              <a:buNone/>
            </a:pPr>
            <a:r>
              <a:rPr lang="en-US" sz="1650" dirty="0">
                <a:solidFill>
                  <a:srgbClr val="F2EFE8">
                    <a:alpha val="78000"/>
                  </a:srgbClr>
                </a:solidFill>
                <a:latin typeface="Arial" pitchFamily="34" charset="0"/>
                <a:ea typeface="Arial" pitchFamily="34" charset="-122"/>
                <a:cs typeface="Arial" pitchFamily="34" charset="-120"/>
              </a:rPr>
              <a:t>Cumulative effect over a semester is observable in performance assessments. </a:t>
            </a:r>
            <a:pPr algn="l" indent="0" marL="0">
              <a:lnSpc>
                <a:spcPct val="145000"/>
              </a:lnSpc>
              <a:buNone/>
            </a:pPr>
            <a:r>
              <a:rPr lang="en-US" sz="1650" b="1" dirty="0">
                <a:solidFill>
                  <a:srgbClr val="F2EFE8"/>
                </a:solidFill>
                <a:latin typeface="Arial" pitchFamily="34" charset="0"/>
                <a:ea typeface="Arial" pitchFamily="34" charset="-122"/>
                <a:cs typeface="Arial" pitchFamily="34" charset="-120"/>
              </a:rPr>
              <a:t>Equivalent calendar time. Divergent professional readiness.</a:t>
            </a:r>
            <a:endParaRPr lang="en-US" sz="1650" dirty="0"/>
          </a:p>
        </p:txBody>
      </p:sp>
      <p:sp>
        <p:nvSpPr>
          <p:cNvPr id="22" name="Text 20"/>
          <p:cNvSpPr/>
          <p:nvPr/>
        </p:nvSpPr>
        <p:spPr>
          <a:xfrm>
            <a:off x="9334500" y="6314123"/>
            <a:ext cx="8358759" cy="6781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F2EFE8">
                    <a:alpha val="60000"/>
                  </a:srgbClr>
                </a:solidFill>
                <a:latin typeface="Arial" pitchFamily="34" charset="0"/>
                <a:ea typeface="Arial" pitchFamily="34" charset="-122"/>
                <a:cs typeface="Arial" pitchFamily="34" charset="-120"/>
              </a:rPr>
              <a:t>Operative principle: the model's role is to make the operator a better engineer, not to substitute for one.</a:t>
            </a:r>
            <a:endParaRPr lang="en-US" sz="1800" dirty="0"/>
          </a:p>
        </p:txBody>
      </p:sp>
      <p:sp>
        <p:nvSpPr>
          <p:cNvPr id="23" name="Text 21"/>
          <p:cNvSpPr/>
          <p:nvPr/>
        </p:nvSpPr>
        <p:spPr>
          <a:xfrm>
            <a:off x="838200" y="9643110"/>
            <a:ext cx="5358632"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F2EFE8">
                    <a:alpha val="50000"/>
                  </a:srgbClr>
                </a:solidFill>
                <a:latin typeface="Arial" pitchFamily="34" charset="0"/>
                <a:ea typeface="Arial" pitchFamily="34" charset="-122"/>
                <a:cs typeface="Arial" pitchFamily="34" charset="-120"/>
              </a:rPr>
              <a:t>THE DIAGNOSTIC-DEBUGGING CONTRACT</a:t>
            </a:r>
            <a:endParaRPr lang="en-US" sz="1800" dirty="0"/>
          </a:p>
        </p:txBody>
      </p:sp>
      <p:sp>
        <p:nvSpPr>
          <p:cNvPr id="24" name="Text 22"/>
          <p:cNvSpPr/>
          <p:nvPr/>
        </p:nvSpPr>
        <p:spPr>
          <a:xfrm>
            <a:off x="16499681" y="9563100"/>
            <a:ext cx="1026319"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F2EFE8">
                    <a:alpha val="50000"/>
                  </a:srgbClr>
                </a:solidFill>
                <a:latin typeface="Arial" pitchFamily="34" charset="0"/>
                <a:ea typeface="Arial" pitchFamily="34" charset="-122"/>
                <a:cs typeface="Arial" pitchFamily="34" charset="-120"/>
              </a:rPr>
              <a:t>17 / 25</a:t>
            </a:r>
            <a:endParaRPr lang="en-US" sz="2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FE8"/>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1756351" y="327660"/>
            <a:ext cx="5864253"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CHAPTER 05 / 05 · COMMERCIAL APPLICATION</a:t>
            </a:r>
            <a:endParaRPr lang="en-US" sz="1800" dirty="0"/>
          </a:p>
        </p:txBody>
      </p:sp>
      <p:sp>
        <p:nvSpPr>
          <p:cNvPr id="5" name="Shape 3"/>
          <p:cNvSpPr/>
          <p:nvPr/>
        </p:nvSpPr>
        <p:spPr>
          <a:xfrm>
            <a:off x="838200" y="1438275"/>
            <a:ext cx="95250" cy="95250"/>
          </a:xfrm>
          <a:prstGeom prst="rect">
            <a:avLst/>
          </a:prstGeom>
          <a:solidFill>
            <a:srgbClr val="FF5B1F"/>
          </a:solidFill>
          <a:ln/>
        </p:spPr>
      </p:sp>
      <p:sp>
        <p:nvSpPr>
          <p:cNvPr id="6" name="Text 4"/>
          <p:cNvSpPr/>
          <p:nvPr/>
        </p:nvSpPr>
        <p:spPr>
          <a:xfrm>
            <a:off x="1066800" y="1356360"/>
            <a:ext cx="815697" cy="289560"/>
          </a:xfrm>
          <a:prstGeom prst="rect">
            <a:avLst/>
          </a:prstGeom>
          <a:noFill/>
          <a:ln/>
        </p:spPr>
        <p:txBody>
          <a:bodyPr wrap="square" lIns="0" tIns="0" rIns="0" bIns="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CH.05</a:t>
            </a:r>
            <a:endParaRPr lang="en-US" sz="1800" dirty="0"/>
          </a:p>
        </p:txBody>
      </p:sp>
      <p:sp>
        <p:nvSpPr>
          <p:cNvPr id="7" name="Text 5"/>
          <p:cNvSpPr/>
          <p:nvPr/>
        </p:nvSpPr>
        <p:spPr>
          <a:xfrm>
            <a:off x="1939647" y="1333500"/>
            <a:ext cx="7685374" cy="34290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2A2A2A"/>
                </a:solidFill>
                <a:latin typeface="Arial" pitchFamily="34" charset="0"/>
                <a:ea typeface="Arial" pitchFamily="34" charset="-122"/>
                <a:cs typeface="Arial" pitchFamily="34" charset="-120"/>
              </a:rPr>
              <a:t>— FROM ACADEMIC PROJECT TO MARKET-FACING VENTURE</a:t>
            </a:r>
            <a:endParaRPr lang="en-US" sz="1800" dirty="0"/>
          </a:p>
        </p:txBody>
      </p:sp>
      <p:sp>
        <p:nvSpPr>
          <p:cNvPr id="8" name="Text 6"/>
          <p:cNvSpPr/>
          <p:nvPr/>
        </p:nvSpPr>
        <p:spPr>
          <a:xfrm>
            <a:off x="838200" y="1924050"/>
            <a:ext cx="17109948" cy="2506980"/>
          </a:xfrm>
          <a:prstGeom prst="rect">
            <a:avLst/>
          </a:prstGeom>
          <a:noFill/>
          <a:ln/>
        </p:spPr>
        <p:txBody>
          <a:bodyPr wrap="square" lIns="25400" tIns="25400" rIns="25400" bIns="25400" rtlCol="0" anchor="t">
            <a:normAutofit/>
          </a:bodyPr>
          <a:lstStyle/>
          <a:p>
            <a:pPr algn="l" indent="0" marL="0">
              <a:lnSpc>
                <a:spcPct val="92000"/>
              </a:lnSpc>
              <a:buNone/>
            </a:pPr>
            <a:r>
              <a:rPr lang="en-US" sz="10500" spc="-315" kern="0" dirty="0">
                <a:solidFill>
                  <a:srgbClr val="0E0E0E"/>
                </a:solidFill>
                <a:latin typeface="Arial" pitchFamily="34" charset="0"/>
                <a:ea typeface="Arial" pitchFamily="34" charset="-122"/>
                <a:cs typeface="Arial" pitchFamily="34" charset="-120"/>
              </a:rPr>
              <a:t>When a project shows </a:t>
            </a:r>
            <a:pPr algn="l" indent="0" marL="0">
              <a:lnSpc>
                <a:spcPct val="92000"/>
              </a:lnSpc>
              <a:buNone/>
            </a:pPr>
            <a:r>
              <a:rPr lang="en-US" sz="10500" i="1" spc="-315" kern="0" dirty="0">
                <a:solidFill>
                  <a:srgbClr val="0E0E0E"/>
                </a:solidFill>
                <a:latin typeface="Arial" pitchFamily="34" charset="0"/>
                <a:ea typeface="Arial" pitchFamily="34" charset="-122"/>
                <a:cs typeface="Arial" pitchFamily="34" charset="-120"/>
              </a:rPr>
              <a:t>genuine market signal.</a:t>
            </a:r>
            <a:endParaRPr lang="en-US" sz="10500" dirty="0"/>
          </a:p>
        </p:txBody>
      </p:sp>
      <p:sp>
        <p:nvSpPr>
          <p:cNvPr id="9" name="Text 7"/>
          <p:cNvSpPr/>
          <p:nvPr/>
        </p:nvSpPr>
        <p:spPr>
          <a:xfrm>
            <a:off x="838200" y="4964430"/>
            <a:ext cx="9011542" cy="834390"/>
          </a:xfrm>
          <a:prstGeom prst="rect">
            <a:avLst/>
          </a:prstGeom>
          <a:noFill/>
          <a:ln/>
        </p:spPr>
        <p:txBody>
          <a:bodyPr wrap="square" lIns="25400" tIns="25400" rIns="25400" bIns="25400" rtlCol="0" anchor="t">
            <a:normAutofit/>
          </a:bodyPr>
          <a:lstStyle/>
          <a:p>
            <a:pPr algn="l" indent="0" marL="0">
              <a:lnSpc>
                <a:spcPct val="110000"/>
              </a:lnSpc>
              <a:buNone/>
            </a:pPr>
            <a:r>
              <a:rPr lang="en-US" sz="2850" i="1" spc="-29" kern="0" dirty="0">
                <a:solidFill>
                  <a:srgbClr val="0E0E0E"/>
                </a:solidFill>
                <a:latin typeface="Arial" pitchFamily="34" charset="0"/>
                <a:ea typeface="Arial" pitchFamily="34" charset="-122"/>
                <a:cs typeface="Arial" pitchFamily="34" charset="-120"/>
              </a:rPr>
              <a:t>The lowest-cost moment in commercial history to test a hypothesis against real customers.</a:t>
            </a:r>
            <a:endParaRPr lang="en-US" sz="2850" dirty="0"/>
          </a:p>
        </p:txBody>
      </p:sp>
      <p:sp>
        <p:nvSpPr>
          <p:cNvPr id="10" name="Shape 8"/>
          <p:cNvSpPr/>
          <p:nvPr/>
        </p:nvSpPr>
        <p:spPr>
          <a:xfrm>
            <a:off x="10158769" y="4964430"/>
            <a:ext cx="7291031" cy="800100"/>
          </a:xfrm>
          <a:prstGeom prst="rect">
            <a:avLst/>
          </a:prstGeom>
          <a:solidFill>
            <a:srgbClr val="FF3355"/>
          </a:solidFill>
          <a:ln/>
        </p:spPr>
      </p:sp>
      <p:sp>
        <p:nvSpPr>
          <p:cNvPr id="11" name="Text 9"/>
          <p:cNvSpPr/>
          <p:nvPr/>
        </p:nvSpPr>
        <p:spPr>
          <a:xfrm>
            <a:off x="10349269" y="5200650"/>
            <a:ext cx="200858" cy="365760"/>
          </a:xfrm>
          <a:prstGeom prst="rect">
            <a:avLst/>
          </a:prstGeom>
          <a:noFill/>
          <a:ln/>
        </p:spPr>
        <p:txBody>
          <a:bodyPr wrap="square" lIns="25400" tIns="25400" rIns="25400" bIns="25400" rtlCol="0" anchor="t">
            <a:normAutofit/>
          </a:bodyPr>
          <a:lstStyle/>
          <a:p>
            <a:pPr algn="l" indent="0" marL="0">
              <a:buNone/>
            </a:pPr>
            <a:r>
              <a:rPr lang="en-US" sz="2100" b="1" i="1" spc="216" kern="0" dirty="0">
                <a:solidFill>
                  <a:srgbClr val="F2EFE8"/>
                </a:solidFill>
                <a:latin typeface="Arial" pitchFamily="34" charset="0"/>
                <a:ea typeface="Arial" pitchFamily="34" charset="-122"/>
                <a:cs typeface="Arial" pitchFamily="34" charset="-120"/>
              </a:rPr>
              <a:t>!</a:t>
            </a:r>
            <a:endParaRPr lang="en-US" sz="2100" dirty="0"/>
          </a:p>
        </p:txBody>
      </p:sp>
      <p:sp>
        <p:nvSpPr>
          <p:cNvPr id="12" name="Text 10"/>
          <p:cNvSpPr/>
          <p:nvPr/>
        </p:nvSpPr>
        <p:spPr>
          <a:xfrm>
            <a:off x="10607278" y="5059680"/>
            <a:ext cx="6103145" cy="647700"/>
          </a:xfrm>
          <a:prstGeom prst="rect">
            <a:avLst/>
          </a:prstGeom>
          <a:noFill/>
          <a:ln/>
        </p:spPr>
        <p:txBody>
          <a:bodyPr wrap="square" lIns="0" tIns="0" rIns="0" bIns="0" rtlCol="0" anchor="t">
            <a:normAutofit/>
          </a:bodyPr>
          <a:lstStyle/>
          <a:p>
            <a:pPr algn="l" indent="0" marL="0">
              <a:buNone/>
            </a:pPr>
            <a:r>
              <a:rPr lang="en-US" sz="1800" b="1" spc="216" kern="0" dirty="0">
                <a:solidFill>
                  <a:srgbClr val="F2EFE8"/>
                </a:solidFill>
                <a:latin typeface="Arial" pitchFamily="34" charset="0"/>
                <a:ea typeface="Arial" pitchFamily="34" charset="-122"/>
                <a:cs typeface="Arial" pitchFamily="34" charset="-120"/>
              </a:rPr>
              <a:t>THE INCORRECT INSTRUMENT · GENERATED BUSINESS PLANS</a:t>
            </a:r>
            <a:endParaRPr lang="en-US" sz="1800" dirty="0"/>
          </a:p>
        </p:txBody>
      </p:sp>
      <p:sp>
        <p:nvSpPr>
          <p:cNvPr id="13" name="Text 11"/>
          <p:cNvSpPr/>
          <p:nvPr/>
        </p:nvSpPr>
        <p:spPr>
          <a:xfrm>
            <a:off x="10158769" y="6107430"/>
            <a:ext cx="7509761" cy="949643"/>
          </a:xfrm>
          <a:prstGeom prst="rect">
            <a:avLst/>
          </a:prstGeom>
          <a:noFill/>
          <a:ln/>
        </p:spPr>
        <p:txBody>
          <a:bodyPr wrap="square" lIns="25400" tIns="25400" rIns="25400" bIns="25400" rtlCol="0" anchor="t">
            <a:normAutofit/>
          </a:bodyPr>
          <a:lstStyle/>
          <a:p>
            <a:pPr algn="l" indent="0" marL="0">
              <a:lnSpc>
                <a:spcPct val="145000"/>
              </a:lnSpc>
              <a:buNone/>
            </a:pPr>
            <a:r>
              <a:rPr lang="en-US" sz="1650" dirty="0">
                <a:solidFill>
                  <a:srgbClr val="2A2A2A"/>
                </a:solidFill>
                <a:latin typeface="Arial" pitchFamily="34" charset="0"/>
                <a:ea typeface="Arial" pitchFamily="34" charset="-122"/>
                <a:cs typeface="Arial" pitchFamily="34" charset="-120"/>
              </a:rPr>
              <a:t>A request for a generated business plan produces structurally plausible text without ground-truth contact with customers. The output is internally consistent and externally unverified — the inverse of what is required at this stage.</a:t>
            </a:r>
            <a:endParaRPr lang="en-US" sz="1650" dirty="0"/>
          </a:p>
        </p:txBody>
      </p:sp>
      <p:sp>
        <p:nvSpPr>
          <p:cNvPr id="14" name="Text 12"/>
          <p:cNvSpPr/>
          <p:nvPr/>
        </p:nvSpPr>
        <p:spPr>
          <a:xfrm>
            <a:off x="838200" y="9643110"/>
            <a:ext cx="6405316"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THE FUNCTION OF JUDGMENT IS NOT DELEGABLE</a:t>
            </a:r>
            <a:endParaRPr lang="en-US" sz="1800" dirty="0"/>
          </a:p>
        </p:txBody>
      </p:sp>
      <p:sp>
        <p:nvSpPr>
          <p:cNvPr id="15" name="Text 13"/>
          <p:cNvSpPr/>
          <p:nvPr/>
        </p:nvSpPr>
        <p:spPr>
          <a:xfrm>
            <a:off x="16481942" y="9563100"/>
            <a:ext cx="1044059"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888076"/>
                </a:solidFill>
                <a:latin typeface="Arial" pitchFamily="34" charset="0"/>
                <a:ea typeface="Arial" pitchFamily="34" charset="-122"/>
                <a:cs typeface="Arial" pitchFamily="34" charset="-120"/>
              </a:rPr>
              <a:t>18 / 25</a:t>
            </a:r>
            <a:endParaRPr lang="en-US" sz="2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FE8"/>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0442020" y="327660"/>
            <a:ext cx="7218014"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CH.05 · PROMPT 07 / 07 · ADVERSARIAL INTERROGATION</a:t>
            </a:r>
            <a:endParaRPr lang="en-US" sz="1800" dirty="0"/>
          </a:p>
        </p:txBody>
      </p:sp>
      <p:sp>
        <p:nvSpPr>
          <p:cNvPr id="5" name="Shape 3"/>
          <p:cNvSpPr/>
          <p:nvPr/>
        </p:nvSpPr>
        <p:spPr>
          <a:xfrm>
            <a:off x="838200" y="1209675"/>
            <a:ext cx="95250" cy="95250"/>
          </a:xfrm>
          <a:prstGeom prst="rect">
            <a:avLst/>
          </a:prstGeom>
          <a:solidFill>
            <a:srgbClr val="FF5B1F"/>
          </a:solidFill>
          <a:ln/>
        </p:spPr>
      </p:sp>
      <p:sp>
        <p:nvSpPr>
          <p:cNvPr id="6" name="Text 4"/>
          <p:cNvSpPr/>
          <p:nvPr/>
        </p:nvSpPr>
        <p:spPr>
          <a:xfrm>
            <a:off x="1066800" y="1127760"/>
            <a:ext cx="1163955" cy="289560"/>
          </a:xfrm>
          <a:prstGeom prst="rect">
            <a:avLst/>
          </a:prstGeom>
          <a:noFill/>
          <a:ln/>
        </p:spPr>
        <p:txBody>
          <a:bodyPr wrap="square" lIns="0" tIns="0" rIns="0" bIns="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PROMPT</a:t>
            </a:r>
            <a:endParaRPr lang="en-US" sz="1800" dirty="0"/>
          </a:p>
        </p:txBody>
      </p:sp>
      <p:sp>
        <p:nvSpPr>
          <p:cNvPr id="7" name="Text 5"/>
          <p:cNvSpPr/>
          <p:nvPr/>
        </p:nvSpPr>
        <p:spPr>
          <a:xfrm>
            <a:off x="2287905" y="1104900"/>
            <a:ext cx="4803343" cy="34290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2A2A2A"/>
                </a:solidFill>
                <a:latin typeface="Arial" pitchFamily="34" charset="0"/>
                <a:ea typeface="Arial" pitchFamily="34" charset="-122"/>
                <a:cs typeface="Arial" pitchFamily="34" charset="-120"/>
              </a:rPr>
              <a:t>07 — ADVERSARIAL INTERROGATION</a:t>
            </a:r>
            <a:endParaRPr lang="en-US" sz="1800" dirty="0"/>
          </a:p>
        </p:txBody>
      </p:sp>
      <p:sp>
        <p:nvSpPr>
          <p:cNvPr id="8" name="Text 6"/>
          <p:cNvSpPr/>
          <p:nvPr/>
        </p:nvSpPr>
        <p:spPr>
          <a:xfrm>
            <a:off x="838200" y="1543050"/>
            <a:ext cx="17109948" cy="923449"/>
          </a:xfrm>
          <a:prstGeom prst="rect">
            <a:avLst/>
          </a:prstGeom>
          <a:noFill/>
          <a:ln/>
        </p:spPr>
        <p:txBody>
          <a:bodyPr wrap="square" lIns="25400" tIns="25400" rIns="25400" bIns="25400" rtlCol="0" anchor="t">
            <a:normAutofit/>
          </a:bodyPr>
          <a:lstStyle/>
          <a:p>
            <a:pPr algn="l" indent="0" marL="0">
              <a:lnSpc>
                <a:spcPct val="96000"/>
              </a:lnSpc>
              <a:buNone/>
            </a:pPr>
            <a:r>
              <a:rPr lang="en-US" sz="7200" spc="-180" kern="0" dirty="0">
                <a:solidFill>
                  <a:srgbClr val="0E0E0E"/>
                </a:solidFill>
                <a:latin typeface="Arial" pitchFamily="34" charset="0"/>
                <a:ea typeface="Arial" pitchFamily="34" charset="-122"/>
                <a:cs typeface="Arial" pitchFamily="34" charset="-120"/>
              </a:rPr>
              <a:t>Your answers </a:t>
            </a:r>
            <a:pPr algn="l" indent="0" marL="0">
              <a:lnSpc>
                <a:spcPct val="96000"/>
              </a:lnSpc>
              <a:buNone/>
            </a:pPr>
            <a:r>
              <a:rPr lang="en-US" sz="7200" i="1" spc="-180" kern="0" dirty="0">
                <a:solidFill>
                  <a:srgbClr val="0E0E0E"/>
                </a:solidFill>
                <a:latin typeface="Arial" pitchFamily="34" charset="0"/>
                <a:ea typeface="Arial" pitchFamily="34" charset="-122"/>
                <a:cs typeface="Arial" pitchFamily="34" charset="-120"/>
              </a:rPr>
              <a:t>are </a:t>
            </a:r>
            <a:pPr algn="l" indent="0" marL="0">
              <a:lnSpc>
                <a:spcPct val="96000"/>
              </a:lnSpc>
              <a:buNone/>
            </a:pPr>
            <a:r>
              <a:rPr lang="en-US" sz="7200" spc="-180" kern="0" dirty="0">
                <a:solidFill>
                  <a:srgbClr val="0E0E0E"/>
                </a:solidFill>
                <a:latin typeface="Arial" pitchFamily="34" charset="0"/>
                <a:ea typeface="Arial" pitchFamily="34" charset="-122"/>
                <a:cs typeface="Arial" pitchFamily="34" charset="-120"/>
              </a:rPr>
              <a:t>the plan.</a:t>
            </a:r>
            <a:endParaRPr lang="en-US" sz="7200" dirty="0"/>
          </a:p>
        </p:txBody>
      </p:sp>
      <p:sp>
        <p:nvSpPr>
          <p:cNvPr id="9" name="Text 7"/>
          <p:cNvSpPr/>
          <p:nvPr/>
        </p:nvSpPr>
        <p:spPr>
          <a:xfrm>
            <a:off x="838200" y="2714149"/>
            <a:ext cx="8319516" cy="342900"/>
          </a:xfrm>
          <a:prstGeom prst="rect">
            <a:avLst/>
          </a:prstGeom>
          <a:noFill/>
          <a:ln/>
        </p:spPr>
        <p:txBody>
          <a:bodyPr wrap="square" lIns="25400" tIns="25400" rIns="25400" bIns="25400" rtlCol="0" anchor="t">
            <a:normAutofit/>
          </a:bodyPr>
          <a:lstStyle/>
          <a:p>
            <a:pPr algn="l" indent="0" marL="0">
              <a:buNone/>
            </a:pPr>
            <a:r>
              <a:rPr lang="en-US" sz="1800" spc="180" kern="0" dirty="0">
                <a:solidFill>
                  <a:srgbClr val="FF5B1F"/>
                </a:solidFill>
                <a:latin typeface="Arial" pitchFamily="34" charset="0"/>
                <a:ea typeface="Arial" pitchFamily="34" charset="-122"/>
                <a:cs typeface="Arial" pitchFamily="34" charset="-120"/>
              </a:rPr>
              <a:t>PROMPT TEMPLATE</a:t>
            </a:r>
            <a:endParaRPr lang="en-US" sz="1800" dirty="0"/>
          </a:p>
        </p:txBody>
      </p:sp>
      <p:sp>
        <p:nvSpPr>
          <p:cNvPr id="10" name="Shape 8"/>
          <p:cNvSpPr/>
          <p:nvPr/>
        </p:nvSpPr>
        <p:spPr>
          <a:xfrm>
            <a:off x="838200" y="3114199"/>
            <a:ext cx="8077200" cy="6920865"/>
          </a:xfrm>
          <a:prstGeom prst="rect">
            <a:avLst/>
          </a:prstGeom>
          <a:solidFill>
            <a:srgbClr val="0E0E0E"/>
          </a:solidFill>
          <a:ln/>
        </p:spPr>
      </p:sp>
      <p:sp>
        <p:nvSpPr>
          <p:cNvPr id="11" name="Shape 9"/>
          <p:cNvSpPr/>
          <p:nvPr/>
        </p:nvSpPr>
        <p:spPr>
          <a:xfrm>
            <a:off x="838200" y="3114199"/>
            <a:ext cx="45720" cy="6920865"/>
          </a:xfrm>
          <a:prstGeom prst="rect">
            <a:avLst/>
          </a:prstGeom>
          <a:solidFill>
            <a:srgbClr val="FF5B1F"/>
          </a:solidFill>
          <a:ln/>
        </p:spPr>
      </p:sp>
      <p:sp>
        <p:nvSpPr>
          <p:cNvPr id="12" name="Text 10"/>
          <p:cNvSpPr/>
          <p:nvPr/>
        </p:nvSpPr>
        <p:spPr>
          <a:xfrm>
            <a:off x="1169670" y="3342799"/>
            <a:ext cx="7702296" cy="6501765"/>
          </a:xfrm>
          <a:prstGeom prst="rect">
            <a:avLst/>
          </a:prstGeom>
          <a:noFill/>
          <a:ln/>
        </p:spPr>
        <p:txBody>
          <a:bodyPr wrap="square" lIns="25400" tIns="25400" rIns="25400" bIns="25400" rtlCol="0" anchor="t">
            <a:normAutofit/>
          </a:bodyPr>
          <a:lstStyle/>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Adopt the role of a critical reviewer</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with [sector] expertise. Default</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disposition: scepticism. You do not</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flatter.</a:t>
            </a:r>
            <a:endParaRPr lang="en-US" sz="1350" dirty="0"/>
          </a:p>
          <a:p>
            <a:pPr algn="l" indent="0" marL="0">
              <a:lnSpc>
                <a:spcPct val="130000"/>
              </a:lnSpc>
              <a:buNone/>
            </a:pP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Proposition, one paragraph:</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[describe in your own words]</a:t>
            </a:r>
            <a:endParaRPr lang="en-US" sz="1350" dirty="0"/>
          </a:p>
          <a:p>
            <a:pPr algn="l" indent="0" marL="0">
              <a:lnSpc>
                <a:spcPct val="130000"/>
              </a:lnSpc>
              <a:buNone/>
            </a:pP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Produce the ten questions a paying</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customer — not an investor — would</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raise before transacting. Order by</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cost of being wrong.</a:t>
            </a:r>
            <a:endParaRPr lang="en-US" sz="1350" dirty="0"/>
          </a:p>
          <a:p>
            <a:pPr algn="l" indent="0" marL="0">
              <a:lnSpc>
                <a:spcPct val="130000"/>
              </a:lnSpc>
              <a:buNone/>
            </a:pP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Wait for my responses. Do not propose</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answers. Do not infer.</a:t>
            </a:r>
            <a:endParaRPr lang="en-US" sz="1350" dirty="0"/>
          </a:p>
          <a:p>
            <a:pPr algn="l" indent="0" marL="0">
              <a:lnSpc>
                <a:spcPct val="130000"/>
              </a:lnSpc>
              <a:buNone/>
            </a:pP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After I respond:</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  1. Score 1–10 with reasoning on five</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     criteria: problem severity,</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     willingness to pay, defensibility,</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     founder fit, time to first revenue.</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  2. Identify the largest unverified</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     assumption.</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  3. Specify the cheapest experiment</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     that falsifies it within seven days,</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     with success and failure metrics.</a:t>
            </a:r>
            <a:endParaRPr lang="en-US" sz="1350" dirty="0"/>
          </a:p>
          <a:p>
            <a:pPr algn="l" indent="0" marL="0">
              <a:lnSpc>
                <a:spcPct val="130000"/>
              </a:lnSpc>
              <a:buNone/>
            </a:pP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If responses are vague, request</a:t>
            </a:r>
            <a:endParaRPr lang="en-US" sz="1350" dirty="0"/>
          </a:p>
          <a:p>
            <a:pPr algn="l" indent="0" marL="0">
              <a:lnSpc>
                <a:spcPct val="130000"/>
              </a:lnSpc>
              <a:buNone/>
            </a:pPr>
            <a:r>
              <a:rPr lang="en-US" sz="1350" dirty="0">
                <a:solidFill>
                  <a:srgbClr val="F2EFE8"/>
                </a:solidFill>
                <a:latin typeface="Arial" pitchFamily="34" charset="0"/>
                <a:ea typeface="Arial" pitchFamily="34" charset="-122"/>
                <a:cs typeface="Arial" pitchFamily="34" charset="-120"/>
              </a:rPr>
              <a:t>specificity. Do not accept hedging.</a:t>
            </a:r>
            <a:endParaRPr lang="en-US" sz="1350" dirty="0"/>
          </a:p>
        </p:txBody>
      </p:sp>
      <p:sp>
        <p:nvSpPr>
          <p:cNvPr id="13" name="Shape 11"/>
          <p:cNvSpPr/>
          <p:nvPr/>
        </p:nvSpPr>
        <p:spPr>
          <a:xfrm>
            <a:off x="9372600" y="2904649"/>
            <a:ext cx="8077200" cy="15240"/>
          </a:xfrm>
          <a:prstGeom prst="rect">
            <a:avLst/>
          </a:prstGeom>
          <a:solidFill>
            <a:srgbClr val="0E0E0E"/>
          </a:solidFill>
          <a:ln/>
        </p:spPr>
      </p:sp>
      <p:sp>
        <p:nvSpPr>
          <p:cNvPr id="14" name="Text 12"/>
          <p:cNvSpPr/>
          <p:nvPr/>
        </p:nvSpPr>
        <p:spPr>
          <a:xfrm>
            <a:off x="9372600" y="3072289"/>
            <a:ext cx="647700" cy="476250"/>
          </a:xfrm>
          <a:prstGeom prst="rect">
            <a:avLst/>
          </a:prstGeom>
          <a:noFill/>
          <a:ln/>
        </p:spPr>
        <p:txBody>
          <a:bodyPr wrap="square" lIns="25400" tIns="25400" rIns="25400" bIns="25400" rtlCol="0" anchor="t">
            <a:normAutofit/>
          </a:bodyPr>
          <a:lstStyle/>
          <a:p>
            <a:pPr algn="l" indent="0" marL="0">
              <a:lnSpc>
                <a:spcPct val="100000"/>
              </a:lnSpc>
              <a:buNone/>
            </a:pPr>
            <a:r>
              <a:rPr lang="en-US" sz="3450" i="1" dirty="0">
                <a:solidFill>
                  <a:srgbClr val="FF5B1F"/>
                </a:solidFill>
                <a:latin typeface="Arial" pitchFamily="34" charset="0"/>
                <a:ea typeface="Arial" pitchFamily="34" charset="-122"/>
                <a:cs typeface="Arial" pitchFamily="34" charset="-120"/>
              </a:rPr>
              <a:t>1</a:t>
            </a:r>
            <a:endParaRPr lang="en-US" sz="3450" dirty="0"/>
          </a:p>
        </p:txBody>
      </p:sp>
      <p:sp>
        <p:nvSpPr>
          <p:cNvPr id="15" name="Text 13"/>
          <p:cNvSpPr/>
          <p:nvPr/>
        </p:nvSpPr>
        <p:spPr>
          <a:xfrm>
            <a:off x="10096500" y="3178969"/>
            <a:ext cx="7573899" cy="358140"/>
          </a:xfrm>
          <a:prstGeom prst="rect">
            <a:avLst/>
          </a:prstGeom>
          <a:noFill/>
          <a:ln/>
        </p:spPr>
        <p:txBody>
          <a:bodyPr wrap="square" lIns="25400" tIns="25400" rIns="25400" bIns="25400" rtlCol="0" anchor="t">
            <a:normAutofit/>
          </a:bodyPr>
          <a:lstStyle/>
          <a:p>
            <a:pPr algn="l" indent="0" marL="0">
              <a:lnSpc>
                <a:spcPct val="105000"/>
              </a:lnSpc>
              <a:buNone/>
            </a:pPr>
            <a:r>
              <a:rPr lang="en-US" sz="2400" dirty="0">
                <a:solidFill>
                  <a:srgbClr val="0E0E0E"/>
                </a:solidFill>
                <a:latin typeface="Arial" pitchFamily="34" charset="0"/>
                <a:ea typeface="Arial" pitchFamily="34" charset="-122"/>
                <a:cs typeface="Arial" pitchFamily="34" charset="-120"/>
              </a:rPr>
              <a:t>Execute the prompt.</a:t>
            </a:r>
            <a:endParaRPr lang="en-US" sz="2400" dirty="0"/>
          </a:p>
        </p:txBody>
      </p:sp>
      <p:sp>
        <p:nvSpPr>
          <p:cNvPr id="16" name="Shape 14"/>
          <p:cNvSpPr/>
          <p:nvPr/>
        </p:nvSpPr>
        <p:spPr>
          <a:xfrm>
            <a:off x="9372600" y="3853339"/>
            <a:ext cx="8077200" cy="15240"/>
          </a:xfrm>
          <a:prstGeom prst="rect">
            <a:avLst/>
          </a:prstGeom>
          <a:solidFill>
            <a:srgbClr val="0E0E0E"/>
          </a:solidFill>
          <a:ln/>
        </p:spPr>
      </p:sp>
      <p:sp>
        <p:nvSpPr>
          <p:cNvPr id="17" name="Text 15"/>
          <p:cNvSpPr/>
          <p:nvPr/>
        </p:nvSpPr>
        <p:spPr>
          <a:xfrm>
            <a:off x="9372600" y="4020979"/>
            <a:ext cx="647700" cy="476250"/>
          </a:xfrm>
          <a:prstGeom prst="rect">
            <a:avLst/>
          </a:prstGeom>
          <a:noFill/>
          <a:ln/>
        </p:spPr>
        <p:txBody>
          <a:bodyPr wrap="square" lIns="25400" tIns="25400" rIns="25400" bIns="25400" rtlCol="0" anchor="t">
            <a:normAutofit/>
          </a:bodyPr>
          <a:lstStyle/>
          <a:p>
            <a:pPr algn="l" indent="0" marL="0">
              <a:lnSpc>
                <a:spcPct val="100000"/>
              </a:lnSpc>
              <a:buNone/>
            </a:pPr>
            <a:r>
              <a:rPr lang="en-US" sz="3450" i="1" dirty="0">
                <a:solidFill>
                  <a:srgbClr val="FF5B1F"/>
                </a:solidFill>
                <a:latin typeface="Arial" pitchFamily="34" charset="0"/>
                <a:ea typeface="Arial" pitchFamily="34" charset="-122"/>
                <a:cs typeface="Arial" pitchFamily="34" charset="-120"/>
              </a:rPr>
              <a:t>2</a:t>
            </a:r>
            <a:endParaRPr lang="en-US" sz="3450" dirty="0"/>
          </a:p>
        </p:txBody>
      </p:sp>
      <p:sp>
        <p:nvSpPr>
          <p:cNvPr id="18" name="Text 16"/>
          <p:cNvSpPr/>
          <p:nvPr/>
        </p:nvSpPr>
        <p:spPr>
          <a:xfrm>
            <a:off x="10096500" y="4127659"/>
            <a:ext cx="7573899" cy="678180"/>
          </a:xfrm>
          <a:prstGeom prst="rect">
            <a:avLst/>
          </a:prstGeom>
          <a:noFill/>
          <a:ln/>
        </p:spPr>
        <p:txBody>
          <a:bodyPr wrap="square" lIns="25400" tIns="25400" rIns="25400" bIns="25400" rtlCol="0" anchor="t">
            <a:normAutofit/>
          </a:bodyPr>
          <a:lstStyle/>
          <a:p>
            <a:pPr algn="l" indent="0" marL="0">
              <a:lnSpc>
                <a:spcPct val="105000"/>
              </a:lnSpc>
              <a:buNone/>
            </a:pPr>
            <a:r>
              <a:rPr lang="en-US" sz="2400" dirty="0">
                <a:solidFill>
                  <a:srgbClr val="0E0E0E"/>
                </a:solidFill>
                <a:latin typeface="Arial" pitchFamily="34" charset="0"/>
                <a:ea typeface="Arial" pitchFamily="34" charset="-122"/>
                <a:cs typeface="Arial" pitchFamily="34" charset="-120"/>
              </a:rPr>
              <a:t>Respond to all ten questions in your own words. No model assistance.</a:t>
            </a:r>
            <a:endParaRPr lang="en-US" sz="2400" dirty="0"/>
          </a:p>
        </p:txBody>
      </p:sp>
      <p:sp>
        <p:nvSpPr>
          <p:cNvPr id="19" name="Shape 17"/>
          <p:cNvSpPr/>
          <p:nvPr/>
        </p:nvSpPr>
        <p:spPr>
          <a:xfrm>
            <a:off x="9372600" y="5110639"/>
            <a:ext cx="8077200" cy="15240"/>
          </a:xfrm>
          <a:prstGeom prst="rect">
            <a:avLst/>
          </a:prstGeom>
          <a:solidFill>
            <a:srgbClr val="0E0E0E"/>
          </a:solidFill>
          <a:ln/>
        </p:spPr>
      </p:sp>
      <p:sp>
        <p:nvSpPr>
          <p:cNvPr id="20" name="Text 18"/>
          <p:cNvSpPr/>
          <p:nvPr/>
        </p:nvSpPr>
        <p:spPr>
          <a:xfrm>
            <a:off x="9372600" y="5278279"/>
            <a:ext cx="647700" cy="476250"/>
          </a:xfrm>
          <a:prstGeom prst="rect">
            <a:avLst/>
          </a:prstGeom>
          <a:noFill/>
          <a:ln/>
        </p:spPr>
        <p:txBody>
          <a:bodyPr wrap="square" lIns="25400" tIns="25400" rIns="25400" bIns="25400" rtlCol="0" anchor="t">
            <a:normAutofit/>
          </a:bodyPr>
          <a:lstStyle/>
          <a:p>
            <a:pPr algn="l" indent="0" marL="0">
              <a:lnSpc>
                <a:spcPct val="100000"/>
              </a:lnSpc>
              <a:buNone/>
            </a:pPr>
            <a:r>
              <a:rPr lang="en-US" sz="3450" i="1" dirty="0">
                <a:solidFill>
                  <a:srgbClr val="FF5B1F"/>
                </a:solidFill>
                <a:latin typeface="Arial" pitchFamily="34" charset="0"/>
                <a:ea typeface="Arial" pitchFamily="34" charset="-122"/>
                <a:cs typeface="Arial" pitchFamily="34" charset="-120"/>
              </a:rPr>
              <a:t>3</a:t>
            </a:r>
            <a:endParaRPr lang="en-US" sz="3450" dirty="0"/>
          </a:p>
        </p:txBody>
      </p:sp>
      <p:sp>
        <p:nvSpPr>
          <p:cNvPr id="21" name="Text 19"/>
          <p:cNvSpPr/>
          <p:nvPr/>
        </p:nvSpPr>
        <p:spPr>
          <a:xfrm>
            <a:off x="10096500" y="5384959"/>
            <a:ext cx="7573899" cy="678180"/>
          </a:xfrm>
          <a:prstGeom prst="rect">
            <a:avLst/>
          </a:prstGeom>
          <a:noFill/>
          <a:ln/>
        </p:spPr>
        <p:txBody>
          <a:bodyPr wrap="square" lIns="25400" tIns="25400" rIns="25400" bIns="25400" rtlCol="0" anchor="t">
            <a:normAutofit/>
          </a:bodyPr>
          <a:lstStyle/>
          <a:p>
            <a:pPr algn="l" indent="0" marL="0">
              <a:lnSpc>
                <a:spcPct val="105000"/>
              </a:lnSpc>
              <a:buNone/>
            </a:pPr>
            <a:r>
              <a:rPr lang="en-US" sz="2400" dirty="0">
                <a:solidFill>
                  <a:srgbClr val="0E0E0E"/>
                </a:solidFill>
                <a:latin typeface="Arial" pitchFamily="34" charset="0"/>
                <a:ea typeface="Arial" pitchFamily="34" charset="-122"/>
                <a:cs typeface="Arial" pitchFamily="34" charset="-120"/>
              </a:rPr>
              <a:t>Validate each answer against five real customer conversations.</a:t>
            </a:r>
            <a:endParaRPr lang="en-US" sz="2400" dirty="0"/>
          </a:p>
        </p:txBody>
      </p:sp>
      <p:sp>
        <p:nvSpPr>
          <p:cNvPr id="22" name="Shape 20"/>
          <p:cNvSpPr/>
          <p:nvPr/>
        </p:nvSpPr>
        <p:spPr>
          <a:xfrm>
            <a:off x="9372600" y="6367939"/>
            <a:ext cx="8077200" cy="15240"/>
          </a:xfrm>
          <a:prstGeom prst="rect">
            <a:avLst/>
          </a:prstGeom>
          <a:solidFill>
            <a:srgbClr val="0E0E0E"/>
          </a:solidFill>
          <a:ln/>
        </p:spPr>
      </p:sp>
      <p:sp>
        <p:nvSpPr>
          <p:cNvPr id="23" name="Text 21"/>
          <p:cNvSpPr/>
          <p:nvPr/>
        </p:nvSpPr>
        <p:spPr>
          <a:xfrm>
            <a:off x="9372600" y="6535579"/>
            <a:ext cx="647700" cy="476250"/>
          </a:xfrm>
          <a:prstGeom prst="rect">
            <a:avLst/>
          </a:prstGeom>
          <a:noFill/>
          <a:ln/>
        </p:spPr>
        <p:txBody>
          <a:bodyPr wrap="square" lIns="25400" tIns="25400" rIns="25400" bIns="25400" rtlCol="0" anchor="t">
            <a:normAutofit/>
          </a:bodyPr>
          <a:lstStyle/>
          <a:p>
            <a:pPr algn="l" indent="0" marL="0">
              <a:lnSpc>
                <a:spcPct val="100000"/>
              </a:lnSpc>
              <a:buNone/>
            </a:pPr>
            <a:r>
              <a:rPr lang="en-US" sz="3450" i="1" dirty="0">
                <a:solidFill>
                  <a:srgbClr val="FF5B1F"/>
                </a:solidFill>
                <a:latin typeface="Arial" pitchFamily="34" charset="0"/>
                <a:ea typeface="Arial" pitchFamily="34" charset="-122"/>
                <a:cs typeface="Arial" pitchFamily="34" charset="-120"/>
              </a:rPr>
              <a:t>4</a:t>
            </a:r>
            <a:endParaRPr lang="en-US" sz="3450" dirty="0"/>
          </a:p>
        </p:txBody>
      </p:sp>
      <p:sp>
        <p:nvSpPr>
          <p:cNvPr id="24" name="Text 22"/>
          <p:cNvSpPr/>
          <p:nvPr/>
        </p:nvSpPr>
        <p:spPr>
          <a:xfrm>
            <a:off x="10096500" y="6642259"/>
            <a:ext cx="7573899" cy="678180"/>
          </a:xfrm>
          <a:prstGeom prst="rect">
            <a:avLst/>
          </a:prstGeom>
          <a:noFill/>
          <a:ln/>
        </p:spPr>
        <p:txBody>
          <a:bodyPr wrap="square" lIns="25400" tIns="25400" rIns="25400" bIns="25400" rtlCol="0" anchor="t">
            <a:normAutofit/>
          </a:bodyPr>
          <a:lstStyle/>
          <a:p>
            <a:pPr algn="l" indent="0" marL="0">
              <a:lnSpc>
                <a:spcPct val="105000"/>
              </a:lnSpc>
              <a:buNone/>
            </a:pPr>
            <a:r>
              <a:rPr lang="en-US" sz="2400" dirty="0">
                <a:solidFill>
                  <a:srgbClr val="0E0E0E"/>
                </a:solidFill>
                <a:latin typeface="Arial" pitchFamily="34" charset="0"/>
                <a:ea typeface="Arial" pitchFamily="34" charset="-122"/>
                <a:cs typeface="Arial" pitchFamily="34" charset="-120"/>
              </a:rPr>
              <a:t>Refined answers constitute the operating plan, in the founder's voice.</a:t>
            </a:r>
            <a:endParaRPr lang="en-US" sz="2400" dirty="0"/>
          </a:p>
        </p:txBody>
      </p:sp>
      <p:sp>
        <p:nvSpPr>
          <p:cNvPr id="25" name="Shape 23"/>
          <p:cNvSpPr/>
          <p:nvPr/>
        </p:nvSpPr>
        <p:spPr>
          <a:xfrm>
            <a:off x="9372600" y="8692039"/>
            <a:ext cx="8077200" cy="15240"/>
          </a:xfrm>
          <a:prstGeom prst="rect">
            <a:avLst/>
          </a:prstGeom>
          <a:solidFill>
            <a:srgbClr val="0E0E0E"/>
          </a:solidFill>
          <a:ln/>
        </p:spPr>
      </p:sp>
      <p:sp>
        <p:nvSpPr>
          <p:cNvPr id="26" name="Shape 24"/>
          <p:cNvSpPr/>
          <p:nvPr/>
        </p:nvSpPr>
        <p:spPr>
          <a:xfrm>
            <a:off x="9372600" y="7625239"/>
            <a:ext cx="8077200" cy="15240"/>
          </a:xfrm>
          <a:prstGeom prst="rect">
            <a:avLst/>
          </a:prstGeom>
          <a:solidFill>
            <a:srgbClr val="0E0E0E"/>
          </a:solidFill>
          <a:ln/>
        </p:spPr>
      </p:sp>
      <p:sp>
        <p:nvSpPr>
          <p:cNvPr id="27" name="Text 25"/>
          <p:cNvSpPr/>
          <p:nvPr/>
        </p:nvSpPr>
        <p:spPr>
          <a:xfrm>
            <a:off x="9372600" y="7792879"/>
            <a:ext cx="647700" cy="476250"/>
          </a:xfrm>
          <a:prstGeom prst="rect">
            <a:avLst/>
          </a:prstGeom>
          <a:noFill/>
          <a:ln/>
        </p:spPr>
        <p:txBody>
          <a:bodyPr wrap="square" lIns="25400" tIns="25400" rIns="25400" bIns="25400" rtlCol="0" anchor="t">
            <a:normAutofit/>
          </a:bodyPr>
          <a:lstStyle/>
          <a:p>
            <a:pPr algn="l" indent="0" marL="0">
              <a:lnSpc>
                <a:spcPct val="100000"/>
              </a:lnSpc>
              <a:buNone/>
            </a:pPr>
            <a:r>
              <a:rPr lang="en-US" sz="3450" i="1" dirty="0">
                <a:solidFill>
                  <a:srgbClr val="FF5B1F"/>
                </a:solidFill>
                <a:latin typeface="Arial" pitchFamily="34" charset="0"/>
                <a:ea typeface="Arial" pitchFamily="34" charset="-122"/>
                <a:cs typeface="Arial" pitchFamily="34" charset="-120"/>
              </a:rPr>
              <a:t>→</a:t>
            </a:r>
            <a:endParaRPr lang="en-US" sz="3450" dirty="0"/>
          </a:p>
        </p:txBody>
      </p:sp>
      <p:sp>
        <p:nvSpPr>
          <p:cNvPr id="28" name="Text 26"/>
          <p:cNvSpPr/>
          <p:nvPr/>
        </p:nvSpPr>
        <p:spPr>
          <a:xfrm>
            <a:off x="10096500" y="7899559"/>
            <a:ext cx="7573899" cy="678180"/>
          </a:xfrm>
          <a:prstGeom prst="rect">
            <a:avLst/>
          </a:prstGeom>
          <a:noFill/>
          <a:ln/>
        </p:spPr>
        <p:txBody>
          <a:bodyPr wrap="square" lIns="25400" tIns="25400" rIns="25400" bIns="25400" rtlCol="0" anchor="t">
            <a:normAutofit/>
          </a:bodyPr>
          <a:lstStyle/>
          <a:p>
            <a:pPr algn="l" indent="0" marL="0">
              <a:lnSpc>
                <a:spcPct val="105000"/>
              </a:lnSpc>
              <a:buNone/>
            </a:pPr>
            <a:r>
              <a:rPr lang="en-US" sz="2400" dirty="0">
                <a:solidFill>
                  <a:srgbClr val="0E0E0E"/>
                </a:solidFill>
                <a:latin typeface="Arial" pitchFamily="34" charset="0"/>
                <a:ea typeface="Arial" pitchFamily="34" charset="-122"/>
                <a:cs typeface="Arial" pitchFamily="34" charset="-120"/>
              </a:rPr>
              <a:t>Execute the falsifying experiment within the agreed window.</a:t>
            </a:r>
            <a:endParaRPr lang="en-US" sz="2400" dirty="0"/>
          </a:p>
        </p:txBody>
      </p:sp>
      <p:sp>
        <p:nvSpPr>
          <p:cNvPr id="29" name="Text 27"/>
          <p:cNvSpPr/>
          <p:nvPr/>
        </p:nvSpPr>
        <p:spPr>
          <a:xfrm>
            <a:off x="838200" y="9643110"/>
            <a:ext cx="9547822"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AN OPERATING PLAN GROUNDED IN EVIDENCE · IN THE FOUNDER'S VOICE</a:t>
            </a:r>
            <a:endParaRPr lang="en-US" sz="1800" dirty="0"/>
          </a:p>
        </p:txBody>
      </p:sp>
      <p:sp>
        <p:nvSpPr>
          <p:cNvPr id="30" name="Text 28"/>
          <p:cNvSpPr/>
          <p:nvPr/>
        </p:nvSpPr>
        <p:spPr>
          <a:xfrm>
            <a:off x="16471821" y="9563100"/>
            <a:ext cx="1054179"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888076"/>
                </a:solidFill>
                <a:latin typeface="Arial" pitchFamily="34" charset="0"/>
                <a:ea typeface="Arial" pitchFamily="34" charset="-122"/>
                <a:cs typeface="Arial" pitchFamily="34" charset="-120"/>
              </a:rPr>
              <a:t>19 / 25</a:t>
            </a:r>
            <a:endParaRPr lang="en-US" sz="2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8E3D6"/>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2368928" y="327660"/>
            <a:ext cx="5233299"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CH.05 · PRODUCTION INSTRUMENTATION</a:t>
            </a:r>
            <a:endParaRPr lang="en-US" sz="1800" dirty="0"/>
          </a:p>
        </p:txBody>
      </p:sp>
      <p:sp>
        <p:nvSpPr>
          <p:cNvPr id="5" name="Shape 3"/>
          <p:cNvSpPr/>
          <p:nvPr/>
        </p:nvSpPr>
        <p:spPr>
          <a:xfrm>
            <a:off x="838200" y="1343025"/>
            <a:ext cx="95250" cy="95250"/>
          </a:xfrm>
          <a:prstGeom prst="rect">
            <a:avLst/>
          </a:prstGeom>
          <a:solidFill>
            <a:srgbClr val="FF5B1F"/>
          </a:solidFill>
          <a:ln/>
        </p:spPr>
      </p:sp>
      <p:sp>
        <p:nvSpPr>
          <p:cNvPr id="6" name="Text 4"/>
          <p:cNvSpPr/>
          <p:nvPr/>
        </p:nvSpPr>
        <p:spPr>
          <a:xfrm>
            <a:off x="1066800" y="1261110"/>
            <a:ext cx="815697" cy="289560"/>
          </a:xfrm>
          <a:prstGeom prst="rect">
            <a:avLst/>
          </a:prstGeom>
          <a:noFill/>
          <a:ln/>
        </p:spPr>
        <p:txBody>
          <a:bodyPr wrap="square" lIns="0" tIns="0" rIns="0" bIns="0" rtlCol="0" anchor="t">
            <a:normAutofit/>
          </a:bodyPr>
          <a:lstStyle/>
          <a:p>
            <a:pPr algn="l" indent="0" marL="0">
              <a:buNone/>
            </a:pPr>
            <a:r>
              <a:rPr lang="en-US" sz="1800" spc="144" kern="0" dirty="0">
                <a:solidFill>
                  <a:srgbClr val="FF5B1F"/>
                </a:solidFill>
                <a:latin typeface="Arial" pitchFamily="34" charset="0"/>
                <a:ea typeface="Arial" pitchFamily="34" charset="-122"/>
                <a:cs typeface="Arial" pitchFamily="34" charset="-120"/>
              </a:rPr>
              <a:t>CH.05</a:t>
            </a:r>
            <a:endParaRPr lang="en-US" sz="1800" dirty="0"/>
          </a:p>
        </p:txBody>
      </p:sp>
      <p:sp>
        <p:nvSpPr>
          <p:cNvPr id="7" name="Text 5"/>
          <p:cNvSpPr/>
          <p:nvPr/>
        </p:nvSpPr>
        <p:spPr>
          <a:xfrm>
            <a:off x="1939647" y="1238250"/>
            <a:ext cx="7845534" cy="34290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2A2A2A"/>
                </a:solidFill>
                <a:latin typeface="Arial" pitchFamily="34" charset="0"/>
                <a:ea typeface="Arial" pitchFamily="34" charset="-122"/>
                <a:cs typeface="Arial" pitchFamily="34" charset="-120"/>
              </a:rPr>
              <a:t>— ONCE A PRODUCT EXISTS · GO-TO-MARKET PRODUCTION</a:t>
            </a:r>
            <a:endParaRPr lang="en-US" sz="1800" dirty="0"/>
          </a:p>
        </p:txBody>
      </p:sp>
      <p:sp>
        <p:nvSpPr>
          <p:cNvPr id="8" name="Text 6"/>
          <p:cNvSpPr/>
          <p:nvPr/>
        </p:nvSpPr>
        <p:spPr>
          <a:xfrm>
            <a:off x="838200" y="1733550"/>
            <a:ext cx="17109948" cy="923449"/>
          </a:xfrm>
          <a:prstGeom prst="rect">
            <a:avLst/>
          </a:prstGeom>
          <a:noFill/>
          <a:ln/>
        </p:spPr>
        <p:txBody>
          <a:bodyPr wrap="square" lIns="25400" tIns="25400" rIns="25400" bIns="25400" rtlCol="0" anchor="t">
            <a:normAutofit/>
          </a:bodyPr>
          <a:lstStyle/>
          <a:p>
            <a:pPr algn="l" indent="0" marL="0">
              <a:lnSpc>
                <a:spcPct val="96000"/>
              </a:lnSpc>
              <a:buNone/>
            </a:pPr>
            <a:r>
              <a:rPr lang="en-US" sz="7200" spc="-180" kern="0" dirty="0">
                <a:solidFill>
                  <a:srgbClr val="0E0E0E"/>
                </a:solidFill>
                <a:latin typeface="Arial" pitchFamily="34" charset="0"/>
                <a:ea typeface="Arial" pitchFamily="34" charset="-122"/>
                <a:cs typeface="Arial" pitchFamily="34" charset="-120"/>
              </a:rPr>
              <a:t>Five-person studio output. </a:t>
            </a:r>
            <a:pPr algn="l" indent="0" marL="0">
              <a:lnSpc>
                <a:spcPct val="96000"/>
              </a:lnSpc>
              <a:buNone/>
            </a:pPr>
            <a:r>
              <a:rPr lang="en-US" sz="7200" i="1" spc="-180" kern="0" dirty="0">
                <a:solidFill>
                  <a:srgbClr val="0E0E0E"/>
                </a:solidFill>
                <a:latin typeface="Arial" pitchFamily="34" charset="0"/>
                <a:ea typeface="Arial" pitchFamily="34" charset="-122"/>
                <a:cs typeface="Arial" pitchFamily="34" charset="-120"/>
              </a:rPr>
              <a:t>One operator.</a:t>
            </a:r>
            <a:endParaRPr lang="en-US" sz="7200" dirty="0"/>
          </a:p>
        </p:txBody>
      </p:sp>
      <p:sp>
        <p:nvSpPr>
          <p:cNvPr id="9" name="Shape 7"/>
          <p:cNvSpPr/>
          <p:nvPr/>
        </p:nvSpPr>
        <p:spPr>
          <a:xfrm>
            <a:off x="838200" y="3095149"/>
            <a:ext cx="5422821" cy="2314575"/>
          </a:xfrm>
          <a:prstGeom prst="rect">
            <a:avLst/>
          </a:prstGeom>
          <a:solidFill>
            <a:srgbClr val="F2EFE8"/>
          </a:solidFill>
          <a:ln w="15240">
            <a:solidFill>
              <a:srgbClr val="0E0E0E"/>
            </a:solidFill>
            <a:prstDash val="solid"/>
          </a:ln>
        </p:spPr>
      </p:sp>
      <p:sp>
        <p:nvSpPr>
          <p:cNvPr id="10" name="Text 8"/>
          <p:cNvSpPr/>
          <p:nvPr/>
        </p:nvSpPr>
        <p:spPr>
          <a:xfrm>
            <a:off x="1120140" y="3338989"/>
            <a:ext cx="5004709"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 COPYWRITING</a:t>
            </a:r>
            <a:endParaRPr lang="en-US" sz="1800" dirty="0"/>
          </a:p>
        </p:txBody>
      </p:sp>
      <p:sp>
        <p:nvSpPr>
          <p:cNvPr id="11" name="Text 9"/>
          <p:cNvSpPr/>
          <p:nvPr/>
        </p:nvSpPr>
        <p:spPr>
          <a:xfrm>
            <a:off x="1120140" y="3712369"/>
            <a:ext cx="5004709"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ChatGPT / Claude</a:t>
            </a:r>
            <a:endParaRPr lang="en-US" sz="3300" dirty="0"/>
          </a:p>
        </p:txBody>
      </p:sp>
      <p:sp>
        <p:nvSpPr>
          <p:cNvPr id="12" name="Text 10"/>
          <p:cNvSpPr/>
          <p:nvPr/>
        </p:nvSpPr>
        <p:spPr>
          <a:xfrm>
            <a:off x="1120140" y="4205764"/>
            <a:ext cx="5004709"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Captions, customer correspondence, advertising copy, scripts — calibrated to a documented brand voice.</a:t>
            </a:r>
            <a:endParaRPr lang="en-US" sz="1800" dirty="0"/>
          </a:p>
        </p:txBody>
      </p:sp>
      <p:sp>
        <p:nvSpPr>
          <p:cNvPr id="13" name="Shape 11"/>
          <p:cNvSpPr/>
          <p:nvPr/>
        </p:nvSpPr>
        <p:spPr>
          <a:xfrm>
            <a:off x="6432471" y="3095149"/>
            <a:ext cx="5422940" cy="2314575"/>
          </a:xfrm>
          <a:prstGeom prst="rect">
            <a:avLst/>
          </a:prstGeom>
          <a:solidFill>
            <a:srgbClr val="F2EFE8"/>
          </a:solidFill>
          <a:ln w="15240">
            <a:solidFill>
              <a:srgbClr val="0E0E0E"/>
            </a:solidFill>
            <a:prstDash val="solid"/>
          </a:ln>
        </p:spPr>
      </p:sp>
      <p:sp>
        <p:nvSpPr>
          <p:cNvPr id="14" name="Text 12"/>
          <p:cNvSpPr/>
          <p:nvPr/>
        </p:nvSpPr>
        <p:spPr>
          <a:xfrm>
            <a:off x="6714411" y="3338989"/>
            <a:ext cx="5004832"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 BRAND PRODUCTION</a:t>
            </a:r>
            <a:endParaRPr lang="en-US" sz="1800" dirty="0"/>
          </a:p>
        </p:txBody>
      </p:sp>
      <p:sp>
        <p:nvSpPr>
          <p:cNvPr id="15" name="Text 13"/>
          <p:cNvSpPr/>
          <p:nvPr/>
        </p:nvSpPr>
        <p:spPr>
          <a:xfrm>
            <a:off x="6714411" y="3712369"/>
            <a:ext cx="5004832"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Canva</a:t>
            </a:r>
            <a:endParaRPr lang="en-US" sz="3300" dirty="0"/>
          </a:p>
        </p:txBody>
      </p:sp>
      <p:sp>
        <p:nvSpPr>
          <p:cNvPr id="16" name="Text 14"/>
          <p:cNvSpPr/>
          <p:nvPr/>
        </p:nvSpPr>
        <p:spPr>
          <a:xfrm>
            <a:off x="6714411" y="4525804"/>
            <a:ext cx="5004832" cy="6781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Brand kits, social assets, content scheduling. Single source for asset consistency.</a:t>
            </a:r>
            <a:endParaRPr lang="en-US" sz="1800" dirty="0"/>
          </a:p>
        </p:txBody>
      </p:sp>
      <p:sp>
        <p:nvSpPr>
          <p:cNvPr id="17" name="Shape 15"/>
          <p:cNvSpPr/>
          <p:nvPr/>
        </p:nvSpPr>
        <p:spPr>
          <a:xfrm>
            <a:off x="12026860" y="3095149"/>
            <a:ext cx="5422940" cy="2314575"/>
          </a:xfrm>
          <a:prstGeom prst="rect">
            <a:avLst/>
          </a:prstGeom>
          <a:solidFill>
            <a:srgbClr val="F2EFE8"/>
          </a:solidFill>
          <a:ln w="15240">
            <a:solidFill>
              <a:srgbClr val="0E0E0E"/>
            </a:solidFill>
            <a:prstDash val="solid"/>
          </a:ln>
        </p:spPr>
      </p:sp>
      <p:sp>
        <p:nvSpPr>
          <p:cNvPr id="18" name="Text 16"/>
          <p:cNvSpPr/>
          <p:nvPr/>
        </p:nvSpPr>
        <p:spPr>
          <a:xfrm>
            <a:off x="12308801" y="3338989"/>
            <a:ext cx="5004832"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 VIDEO PRODUCTION</a:t>
            </a:r>
            <a:endParaRPr lang="en-US" sz="1800" dirty="0"/>
          </a:p>
        </p:txBody>
      </p:sp>
      <p:sp>
        <p:nvSpPr>
          <p:cNvPr id="19" name="Text 17"/>
          <p:cNvSpPr/>
          <p:nvPr/>
        </p:nvSpPr>
        <p:spPr>
          <a:xfrm>
            <a:off x="12308801" y="3712369"/>
            <a:ext cx="5004832"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CapCut</a:t>
            </a:r>
            <a:endParaRPr lang="en-US" sz="3300" dirty="0"/>
          </a:p>
        </p:txBody>
      </p:sp>
      <p:sp>
        <p:nvSpPr>
          <p:cNvPr id="20" name="Text 18"/>
          <p:cNvSpPr/>
          <p:nvPr/>
        </p:nvSpPr>
        <p:spPr>
          <a:xfrm>
            <a:off x="12308801" y="4205764"/>
            <a:ext cx="5004832"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Automatic Arabic and English captioning. AI-assisted editing. Operates on desktop and mobile.</a:t>
            </a:r>
            <a:endParaRPr lang="en-US" sz="1800" dirty="0"/>
          </a:p>
        </p:txBody>
      </p:sp>
      <p:sp>
        <p:nvSpPr>
          <p:cNvPr id="21" name="Shape 19"/>
          <p:cNvSpPr/>
          <p:nvPr/>
        </p:nvSpPr>
        <p:spPr>
          <a:xfrm>
            <a:off x="838200" y="5581174"/>
            <a:ext cx="5422821" cy="2609850"/>
          </a:xfrm>
          <a:prstGeom prst="rect">
            <a:avLst/>
          </a:prstGeom>
          <a:solidFill>
            <a:srgbClr val="F2EFE8"/>
          </a:solidFill>
          <a:ln w="15240">
            <a:solidFill>
              <a:srgbClr val="0E0E0E"/>
            </a:solidFill>
            <a:prstDash val="solid"/>
          </a:ln>
        </p:spPr>
      </p:sp>
      <p:sp>
        <p:nvSpPr>
          <p:cNvPr id="22" name="Text 20"/>
          <p:cNvSpPr/>
          <p:nvPr/>
        </p:nvSpPr>
        <p:spPr>
          <a:xfrm>
            <a:off x="1120140" y="5825014"/>
            <a:ext cx="5004709"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TIER · VOICE SYNTHESIS</a:t>
            </a:r>
            <a:endParaRPr lang="en-US" sz="1800" dirty="0"/>
          </a:p>
        </p:txBody>
      </p:sp>
      <p:sp>
        <p:nvSpPr>
          <p:cNvPr id="23" name="Text 21"/>
          <p:cNvSpPr/>
          <p:nvPr/>
        </p:nvSpPr>
        <p:spPr>
          <a:xfrm>
            <a:off x="1120140" y="6198394"/>
            <a:ext cx="5004709"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ElevenLabs</a:t>
            </a:r>
            <a:endParaRPr lang="en-US" sz="3300" dirty="0"/>
          </a:p>
        </p:txBody>
      </p:sp>
      <p:sp>
        <p:nvSpPr>
          <p:cNvPr id="24" name="Text 22"/>
          <p:cNvSpPr/>
          <p:nvPr/>
        </p:nvSpPr>
        <p:spPr>
          <a:xfrm>
            <a:off x="1120140" y="6987064"/>
            <a:ext cx="5004709"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Voice synthesis with </a:t>
            </a:r>
            <a:pPr algn="l" indent="0" marL="0">
              <a:lnSpc>
                <a:spcPct val="140000"/>
              </a:lnSpc>
              <a:buNone/>
            </a:pPr>
            <a:r>
              <a:rPr lang="en-US" sz="1800" i="1" dirty="0">
                <a:solidFill>
                  <a:srgbClr val="2A2A2A"/>
                </a:solidFill>
                <a:latin typeface="Arial" pitchFamily="34" charset="0"/>
                <a:ea typeface="Arial" pitchFamily="34" charset="-122"/>
                <a:cs typeface="Arial" pitchFamily="34" charset="-120"/>
              </a:rPr>
              <a:t>full Arabic support. </a:t>
            </a:r>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Free monthly minutes sufficient for short-form content.</a:t>
            </a:r>
            <a:endParaRPr lang="en-US" sz="1800" dirty="0"/>
          </a:p>
        </p:txBody>
      </p:sp>
      <p:sp>
        <p:nvSpPr>
          <p:cNvPr id="25" name="Shape 23"/>
          <p:cNvSpPr/>
          <p:nvPr/>
        </p:nvSpPr>
        <p:spPr>
          <a:xfrm>
            <a:off x="6432471" y="5581174"/>
            <a:ext cx="5422940" cy="2609850"/>
          </a:xfrm>
          <a:prstGeom prst="rect">
            <a:avLst/>
          </a:prstGeom>
          <a:solidFill>
            <a:srgbClr val="F2EFE8"/>
          </a:solidFill>
          <a:ln w="15240">
            <a:solidFill>
              <a:srgbClr val="0E0E0E"/>
            </a:solidFill>
            <a:prstDash val="solid"/>
          </a:ln>
        </p:spPr>
      </p:sp>
      <p:sp>
        <p:nvSpPr>
          <p:cNvPr id="26" name="Text 24"/>
          <p:cNvSpPr/>
          <p:nvPr/>
        </p:nvSpPr>
        <p:spPr>
          <a:xfrm>
            <a:off x="6714411" y="5825014"/>
            <a:ext cx="5004832" cy="297180"/>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888076"/>
                </a:solidFill>
                <a:latin typeface="Arial" pitchFamily="34" charset="0"/>
                <a:ea typeface="Arial" pitchFamily="34" charset="-122"/>
                <a:cs typeface="Arial" pitchFamily="34" charset="-120"/>
              </a:rPr>
              <a:t>FREE · ORIGINAL MUSIC</a:t>
            </a:r>
            <a:endParaRPr lang="en-US" sz="1800" dirty="0"/>
          </a:p>
        </p:txBody>
      </p:sp>
      <p:sp>
        <p:nvSpPr>
          <p:cNvPr id="27" name="Text 25"/>
          <p:cNvSpPr/>
          <p:nvPr/>
        </p:nvSpPr>
        <p:spPr>
          <a:xfrm>
            <a:off x="6714411" y="6198394"/>
            <a:ext cx="5004832" cy="436245"/>
          </a:xfrm>
          <a:prstGeom prst="rect">
            <a:avLst/>
          </a:prstGeom>
          <a:noFill/>
          <a:ln/>
        </p:spPr>
        <p:txBody>
          <a:bodyPr wrap="square" lIns="25400" tIns="25400" rIns="25400" bIns="25400" rtlCol="0" anchor="t">
            <a:normAutofit/>
          </a:bodyPr>
          <a:lstStyle/>
          <a:p>
            <a:pPr algn="l" indent="0" marL="0">
              <a:lnSpc>
                <a:spcPct val="95000"/>
              </a:lnSpc>
              <a:buNone/>
            </a:pPr>
            <a:r>
              <a:rPr lang="en-US" sz="3300" spc="-66" kern="0" dirty="0">
                <a:solidFill>
                  <a:srgbClr val="0E0E0E"/>
                </a:solidFill>
                <a:latin typeface="Arial" pitchFamily="34" charset="0"/>
                <a:ea typeface="Arial" pitchFamily="34" charset="-122"/>
                <a:cs typeface="Arial" pitchFamily="34" charset="-120"/>
              </a:rPr>
              <a:t>Suno</a:t>
            </a:r>
            <a:endParaRPr lang="en-US" sz="3300" dirty="0"/>
          </a:p>
        </p:txBody>
      </p:sp>
      <p:sp>
        <p:nvSpPr>
          <p:cNvPr id="28" name="Text 26"/>
          <p:cNvSpPr/>
          <p:nvPr/>
        </p:nvSpPr>
        <p:spPr>
          <a:xfrm>
            <a:off x="6714411" y="6987064"/>
            <a:ext cx="5004832" cy="99822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2A2A2A"/>
                </a:solidFill>
                <a:latin typeface="Arial" pitchFamily="34" charset="0"/>
                <a:ea typeface="Arial" pitchFamily="34" charset="-122"/>
                <a:cs typeface="Arial" pitchFamily="34" charset="-120"/>
              </a:rPr>
              <a:t>Licensed-original compositions for advertisements, openers, and platform content. Royalty-clear use.</a:t>
            </a:r>
            <a:endParaRPr lang="en-US" sz="1800" dirty="0"/>
          </a:p>
        </p:txBody>
      </p:sp>
      <p:sp>
        <p:nvSpPr>
          <p:cNvPr id="29" name="Shape 27"/>
          <p:cNvSpPr/>
          <p:nvPr/>
        </p:nvSpPr>
        <p:spPr>
          <a:xfrm>
            <a:off x="12026860" y="5581174"/>
            <a:ext cx="5422940" cy="2609850"/>
          </a:xfrm>
          <a:prstGeom prst="rect">
            <a:avLst/>
          </a:prstGeom>
          <a:solidFill>
            <a:srgbClr val="FF5B1F"/>
          </a:solidFill>
          <a:ln w="15240">
            <a:solidFill>
              <a:srgbClr val="FF5B1F"/>
            </a:solidFill>
            <a:prstDash val="solid"/>
          </a:ln>
        </p:spPr>
      </p:sp>
      <p:sp>
        <p:nvSpPr>
          <p:cNvPr id="30" name="Text 28"/>
          <p:cNvSpPr/>
          <p:nvPr/>
        </p:nvSpPr>
        <p:spPr>
          <a:xfrm>
            <a:off x="12308801" y="5825014"/>
            <a:ext cx="5004832" cy="350520"/>
          </a:xfrm>
          <a:prstGeom prst="rect">
            <a:avLst/>
          </a:prstGeom>
          <a:noFill/>
          <a:ln/>
        </p:spPr>
        <p:txBody>
          <a:bodyPr wrap="square" lIns="25400" tIns="25400" rIns="25400" bIns="25400" rtlCol="0" anchor="t">
            <a:normAutofit/>
          </a:bodyPr>
          <a:lstStyle/>
          <a:p>
            <a:pPr algn="l" indent="0" marL="0">
              <a:buNone/>
            </a:pPr>
            <a:r>
              <a:rPr lang="en-US" sz="1800" b="1" spc="144" kern="0" dirty="0">
                <a:solidFill>
                  <a:srgbClr val="0E0E0E"/>
                </a:solidFill>
                <a:latin typeface="Arial" pitchFamily="34" charset="0"/>
                <a:ea typeface="Arial" pitchFamily="34" charset="-122"/>
                <a:cs typeface="Arial" pitchFamily="34" charset="-120"/>
              </a:rPr>
              <a:t>★ THE OPERATIVE CONSTRAINT</a:t>
            </a:r>
            <a:endParaRPr lang="en-US" sz="1800" dirty="0"/>
          </a:p>
        </p:txBody>
      </p:sp>
      <p:sp>
        <p:nvSpPr>
          <p:cNvPr id="31" name="Text 29"/>
          <p:cNvSpPr/>
          <p:nvPr/>
        </p:nvSpPr>
        <p:spPr>
          <a:xfrm>
            <a:off x="12308801" y="6251734"/>
            <a:ext cx="5004832" cy="358140"/>
          </a:xfrm>
          <a:prstGeom prst="rect">
            <a:avLst/>
          </a:prstGeom>
          <a:noFill/>
          <a:ln/>
        </p:spPr>
        <p:txBody>
          <a:bodyPr wrap="square" lIns="25400" tIns="25400" rIns="25400" bIns="25400" rtlCol="0" anchor="t">
            <a:normAutofit/>
          </a:bodyPr>
          <a:lstStyle/>
          <a:p>
            <a:pPr algn="l" indent="0" marL="0">
              <a:lnSpc>
                <a:spcPct val="105000"/>
              </a:lnSpc>
              <a:buNone/>
            </a:pPr>
            <a:r>
              <a:rPr lang="en-US" sz="2400" spc="-48" kern="0" dirty="0">
                <a:solidFill>
                  <a:srgbClr val="0E0E0E"/>
                </a:solidFill>
                <a:latin typeface="Arial" pitchFamily="34" charset="0"/>
                <a:ea typeface="Arial" pitchFamily="34" charset="-122"/>
                <a:cs typeface="Arial" pitchFamily="34" charset="-120"/>
              </a:rPr>
              <a:t>Production is solved.</a:t>
            </a:r>
            <a:endParaRPr lang="en-US" sz="2400" dirty="0"/>
          </a:p>
        </p:txBody>
      </p:sp>
      <p:sp>
        <p:nvSpPr>
          <p:cNvPr id="32" name="Text 30"/>
          <p:cNvSpPr/>
          <p:nvPr/>
        </p:nvSpPr>
        <p:spPr>
          <a:xfrm>
            <a:off x="12308801" y="6667024"/>
            <a:ext cx="5004832" cy="131826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0E0E0E"/>
                </a:solidFill>
                <a:latin typeface="Arial" pitchFamily="34" charset="0"/>
                <a:ea typeface="Arial" pitchFamily="34" charset="-122"/>
                <a:cs typeface="Arial" pitchFamily="34" charset="-120"/>
              </a:rPr>
              <a:t>The remaining constraints — </a:t>
            </a:r>
            <a:pPr algn="l" indent="0" marL="0">
              <a:lnSpc>
                <a:spcPct val="140000"/>
              </a:lnSpc>
              <a:buNone/>
            </a:pPr>
            <a:r>
              <a:rPr lang="en-US" sz="1800" b="1" dirty="0">
                <a:solidFill>
                  <a:srgbClr val="0E0E0E"/>
                </a:solidFill>
                <a:latin typeface="Arial" pitchFamily="34" charset="0"/>
                <a:ea typeface="Arial" pitchFamily="34" charset="-122"/>
                <a:cs typeface="Arial" pitchFamily="34" charset="-120"/>
              </a:rPr>
              <a:t>taste, consistency, and direct customer understanding </a:t>
            </a:r>
            <a:pPr algn="l" indent="0" marL="0">
              <a:lnSpc>
                <a:spcPct val="140000"/>
              </a:lnSpc>
              <a:buNone/>
            </a:pPr>
            <a:r>
              <a:rPr lang="en-US" sz="1800" dirty="0">
                <a:solidFill>
                  <a:srgbClr val="0E0E0E"/>
                </a:solidFill>
                <a:latin typeface="Arial" pitchFamily="34" charset="0"/>
                <a:ea typeface="Arial" pitchFamily="34" charset="-122"/>
                <a:cs typeface="Arial" pitchFamily="34" charset="-120"/>
              </a:rPr>
              <a:t>— do not transfer from the model to the operator.</a:t>
            </a:r>
            <a:endParaRPr lang="en-US" sz="1800" dirty="0"/>
          </a:p>
        </p:txBody>
      </p:sp>
      <p:sp>
        <p:nvSpPr>
          <p:cNvPr id="33" name="Text 31"/>
          <p:cNvSpPr/>
          <p:nvPr/>
        </p:nvSpPr>
        <p:spPr>
          <a:xfrm>
            <a:off x="838200" y="9643110"/>
            <a:ext cx="9689342"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PRODUCTION CAPABILITY HAS BEEN DEMOCRATISED · JUDGMENT HAS NOT</a:t>
            </a:r>
            <a:endParaRPr lang="en-US" sz="1800" dirty="0"/>
          </a:p>
        </p:txBody>
      </p:sp>
      <p:sp>
        <p:nvSpPr>
          <p:cNvPr id="34" name="Text 32"/>
          <p:cNvSpPr/>
          <p:nvPr/>
        </p:nvSpPr>
        <p:spPr>
          <a:xfrm>
            <a:off x="16399907" y="9563100"/>
            <a:ext cx="1126093"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888076"/>
                </a:solidFill>
                <a:latin typeface="Arial" pitchFamily="34" charset="0"/>
                <a:ea typeface="Arial" pitchFamily="34" charset="-122"/>
                <a:cs typeface="Arial" pitchFamily="34" charset="-120"/>
              </a:rPr>
              <a:t>20 / 25</a:t>
            </a:r>
            <a:endParaRPr lang="en-US" sz="2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0E0E"/>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F2EFE8">
                    <a:alpha val="55000"/>
                  </a:srgbClr>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1875055" y="304800"/>
            <a:ext cx="5741987" cy="3429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F2EFE8">
                    <a:alpha val="55000"/>
                  </a:srgbClr>
                </a:solidFill>
                <a:latin typeface="Arial" pitchFamily="34" charset="0"/>
                <a:ea typeface="Arial" pitchFamily="34" charset="-122"/>
                <a:cs typeface="Arial" pitchFamily="34" charset="-120"/>
              </a:rPr>
              <a:t>★ REFERENCE · SEVEN PROMPT TEMPLATES</a:t>
            </a:r>
            <a:endParaRPr lang="en-US" sz="1800" dirty="0"/>
          </a:p>
        </p:txBody>
      </p:sp>
      <p:sp>
        <p:nvSpPr>
          <p:cNvPr id="5" name="Text 3"/>
          <p:cNvSpPr/>
          <p:nvPr/>
        </p:nvSpPr>
        <p:spPr>
          <a:xfrm>
            <a:off x="838200" y="1238250"/>
            <a:ext cx="17109948" cy="342900"/>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5B1F"/>
                </a:solidFill>
                <a:latin typeface="Arial" pitchFamily="34" charset="0"/>
                <a:ea typeface="Arial" pitchFamily="34" charset="-122"/>
                <a:cs typeface="Arial" pitchFamily="34" charset="-120"/>
              </a:rPr>
              <a:t>THE SEVEN TEMPLATES THAT ORGANISE THIS SESSION</a:t>
            </a:r>
            <a:endParaRPr lang="en-US" sz="1800" dirty="0"/>
          </a:p>
        </p:txBody>
      </p:sp>
      <p:sp>
        <p:nvSpPr>
          <p:cNvPr id="6" name="Text 4"/>
          <p:cNvSpPr/>
          <p:nvPr/>
        </p:nvSpPr>
        <p:spPr>
          <a:xfrm>
            <a:off x="838200" y="1676400"/>
            <a:ext cx="17109948" cy="923449"/>
          </a:xfrm>
          <a:prstGeom prst="rect">
            <a:avLst/>
          </a:prstGeom>
          <a:noFill/>
          <a:ln/>
        </p:spPr>
        <p:txBody>
          <a:bodyPr wrap="square" lIns="25400" tIns="25400" rIns="25400" bIns="25400" rtlCol="0" anchor="t">
            <a:normAutofit/>
          </a:bodyPr>
          <a:lstStyle/>
          <a:p>
            <a:pPr algn="l" indent="0" marL="0">
              <a:lnSpc>
                <a:spcPct val="96000"/>
              </a:lnSpc>
              <a:buNone/>
            </a:pPr>
            <a:r>
              <a:rPr lang="en-US" sz="7200" spc="-180" kern="0" dirty="0">
                <a:solidFill>
                  <a:srgbClr val="F2EFE8"/>
                </a:solidFill>
                <a:latin typeface="Arial" pitchFamily="34" charset="0"/>
                <a:ea typeface="Arial" pitchFamily="34" charset="-122"/>
                <a:cs typeface="Arial" pitchFamily="34" charset="-120"/>
              </a:rPr>
              <a:t>Seven prompts. </a:t>
            </a:r>
            <a:pPr algn="l" indent="0" marL="0">
              <a:lnSpc>
                <a:spcPct val="96000"/>
              </a:lnSpc>
              <a:buNone/>
            </a:pPr>
            <a:r>
              <a:rPr lang="en-US" sz="7200" i="1" spc="-180" kern="0" dirty="0">
                <a:solidFill>
                  <a:srgbClr val="FF5B1F"/>
                </a:solidFill>
                <a:latin typeface="Arial" pitchFamily="34" charset="0"/>
                <a:ea typeface="Arial" pitchFamily="34" charset="-122"/>
                <a:cs typeface="Arial" pitchFamily="34" charset="-120"/>
              </a:rPr>
              <a:t>One reference.</a:t>
            </a:r>
            <a:endParaRPr lang="en-US" sz="7200" dirty="0"/>
          </a:p>
        </p:txBody>
      </p:sp>
      <p:sp>
        <p:nvSpPr>
          <p:cNvPr id="7" name="Shape 5"/>
          <p:cNvSpPr/>
          <p:nvPr/>
        </p:nvSpPr>
        <p:spPr>
          <a:xfrm>
            <a:off x="838200" y="2847499"/>
            <a:ext cx="4052888" cy="3197543"/>
          </a:xfrm>
          <a:prstGeom prst="rect">
            <a:avLst/>
          </a:prstGeom>
          <a:solidFill>
            <a:srgbClr val="F2EFE8">
              <a:alpha val="4000"/>
            </a:srgbClr>
          </a:solidFill>
          <a:ln w="15240">
            <a:solidFill>
              <a:srgbClr val="F2EFE8"/>
            </a:solidFill>
            <a:prstDash val="solid"/>
          </a:ln>
        </p:spPr>
      </p:sp>
      <p:sp>
        <p:nvSpPr>
          <p:cNvPr id="8" name="Text 6"/>
          <p:cNvSpPr/>
          <p:nvPr/>
        </p:nvSpPr>
        <p:spPr>
          <a:xfrm>
            <a:off x="1082040" y="3072289"/>
            <a:ext cx="3672164" cy="266700"/>
          </a:xfrm>
          <a:prstGeom prst="rect">
            <a:avLst/>
          </a:prstGeom>
          <a:noFill/>
          <a:ln/>
        </p:spPr>
        <p:txBody>
          <a:bodyPr wrap="square" lIns="25400" tIns="25400" rIns="25400" bIns="25400" rtlCol="0" anchor="t">
            <a:normAutofit/>
          </a:bodyPr>
          <a:lstStyle/>
          <a:p>
            <a:pPr algn="l" indent="0" marL="0">
              <a:buNone/>
            </a:pPr>
            <a:r>
              <a:rPr lang="en-US" sz="1350" b="1" spc="108" kern="0" dirty="0">
                <a:solidFill>
                  <a:srgbClr val="FF5B1F"/>
                </a:solidFill>
                <a:latin typeface="Arial" pitchFamily="34" charset="0"/>
                <a:ea typeface="Arial" pitchFamily="34" charset="-122"/>
                <a:cs typeface="Arial" pitchFamily="34" charset="-120"/>
              </a:rPr>
              <a:t>01 · STUDY TUTOR</a:t>
            </a:r>
            <a:endParaRPr lang="en-US" sz="1350" dirty="0"/>
          </a:p>
        </p:txBody>
      </p:sp>
      <p:sp>
        <p:nvSpPr>
          <p:cNvPr id="9" name="Text 7"/>
          <p:cNvSpPr/>
          <p:nvPr/>
        </p:nvSpPr>
        <p:spPr>
          <a:xfrm>
            <a:off x="1082040" y="3377089"/>
            <a:ext cx="3672164" cy="638175"/>
          </a:xfrm>
          <a:prstGeom prst="rect">
            <a:avLst/>
          </a:prstGeom>
          <a:noFill/>
          <a:ln/>
        </p:spPr>
        <p:txBody>
          <a:bodyPr wrap="square" lIns="25400" tIns="25400" rIns="25400" bIns="25400" rtlCol="0" anchor="t">
            <a:normAutofit/>
          </a:bodyPr>
          <a:lstStyle/>
          <a:p>
            <a:pPr algn="l" indent="0" marL="0">
              <a:lnSpc>
                <a:spcPct val="105000"/>
              </a:lnSpc>
              <a:buNone/>
            </a:pPr>
            <a:r>
              <a:rPr lang="en-US" sz="2250" spc="-34" kern="0" dirty="0">
                <a:solidFill>
                  <a:srgbClr val="F2EFE8"/>
                </a:solidFill>
                <a:latin typeface="Arial" pitchFamily="34" charset="0"/>
                <a:ea typeface="Arial" pitchFamily="34" charset="-122"/>
                <a:cs typeface="Arial" pitchFamily="34" charset="-120"/>
              </a:rPr>
              <a:t>Notes → examination-grade system</a:t>
            </a:r>
            <a:endParaRPr lang="en-US" sz="2250" dirty="0"/>
          </a:p>
        </p:txBody>
      </p:sp>
      <p:sp>
        <p:nvSpPr>
          <p:cNvPr id="10" name="Shape 8"/>
          <p:cNvSpPr/>
          <p:nvPr/>
        </p:nvSpPr>
        <p:spPr>
          <a:xfrm>
            <a:off x="1082040" y="4053364"/>
            <a:ext cx="3565208" cy="1766888"/>
          </a:xfrm>
          <a:prstGeom prst="rect">
            <a:avLst/>
          </a:prstGeom>
          <a:solidFill>
            <a:srgbClr val="0E0E0E"/>
          </a:solidFill>
          <a:ln/>
        </p:spPr>
      </p:sp>
      <p:sp>
        <p:nvSpPr>
          <p:cNvPr id="11" name="Shape 9"/>
          <p:cNvSpPr/>
          <p:nvPr/>
        </p:nvSpPr>
        <p:spPr>
          <a:xfrm>
            <a:off x="1082040" y="4053364"/>
            <a:ext cx="22860" cy="1766888"/>
          </a:xfrm>
          <a:prstGeom prst="rect">
            <a:avLst/>
          </a:prstGeom>
          <a:solidFill>
            <a:srgbClr val="FF5B1F"/>
          </a:solidFill>
          <a:ln/>
        </p:spPr>
      </p:sp>
      <p:sp>
        <p:nvSpPr>
          <p:cNvPr id="12" name="Text 10"/>
          <p:cNvSpPr/>
          <p:nvPr/>
        </p:nvSpPr>
        <p:spPr>
          <a:xfrm>
            <a:off x="1257300" y="4186714"/>
            <a:ext cx="3344504" cy="1538288"/>
          </a:xfrm>
          <a:prstGeom prst="rect">
            <a:avLst/>
          </a:prstGeom>
          <a:noFill/>
          <a:ln/>
        </p:spPr>
        <p:txBody>
          <a:bodyPr wrap="square" lIns="25400" tIns="25400" rIns="25400" bIns="25400" rtlCol="0" anchor="t">
            <a:normAutofit/>
          </a:bodyPr>
          <a:lstStyle/>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[ROLE] Graduate-level Socratic tutor.</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[CONTEXT] Assessment in 9 days; gaps + prior errors.</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[TASK] Summary, taxonomy, 10 Bloom-graded items, contradictions, predicted-but-absent concepts.</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 Source-only; cite timestamps.</a:t>
            </a:r>
            <a:endParaRPr lang="en-US" sz="1125" dirty="0"/>
          </a:p>
        </p:txBody>
      </p:sp>
      <p:sp>
        <p:nvSpPr>
          <p:cNvPr id="13" name="Shape 11"/>
          <p:cNvSpPr/>
          <p:nvPr/>
        </p:nvSpPr>
        <p:spPr>
          <a:xfrm>
            <a:off x="5024438" y="2847499"/>
            <a:ext cx="4052888" cy="3197543"/>
          </a:xfrm>
          <a:prstGeom prst="rect">
            <a:avLst/>
          </a:prstGeom>
          <a:solidFill>
            <a:srgbClr val="F2EFE8">
              <a:alpha val="4000"/>
            </a:srgbClr>
          </a:solidFill>
          <a:ln w="15240">
            <a:solidFill>
              <a:srgbClr val="F2EFE8"/>
            </a:solidFill>
            <a:prstDash val="solid"/>
          </a:ln>
        </p:spPr>
      </p:sp>
      <p:sp>
        <p:nvSpPr>
          <p:cNvPr id="14" name="Text 12"/>
          <p:cNvSpPr/>
          <p:nvPr/>
        </p:nvSpPr>
        <p:spPr>
          <a:xfrm>
            <a:off x="5268278" y="3072289"/>
            <a:ext cx="3672164" cy="266700"/>
          </a:xfrm>
          <a:prstGeom prst="rect">
            <a:avLst/>
          </a:prstGeom>
          <a:noFill/>
          <a:ln/>
        </p:spPr>
        <p:txBody>
          <a:bodyPr wrap="square" lIns="25400" tIns="25400" rIns="25400" bIns="25400" rtlCol="0" anchor="t">
            <a:normAutofit/>
          </a:bodyPr>
          <a:lstStyle/>
          <a:p>
            <a:pPr algn="l" indent="0" marL="0">
              <a:buNone/>
            </a:pPr>
            <a:r>
              <a:rPr lang="en-US" sz="1350" b="1" spc="108" kern="0" dirty="0">
                <a:solidFill>
                  <a:srgbClr val="FF5B1F"/>
                </a:solidFill>
                <a:latin typeface="Arial" pitchFamily="34" charset="0"/>
                <a:ea typeface="Arial" pitchFamily="34" charset="-122"/>
                <a:cs typeface="Arial" pitchFamily="34" charset="-120"/>
              </a:rPr>
              <a:t>02 · ACTIVE RECALL</a:t>
            </a:r>
            <a:endParaRPr lang="en-US" sz="1350" dirty="0"/>
          </a:p>
        </p:txBody>
      </p:sp>
      <p:sp>
        <p:nvSpPr>
          <p:cNvPr id="15" name="Text 13"/>
          <p:cNvSpPr/>
          <p:nvPr/>
        </p:nvSpPr>
        <p:spPr>
          <a:xfrm>
            <a:off x="5268278" y="3377089"/>
            <a:ext cx="3672164" cy="338138"/>
          </a:xfrm>
          <a:prstGeom prst="rect">
            <a:avLst/>
          </a:prstGeom>
          <a:noFill/>
          <a:ln/>
        </p:spPr>
        <p:txBody>
          <a:bodyPr wrap="square" lIns="25400" tIns="25400" rIns="25400" bIns="25400" rtlCol="0" anchor="t">
            <a:normAutofit/>
          </a:bodyPr>
          <a:lstStyle/>
          <a:p>
            <a:pPr algn="l" indent="0" marL="0">
              <a:lnSpc>
                <a:spcPct val="105000"/>
              </a:lnSpc>
              <a:buNone/>
            </a:pPr>
            <a:r>
              <a:rPr lang="en-US" sz="2250" spc="-34" kern="0" dirty="0">
                <a:solidFill>
                  <a:srgbClr val="F2EFE8"/>
                </a:solidFill>
                <a:latin typeface="Arial" pitchFamily="34" charset="0"/>
                <a:ea typeface="Arial" pitchFamily="34" charset="-122"/>
                <a:cs typeface="Arial" pitchFamily="34" charset="-120"/>
              </a:rPr>
              <a:t>Retrieval practice protocol</a:t>
            </a:r>
            <a:endParaRPr lang="en-US" sz="2250" dirty="0"/>
          </a:p>
        </p:txBody>
      </p:sp>
      <p:sp>
        <p:nvSpPr>
          <p:cNvPr id="16" name="Shape 14"/>
          <p:cNvSpPr/>
          <p:nvPr/>
        </p:nvSpPr>
        <p:spPr>
          <a:xfrm>
            <a:off x="5268278" y="4481989"/>
            <a:ext cx="3565208" cy="1338263"/>
          </a:xfrm>
          <a:prstGeom prst="rect">
            <a:avLst/>
          </a:prstGeom>
          <a:solidFill>
            <a:srgbClr val="0E0E0E"/>
          </a:solidFill>
          <a:ln/>
        </p:spPr>
      </p:sp>
      <p:sp>
        <p:nvSpPr>
          <p:cNvPr id="17" name="Shape 15"/>
          <p:cNvSpPr/>
          <p:nvPr/>
        </p:nvSpPr>
        <p:spPr>
          <a:xfrm>
            <a:off x="5268278" y="4481989"/>
            <a:ext cx="22860" cy="1338263"/>
          </a:xfrm>
          <a:prstGeom prst="rect">
            <a:avLst/>
          </a:prstGeom>
          <a:solidFill>
            <a:srgbClr val="FF5B1F"/>
          </a:solidFill>
          <a:ln/>
        </p:spPr>
      </p:sp>
      <p:sp>
        <p:nvSpPr>
          <p:cNvPr id="18" name="Text 16"/>
          <p:cNvSpPr/>
          <p:nvPr/>
        </p:nvSpPr>
        <p:spPr>
          <a:xfrm>
            <a:off x="5443538" y="4615339"/>
            <a:ext cx="3344504" cy="1109663"/>
          </a:xfrm>
          <a:prstGeom prst="rect">
            <a:avLst/>
          </a:prstGeom>
          <a:noFill/>
          <a:ln/>
        </p:spPr>
        <p:txBody>
          <a:bodyPr wrap="square" lIns="25400" tIns="25400" rIns="25400" bIns="25400" rtlCol="0" anchor="t">
            <a:normAutofit/>
          </a:bodyPr>
          <a:lstStyle/>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Generate 20 items: 8 MCQ, 6 short, 4 application, 2 transfer.</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For each error, name the misconception, the corrected chain, the principle.</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Follow with 5 isolation items.</a:t>
            </a:r>
            <a:endParaRPr lang="en-US" sz="1125" dirty="0"/>
          </a:p>
        </p:txBody>
      </p:sp>
      <p:sp>
        <p:nvSpPr>
          <p:cNvPr id="19" name="Shape 17"/>
          <p:cNvSpPr/>
          <p:nvPr/>
        </p:nvSpPr>
        <p:spPr>
          <a:xfrm>
            <a:off x="9210675" y="2847499"/>
            <a:ext cx="4052888" cy="3197543"/>
          </a:xfrm>
          <a:prstGeom prst="rect">
            <a:avLst/>
          </a:prstGeom>
          <a:solidFill>
            <a:srgbClr val="F2EFE8">
              <a:alpha val="4000"/>
            </a:srgbClr>
          </a:solidFill>
          <a:ln w="15240">
            <a:solidFill>
              <a:srgbClr val="F2EFE8"/>
            </a:solidFill>
            <a:prstDash val="solid"/>
          </a:ln>
        </p:spPr>
      </p:sp>
      <p:sp>
        <p:nvSpPr>
          <p:cNvPr id="20" name="Text 18"/>
          <p:cNvSpPr/>
          <p:nvPr/>
        </p:nvSpPr>
        <p:spPr>
          <a:xfrm>
            <a:off x="9454515" y="3072289"/>
            <a:ext cx="3672164" cy="266700"/>
          </a:xfrm>
          <a:prstGeom prst="rect">
            <a:avLst/>
          </a:prstGeom>
          <a:noFill/>
          <a:ln/>
        </p:spPr>
        <p:txBody>
          <a:bodyPr wrap="square" lIns="25400" tIns="25400" rIns="25400" bIns="25400" rtlCol="0" anchor="t">
            <a:normAutofit/>
          </a:bodyPr>
          <a:lstStyle/>
          <a:p>
            <a:pPr algn="l" indent="0" marL="0">
              <a:buNone/>
            </a:pPr>
            <a:r>
              <a:rPr lang="en-US" sz="1350" b="1" spc="108" kern="0" dirty="0">
                <a:solidFill>
                  <a:srgbClr val="FF5B1F"/>
                </a:solidFill>
                <a:latin typeface="Arial" pitchFamily="34" charset="0"/>
                <a:ea typeface="Arial" pitchFamily="34" charset="-122"/>
                <a:cs typeface="Arial" pitchFamily="34" charset="-120"/>
              </a:rPr>
              <a:t>03 · FEYNMAN PROTOCOL</a:t>
            </a:r>
            <a:endParaRPr lang="en-US" sz="1350" dirty="0"/>
          </a:p>
        </p:txBody>
      </p:sp>
      <p:sp>
        <p:nvSpPr>
          <p:cNvPr id="21" name="Text 19"/>
          <p:cNvSpPr/>
          <p:nvPr/>
        </p:nvSpPr>
        <p:spPr>
          <a:xfrm>
            <a:off x="9454515" y="3377089"/>
            <a:ext cx="3672164" cy="638175"/>
          </a:xfrm>
          <a:prstGeom prst="rect">
            <a:avLst/>
          </a:prstGeom>
          <a:noFill/>
          <a:ln/>
        </p:spPr>
        <p:txBody>
          <a:bodyPr wrap="square" lIns="25400" tIns="25400" rIns="25400" bIns="25400" rtlCol="0" anchor="t">
            <a:normAutofit/>
          </a:bodyPr>
          <a:lstStyle/>
          <a:p>
            <a:pPr algn="l" indent="0" marL="0">
              <a:lnSpc>
                <a:spcPct val="105000"/>
              </a:lnSpc>
              <a:buNone/>
            </a:pPr>
            <a:r>
              <a:rPr lang="en-US" sz="2250" spc="-34" kern="0" dirty="0">
                <a:solidFill>
                  <a:srgbClr val="F2EFE8"/>
                </a:solidFill>
                <a:latin typeface="Arial" pitchFamily="34" charset="0"/>
                <a:ea typeface="Arial" pitchFamily="34" charset="-122"/>
                <a:cs typeface="Arial" pitchFamily="34" charset="-120"/>
              </a:rPr>
              <a:t>Locate the comprehension boundary</a:t>
            </a:r>
            <a:endParaRPr lang="en-US" sz="2250" dirty="0"/>
          </a:p>
        </p:txBody>
      </p:sp>
      <p:sp>
        <p:nvSpPr>
          <p:cNvPr id="22" name="Shape 20"/>
          <p:cNvSpPr/>
          <p:nvPr/>
        </p:nvSpPr>
        <p:spPr>
          <a:xfrm>
            <a:off x="9454515" y="4481989"/>
            <a:ext cx="3565208" cy="1338263"/>
          </a:xfrm>
          <a:prstGeom prst="rect">
            <a:avLst/>
          </a:prstGeom>
          <a:solidFill>
            <a:srgbClr val="0E0E0E"/>
          </a:solidFill>
          <a:ln/>
        </p:spPr>
      </p:sp>
      <p:sp>
        <p:nvSpPr>
          <p:cNvPr id="23" name="Shape 21"/>
          <p:cNvSpPr/>
          <p:nvPr/>
        </p:nvSpPr>
        <p:spPr>
          <a:xfrm>
            <a:off x="9454515" y="4481989"/>
            <a:ext cx="22860" cy="1338263"/>
          </a:xfrm>
          <a:prstGeom prst="rect">
            <a:avLst/>
          </a:prstGeom>
          <a:solidFill>
            <a:srgbClr val="FF5B1F"/>
          </a:solidFill>
          <a:ln/>
        </p:spPr>
      </p:sp>
      <p:sp>
        <p:nvSpPr>
          <p:cNvPr id="24" name="Text 22"/>
          <p:cNvSpPr/>
          <p:nvPr/>
        </p:nvSpPr>
        <p:spPr>
          <a:xfrm>
            <a:off x="9629775" y="4615339"/>
            <a:ext cx="3344504" cy="1109663"/>
          </a:xfrm>
          <a:prstGeom prst="rect">
            <a:avLst/>
          </a:prstGeom>
          <a:noFill/>
          <a:ln/>
        </p:spPr>
        <p:txBody>
          <a:bodyPr wrap="square" lIns="25400" tIns="25400" rIns="25400" bIns="25400" rtlCol="0" anchor="t">
            <a:normAutofit/>
          </a:bodyPr>
          <a:lstStyle/>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Adopt non-specialist role. Reject jargon.</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Request the most fundamental clarifying question at each step.</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Report the precise idea I cannot explain without jargon.</a:t>
            </a:r>
            <a:endParaRPr lang="en-US" sz="1125" dirty="0"/>
          </a:p>
        </p:txBody>
      </p:sp>
      <p:sp>
        <p:nvSpPr>
          <p:cNvPr id="25" name="Shape 23"/>
          <p:cNvSpPr/>
          <p:nvPr/>
        </p:nvSpPr>
        <p:spPr>
          <a:xfrm>
            <a:off x="13396913" y="2847499"/>
            <a:ext cx="4052888" cy="3197543"/>
          </a:xfrm>
          <a:prstGeom prst="rect">
            <a:avLst/>
          </a:prstGeom>
          <a:solidFill>
            <a:srgbClr val="F2EFE8">
              <a:alpha val="4000"/>
            </a:srgbClr>
          </a:solidFill>
          <a:ln w="15240">
            <a:solidFill>
              <a:srgbClr val="F2EFE8"/>
            </a:solidFill>
            <a:prstDash val="solid"/>
          </a:ln>
        </p:spPr>
      </p:sp>
      <p:sp>
        <p:nvSpPr>
          <p:cNvPr id="26" name="Text 24"/>
          <p:cNvSpPr/>
          <p:nvPr/>
        </p:nvSpPr>
        <p:spPr>
          <a:xfrm>
            <a:off x="13640752" y="3072289"/>
            <a:ext cx="3672164" cy="266700"/>
          </a:xfrm>
          <a:prstGeom prst="rect">
            <a:avLst/>
          </a:prstGeom>
          <a:noFill/>
          <a:ln/>
        </p:spPr>
        <p:txBody>
          <a:bodyPr wrap="square" lIns="25400" tIns="25400" rIns="25400" bIns="25400" rtlCol="0" anchor="t">
            <a:normAutofit/>
          </a:bodyPr>
          <a:lstStyle/>
          <a:p>
            <a:pPr algn="l" indent="0" marL="0">
              <a:buNone/>
            </a:pPr>
            <a:r>
              <a:rPr lang="en-US" sz="1350" b="1" spc="108" kern="0" dirty="0">
                <a:solidFill>
                  <a:srgbClr val="FF5B1F"/>
                </a:solidFill>
                <a:latin typeface="Arial" pitchFamily="34" charset="0"/>
                <a:ea typeface="Arial" pitchFamily="34" charset="-122"/>
                <a:cs typeface="Arial" pitchFamily="34" charset="-120"/>
              </a:rPr>
              <a:t>04 · STRUCTURED CRITIQUE</a:t>
            </a:r>
            <a:endParaRPr lang="en-US" sz="1350" dirty="0"/>
          </a:p>
        </p:txBody>
      </p:sp>
      <p:sp>
        <p:nvSpPr>
          <p:cNvPr id="27" name="Text 25"/>
          <p:cNvSpPr/>
          <p:nvPr/>
        </p:nvSpPr>
        <p:spPr>
          <a:xfrm>
            <a:off x="13640752" y="3377089"/>
            <a:ext cx="3672164" cy="338138"/>
          </a:xfrm>
          <a:prstGeom prst="rect">
            <a:avLst/>
          </a:prstGeom>
          <a:noFill/>
          <a:ln/>
        </p:spPr>
        <p:txBody>
          <a:bodyPr wrap="square" lIns="25400" tIns="25400" rIns="25400" bIns="25400" rtlCol="0" anchor="t">
            <a:normAutofit/>
          </a:bodyPr>
          <a:lstStyle/>
          <a:p>
            <a:pPr algn="l" indent="0" marL="0">
              <a:lnSpc>
                <a:spcPct val="105000"/>
              </a:lnSpc>
              <a:buNone/>
            </a:pPr>
            <a:r>
              <a:rPr lang="en-US" sz="2250" spc="-34" kern="0" dirty="0">
                <a:solidFill>
                  <a:srgbClr val="F2EFE8"/>
                </a:solidFill>
                <a:latin typeface="Arial" pitchFamily="34" charset="0"/>
                <a:ea typeface="Arial" pitchFamily="34" charset="-122"/>
                <a:cs typeface="Arial" pitchFamily="34" charset="-120"/>
              </a:rPr>
              <a:t>Primary source → analysis</a:t>
            </a:r>
            <a:endParaRPr lang="en-US" sz="2250" dirty="0"/>
          </a:p>
        </p:txBody>
      </p:sp>
      <p:sp>
        <p:nvSpPr>
          <p:cNvPr id="28" name="Shape 26"/>
          <p:cNvSpPr/>
          <p:nvPr/>
        </p:nvSpPr>
        <p:spPr>
          <a:xfrm>
            <a:off x="13640752" y="4481989"/>
            <a:ext cx="3565208" cy="1338263"/>
          </a:xfrm>
          <a:prstGeom prst="rect">
            <a:avLst/>
          </a:prstGeom>
          <a:solidFill>
            <a:srgbClr val="0E0E0E"/>
          </a:solidFill>
          <a:ln/>
        </p:spPr>
      </p:sp>
      <p:sp>
        <p:nvSpPr>
          <p:cNvPr id="29" name="Shape 27"/>
          <p:cNvSpPr/>
          <p:nvPr/>
        </p:nvSpPr>
        <p:spPr>
          <a:xfrm>
            <a:off x="13640752" y="4481989"/>
            <a:ext cx="22860" cy="1338263"/>
          </a:xfrm>
          <a:prstGeom prst="rect">
            <a:avLst/>
          </a:prstGeom>
          <a:solidFill>
            <a:srgbClr val="FF5B1F"/>
          </a:solidFill>
          <a:ln/>
        </p:spPr>
      </p:sp>
      <p:sp>
        <p:nvSpPr>
          <p:cNvPr id="30" name="Text 28"/>
          <p:cNvSpPr/>
          <p:nvPr/>
        </p:nvSpPr>
        <p:spPr>
          <a:xfrm>
            <a:off x="13816012" y="4615339"/>
            <a:ext cx="3344504" cy="1109663"/>
          </a:xfrm>
          <a:prstGeom prst="rect">
            <a:avLst/>
          </a:prstGeom>
          <a:noFill/>
          <a:ln/>
        </p:spPr>
        <p:txBody>
          <a:bodyPr wrap="square" lIns="25400" tIns="25400" rIns="25400" bIns="25400" rtlCol="0" anchor="t">
            <a:normAutofit/>
          </a:bodyPr>
          <a:lstStyle/>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1. Thesis: claim, method, sample, effect (3 sentences).</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2. Fragility: 3 load-bearing assumptions + falsifiers.</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3. Opposition: strongest counter-position, steelmanned, cited.</a:t>
            </a:r>
            <a:endParaRPr lang="en-US" sz="1125" dirty="0"/>
          </a:p>
        </p:txBody>
      </p:sp>
      <p:sp>
        <p:nvSpPr>
          <p:cNvPr id="31" name="Shape 29"/>
          <p:cNvSpPr/>
          <p:nvPr/>
        </p:nvSpPr>
        <p:spPr>
          <a:xfrm>
            <a:off x="838200" y="6178391"/>
            <a:ext cx="4052888" cy="2683193"/>
          </a:xfrm>
          <a:prstGeom prst="rect">
            <a:avLst/>
          </a:prstGeom>
          <a:solidFill>
            <a:srgbClr val="F2EFE8">
              <a:alpha val="4000"/>
            </a:srgbClr>
          </a:solidFill>
          <a:ln w="15240">
            <a:solidFill>
              <a:srgbClr val="F2EFE8"/>
            </a:solidFill>
            <a:prstDash val="solid"/>
          </a:ln>
        </p:spPr>
      </p:sp>
      <p:sp>
        <p:nvSpPr>
          <p:cNvPr id="32" name="Text 30"/>
          <p:cNvSpPr/>
          <p:nvPr/>
        </p:nvSpPr>
        <p:spPr>
          <a:xfrm>
            <a:off x="1082040" y="6403181"/>
            <a:ext cx="3672164" cy="266700"/>
          </a:xfrm>
          <a:prstGeom prst="rect">
            <a:avLst/>
          </a:prstGeom>
          <a:noFill/>
          <a:ln/>
        </p:spPr>
        <p:txBody>
          <a:bodyPr wrap="square" lIns="25400" tIns="25400" rIns="25400" bIns="25400" rtlCol="0" anchor="t">
            <a:normAutofit/>
          </a:bodyPr>
          <a:lstStyle/>
          <a:p>
            <a:pPr algn="l" indent="0" marL="0">
              <a:buNone/>
            </a:pPr>
            <a:r>
              <a:rPr lang="en-US" sz="1350" b="1" spc="108" kern="0" dirty="0">
                <a:solidFill>
                  <a:srgbClr val="FF5B1F"/>
                </a:solidFill>
                <a:latin typeface="Arial" pitchFamily="34" charset="0"/>
                <a:ea typeface="Arial" pitchFamily="34" charset="-122"/>
                <a:cs typeface="Arial" pitchFamily="34" charset="-120"/>
              </a:rPr>
              <a:t>05 · DIAGRAM SPEC</a:t>
            </a:r>
            <a:endParaRPr lang="en-US" sz="1350" dirty="0"/>
          </a:p>
        </p:txBody>
      </p:sp>
      <p:sp>
        <p:nvSpPr>
          <p:cNvPr id="33" name="Text 31"/>
          <p:cNvSpPr/>
          <p:nvPr/>
        </p:nvSpPr>
        <p:spPr>
          <a:xfrm>
            <a:off x="1082040" y="6707981"/>
            <a:ext cx="3672164" cy="638175"/>
          </a:xfrm>
          <a:prstGeom prst="rect">
            <a:avLst/>
          </a:prstGeom>
          <a:noFill/>
          <a:ln/>
        </p:spPr>
        <p:txBody>
          <a:bodyPr wrap="square" lIns="25400" tIns="25400" rIns="25400" bIns="25400" rtlCol="0" anchor="t">
            <a:normAutofit/>
          </a:bodyPr>
          <a:lstStyle/>
          <a:p>
            <a:pPr algn="l" indent="0" marL="0">
              <a:lnSpc>
                <a:spcPct val="105000"/>
              </a:lnSpc>
              <a:buNone/>
            </a:pPr>
            <a:r>
              <a:rPr lang="en-US" sz="2250" spc="-34" kern="0" dirty="0">
                <a:solidFill>
                  <a:srgbClr val="F2EFE8"/>
                </a:solidFill>
                <a:latin typeface="Arial" pitchFamily="34" charset="0"/>
                <a:ea typeface="Arial" pitchFamily="34" charset="-122"/>
                <a:cs typeface="Arial" pitchFamily="34" charset="-120"/>
              </a:rPr>
              <a:t>System description → Mermaid</a:t>
            </a:r>
            <a:endParaRPr lang="en-US" sz="2250" dirty="0"/>
          </a:p>
        </p:txBody>
      </p:sp>
      <p:sp>
        <p:nvSpPr>
          <p:cNvPr id="34" name="Shape 32"/>
          <p:cNvSpPr/>
          <p:nvPr/>
        </p:nvSpPr>
        <p:spPr>
          <a:xfrm>
            <a:off x="1082040" y="7512844"/>
            <a:ext cx="3565208" cy="1123950"/>
          </a:xfrm>
          <a:prstGeom prst="rect">
            <a:avLst/>
          </a:prstGeom>
          <a:solidFill>
            <a:srgbClr val="0E0E0E"/>
          </a:solidFill>
          <a:ln/>
        </p:spPr>
      </p:sp>
      <p:sp>
        <p:nvSpPr>
          <p:cNvPr id="35" name="Shape 33"/>
          <p:cNvSpPr/>
          <p:nvPr/>
        </p:nvSpPr>
        <p:spPr>
          <a:xfrm>
            <a:off x="1082040" y="7512844"/>
            <a:ext cx="22860" cy="1123950"/>
          </a:xfrm>
          <a:prstGeom prst="rect">
            <a:avLst/>
          </a:prstGeom>
          <a:solidFill>
            <a:srgbClr val="FF5B1F"/>
          </a:solidFill>
          <a:ln/>
        </p:spPr>
      </p:sp>
      <p:sp>
        <p:nvSpPr>
          <p:cNvPr id="36" name="Text 34"/>
          <p:cNvSpPr/>
          <p:nvPr/>
        </p:nvSpPr>
        <p:spPr>
          <a:xfrm>
            <a:off x="1257300" y="7646194"/>
            <a:ext cx="3344504" cy="895350"/>
          </a:xfrm>
          <a:prstGeom prst="rect">
            <a:avLst/>
          </a:prstGeom>
          <a:noFill/>
          <a:ln/>
        </p:spPr>
        <p:txBody>
          <a:bodyPr wrap="square" lIns="25400" tIns="25400" rIns="25400" bIns="25400" rtlCol="0" anchor="t">
            <a:normAutofit/>
          </a:bodyPr>
          <a:lstStyle/>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Convert system [description] to Mermaid TD.</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Decision nodes as diamonds; terminal states explicit; edge labels passive.</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Output ONLY valid syntax. No prose.</a:t>
            </a:r>
            <a:endParaRPr lang="en-US" sz="1125" dirty="0"/>
          </a:p>
        </p:txBody>
      </p:sp>
      <p:sp>
        <p:nvSpPr>
          <p:cNvPr id="37" name="Shape 35"/>
          <p:cNvSpPr/>
          <p:nvPr/>
        </p:nvSpPr>
        <p:spPr>
          <a:xfrm>
            <a:off x="5024438" y="6178391"/>
            <a:ext cx="4052888" cy="2683193"/>
          </a:xfrm>
          <a:prstGeom prst="rect">
            <a:avLst/>
          </a:prstGeom>
          <a:solidFill>
            <a:srgbClr val="F2EFE8">
              <a:alpha val="4000"/>
            </a:srgbClr>
          </a:solidFill>
          <a:ln w="15240">
            <a:solidFill>
              <a:srgbClr val="F2EFE8"/>
            </a:solidFill>
            <a:prstDash val="solid"/>
          </a:ln>
        </p:spPr>
      </p:sp>
      <p:sp>
        <p:nvSpPr>
          <p:cNvPr id="38" name="Text 36"/>
          <p:cNvSpPr/>
          <p:nvPr/>
        </p:nvSpPr>
        <p:spPr>
          <a:xfrm>
            <a:off x="5268278" y="6403181"/>
            <a:ext cx="3672164" cy="266700"/>
          </a:xfrm>
          <a:prstGeom prst="rect">
            <a:avLst/>
          </a:prstGeom>
          <a:noFill/>
          <a:ln/>
        </p:spPr>
        <p:txBody>
          <a:bodyPr wrap="square" lIns="25400" tIns="25400" rIns="25400" bIns="25400" rtlCol="0" anchor="t">
            <a:normAutofit/>
          </a:bodyPr>
          <a:lstStyle/>
          <a:p>
            <a:pPr algn="l" indent="0" marL="0">
              <a:buNone/>
            </a:pPr>
            <a:r>
              <a:rPr lang="en-US" sz="1350" b="1" spc="108" kern="0" dirty="0">
                <a:solidFill>
                  <a:srgbClr val="FF5B1F"/>
                </a:solidFill>
                <a:latin typeface="Arial" pitchFamily="34" charset="0"/>
                <a:ea typeface="Arial" pitchFamily="34" charset="-122"/>
                <a:cs typeface="Arial" pitchFamily="34" charset="-120"/>
              </a:rPr>
              <a:t>06 · DIAGNOSTIC DEBUG</a:t>
            </a:r>
            <a:endParaRPr lang="en-US" sz="1350" dirty="0"/>
          </a:p>
        </p:txBody>
      </p:sp>
      <p:sp>
        <p:nvSpPr>
          <p:cNvPr id="39" name="Text 37"/>
          <p:cNvSpPr/>
          <p:nvPr/>
        </p:nvSpPr>
        <p:spPr>
          <a:xfrm>
            <a:off x="5268278" y="6707981"/>
            <a:ext cx="3672164" cy="338138"/>
          </a:xfrm>
          <a:prstGeom prst="rect">
            <a:avLst/>
          </a:prstGeom>
          <a:noFill/>
          <a:ln/>
        </p:spPr>
        <p:txBody>
          <a:bodyPr wrap="square" lIns="25400" tIns="25400" rIns="25400" bIns="25400" rtlCol="0" anchor="t">
            <a:normAutofit/>
          </a:bodyPr>
          <a:lstStyle/>
          <a:p>
            <a:pPr algn="l" indent="0" marL="0">
              <a:lnSpc>
                <a:spcPct val="105000"/>
              </a:lnSpc>
              <a:buNone/>
            </a:pPr>
            <a:r>
              <a:rPr lang="en-US" sz="2250" spc="-34" kern="0" dirty="0">
                <a:solidFill>
                  <a:srgbClr val="F2EFE8"/>
                </a:solidFill>
                <a:latin typeface="Arial" pitchFamily="34" charset="0"/>
                <a:ea typeface="Arial" pitchFamily="34" charset="-122"/>
                <a:cs typeface="Arial" pitchFamily="34" charset="-120"/>
              </a:rPr>
              <a:t>Diagnosis before patch</a:t>
            </a:r>
            <a:endParaRPr lang="en-US" sz="2250" dirty="0"/>
          </a:p>
        </p:txBody>
      </p:sp>
      <p:sp>
        <p:nvSpPr>
          <p:cNvPr id="40" name="Shape 38"/>
          <p:cNvSpPr/>
          <p:nvPr/>
        </p:nvSpPr>
        <p:spPr>
          <a:xfrm>
            <a:off x="5268278" y="7084219"/>
            <a:ext cx="3565208" cy="1552575"/>
          </a:xfrm>
          <a:prstGeom prst="rect">
            <a:avLst/>
          </a:prstGeom>
          <a:solidFill>
            <a:srgbClr val="0E0E0E"/>
          </a:solidFill>
          <a:ln/>
        </p:spPr>
      </p:sp>
      <p:sp>
        <p:nvSpPr>
          <p:cNvPr id="41" name="Shape 39"/>
          <p:cNvSpPr/>
          <p:nvPr/>
        </p:nvSpPr>
        <p:spPr>
          <a:xfrm>
            <a:off x="5268278" y="7084219"/>
            <a:ext cx="22860" cy="1552575"/>
          </a:xfrm>
          <a:prstGeom prst="rect">
            <a:avLst/>
          </a:prstGeom>
          <a:solidFill>
            <a:srgbClr val="FF5B1F"/>
          </a:solidFill>
          <a:ln/>
        </p:spPr>
      </p:sp>
      <p:sp>
        <p:nvSpPr>
          <p:cNvPr id="42" name="Text 40"/>
          <p:cNvSpPr/>
          <p:nvPr/>
        </p:nvSpPr>
        <p:spPr>
          <a:xfrm>
            <a:off x="5443538" y="7217569"/>
            <a:ext cx="3344504" cy="1323975"/>
          </a:xfrm>
          <a:prstGeom prst="rect">
            <a:avLst/>
          </a:prstGeom>
          <a:noFill/>
          <a:ln/>
        </p:spPr>
        <p:txBody>
          <a:bodyPr wrap="square" lIns="25400" tIns="25400" rIns="25400" bIns="25400" rtlCol="0" anchor="t">
            <a:normAutofit/>
          </a:bodyPr>
          <a:lstStyle/>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Senior-engineer review.</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1. Error class at language level.</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2. Three causes ranked by prior probability.</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3. Diagnostic procedure (specific commands).</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4. Minimal failing test.</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Only then propose the fix.</a:t>
            </a:r>
            <a:endParaRPr lang="en-US" sz="1125" dirty="0"/>
          </a:p>
        </p:txBody>
      </p:sp>
      <p:sp>
        <p:nvSpPr>
          <p:cNvPr id="43" name="Shape 41"/>
          <p:cNvSpPr/>
          <p:nvPr/>
        </p:nvSpPr>
        <p:spPr>
          <a:xfrm>
            <a:off x="9210675" y="6178391"/>
            <a:ext cx="4052888" cy="2683193"/>
          </a:xfrm>
          <a:prstGeom prst="rect">
            <a:avLst/>
          </a:prstGeom>
          <a:solidFill>
            <a:srgbClr val="F2EFE8">
              <a:alpha val="4000"/>
            </a:srgbClr>
          </a:solidFill>
          <a:ln w="15240">
            <a:solidFill>
              <a:srgbClr val="F2EFE8"/>
            </a:solidFill>
            <a:prstDash val="solid"/>
          </a:ln>
        </p:spPr>
      </p:sp>
      <p:sp>
        <p:nvSpPr>
          <p:cNvPr id="44" name="Text 42"/>
          <p:cNvSpPr/>
          <p:nvPr/>
        </p:nvSpPr>
        <p:spPr>
          <a:xfrm>
            <a:off x="9454515" y="6403181"/>
            <a:ext cx="3672164" cy="266700"/>
          </a:xfrm>
          <a:prstGeom prst="rect">
            <a:avLst/>
          </a:prstGeom>
          <a:noFill/>
          <a:ln/>
        </p:spPr>
        <p:txBody>
          <a:bodyPr wrap="square" lIns="25400" tIns="25400" rIns="25400" bIns="25400" rtlCol="0" anchor="t">
            <a:normAutofit/>
          </a:bodyPr>
          <a:lstStyle/>
          <a:p>
            <a:pPr algn="l" indent="0" marL="0">
              <a:buNone/>
            </a:pPr>
            <a:r>
              <a:rPr lang="en-US" sz="1350" b="1" spc="108" kern="0" dirty="0">
                <a:solidFill>
                  <a:srgbClr val="FF5B1F"/>
                </a:solidFill>
                <a:latin typeface="Arial" pitchFamily="34" charset="0"/>
                <a:ea typeface="Arial" pitchFamily="34" charset="-122"/>
                <a:cs typeface="Arial" pitchFamily="34" charset="-120"/>
              </a:rPr>
              <a:t>07 · ADVERSARIAL INTERROGATION</a:t>
            </a:r>
            <a:endParaRPr lang="en-US" sz="1350" dirty="0"/>
          </a:p>
        </p:txBody>
      </p:sp>
      <p:sp>
        <p:nvSpPr>
          <p:cNvPr id="45" name="Text 43"/>
          <p:cNvSpPr/>
          <p:nvPr/>
        </p:nvSpPr>
        <p:spPr>
          <a:xfrm>
            <a:off x="9454515" y="6707981"/>
            <a:ext cx="3672164" cy="338138"/>
          </a:xfrm>
          <a:prstGeom prst="rect">
            <a:avLst/>
          </a:prstGeom>
          <a:noFill/>
          <a:ln/>
        </p:spPr>
        <p:txBody>
          <a:bodyPr wrap="square" lIns="25400" tIns="25400" rIns="25400" bIns="25400" rtlCol="0" anchor="t">
            <a:normAutofit/>
          </a:bodyPr>
          <a:lstStyle/>
          <a:p>
            <a:pPr algn="l" indent="0" marL="0">
              <a:lnSpc>
                <a:spcPct val="105000"/>
              </a:lnSpc>
              <a:buNone/>
            </a:pPr>
            <a:r>
              <a:rPr lang="en-US" sz="2250" spc="-34" kern="0" dirty="0">
                <a:solidFill>
                  <a:srgbClr val="F2EFE8"/>
                </a:solidFill>
                <a:latin typeface="Arial" pitchFamily="34" charset="0"/>
                <a:ea typeface="Arial" pitchFamily="34" charset="-122"/>
                <a:cs typeface="Arial" pitchFamily="34" charset="-120"/>
              </a:rPr>
              <a:t>Hypothesis → falsifiable plan</a:t>
            </a:r>
            <a:endParaRPr lang="en-US" sz="2250" dirty="0"/>
          </a:p>
        </p:txBody>
      </p:sp>
      <p:sp>
        <p:nvSpPr>
          <p:cNvPr id="46" name="Shape 44"/>
          <p:cNvSpPr/>
          <p:nvPr/>
        </p:nvSpPr>
        <p:spPr>
          <a:xfrm>
            <a:off x="9454515" y="7084219"/>
            <a:ext cx="3565208" cy="1552575"/>
          </a:xfrm>
          <a:prstGeom prst="rect">
            <a:avLst/>
          </a:prstGeom>
          <a:solidFill>
            <a:srgbClr val="0E0E0E"/>
          </a:solidFill>
          <a:ln/>
        </p:spPr>
      </p:sp>
      <p:sp>
        <p:nvSpPr>
          <p:cNvPr id="47" name="Shape 45"/>
          <p:cNvSpPr/>
          <p:nvPr/>
        </p:nvSpPr>
        <p:spPr>
          <a:xfrm>
            <a:off x="9454515" y="7084219"/>
            <a:ext cx="22860" cy="1552575"/>
          </a:xfrm>
          <a:prstGeom prst="rect">
            <a:avLst/>
          </a:prstGeom>
          <a:solidFill>
            <a:srgbClr val="FF5B1F"/>
          </a:solidFill>
          <a:ln/>
        </p:spPr>
      </p:sp>
      <p:sp>
        <p:nvSpPr>
          <p:cNvPr id="48" name="Text 46"/>
          <p:cNvSpPr/>
          <p:nvPr/>
        </p:nvSpPr>
        <p:spPr>
          <a:xfrm>
            <a:off x="9629775" y="7217569"/>
            <a:ext cx="3344504" cy="1323975"/>
          </a:xfrm>
          <a:prstGeom prst="rect">
            <a:avLst/>
          </a:prstGeom>
          <a:noFill/>
          <a:ln/>
        </p:spPr>
        <p:txBody>
          <a:bodyPr wrap="square" lIns="25400" tIns="25400" rIns="25400" bIns="25400" rtlCol="0" anchor="t">
            <a:normAutofit/>
          </a:bodyPr>
          <a:lstStyle/>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Critical reviewer, [sector] expertise.</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10 customer questions ordered by cost-of-being-wrong.</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After responses: 5-criterion score, largest unverified assumption, 7-day falsifying experiment with success/failure metrics.</a:t>
            </a:r>
            <a:endParaRPr lang="en-US" sz="1125" dirty="0"/>
          </a:p>
        </p:txBody>
      </p:sp>
      <p:sp>
        <p:nvSpPr>
          <p:cNvPr id="49" name="Shape 47"/>
          <p:cNvSpPr/>
          <p:nvPr/>
        </p:nvSpPr>
        <p:spPr>
          <a:xfrm>
            <a:off x="13396913" y="6178391"/>
            <a:ext cx="4052888" cy="2683193"/>
          </a:xfrm>
          <a:prstGeom prst="rect">
            <a:avLst/>
          </a:prstGeom>
          <a:solidFill>
            <a:srgbClr val="FF5B1F"/>
          </a:solidFill>
          <a:ln w="15240">
            <a:solidFill>
              <a:srgbClr val="FF5B1F"/>
            </a:solidFill>
            <a:prstDash val="solid"/>
          </a:ln>
        </p:spPr>
      </p:sp>
      <p:sp>
        <p:nvSpPr>
          <p:cNvPr id="50" name="Text 48"/>
          <p:cNvSpPr/>
          <p:nvPr/>
        </p:nvSpPr>
        <p:spPr>
          <a:xfrm>
            <a:off x="13640752" y="6403181"/>
            <a:ext cx="3672164" cy="274320"/>
          </a:xfrm>
          <a:prstGeom prst="rect">
            <a:avLst/>
          </a:prstGeom>
          <a:noFill/>
          <a:ln/>
        </p:spPr>
        <p:txBody>
          <a:bodyPr wrap="square" lIns="25400" tIns="25400" rIns="25400" bIns="25400" rtlCol="0" anchor="t">
            <a:normAutofit/>
          </a:bodyPr>
          <a:lstStyle/>
          <a:p>
            <a:pPr algn="l" indent="0" marL="0">
              <a:buNone/>
            </a:pPr>
            <a:r>
              <a:rPr lang="en-US" sz="1350" b="1" spc="108" kern="0" dirty="0">
                <a:solidFill>
                  <a:srgbClr val="0E0E0E"/>
                </a:solidFill>
                <a:latin typeface="Arial" pitchFamily="34" charset="0"/>
                <a:ea typeface="Arial" pitchFamily="34" charset="-122"/>
                <a:cs typeface="Arial" pitchFamily="34" charset="-120"/>
              </a:rPr>
              <a:t>★ THE FRAME</a:t>
            </a:r>
            <a:endParaRPr lang="en-US" sz="1350" dirty="0"/>
          </a:p>
        </p:txBody>
      </p:sp>
      <p:sp>
        <p:nvSpPr>
          <p:cNvPr id="51" name="Text 49"/>
          <p:cNvSpPr/>
          <p:nvPr/>
        </p:nvSpPr>
        <p:spPr>
          <a:xfrm>
            <a:off x="13640752" y="6715601"/>
            <a:ext cx="3672164" cy="338138"/>
          </a:xfrm>
          <a:prstGeom prst="rect">
            <a:avLst/>
          </a:prstGeom>
          <a:noFill/>
          <a:ln/>
        </p:spPr>
        <p:txBody>
          <a:bodyPr wrap="square" lIns="25400" tIns="25400" rIns="25400" bIns="25400" rtlCol="0" anchor="t">
            <a:normAutofit/>
          </a:bodyPr>
          <a:lstStyle/>
          <a:p>
            <a:pPr algn="l" indent="0" marL="0">
              <a:lnSpc>
                <a:spcPct val="105000"/>
              </a:lnSpc>
              <a:buNone/>
            </a:pPr>
            <a:r>
              <a:rPr lang="en-US" sz="2250" spc="-34" kern="0" dirty="0">
                <a:solidFill>
                  <a:srgbClr val="0E0E0E"/>
                </a:solidFill>
                <a:latin typeface="Arial" pitchFamily="34" charset="0"/>
                <a:ea typeface="Arial" pitchFamily="34" charset="-122"/>
                <a:cs typeface="Arial" pitchFamily="34" charset="-120"/>
              </a:rPr>
              <a:t>R · C · T · F · !</a:t>
            </a:r>
            <a:endParaRPr lang="en-US" sz="2250" dirty="0"/>
          </a:p>
        </p:txBody>
      </p:sp>
      <p:sp>
        <p:nvSpPr>
          <p:cNvPr id="52" name="Shape 50"/>
          <p:cNvSpPr/>
          <p:nvPr/>
        </p:nvSpPr>
        <p:spPr>
          <a:xfrm>
            <a:off x="13640752" y="7298531"/>
            <a:ext cx="3565208" cy="1338263"/>
          </a:xfrm>
          <a:prstGeom prst="rect">
            <a:avLst/>
          </a:prstGeom>
          <a:solidFill>
            <a:srgbClr val="0E0E0E"/>
          </a:solidFill>
          <a:ln/>
        </p:spPr>
      </p:sp>
      <p:sp>
        <p:nvSpPr>
          <p:cNvPr id="53" name="Shape 51"/>
          <p:cNvSpPr/>
          <p:nvPr/>
        </p:nvSpPr>
        <p:spPr>
          <a:xfrm>
            <a:off x="13640752" y="7298531"/>
            <a:ext cx="22860" cy="1338263"/>
          </a:xfrm>
          <a:prstGeom prst="rect">
            <a:avLst/>
          </a:prstGeom>
          <a:solidFill>
            <a:srgbClr val="F2EFE8"/>
          </a:solidFill>
          <a:ln/>
        </p:spPr>
      </p:sp>
      <p:sp>
        <p:nvSpPr>
          <p:cNvPr id="54" name="Text 52"/>
          <p:cNvSpPr/>
          <p:nvPr/>
        </p:nvSpPr>
        <p:spPr>
          <a:xfrm>
            <a:off x="13816012" y="7431881"/>
            <a:ext cx="3344504" cy="1109663"/>
          </a:xfrm>
          <a:prstGeom prst="rect">
            <a:avLst/>
          </a:prstGeom>
          <a:noFill/>
          <a:ln/>
        </p:spPr>
        <p:txBody>
          <a:bodyPr wrap="square" lIns="25400" tIns="25400" rIns="25400" bIns="25400" rtlCol="0" anchor="t">
            <a:normAutofit/>
          </a:bodyPr>
          <a:lstStyle/>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Role — discipline + pedagogy.</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Context — horizon, scope, gaps.</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Task — enumerated outputs.</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Format — explicit constraints.</a:t>
            </a:r>
            <a:endParaRPr lang="en-US" sz="1125" dirty="0"/>
          </a:p>
          <a:p>
            <a:pPr algn="l" indent="0" marL="0">
              <a:lnSpc>
                <a:spcPct val="150000"/>
              </a:lnSpc>
              <a:buNone/>
            </a:pPr>
            <a:r>
              <a:rPr lang="en-US" sz="1125" dirty="0">
                <a:solidFill>
                  <a:srgbClr val="F2EFE8"/>
                </a:solidFill>
                <a:latin typeface="Arial" pitchFamily="34" charset="0"/>
                <a:ea typeface="Arial" pitchFamily="34" charset="-122"/>
                <a:cs typeface="Arial" pitchFamily="34" charset="-120"/>
              </a:rPr>
              <a:t>Constraint — the line that prevents fabrication.</a:t>
            </a:r>
            <a:endParaRPr lang="en-US" sz="1125" dirty="0"/>
          </a:p>
        </p:txBody>
      </p:sp>
      <p:sp>
        <p:nvSpPr>
          <p:cNvPr id="55" name="Text 53"/>
          <p:cNvSpPr/>
          <p:nvPr/>
        </p:nvSpPr>
        <p:spPr>
          <a:xfrm>
            <a:off x="838200" y="9643110"/>
            <a:ext cx="8946300"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F2EFE8">
                    <a:alpha val="50000"/>
                  </a:srgbClr>
                </a:solidFill>
                <a:latin typeface="Arial" pitchFamily="34" charset="0"/>
                <a:ea typeface="Arial" pitchFamily="34" charset="-122"/>
                <a:cs typeface="Arial" pitchFamily="34" charset="-120"/>
              </a:rPr>
              <a:t>MODIFY THE BRACKETED PARAMETERS · PRESERVE THE STRUCTURE</a:t>
            </a:r>
            <a:endParaRPr lang="en-US" sz="1800" dirty="0"/>
          </a:p>
        </p:txBody>
      </p:sp>
      <p:sp>
        <p:nvSpPr>
          <p:cNvPr id="56" name="Text 54"/>
          <p:cNvSpPr/>
          <p:nvPr/>
        </p:nvSpPr>
        <p:spPr>
          <a:xfrm>
            <a:off x="16476464" y="9563100"/>
            <a:ext cx="1049536"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F2EFE8">
                    <a:alpha val="50000"/>
                  </a:srgbClr>
                </a:solidFill>
                <a:latin typeface="Arial" pitchFamily="34" charset="0"/>
                <a:ea typeface="Arial" pitchFamily="34" charset="-122"/>
                <a:cs typeface="Arial" pitchFamily="34" charset="-120"/>
              </a:rPr>
              <a:t>21 / 25</a:t>
            </a:r>
            <a:endParaRPr lang="en-US" sz="2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FF3D"/>
        </a:solidFill>
      </p:bgPr>
    </p:bg>
    <p:spTree>
      <p:nvGrpSpPr>
        <p:cNvPr id="1" name=""/>
        <p:cNvGrpSpPr/>
        <p:nvPr/>
      </p:nvGrpSpPr>
      <p:grpSpPr>
        <a:xfrm>
          <a:off x="0" y="0"/>
          <a:ext cx="0" cy="0"/>
          <a:chOff x="0" y="0"/>
          <a:chExt cx="0" cy="0"/>
        </a:xfrm>
      </p:grpSpPr>
      <p:sp>
        <p:nvSpPr>
          <p:cNvPr id="2" name="Text 0"/>
          <p:cNvSpPr/>
          <p:nvPr/>
        </p:nvSpPr>
        <p:spPr>
          <a:xfrm>
            <a:off x="838200" y="304800"/>
            <a:ext cx="4012597"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0E0E0E">
                    <a:alpha val="70000"/>
                  </a:srgbClr>
                </a:solidFill>
                <a:latin typeface="Arial" pitchFamily="34" charset="0"/>
                <a:ea typeface="Arial" pitchFamily="34" charset="-122"/>
                <a:cs typeface="Arial" pitchFamily="34" charset="-120"/>
              </a:rPr>
              <a:t>OPERATOR DISCIPLINE · 01 / 02</a:t>
            </a:r>
            <a:endParaRPr lang="en-US" sz="1800" dirty="0"/>
          </a:p>
        </p:txBody>
      </p:sp>
      <p:sp>
        <p:nvSpPr>
          <p:cNvPr id="3" name="Text 1"/>
          <p:cNvSpPr/>
          <p:nvPr/>
        </p:nvSpPr>
        <p:spPr>
          <a:xfrm>
            <a:off x="15701844" y="304800"/>
            <a:ext cx="1824157"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0E0E0E">
                    <a:alpha val="70000"/>
                  </a:srgbClr>
                </a:solidFill>
                <a:latin typeface="Arial" pitchFamily="34" charset="0"/>
                <a:ea typeface="Arial" pitchFamily="34" charset="-122"/>
                <a:cs typeface="Arial" pitchFamily="34" charset="-120"/>
              </a:rPr>
              <a:t>VERIFICATION</a:t>
            </a:r>
            <a:endParaRPr lang="en-US" sz="1800" dirty="0"/>
          </a:p>
        </p:txBody>
      </p:sp>
      <p:sp>
        <p:nvSpPr>
          <p:cNvPr id="4" name="Text 2"/>
          <p:cNvSpPr/>
          <p:nvPr/>
        </p:nvSpPr>
        <p:spPr>
          <a:xfrm>
            <a:off x="838200" y="1390650"/>
            <a:ext cx="17109948" cy="5440680"/>
          </a:xfrm>
          <a:prstGeom prst="rect">
            <a:avLst/>
          </a:prstGeom>
          <a:noFill/>
          <a:ln/>
        </p:spPr>
        <p:txBody>
          <a:bodyPr wrap="square" lIns="25400" tIns="25400" rIns="25400" bIns="25400" rtlCol="0" anchor="t">
            <a:normAutofit/>
          </a:bodyPr>
          <a:lstStyle/>
          <a:p>
            <a:pPr algn="l" indent="0" marL="0">
              <a:lnSpc>
                <a:spcPct val="94000"/>
              </a:lnSpc>
              <a:buNone/>
            </a:pPr>
            <a:r>
              <a:rPr lang="en-US" sz="15000" spc="-525" kern="0" dirty="0">
                <a:solidFill>
                  <a:srgbClr val="0E0E0E"/>
                </a:solidFill>
                <a:latin typeface="Arial" pitchFamily="34" charset="0"/>
                <a:ea typeface="Arial" pitchFamily="34" charset="-122"/>
                <a:cs typeface="Arial" pitchFamily="34" charset="-120"/>
              </a:rPr>
              <a:t>Confidence is </a:t>
            </a:r>
            <a:pPr algn="l" indent="0" marL="0">
              <a:lnSpc>
                <a:spcPct val="94000"/>
              </a:lnSpc>
              <a:buNone/>
            </a:pPr>
            <a:r>
              <a:rPr lang="en-US" sz="15000" i="1" spc="-525" kern="0" dirty="0">
                <a:solidFill>
                  <a:srgbClr val="FF3355"/>
                </a:solidFill>
                <a:latin typeface="Arial" pitchFamily="34" charset="0"/>
                <a:ea typeface="Arial" pitchFamily="34" charset="-122"/>
                <a:cs typeface="Arial" pitchFamily="34" charset="-120"/>
              </a:rPr>
              <a:t>not </a:t>
            </a:r>
            <a:pPr algn="l" indent="0" marL="0">
              <a:lnSpc>
                <a:spcPct val="94000"/>
              </a:lnSpc>
              <a:buNone/>
            </a:pPr>
            <a:r>
              <a:rPr lang="en-US" sz="15000" spc="-525" kern="0" dirty="0">
                <a:solidFill>
                  <a:srgbClr val="0E0E0E"/>
                </a:solidFill>
                <a:latin typeface="Arial" pitchFamily="34" charset="0"/>
                <a:ea typeface="Arial" pitchFamily="34" charset="-122"/>
                <a:cs typeface="Arial" pitchFamily="34" charset="-120"/>
              </a:rPr>
              <a:t>correctness.</a:t>
            </a:r>
            <a:endParaRPr lang="en-US" sz="15000" dirty="0"/>
          </a:p>
        </p:txBody>
      </p:sp>
      <p:sp>
        <p:nvSpPr>
          <p:cNvPr id="5" name="Shape 3"/>
          <p:cNvSpPr/>
          <p:nvPr/>
        </p:nvSpPr>
        <p:spPr>
          <a:xfrm>
            <a:off x="838200" y="7555230"/>
            <a:ext cx="16611600" cy="15240"/>
          </a:xfrm>
          <a:prstGeom prst="rect">
            <a:avLst/>
          </a:prstGeom>
          <a:solidFill>
            <a:srgbClr val="0E0E0E"/>
          </a:solidFill>
          <a:ln/>
        </p:spPr>
      </p:sp>
      <p:sp>
        <p:nvSpPr>
          <p:cNvPr id="6" name="Text 4"/>
          <p:cNvSpPr/>
          <p:nvPr/>
        </p:nvSpPr>
        <p:spPr>
          <a:xfrm>
            <a:off x="838200" y="7951470"/>
            <a:ext cx="5494020" cy="312420"/>
          </a:xfrm>
          <a:prstGeom prst="rect">
            <a:avLst/>
          </a:prstGeom>
          <a:noFill/>
          <a:ln/>
        </p:spPr>
        <p:txBody>
          <a:bodyPr wrap="square" lIns="25400" tIns="25400" rIns="25400" bIns="25400" rtlCol="0" anchor="t">
            <a:normAutofit/>
          </a:bodyPr>
          <a:lstStyle/>
          <a:p>
            <a:pPr algn="l" indent="0" marL="0">
              <a:buNone/>
            </a:pPr>
            <a:r>
              <a:rPr lang="en-US" sz="1650" b="1" spc="66" kern="0" dirty="0">
                <a:solidFill>
                  <a:srgbClr val="FF3355"/>
                </a:solidFill>
                <a:latin typeface="Arial" pitchFamily="34" charset="0"/>
                <a:ea typeface="Arial" pitchFamily="34" charset="-122"/>
                <a:cs typeface="Arial" pitchFamily="34" charset="-120"/>
              </a:rPr>
              <a:t>PROTOCOL 01</a:t>
            </a:r>
            <a:endParaRPr lang="en-US" sz="1650" dirty="0"/>
          </a:p>
        </p:txBody>
      </p:sp>
      <p:sp>
        <p:nvSpPr>
          <p:cNvPr id="7" name="Text 5"/>
          <p:cNvSpPr/>
          <p:nvPr/>
        </p:nvSpPr>
        <p:spPr>
          <a:xfrm>
            <a:off x="838200" y="8301990"/>
            <a:ext cx="5494020" cy="1032510"/>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0E0E0E"/>
                </a:solidFill>
                <a:latin typeface="Arial" pitchFamily="34" charset="0"/>
                <a:ea typeface="Arial" pitchFamily="34" charset="-122"/>
                <a:cs typeface="Arial" pitchFamily="34" charset="-120"/>
              </a:rPr>
              <a:t>Every numerical claim, date, named entity, and citation is verified by the operator against a primary source.</a:t>
            </a:r>
            <a:endParaRPr lang="en-US" sz="1800" dirty="0"/>
          </a:p>
        </p:txBody>
      </p:sp>
      <p:sp>
        <p:nvSpPr>
          <p:cNvPr id="8" name="Text 6"/>
          <p:cNvSpPr/>
          <p:nvPr/>
        </p:nvSpPr>
        <p:spPr>
          <a:xfrm>
            <a:off x="6477000" y="7951470"/>
            <a:ext cx="5494020" cy="312420"/>
          </a:xfrm>
          <a:prstGeom prst="rect">
            <a:avLst/>
          </a:prstGeom>
          <a:noFill/>
          <a:ln/>
        </p:spPr>
        <p:txBody>
          <a:bodyPr wrap="square" lIns="25400" tIns="25400" rIns="25400" bIns="25400" rtlCol="0" anchor="t">
            <a:normAutofit/>
          </a:bodyPr>
          <a:lstStyle/>
          <a:p>
            <a:pPr algn="l" indent="0" marL="0">
              <a:buNone/>
            </a:pPr>
            <a:r>
              <a:rPr lang="en-US" sz="1650" b="1" spc="66" kern="0" dirty="0">
                <a:solidFill>
                  <a:srgbClr val="FF3355"/>
                </a:solidFill>
                <a:latin typeface="Arial" pitchFamily="34" charset="0"/>
                <a:ea typeface="Arial" pitchFamily="34" charset="-122"/>
                <a:cs typeface="Arial" pitchFamily="34" charset="-120"/>
              </a:rPr>
              <a:t>PROTOCOL 02</a:t>
            </a:r>
            <a:endParaRPr lang="en-US" sz="1650" dirty="0"/>
          </a:p>
        </p:txBody>
      </p:sp>
      <p:sp>
        <p:nvSpPr>
          <p:cNvPr id="9" name="Text 7"/>
          <p:cNvSpPr/>
          <p:nvPr/>
        </p:nvSpPr>
        <p:spPr>
          <a:xfrm>
            <a:off x="6477000" y="8301990"/>
            <a:ext cx="5494020" cy="1032510"/>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0E0E0E"/>
                </a:solidFill>
                <a:latin typeface="Arial" pitchFamily="34" charset="0"/>
                <a:ea typeface="Arial" pitchFamily="34" charset="-122"/>
                <a:cs typeface="Arial" pitchFamily="34" charset="-120"/>
              </a:rPr>
              <a:t>Every line of generated code is read, reasoned about, and tested before execution in any non-sandboxed environment.</a:t>
            </a:r>
            <a:endParaRPr lang="en-US" sz="1800" dirty="0"/>
          </a:p>
        </p:txBody>
      </p:sp>
      <p:sp>
        <p:nvSpPr>
          <p:cNvPr id="10" name="Text 8"/>
          <p:cNvSpPr/>
          <p:nvPr/>
        </p:nvSpPr>
        <p:spPr>
          <a:xfrm>
            <a:off x="12115800" y="7951470"/>
            <a:ext cx="5494020" cy="312420"/>
          </a:xfrm>
          <a:prstGeom prst="rect">
            <a:avLst/>
          </a:prstGeom>
          <a:noFill/>
          <a:ln/>
        </p:spPr>
        <p:txBody>
          <a:bodyPr wrap="square" lIns="25400" tIns="25400" rIns="25400" bIns="25400" rtlCol="0" anchor="t">
            <a:normAutofit/>
          </a:bodyPr>
          <a:lstStyle/>
          <a:p>
            <a:pPr algn="l" indent="0" marL="0">
              <a:buNone/>
            </a:pPr>
            <a:r>
              <a:rPr lang="en-US" sz="1650" b="1" spc="66" kern="0" dirty="0">
                <a:solidFill>
                  <a:srgbClr val="FF3355"/>
                </a:solidFill>
                <a:latin typeface="Arial" pitchFamily="34" charset="0"/>
                <a:ea typeface="Arial" pitchFamily="34" charset="-122"/>
                <a:cs typeface="Arial" pitchFamily="34" charset="-120"/>
              </a:rPr>
              <a:t>PROTOCOL 03</a:t>
            </a:r>
            <a:endParaRPr lang="en-US" sz="1650" dirty="0"/>
          </a:p>
        </p:txBody>
      </p:sp>
      <p:sp>
        <p:nvSpPr>
          <p:cNvPr id="11" name="Text 9"/>
          <p:cNvSpPr/>
          <p:nvPr/>
        </p:nvSpPr>
        <p:spPr>
          <a:xfrm>
            <a:off x="12115800" y="8301990"/>
            <a:ext cx="5494020" cy="1032510"/>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0E0E0E"/>
                </a:solidFill>
                <a:latin typeface="Arial" pitchFamily="34" charset="0"/>
                <a:ea typeface="Arial" pitchFamily="34" charset="-122"/>
                <a:cs typeface="Arial" pitchFamily="34" charset="-120"/>
              </a:rPr>
              <a:t>Where output is unusually fluent, treat fluency as a warning signal. Request sources and the strongest counter-position.</a:t>
            </a:r>
            <a:endParaRPr lang="en-US" sz="1800" dirty="0"/>
          </a:p>
        </p:txBody>
      </p:sp>
      <p:sp>
        <p:nvSpPr>
          <p:cNvPr id="12" name="Text 10"/>
          <p:cNvSpPr/>
          <p:nvPr/>
        </p:nvSpPr>
        <p:spPr>
          <a:xfrm>
            <a:off x="838200" y="9643110"/>
            <a:ext cx="6658556"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0E0E0E">
                    <a:alpha val="70000"/>
                  </a:srgbClr>
                </a:solidFill>
                <a:latin typeface="Arial" pitchFamily="34" charset="0"/>
                <a:ea typeface="Arial" pitchFamily="34" charset="-122"/>
                <a:cs typeface="Arial" pitchFamily="34" charset="-120"/>
              </a:rPr>
              <a:t>THE OPERATOR IS THE FINAL LAYER OF VALIDATION</a:t>
            </a:r>
            <a:endParaRPr lang="en-US" sz="1800" dirty="0"/>
          </a:p>
        </p:txBody>
      </p:sp>
      <p:sp>
        <p:nvSpPr>
          <p:cNvPr id="13" name="Text 11"/>
          <p:cNvSpPr/>
          <p:nvPr/>
        </p:nvSpPr>
        <p:spPr>
          <a:xfrm>
            <a:off x="16422410" y="9563100"/>
            <a:ext cx="1103590"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0E0E0E">
                    <a:alpha val="70000"/>
                  </a:srgbClr>
                </a:solidFill>
                <a:latin typeface="Arial" pitchFamily="34" charset="0"/>
                <a:ea typeface="Arial" pitchFamily="34" charset="-122"/>
                <a:cs typeface="Arial" pitchFamily="34" charset="-120"/>
              </a:rPr>
              <a:t>22 / 25</a:t>
            </a:r>
            <a:endParaRPr lang="en-US" sz="2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FE8"/>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3554075" y="327660"/>
            <a:ext cx="4012597"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OPERATOR DISCIPLINE · 02 / 02</a:t>
            </a:r>
            <a:endParaRPr lang="en-US" sz="1800" dirty="0"/>
          </a:p>
        </p:txBody>
      </p:sp>
      <p:sp>
        <p:nvSpPr>
          <p:cNvPr id="5" name="Text 3"/>
          <p:cNvSpPr/>
          <p:nvPr/>
        </p:nvSpPr>
        <p:spPr>
          <a:xfrm>
            <a:off x="838200" y="1333500"/>
            <a:ext cx="17109948" cy="342900"/>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5B1F"/>
                </a:solidFill>
                <a:latin typeface="Arial" pitchFamily="34" charset="0"/>
                <a:ea typeface="Arial" pitchFamily="34" charset="-122"/>
                <a:cs typeface="Arial" pitchFamily="34" charset="-120"/>
              </a:rPr>
              <a:t>THE BOUNDARY CONDITION</a:t>
            </a:r>
            <a:endParaRPr lang="en-US" sz="1800" dirty="0"/>
          </a:p>
        </p:txBody>
      </p:sp>
      <p:sp>
        <p:nvSpPr>
          <p:cNvPr id="6" name="Text 4"/>
          <p:cNvSpPr/>
          <p:nvPr/>
        </p:nvSpPr>
        <p:spPr>
          <a:xfrm>
            <a:off x="838200" y="1866900"/>
            <a:ext cx="17109948" cy="1280160"/>
          </a:xfrm>
          <a:prstGeom prst="rect">
            <a:avLst/>
          </a:prstGeom>
          <a:noFill/>
          <a:ln/>
        </p:spPr>
        <p:txBody>
          <a:bodyPr wrap="square" lIns="25400" tIns="25400" rIns="25400" bIns="25400" rtlCol="0" anchor="t">
            <a:normAutofit/>
          </a:bodyPr>
          <a:lstStyle/>
          <a:p>
            <a:pPr algn="l" indent="0" marL="0">
              <a:lnSpc>
                <a:spcPct val="92000"/>
              </a:lnSpc>
              <a:buNone/>
            </a:pPr>
            <a:r>
              <a:rPr lang="en-US" sz="10500" spc="-315" kern="0" dirty="0">
                <a:solidFill>
                  <a:srgbClr val="0E0E0E"/>
                </a:solidFill>
                <a:latin typeface="Arial" pitchFamily="34" charset="0"/>
                <a:ea typeface="Arial" pitchFamily="34" charset="-122"/>
                <a:cs typeface="Arial" pitchFamily="34" charset="-120"/>
              </a:rPr>
              <a:t>AI </a:t>
            </a:r>
            <a:pPr algn="l" indent="0" marL="0">
              <a:lnSpc>
                <a:spcPct val="92000"/>
              </a:lnSpc>
              <a:buNone/>
            </a:pPr>
            <a:r>
              <a:rPr lang="en-US" sz="10500" i="1" spc="-315" kern="0" dirty="0">
                <a:solidFill>
                  <a:srgbClr val="0E0E0E"/>
                </a:solidFill>
                <a:latin typeface="Arial" pitchFamily="34" charset="0"/>
                <a:ea typeface="Arial" pitchFamily="34" charset="-122"/>
                <a:cs typeface="Arial" pitchFamily="34" charset="-120"/>
              </a:rPr>
              <a:t>does not </a:t>
            </a:r>
            <a:pPr algn="l" indent="0" marL="0">
              <a:lnSpc>
                <a:spcPct val="92000"/>
              </a:lnSpc>
              <a:buNone/>
            </a:pPr>
            <a:r>
              <a:rPr lang="en-US" sz="10500" spc="-315" kern="0" dirty="0">
                <a:solidFill>
                  <a:srgbClr val="0E0E0E"/>
                </a:solidFill>
                <a:latin typeface="Arial" pitchFamily="34" charset="0"/>
                <a:ea typeface="Arial" pitchFamily="34" charset="-122"/>
                <a:cs typeface="Arial" pitchFamily="34" charset="-120"/>
              </a:rPr>
              <a:t>adjudicate.</a:t>
            </a:r>
            <a:endParaRPr lang="en-US" sz="10500" dirty="0"/>
          </a:p>
        </p:txBody>
      </p:sp>
      <p:sp>
        <p:nvSpPr>
          <p:cNvPr id="7" name="Shape 5"/>
          <p:cNvSpPr/>
          <p:nvPr/>
        </p:nvSpPr>
        <p:spPr>
          <a:xfrm>
            <a:off x="838200" y="3680460"/>
            <a:ext cx="5346621" cy="2646045"/>
          </a:xfrm>
          <a:prstGeom prst="rect">
            <a:avLst/>
          </a:prstGeom>
          <a:ln w="15240">
            <a:solidFill>
              <a:srgbClr val="0E0E0E"/>
            </a:solidFill>
            <a:prstDash val="solid"/>
          </a:ln>
        </p:spPr>
      </p:sp>
      <p:sp>
        <p:nvSpPr>
          <p:cNvPr id="8" name="Text 6"/>
          <p:cNvSpPr/>
          <p:nvPr/>
        </p:nvSpPr>
        <p:spPr>
          <a:xfrm>
            <a:off x="1139190" y="3981450"/>
            <a:ext cx="4886980" cy="266700"/>
          </a:xfrm>
          <a:prstGeom prst="rect">
            <a:avLst/>
          </a:prstGeom>
          <a:noFill/>
          <a:ln/>
        </p:spPr>
        <p:txBody>
          <a:bodyPr wrap="square" lIns="25400" tIns="25400" rIns="25400" bIns="25400" rtlCol="0" anchor="t">
            <a:normAutofit/>
          </a:bodyPr>
          <a:lstStyle/>
          <a:p>
            <a:pPr algn="l" indent="0" marL="0">
              <a:buNone/>
            </a:pPr>
            <a:r>
              <a:rPr lang="en-US" sz="1350" spc="243" kern="0" dirty="0">
                <a:solidFill>
                  <a:srgbClr val="FF5B1F"/>
                </a:solidFill>
                <a:latin typeface="Arial" pitchFamily="34" charset="0"/>
                <a:ea typeface="Arial" pitchFamily="34" charset="-122"/>
                <a:cs typeface="Arial" pitchFamily="34" charset="-120"/>
              </a:rPr>
              <a:t>USE THE MODEL TO</a:t>
            </a:r>
            <a:endParaRPr lang="en-US" sz="1350" dirty="0"/>
          </a:p>
        </p:txBody>
      </p:sp>
      <p:sp>
        <p:nvSpPr>
          <p:cNvPr id="9" name="Text 7"/>
          <p:cNvSpPr/>
          <p:nvPr/>
        </p:nvSpPr>
        <p:spPr>
          <a:xfrm>
            <a:off x="1139190" y="4324350"/>
            <a:ext cx="4886980" cy="373380"/>
          </a:xfrm>
          <a:prstGeom prst="rect">
            <a:avLst/>
          </a:prstGeom>
          <a:noFill/>
          <a:ln/>
        </p:spPr>
        <p:txBody>
          <a:bodyPr wrap="square" lIns="25400" tIns="25400" rIns="25400" bIns="25400" rtlCol="0" anchor="t">
            <a:normAutofit/>
          </a:bodyPr>
          <a:lstStyle/>
          <a:p>
            <a:pPr algn="l" indent="0" marL="0">
              <a:lnSpc>
                <a:spcPct val="110000"/>
              </a:lnSpc>
              <a:buNone/>
            </a:pPr>
            <a:r>
              <a:rPr lang="en-US" sz="2400" dirty="0">
                <a:solidFill>
                  <a:srgbClr val="0E0E0E"/>
                </a:solidFill>
                <a:latin typeface="Arial" pitchFamily="34" charset="0"/>
                <a:ea typeface="Arial" pitchFamily="34" charset="-122"/>
                <a:cs typeface="Arial" pitchFamily="34" charset="-120"/>
              </a:rPr>
              <a:t>Compose your essay.</a:t>
            </a:r>
            <a:endParaRPr lang="en-US" sz="2400" dirty="0"/>
          </a:p>
        </p:txBody>
      </p:sp>
      <p:sp>
        <p:nvSpPr>
          <p:cNvPr id="10" name="Text 8"/>
          <p:cNvSpPr/>
          <p:nvPr/>
        </p:nvSpPr>
        <p:spPr>
          <a:xfrm>
            <a:off x="1139190" y="5193030"/>
            <a:ext cx="4886980" cy="266700"/>
          </a:xfrm>
          <a:prstGeom prst="rect">
            <a:avLst/>
          </a:prstGeom>
          <a:noFill/>
          <a:ln/>
        </p:spPr>
        <p:txBody>
          <a:bodyPr wrap="square" lIns="25400" tIns="25400" rIns="25400" bIns="25400" rtlCol="0" anchor="t">
            <a:normAutofit/>
          </a:bodyPr>
          <a:lstStyle/>
          <a:p>
            <a:pPr algn="l" indent="0" marL="0">
              <a:buNone/>
            </a:pPr>
            <a:r>
              <a:rPr lang="en-US" sz="1350" b="1" spc="54" kern="0" dirty="0">
                <a:solidFill>
                  <a:srgbClr val="FF3355"/>
                </a:solidFill>
                <a:latin typeface="Arial" pitchFamily="34" charset="0"/>
                <a:ea typeface="Arial" pitchFamily="34" charset="-122"/>
                <a:cs typeface="Arial" pitchFamily="34" charset="-120"/>
              </a:rPr>
              <a:t>DO NOT USE IT TO</a:t>
            </a:r>
            <a:endParaRPr lang="en-US" sz="1350" dirty="0"/>
          </a:p>
        </p:txBody>
      </p:sp>
      <p:sp>
        <p:nvSpPr>
          <p:cNvPr id="11" name="Text 9"/>
          <p:cNvSpPr/>
          <p:nvPr/>
        </p:nvSpPr>
        <p:spPr>
          <a:xfrm>
            <a:off x="1139190" y="5497830"/>
            <a:ext cx="4886980" cy="318135"/>
          </a:xfrm>
          <a:prstGeom prst="rect">
            <a:avLst/>
          </a:prstGeom>
          <a:noFill/>
          <a:ln/>
        </p:spPr>
        <p:txBody>
          <a:bodyPr wrap="square" lIns="25400" tIns="25400" rIns="25400" bIns="25400" rtlCol="0" anchor="t">
            <a:normAutofit/>
          </a:bodyPr>
          <a:lstStyle/>
          <a:p>
            <a:pPr algn="l" indent="0" marL="0">
              <a:lnSpc>
                <a:spcPct val="110000"/>
              </a:lnSpc>
              <a:buNone/>
            </a:pPr>
            <a:r>
              <a:rPr lang="en-US" sz="1950" i="1" dirty="0">
                <a:solidFill>
                  <a:srgbClr val="2A2A2A"/>
                </a:solidFill>
                <a:latin typeface="Arial" pitchFamily="34" charset="0"/>
                <a:ea typeface="Arial" pitchFamily="34" charset="-122"/>
                <a:cs typeface="Arial" pitchFamily="34" charset="-120"/>
              </a:rPr>
              <a:t>Determine your position.</a:t>
            </a:r>
            <a:endParaRPr lang="en-US" sz="1950" dirty="0"/>
          </a:p>
        </p:txBody>
      </p:sp>
      <p:sp>
        <p:nvSpPr>
          <p:cNvPr id="12" name="Shape 10"/>
          <p:cNvSpPr/>
          <p:nvPr/>
        </p:nvSpPr>
        <p:spPr>
          <a:xfrm>
            <a:off x="6470571" y="3680460"/>
            <a:ext cx="5346740" cy="2646045"/>
          </a:xfrm>
          <a:prstGeom prst="rect">
            <a:avLst/>
          </a:prstGeom>
          <a:ln w="15240">
            <a:solidFill>
              <a:srgbClr val="0E0E0E"/>
            </a:solidFill>
            <a:prstDash val="solid"/>
          </a:ln>
        </p:spPr>
      </p:sp>
      <p:sp>
        <p:nvSpPr>
          <p:cNvPr id="13" name="Text 11"/>
          <p:cNvSpPr/>
          <p:nvPr/>
        </p:nvSpPr>
        <p:spPr>
          <a:xfrm>
            <a:off x="6771561" y="3981450"/>
            <a:ext cx="4887103" cy="266700"/>
          </a:xfrm>
          <a:prstGeom prst="rect">
            <a:avLst/>
          </a:prstGeom>
          <a:noFill/>
          <a:ln/>
        </p:spPr>
        <p:txBody>
          <a:bodyPr wrap="square" lIns="25400" tIns="25400" rIns="25400" bIns="25400" rtlCol="0" anchor="t">
            <a:normAutofit/>
          </a:bodyPr>
          <a:lstStyle/>
          <a:p>
            <a:pPr algn="l" indent="0" marL="0">
              <a:buNone/>
            </a:pPr>
            <a:r>
              <a:rPr lang="en-US" sz="1350" spc="243" kern="0" dirty="0">
                <a:solidFill>
                  <a:srgbClr val="FF5B1F"/>
                </a:solidFill>
                <a:latin typeface="Arial" pitchFamily="34" charset="0"/>
                <a:ea typeface="Arial" pitchFamily="34" charset="-122"/>
                <a:cs typeface="Arial" pitchFamily="34" charset="-120"/>
              </a:rPr>
              <a:t>USE THE MODEL TO</a:t>
            </a:r>
            <a:endParaRPr lang="en-US" sz="1350" dirty="0"/>
          </a:p>
        </p:txBody>
      </p:sp>
      <p:sp>
        <p:nvSpPr>
          <p:cNvPr id="14" name="Text 12"/>
          <p:cNvSpPr/>
          <p:nvPr/>
        </p:nvSpPr>
        <p:spPr>
          <a:xfrm>
            <a:off x="6771561" y="4324350"/>
            <a:ext cx="4887103" cy="373380"/>
          </a:xfrm>
          <a:prstGeom prst="rect">
            <a:avLst/>
          </a:prstGeom>
          <a:noFill/>
          <a:ln/>
        </p:spPr>
        <p:txBody>
          <a:bodyPr wrap="square" lIns="25400" tIns="25400" rIns="25400" bIns="25400" rtlCol="0" anchor="t">
            <a:normAutofit/>
          </a:bodyPr>
          <a:lstStyle/>
          <a:p>
            <a:pPr algn="l" indent="0" marL="0">
              <a:lnSpc>
                <a:spcPct val="110000"/>
              </a:lnSpc>
              <a:buNone/>
            </a:pPr>
            <a:r>
              <a:rPr lang="en-US" sz="2400" dirty="0">
                <a:solidFill>
                  <a:srgbClr val="0E0E0E"/>
                </a:solidFill>
                <a:latin typeface="Arial" pitchFamily="34" charset="0"/>
                <a:ea typeface="Arial" pitchFamily="34" charset="-122"/>
                <a:cs typeface="Arial" pitchFamily="34" charset="-120"/>
              </a:rPr>
              <a:t>Debug your code.</a:t>
            </a:r>
            <a:endParaRPr lang="en-US" sz="2400" dirty="0"/>
          </a:p>
        </p:txBody>
      </p:sp>
      <p:sp>
        <p:nvSpPr>
          <p:cNvPr id="15" name="Text 13"/>
          <p:cNvSpPr/>
          <p:nvPr/>
        </p:nvSpPr>
        <p:spPr>
          <a:xfrm>
            <a:off x="6771561" y="5193030"/>
            <a:ext cx="4887103" cy="266700"/>
          </a:xfrm>
          <a:prstGeom prst="rect">
            <a:avLst/>
          </a:prstGeom>
          <a:noFill/>
          <a:ln/>
        </p:spPr>
        <p:txBody>
          <a:bodyPr wrap="square" lIns="25400" tIns="25400" rIns="25400" bIns="25400" rtlCol="0" anchor="t">
            <a:normAutofit/>
          </a:bodyPr>
          <a:lstStyle/>
          <a:p>
            <a:pPr algn="l" indent="0" marL="0">
              <a:buNone/>
            </a:pPr>
            <a:r>
              <a:rPr lang="en-US" sz="1350" b="1" spc="54" kern="0" dirty="0">
                <a:solidFill>
                  <a:srgbClr val="FF3355"/>
                </a:solidFill>
                <a:latin typeface="Arial" pitchFamily="34" charset="0"/>
                <a:ea typeface="Arial" pitchFamily="34" charset="-122"/>
                <a:cs typeface="Arial" pitchFamily="34" charset="-120"/>
              </a:rPr>
              <a:t>DO NOT USE IT TO</a:t>
            </a:r>
            <a:endParaRPr lang="en-US" sz="1350" dirty="0"/>
          </a:p>
        </p:txBody>
      </p:sp>
      <p:sp>
        <p:nvSpPr>
          <p:cNvPr id="16" name="Text 14"/>
          <p:cNvSpPr/>
          <p:nvPr/>
        </p:nvSpPr>
        <p:spPr>
          <a:xfrm>
            <a:off x="6771561" y="5497830"/>
            <a:ext cx="4887103" cy="318135"/>
          </a:xfrm>
          <a:prstGeom prst="rect">
            <a:avLst/>
          </a:prstGeom>
          <a:noFill/>
          <a:ln/>
        </p:spPr>
        <p:txBody>
          <a:bodyPr wrap="square" lIns="25400" tIns="25400" rIns="25400" bIns="25400" rtlCol="0" anchor="t">
            <a:normAutofit/>
          </a:bodyPr>
          <a:lstStyle/>
          <a:p>
            <a:pPr algn="l" indent="0" marL="0">
              <a:lnSpc>
                <a:spcPct val="110000"/>
              </a:lnSpc>
              <a:buNone/>
            </a:pPr>
            <a:r>
              <a:rPr lang="en-US" sz="1950" i="1" dirty="0">
                <a:solidFill>
                  <a:srgbClr val="2A2A2A"/>
                </a:solidFill>
                <a:latin typeface="Arial" pitchFamily="34" charset="0"/>
                <a:ea typeface="Arial" pitchFamily="34" charset="-122"/>
                <a:cs typeface="Arial" pitchFamily="34" charset="-120"/>
              </a:rPr>
              <a:t>Choose your career path.</a:t>
            </a:r>
            <a:endParaRPr lang="en-US" sz="1950" dirty="0"/>
          </a:p>
        </p:txBody>
      </p:sp>
      <p:sp>
        <p:nvSpPr>
          <p:cNvPr id="17" name="Shape 15"/>
          <p:cNvSpPr/>
          <p:nvPr/>
        </p:nvSpPr>
        <p:spPr>
          <a:xfrm>
            <a:off x="12103060" y="3680460"/>
            <a:ext cx="5346740" cy="2646045"/>
          </a:xfrm>
          <a:prstGeom prst="rect">
            <a:avLst/>
          </a:prstGeom>
          <a:ln w="15240">
            <a:solidFill>
              <a:srgbClr val="0E0E0E"/>
            </a:solidFill>
            <a:prstDash val="solid"/>
          </a:ln>
        </p:spPr>
      </p:sp>
      <p:sp>
        <p:nvSpPr>
          <p:cNvPr id="18" name="Text 16"/>
          <p:cNvSpPr/>
          <p:nvPr/>
        </p:nvSpPr>
        <p:spPr>
          <a:xfrm>
            <a:off x="12404051" y="3981450"/>
            <a:ext cx="4887103" cy="266700"/>
          </a:xfrm>
          <a:prstGeom prst="rect">
            <a:avLst/>
          </a:prstGeom>
          <a:noFill/>
          <a:ln/>
        </p:spPr>
        <p:txBody>
          <a:bodyPr wrap="square" lIns="25400" tIns="25400" rIns="25400" bIns="25400" rtlCol="0" anchor="t">
            <a:normAutofit/>
          </a:bodyPr>
          <a:lstStyle/>
          <a:p>
            <a:pPr algn="l" indent="0" marL="0">
              <a:buNone/>
            </a:pPr>
            <a:r>
              <a:rPr lang="en-US" sz="1350" spc="243" kern="0" dirty="0">
                <a:solidFill>
                  <a:srgbClr val="FF5B1F"/>
                </a:solidFill>
                <a:latin typeface="Arial" pitchFamily="34" charset="0"/>
                <a:ea typeface="Arial" pitchFamily="34" charset="-122"/>
                <a:cs typeface="Arial" pitchFamily="34" charset="-120"/>
              </a:rPr>
              <a:t>USE THE MODEL TO</a:t>
            </a:r>
            <a:endParaRPr lang="en-US" sz="1350" dirty="0"/>
          </a:p>
        </p:txBody>
      </p:sp>
      <p:sp>
        <p:nvSpPr>
          <p:cNvPr id="19" name="Text 17"/>
          <p:cNvSpPr/>
          <p:nvPr/>
        </p:nvSpPr>
        <p:spPr>
          <a:xfrm>
            <a:off x="12404051" y="4324350"/>
            <a:ext cx="4887103" cy="373380"/>
          </a:xfrm>
          <a:prstGeom prst="rect">
            <a:avLst/>
          </a:prstGeom>
          <a:noFill/>
          <a:ln/>
        </p:spPr>
        <p:txBody>
          <a:bodyPr wrap="square" lIns="25400" tIns="25400" rIns="25400" bIns="25400" rtlCol="0" anchor="t">
            <a:normAutofit/>
          </a:bodyPr>
          <a:lstStyle/>
          <a:p>
            <a:pPr algn="l" indent="0" marL="0">
              <a:lnSpc>
                <a:spcPct val="110000"/>
              </a:lnSpc>
              <a:buNone/>
            </a:pPr>
            <a:r>
              <a:rPr lang="en-US" sz="2400" dirty="0">
                <a:solidFill>
                  <a:srgbClr val="0E0E0E"/>
                </a:solidFill>
                <a:latin typeface="Arial" pitchFamily="34" charset="0"/>
                <a:ea typeface="Arial" pitchFamily="34" charset="-122"/>
                <a:cs typeface="Arial" pitchFamily="34" charset="-120"/>
              </a:rPr>
              <a:t>Construct a business plan.</a:t>
            </a:r>
            <a:endParaRPr lang="en-US" sz="2400" dirty="0"/>
          </a:p>
        </p:txBody>
      </p:sp>
      <p:sp>
        <p:nvSpPr>
          <p:cNvPr id="20" name="Text 18"/>
          <p:cNvSpPr/>
          <p:nvPr/>
        </p:nvSpPr>
        <p:spPr>
          <a:xfrm>
            <a:off x="12404051" y="5193030"/>
            <a:ext cx="4887103" cy="266700"/>
          </a:xfrm>
          <a:prstGeom prst="rect">
            <a:avLst/>
          </a:prstGeom>
          <a:noFill/>
          <a:ln/>
        </p:spPr>
        <p:txBody>
          <a:bodyPr wrap="square" lIns="25400" tIns="25400" rIns="25400" bIns="25400" rtlCol="0" anchor="t">
            <a:normAutofit/>
          </a:bodyPr>
          <a:lstStyle/>
          <a:p>
            <a:pPr algn="l" indent="0" marL="0">
              <a:buNone/>
            </a:pPr>
            <a:r>
              <a:rPr lang="en-US" sz="1350" b="1" spc="54" kern="0" dirty="0">
                <a:solidFill>
                  <a:srgbClr val="FF3355"/>
                </a:solidFill>
                <a:latin typeface="Arial" pitchFamily="34" charset="0"/>
                <a:ea typeface="Arial" pitchFamily="34" charset="-122"/>
                <a:cs typeface="Arial" pitchFamily="34" charset="-120"/>
              </a:rPr>
              <a:t>DO NOT USE IT TO</a:t>
            </a:r>
            <a:endParaRPr lang="en-US" sz="1350" dirty="0"/>
          </a:p>
        </p:txBody>
      </p:sp>
      <p:sp>
        <p:nvSpPr>
          <p:cNvPr id="21" name="Text 19"/>
          <p:cNvSpPr/>
          <p:nvPr/>
        </p:nvSpPr>
        <p:spPr>
          <a:xfrm>
            <a:off x="12404051" y="5497830"/>
            <a:ext cx="4887103" cy="318135"/>
          </a:xfrm>
          <a:prstGeom prst="rect">
            <a:avLst/>
          </a:prstGeom>
          <a:noFill/>
          <a:ln/>
        </p:spPr>
        <p:txBody>
          <a:bodyPr wrap="square" lIns="25400" tIns="25400" rIns="25400" bIns="25400" rtlCol="0" anchor="t">
            <a:normAutofit/>
          </a:bodyPr>
          <a:lstStyle/>
          <a:p>
            <a:pPr algn="l" indent="0" marL="0">
              <a:lnSpc>
                <a:spcPct val="110000"/>
              </a:lnSpc>
              <a:buNone/>
            </a:pPr>
            <a:r>
              <a:rPr lang="en-US" sz="1950" i="1" dirty="0">
                <a:solidFill>
                  <a:srgbClr val="2A2A2A"/>
                </a:solidFill>
                <a:latin typeface="Arial" pitchFamily="34" charset="0"/>
                <a:ea typeface="Arial" pitchFamily="34" charset="-122"/>
                <a:cs typeface="Arial" pitchFamily="34" charset="-120"/>
              </a:rPr>
              <a:t>Determine whether to pursue it.</a:t>
            </a:r>
            <a:endParaRPr lang="en-US" sz="1950" dirty="0"/>
          </a:p>
        </p:txBody>
      </p:sp>
      <p:sp>
        <p:nvSpPr>
          <p:cNvPr id="22" name="Text 20"/>
          <p:cNvSpPr/>
          <p:nvPr/>
        </p:nvSpPr>
        <p:spPr>
          <a:xfrm>
            <a:off x="838200" y="9168765"/>
            <a:ext cx="14716125" cy="394335"/>
          </a:xfrm>
          <a:prstGeom prst="rect">
            <a:avLst/>
          </a:prstGeom>
          <a:noFill/>
          <a:ln/>
        </p:spPr>
        <p:txBody>
          <a:bodyPr wrap="square" lIns="25400" tIns="25400" rIns="25400" bIns="25400" rtlCol="0" anchor="t">
            <a:normAutofit/>
          </a:bodyPr>
          <a:lstStyle/>
          <a:p>
            <a:pPr algn="l" indent="0" marL="0">
              <a:lnSpc>
                <a:spcPct val="110000"/>
              </a:lnSpc>
              <a:buNone/>
            </a:pPr>
            <a:r>
              <a:rPr lang="en-US" sz="2550" i="1" spc="-25" kern="0" dirty="0">
                <a:solidFill>
                  <a:srgbClr val="0E0E0E"/>
                </a:solidFill>
                <a:latin typeface="Arial" pitchFamily="34" charset="0"/>
                <a:ea typeface="Arial" pitchFamily="34" charset="-122"/>
                <a:cs typeface="Arial" pitchFamily="34" charset="-120"/>
              </a:rPr>
              <a:t>The function of judgment is not delegable. When it is delegated, the operator role has been forfeited.</a:t>
            </a:r>
            <a:endParaRPr lang="en-US" sz="2550" dirty="0"/>
          </a:p>
        </p:txBody>
      </p:sp>
      <p:sp>
        <p:nvSpPr>
          <p:cNvPr id="23" name="Text 21"/>
          <p:cNvSpPr/>
          <p:nvPr/>
        </p:nvSpPr>
        <p:spPr>
          <a:xfrm>
            <a:off x="838200" y="9643110"/>
            <a:ext cx="8216503"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888076"/>
                </a:solidFill>
                <a:latin typeface="Arial" pitchFamily="34" charset="0"/>
                <a:ea typeface="Arial" pitchFamily="34" charset="-122"/>
                <a:cs typeface="Arial" pitchFamily="34" charset="-120"/>
              </a:rPr>
              <a:t>JUDGMENT, IDENTITY, COMMITMENT · THE OPERATOR'S DOMAIN</a:t>
            </a:r>
            <a:endParaRPr lang="en-US" sz="1800" dirty="0"/>
          </a:p>
        </p:txBody>
      </p:sp>
      <p:sp>
        <p:nvSpPr>
          <p:cNvPr id="24" name="Text 22"/>
          <p:cNvSpPr/>
          <p:nvPr/>
        </p:nvSpPr>
        <p:spPr>
          <a:xfrm>
            <a:off x="16438841" y="9563100"/>
            <a:ext cx="1087160"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888076"/>
                </a:solidFill>
                <a:latin typeface="Arial" pitchFamily="34" charset="0"/>
                <a:ea typeface="Arial" pitchFamily="34" charset="-122"/>
                <a:cs typeface="Arial" pitchFamily="34" charset="-120"/>
              </a:rPr>
              <a:t>23 / 25</a:t>
            </a:r>
            <a:endParaRPr lang="en-US" sz="2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0E0E"/>
        </a:solidFill>
      </p:bgPr>
    </p:bg>
    <p:spTree>
      <p:nvGrpSpPr>
        <p:cNvPr id="1" name=""/>
        <p:cNvGrpSpPr/>
        <p:nvPr/>
      </p:nvGrpSpPr>
      <p:grpSpPr>
        <a:xfrm>
          <a:off x="0" y="0"/>
          <a:ext cx="0" cy="0"/>
          <a:chOff x="0" y="0"/>
          <a:chExt cx="0" cy="0"/>
        </a:xfrm>
      </p:grpSpPr>
      <p:sp>
        <p:nvSpPr>
          <p:cNvPr id="2" name="Shape 0"/>
          <p:cNvSpPr/>
          <p:nvPr/>
        </p:nvSpPr>
        <p:spPr>
          <a:xfrm>
            <a:off x="838200" y="400050"/>
            <a:ext cx="114300" cy="114300"/>
          </a:xfrm>
          <a:prstGeom prst="rect">
            <a:avLst/>
          </a:prstGeom>
          <a:solidFill>
            <a:srgbClr val="FF5B1F"/>
          </a:solidFill>
          <a:ln/>
        </p:spPr>
      </p:sp>
      <p:sp>
        <p:nvSpPr>
          <p:cNvPr id="3" name="Text 1"/>
          <p:cNvSpPr/>
          <p:nvPr/>
        </p:nvSpPr>
        <p:spPr>
          <a:xfrm>
            <a:off x="1066800" y="304800"/>
            <a:ext cx="2490311" cy="342900"/>
          </a:xfrm>
          <a:prstGeom prst="rect">
            <a:avLst/>
          </a:prstGeom>
          <a:noFill/>
          <a:ln/>
        </p:spPr>
        <p:txBody>
          <a:bodyPr wrap="square" lIns="0" tIns="0" rIns="0" bIns="0" rtlCol="0" anchor="t">
            <a:normAutofit/>
          </a:bodyPr>
          <a:lstStyle/>
          <a:p>
            <a:pPr algn="l" indent="0" marL="0">
              <a:buNone/>
            </a:pPr>
            <a:r>
              <a:rPr lang="en-US" sz="1800" spc="108" kern="0" dirty="0">
                <a:solidFill>
                  <a:srgbClr val="F2EFE8">
                    <a:alpha val="55000"/>
                  </a:srgbClr>
                </a:solidFill>
                <a:latin typeface="Arial" pitchFamily="34" charset="0"/>
                <a:ea typeface="Arial" pitchFamily="34" charset="-122"/>
                <a:cs typeface="Arial" pitchFamily="34" charset="-120"/>
              </a:rPr>
              <a:t>AI FOR REAL LIFE</a:t>
            </a:r>
            <a:endParaRPr lang="en-US" sz="1800" dirty="0"/>
          </a:p>
        </p:txBody>
      </p:sp>
      <p:sp>
        <p:nvSpPr>
          <p:cNvPr id="4" name="Text 2"/>
          <p:cNvSpPr/>
          <p:nvPr/>
        </p:nvSpPr>
        <p:spPr>
          <a:xfrm>
            <a:off x="13293566" y="327660"/>
            <a:ext cx="4280921"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F2EFE8">
                    <a:alpha val="55000"/>
                  </a:srgbClr>
                </a:solidFill>
                <a:latin typeface="Arial" pitchFamily="34" charset="0"/>
                <a:ea typeface="Arial" pitchFamily="34" charset="-122"/>
                <a:cs typeface="Arial" pitchFamily="34" charset="-120"/>
              </a:rPr>
              <a:t>EPILOGUE · SIX-MONTH HORIZON</a:t>
            </a:r>
            <a:endParaRPr lang="en-US" sz="1800" dirty="0"/>
          </a:p>
        </p:txBody>
      </p:sp>
      <p:sp>
        <p:nvSpPr>
          <p:cNvPr id="5" name="Text 3"/>
          <p:cNvSpPr/>
          <p:nvPr/>
        </p:nvSpPr>
        <p:spPr>
          <a:xfrm>
            <a:off x="838200" y="1333500"/>
            <a:ext cx="17109948" cy="342900"/>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5B1F"/>
                </a:solidFill>
                <a:latin typeface="Arial" pitchFamily="34" charset="0"/>
                <a:ea typeface="Arial" pitchFamily="34" charset="-122"/>
                <a:cs typeface="Arial" pitchFamily="34" charset="-120"/>
              </a:rPr>
              <a:t>IDENTICAL INSTITUTION. IDENTICAL DEGREE. IDENTICAL ACCESS TO IDENTICAL TOOLS.</a:t>
            </a:r>
            <a:endParaRPr lang="en-US" sz="1800" dirty="0"/>
          </a:p>
        </p:txBody>
      </p:sp>
      <p:sp>
        <p:nvSpPr>
          <p:cNvPr id="6" name="Text 4"/>
          <p:cNvSpPr/>
          <p:nvPr/>
        </p:nvSpPr>
        <p:spPr>
          <a:xfrm>
            <a:off x="838200" y="1866900"/>
            <a:ext cx="17109948" cy="1280160"/>
          </a:xfrm>
          <a:prstGeom prst="rect">
            <a:avLst/>
          </a:prstGeom>
          <a:noFill/>
          <a:ln/>
        </p:spPr>
        <p:txBody>
          <a:bodyPr wrap="square" lIns="25400" tIns="25400" rIns="25400" bIns="25400" rtlCol="0" anchor="t">
            <a:normAutofit/>
          </a:bodyPr>
          <a:lstStyle/>
          <a:p>
            <a:pPr algn="l" indent="0" marL="0">
              <a:lnSpc>
                <a:spcPct val="92000"/>
              </a:lnSpc>
              <a:buNone/>
            </a:pPr>
            <a:r>
              <a:rPr lang="en-US" sz="10500" spc="-315" kern="0" dirty="0">
                <a:solidFill>
                  <a:srgbClr val="F2EFE8"/>
                </a:solidFill>
                <a:latin typeface="Arial" pitchFamily="34" charset="0"/>
                <a:ea typeface="Arial" pitchFamily="34" charset="-122"/>
                <a:cs typeface="Arial" pitchFamily="34" charset="-120"/>
              </a:rPr>
              <a:t>Six months </a:t>
            </a:r>
            <a:pPr algn="l" indent="0" marL="0">
              <a:lnSpc>
                <a:spcPct val="92000"/>
              </a:lnSpc>
              <a:buNone/>
            </a:pPr>
            <a:r>
              <a:rPr lang="en-US" sz="10500" i="1" spc="-315" kern="0" dirty="0">
                <a:solidFill>
                  <a:srgbClr val="FF5B1F"/>
                </a:solidFill>
                <a:latin typeface="Arial" pitchFamily="34" charset="0"/>
                <a:ea typeface="Arial" pitchFamily="34" charset="-122"/>
                <a:cs typeface="Arial" pitchFamily="34" charset="-120"/>
              </a:rPr>
              <a:t>on.</a:t>
            </a:r>
            <a:endParaRPr lang="en-US" sz="10500" dirty="0"/>
          </a:p>
        </p:txBody>
      </p:sp>
      <p:sp>
        <p:nvSpPr>
          <p:cNvPr id="7" name="Shape 5"/>
          <p:cNvSpPr/>
          <p:nvPr/>
        </p:nvSpPr>
        <p:spPr>
          <a:xfrm>
            <a:off x="838200" y="3680460"/>
            <a:ext cx="16611600" cy="4655820"/>
          </a:xfrm>
          <a:prstGeom prst="rect">
            <a:avLst/>
          </a:prstGeom>
          <a:ln w="15240">
            <a:solidFill>
              <a:srgbClr val="F2EFE8">
                <a:alpha val="40000"/>
              </a:srgbClr>
            </a:solidFill>
            <a:prstDash val="solid"/>
          </a:ln>
        </p:spPr>
      </p:sp>
      <p:sp>
        <p:nvSpPr>
          <p:cNvPr id="8" name="Shape 6"/>
          <p:cNvSpPr/>
          <p:nvPr/>
        </p:nvSpPr>
        <p:spPr>
          <a:xfrm>
            <a:off x="853440" y="3695700"/>
            <a:ext cx="8290560" cy="4625340"/>
          </a:xfrm>
          <a:prstGeom prst="rect">
            <a:avLst/>
          </a:prstGeom>
          <a:solidFill>
            <a:srgbClr val="F2EFE8">
              <a:alpha val="4000"/>
            </a:srgbClr>
          </a:solidFill>
          <a:ln/>
        </p:spPr>
      </p:sp>
      <p:sp>
        <p:nvSpPr>
          <p:cNvPr id="9" name="Text 7"/>
          <p:cNvSpPr/>
          <p:nvPr/>
        </p:nvSpPr>
        <p:spPr>
          <a:xfrm>
            <a:off x="1196340" y="4000500"/>
            <a:ext cx="7832903" cy="297180"/>
          </a:xfrm>
          <a:prstGeom prst="rect">
            <a:avLst/>
          </a:prstGeom>
          <a:noFill/>
          <a:ln/>
        </p:spPr>
        <p:txBody>
          <a:bodyPr wrap="square" lIns="25400" tIns="25400" rIns="25400" bIns="25400" rtlCol="0" anchor="t">
            <a:normAutofit/>
          </a:bodyPr>
          <a:lstStyle/>
          <a:p>
            <a:pPr algn="l" indent="0" marL="0">
              <a:buNone/>
            </a:pPr>
            <a:r>
              <a:rPr lang="en-US" sz="1800" spc="180" kern="0" dirty="0">
                <a:solidFill>
                  <a:srgbClr val="FF3355"/>
                </a:solidFill>
                <a:latin typeface="Arial" pitchFamily="34" charset="0"/>
                <a:ea typeface="Arial" pitchFamily="34" charset="-122"/>
                <a:cs typeface="Arial" pitchFamily="34" charset="-120"/>
              </a:rPr>
              <a:t>▼ PASSIVE USE · CONTROL CASE</a:t>
            </a:r>
            <a:endParaRPr lang="en-US" sz="1800" dirty="0"/>
          </a:p>
        </p:txBody>
      </p:sp>
      <p:sp>
        <p:nvSpPr>
          <p:cNvPr id="10" name="Text 8"/>
          <p:cNvSpPr/>
          <p:nvPr/>
        </p:nvSpPr>
        <p:spPr>
          <a:xfrm>
            <a:off x="1196340" y="4392930"/>
            <a:ext cx="7832903" cy="925830"/>
          </a:xfrm>
          <a:prstGeom prst="rect">
            <a:avLst/>
          </a:prstGeom>
          <a:noFill/>
          <a:ln/>
        </p:spPr>
        <p:txBody>
          <a:bodyPr wrap="square" lIns="25400" tIns="25400" rIns="25400" bIns="25400" rtlCol="0" anchor="t">
            <a:normAutofit/>
          </a:bodyPr>
          <a:lstStyle/>
          <a:p>
            <a:pPr algn="l" indent="0" marL="0">
              <a:lnSpc>
                <a:spcPct val="105000"/>
              </a:lnSpc>
              <a:buNone/>
            </a:pPr>
            <a:r>
              <a:rPr lang="en-US" sz="3300" spc="-66" kern="0" dirty="0">
                <a:solidFill>
                  <a:srgbClr val="F2EFE8"/>
                </a:solidFill>
                <a:latin typeface="Arial" pitchFamily="34" charset="0"/>
                <a:ea typeface="Arial" pitchFamily="34" charset="-122"/>
                <a:cs typeface="Arial" pitchFamily="34" charset="-120"/>
              </a:rPr>
              <a:t>Can prompt. </a:t>
            </a:r>
            <a:pPr algn="l" indent="0" marL="0">
              <a:lnSpc>
                <a:spcPct val="105000"/>
              </a:lnSpc>
              <a:buNone/>
            </a:pPr>
            <a:r>
              <a:rPr lang="en-US" sz="3300" i="1" spc="-66" kern="0" dirty="0">
                <a:solidFill>
                  <a:srgbClr val="F2EFE8">
                    <a:alpha val="60000"/>
                  </a:srgbClr>
                </a:solidFill>
                <a:latin typeface="Arial" pitchFamily="34" charset="0"/>
                <a:ea typeface="Arial" pitchFamily="34" charset="-122"/>
                <a:cs typeface="Arial" pitchFamily="34" charset="-120"/>
              </a:rPr>
              <a:t>Cannot reason without one.</a:t>
            </a:r>
            <a:endParaRPr lang="en-US" sz="3300" dirty="0"/>
          </a:p>
        </p:txBody>
      </p:sp>
      <p:sp>
        <p:nvSpPr>
          <p:cNvPr id="11" name="Text 9"/>
          <p:cNvSpPr/>
          <p:nvPr/>
        </p:nvSpPr>
        <p:spPr>
          <a:xfrm>
            <a:off x="1196340" y="5414010"/>
            <a:ext cx="7832903" cy="949643"/>
          </a:xfrm>
          <a:prstGeom prst="rect">
            <a:avLst/>
          </a:prstGeom>
          <a:noFill/>
          <a:ln/>
        </p:spPr>
        <p:txBody>
          <a:bodyPr wrap="square" lIns="25400" tIns="25400" rIns="25400" bIns="25400" rtlCol="0" anchor="t">
            <a:normAutofit/>
          </a:bodyPr>
          <a:lstStyle/>
          <a:p>
            <a:pPr algn="l" indent="0" marL="0">
              <a:lnSpc>
                <a:spcPct val="145000"/>
              </a:lnSpc>
              <a:buNone/>
            </a:pPr>
            <a:r>
              <a:rPr lang="en-US" sz="1650" dirty="0">
                <a:solidFill>
                  <a:srgbClr val="F2EFE8">
                    <a:alpha val="78000"/>
                  </a:srgbClr>
                </a:solidFill>
                <a:latin typeface="Arial" pitchFamily="34" charset="0"/>
                <a:ea typeface="Arial" pitchFamily="34" charset="-122"/>
                <a:cs typeface="Arial" pitchFamily="34" charset="-120"/>
              </a:rPr>
              <a:t>Capstone defence compromised by fabricated citations. Technical assessment failure on basic debugging. Comprehension debt is invisible until performance is required without the prompt interface. </a:t>
            </a:r>
            <a:pPr algn="l" indent="0" marL="0">
              <a:lnSpc>
                <a:spcPct val="145000"/>
              </a:lnSpc>
              <a:buNone/>
            </a:pPr>
            <a:r>
              <a:rPr lang="en-US" sz="1650" b="1" dirty="0">
                <a:solidFill>
                  <a:srgbClr val="F2EFE8"/>
                </a:solidFill>
                <a:latin typeface="Arial" pitchFamily="34" charset="0"/>
                <a:ea typeface="Arial" pitchFamily="34" charset="-122"/>
                <a:cs typeface="Arial" pitchFamily="34" charset="-120"/>
              </a:rPr>
              <a:t>Employment outcome: pending.</a:t>
            </a:r>
            <a:endParaRPr lang="en-US" sz="1650" dirty="0"/>
          </a:p>
        </p:txBody>
      </p:sp>
      <p:sp>
        <p:nvSpPr>
          <p:cNvPr id="12" name="Shape 10"/>
          <p:cNvSpPr/>
          <p:nvPr/>
        </p:nvSpPr>
        <p:spPr>
          <a:xfrm>
            <a:off x="9144000" y="3695700"/>
            <a:ext cx="8290560" cy="4625340"/>
          </a:xfrm>
          <a:prstGeom prst="rect">
            <a:avLst/>
          </a:prstGeom>
          <a:solidFill>
            <a:srgbClr val="FF5B1F">
              <a:alpha val="6000"/>
            </a:srgbClr>
          </a:solidFill>
          <a:ln/>
        </p:spPr>
      </p:sp>
      <p:sp>
        <p:nvSpPr>
          <p:cNvPr id="13" name="Shape 11"/>
          <p:cNvSpPr/>
          <p:nvPr/>
        </p:nvSpPr>
        <p:spPr>
          <a:xfrm>
            <a:off x="9144000" y="3695700"/>
            <a:ext cx="15240" cy="4625340"/>
          </a:xfrm>
          <a:prstGeom prst="rect">
            <a:avLst/>
          </a:prstGeom>
          <a:solidFill>
            <a:srgbClr val="F2EFE8">
              <a:alpha val="40000"/>
            </a:srgbClr>
          </a:solidFill>
          <a:ln/>
        </p:spPr>
      </p:sp>
      <p:sp>
        <p:nvSpPr>
          <p:cNvPr id="14" name="Text 12"/>
          <p:cNvSpPr/>
          <p:nvPr/>
        </p:nvSpPr>
        <p:spPr>
          <a:xfrm>
            <a:off x="9502140" y="4000500"/>
            <a:ext cx="7817205" cy="297180"/>
          </a:xfrm>
          <a:prstGeom prst="rect">
            <a:avLst/>
          </a:prstGeom>
          <a:noFill/>
          <a:ln/>
        </p:spPr>
        <p:txBody>
          <a:bodyPr wrap="square" lIns="25400" tIns="25400" rIns="25400" bIns="25400" rtlCol="0" anchor="t">
            <a:normAutofit/>
          </a:bodyPr>
          <a:lstStyle/>
          <a:p>
            <a:pPr algn="l" indent="0" marL="0">
              <a:buNone/>
            </a:pPr>
            <a:r>
              <a:rPr lang="en-US" sz="1800" spc="180" kern="0" dirty="0">
                <a:solidFill>
                  <a:srgbClr val="FF5B1F"/>
                </a:solidFill>
                <a:latin typeface="Arial" pitchFamily="34" charset="0"/>
                <a:ea typeface="Arial" pitchFamily="34" charset="-122"/>
                <a:cs typeface="Arial" pitchFamily="34" charset="-120"/>
              </a:rPr>
              <a:t>▲ OPERATOR DISCIPLINE · CASE SUBJECT</a:t>
            </a:r>
            <a:endParaRPr lang="en-US" sz="1800" dirty="0"/>
          </a:p>
        </p:txBody>
      </p:sp>
      <p:sp>
        <p:nvSpPr>
          <p:cNvPr id="15" name="Text 13"/>
          <p:cNvSpPr/>
          <p:nvPr/>
        </p:nvSpPr>
        <p:spPr>
          <a:xfrm>
            <a:off x="9502140" y="4392930"/>
            <a:ext cx="7817205" cy="925830"/>
          </a:xfrm>
          <a:prstGeom prst="rect">
            <a:avLst/>
          </a:prstGeom>
          <a:noFill/>
          <a:ln/>
        </p:spPr>
        <p:txBody>
          <a:bodyPr wrap="square" lIns="25400" tIns="25400" rIns="25400" bIns="25400" rtlCol="0" anchor="t">
            <a:normAutofit/>
          </a:bodyPr>
          <a:lstStyle/>
          <a:p>
            <a:pPr algn="l" indent="0" marL="0">
              <a:lnSpc>
                <a:spcPct val="105000"/>
              </a:lnSpc>
              <a:buNone/>
            </a:pPr>
            <a:r>
              <a:rPr lang="en-US" sz="3300" spc="-66" kern="0" dirty="0">
                <a:solidFill>
                  <a:srgbClr val="F2EFE8"/>
                </a:solidFill>
                <a:latin typeface="Arial" pitchFamily="34" charset="0"/>
                <a:ea typeface="Arial" pitchFamily="34" charset="-122"/>
                <a:cs typeface="Arial" pitchFamily="34" charset="-120"/>
              </a:rPr>
              <a:t>Can prompt. </a:t>
            </a:r>
            <a:pPr algn="l" indent="0" marL="0">
              <a:lnSpc>
                <a:spcPct val="105000"/>
              </a:lnSpc>
              <a:buNone/>
            </a:pPr>
            <a:r>
              <a:rPr lang="en-US" sz="3300" i="1" spc="-66" kern="0" dirty="0">
                <a:solidFill>
                  <a:srgbClr val="D6FF3D"/>
                </a:solidFill>
                <a:latin typeface="Arial" pitchFamily="34" charset="0"/>
                <a:ea typeface="Arial" pitchFamily="34" charset="-122"/>
                <a:cs typeface="Arial" pitchFamily="34" charset="-120"/>
              </a:rPr>
              <a:t>Can also reason without one.</a:t>
            </a:r>
            <a:endParaRPr lang="en-US" sz="3300" dirty="0"/>
          </a:p>
        </p:txBody>
      </p:sp>
      <p:sp>
        <p:nvSpPr>
          <p:cNvPr id="16" name="Text 14"/>
          <p:cNvSpPr/>
          <p:nvPr/>
        </p:nvSpPr>
        <p:spPr>
          <a:xfrm>
            <a:off x="9502140" y="5414010"/>
            <a:ext cx="7817205" cy="949643"/>
          </a:xfrm>
          <a:prstGeom prst="rect">
            <a:avLst/>
          </a:prstGeom>
          <a:noFill/>
          <a:ln/>
        </p:spPr>
        <p:txBody>
          <a:bodyPr wrap="square" lIns="25400" tIns="25400" rIns="25400" bIns="25400" rtlCol="0" anchor="t">
            <a:normAutofit/>
          </a:bodyPr>
          <a:lstStyle/>
          <a:p>
            <a:pPr algn="l" indent="0" marL="0">
              <a:lnSpc>
                <a:spcPct val="145000"/>
              </a:lnSpc>
              <a:buNone/>
            </a:pPr>
            <a:r>
              <a:rPr lang="en-US" sz="1650" dirty="0">
                <a:solidFill>
                  <a:srgbClr val="F2EFE8">
                    <a:alpha val="78000"/>
                  </a:srgbClr>
                </a:solidFill>
                <a:latin typeface="Arial" pitchFamily="34" charset="0"/>
                <a:ea typeface="Arial" pitchFamily="34" charset="-122"/>
                <a:cs typeface="Arial" pitchFamily="34" charset="-120"/>
              </a:rPr>
              <a:t>Term average 91 percent. Capstone defended on schedule. Application deployed and validated against paying users. Employment offer within three weeks of graduation. </a:t>
            </a:r>
            <a:pPr algn="l" indent="0" marL="0">
              <a:lnSpc>
                <a:spcPct val="145000"/>
              </a:lnSpc>
              <a:buNone/>
            </a:pPr>
            <a:r>
              <a:rPr lang="en-US" sz="1650" b="1" dirty="0">
                <a:solidFill>
                  <a:srgbClr val="F2EFE8"/>
                </a:solidFill>
                <a:latin typeface="Arial" pitchFamily="34" charset="0"/>
                <a:ea typeface="Arial" pitchFamily="34" charset="-122"/>
                <a:cs typeface="Arial" pitchFamily="34" charset="-120"/>
              </a:rPr>
              <a:t>The instrumentation amplified an underlying discipline.</a:t>
            </a:r>
            <a:endParaRPr lang="en-US" sz="1650" dirty="0"/>
          </a:p>
        </p:txBody>
      </p:sp>
      <p:sp>
        <p:nvSpPr>
          <p:cNvPr id="17" name="Text 15"/>
          <p:cNvSpPr/>
          <p:nvPr/>
        </p:nvSpPr>
        <p:spPr>
          <a:xfrm>
            <a:off x="838200" y="8812530"/>
            <a:ext cx="14716125" cy="750570"/>
          </a:xfrm>
          <a:prstGeom prst="rect">
            <a:avLst/>
          </a:prstGeom>
          <a:noFill/>
          <a:ln/>
        </p:spPr>
        <p:txBody>
          <a:bodyPr wrap="square" lIns="25400" tIns="25400" rIns="25400" bIns="25400" rtlCol="0" anchor="t">
            <a:normAutofit/>
          </a:bodyPr>
          <a:lstStyle/>
          <a:p>
            <a:pPr algn="l" indent="0" marL="0">
              <a:lnSpc>
                <a:spcPct val="110000"/>
              </a:lnSpc>
              <a:buNone/>
            </a:pPr>
            <a:r>
              <a:rPr lang="en-US" sz="2550" i="1" spc="-25" kern="0" dirty="0">
                <a:solidFill>
                  <a:srgbClr val="FF5B1F"/>
                </a:solidFill>
                <a:latin typeface="Arial" pitchFamily="34" charset="0"/>
                <a:ea typeface="Arial" pitchFamily="34" charset="-122"/>
                <a:cs typeface="Arial" pitchFamily="34" charset="-120"/>
              </a:rPr>
              <a:t>The instruments did not generate the capability. </a:t>
            </a:r>
            <a:pPr algn="l" indent="0" marL="0">
              <a:lnSpc>
                <a:spcPct val="110000"/>
              </a:lnSpc>
              <a:buNone/>
            </a:pPr>
            <a:r>
              <a:rPr lang="en-US" sz="2550" i="1" spc="-25" kern="0" dirty="0">
                <a:solidFill>
                  <a:srgbClr val="F2EFE8"/>
                </a:solidFill>
                <a:latin typeface="Arial" pitchFamily="34" charset="0"/>
                <a:ea typeface="Arial" pitchFamily="34" charset="-122"/>
                <a:cs typeface="Arial" pitchFamily="34" charset="-120"/>
              </a:rPr>
              <a:t>The discipline did. </a:t>
            </a:r>
            <a:pPr algn="l" indent="0" marL="0">
              <a:lnSpc>
                <a:spcPct val="110000"/>
              </a:lnSpc>
              <a:buNone/>
            </a:pPr>
            <a:r>
              <a:rPr lang="en-US" sz="2550" i="1" spc="-25" kern="0" dirty="0">
                <a:solidFill>
                  <a:srgbClr val="FF5B1F"/>
                </a:solidFill>
                <a:latin typeface="Arial" pitchFamily="34" charset="0"/>
                <a:ea typeface="Arial" pitchFamily="34" charset="-122"/>
                <a:cs typeface="Arial" pitchFamily="34" charset="-120"/>
              </a:rPr>
              <a:t>The instruments amplified it.</a:t>
            </a:r>
            <a:endParaRPr lang="en-US" sz="2550" dirty="0"/>
          </a:p>
        </p:txBody>
      </p:sp>
      <p:sp>
        <p:nvSpPr>
          <p:cNvPr id="18" name="Text 16"/>
          <p:cNvSpPr/>
          <p:nvPr/>
        </p:nvSpPr>
        <p:spPr>
          <a:xfrm>
            <a:off x="838200" y="9643110"/>
            <a:ext cx="6248957" cy="29718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F2EFE8">
                    <a:alpha val="50000"/>
                  </a:srgbClr>
                </a:solidFill>
                <a:latin typeface="Arial" pitchFamily="34" charset="0"/>
                <a:ea typeface="Arial" pitchFamily="34" charset="-122"/>
                <a:cs typeface="Arial" pitchFamily="34" charset="-120"/>
              </a:rPr>
              <a:t>IDENTICAL ACCESS · DIVERGENT TRAJECTORIES</a:t>
            </a:r>
            <a:endParaRPr lang="en-US" sz="1800" dirty="0"/>
          </a:p>
        </p:txBody>
      </p:sp>
      <p:sp>
        <p:nvSpPr>
          <p:cNvPr id="19" name="Text 17"/>
          <p:cNvSpPr/>
          <p:nvPr/>
        </p:nvSpPr>
        <p:spPr>
          <a:xfrm>
            <a:off x="16426578" y="9563100"/>
            <a:ext cx="1099423" cy="457200"/>
          </a:xfrm>
          <a:prstGeom prst="rect">
            <a:avLst/>
          </a:prstGeom>
          <a:noFill/>
          <a:ln/>
        </p:spPr>
        <p:txBody>
          <a:bodyPr wrap="square" lIns="25400" tIns="25400" rIns="25400" bIns="25400" rtlCol="0" anchor="t">
            <a:normAutofit/>
          </a:bodyPr>
          <a:lstStyle/>
          <a:p>
            <a:pPr algn="l" indent="0" marL="0">
              <a:buNone/>
            </a:pPr>
            <a:r>
              <a:rPr lang="en-US" sz="2700" i="1" spc="-54" kern="0" dirty="0">
                <a:solidFill>
                  <a:srgbClr val="F2EFE8">
                    <a:alpha val="50000"/>
                  </a:srgbClr>
                </a:solidFill>
                <a:latin typeface="Arial" pitchFamily="34" charset="0"/>
                <a:ea typeface="Arial" pitchFamily="34" charset="-122"/>
                <a:cs typeface="Arial" pitchFamily="34" charset="-120"/>
              </a:rPr>
              <a:t>24 / 25</a:t>
            </a:r>
            <a:endParaRPr lang="en-US" sz="2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5B1F"/>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0E0E0E">
              <a:alpha val="6000"/>
            </a:srgbClr>
          </a:solidFill>
          <a:ln/>
        </p:spPr>
      </p:sp>
      <p:sp>
        <p:nvSpPr>
          <p:cNvPr id="3" name="Text 1"/>
          <p:cNvSpPr/>
          <p:nvPr/>
        </p:nvSpPr>
        <p:spPr>
          <a:xfrm>
            <a:off x="838200" y="571500"/>
            <a:ext cx="4209302" cy="281940"/>
          </a:xfrm>
          <a:prstGeom prst="rect">
            <a:avLst/>
          </a:prstGeom>
          <a:noFill/>
          <a:ln/>
        </p:spPr>
        <p:txBody>
          <a:bodyPr wrap="square" lIns="25400" tIns="25400" rIns="25400" bIns="25400" rtlCol="0" anchor="t">
            <a:normAutofit/>
          </a:bodyPr>
          <a:lstStyle/>
          <a:p>
            <a:pPr algn="l" indent="0" marL="0">
              <a:buNone/>
            </a:pPr>
            <a:r>
              <a:rPr lang="en-US" sz="1650" dirty="0">
                <a:solidFill>
                  <a:srgbClr val="0E0E0E">
                    <a:alpha val="70000"/>
                  </a:srgbClr>
                </a:solidFill>
                <a:latin typeface="Arial" pitchFamily="34" charset="0"/>
                <a:ea typeface="Arial" pitchFamily="34" charset="-122"/>
                <a:cs typeface="Arial" pitchFamily="34" charset="-120"/>
              </a:rPr>
              <a:t>CLOSING · ACTIONABLE COMMITMENTS</a:t>
            </a:r>
            <a:endParaRPr lang="en-US" sz="1650" dirty="0"/>
          </a:p>
        </p:txBody>
      </p:sp>
      <p:sp>
        <p:nvSpPr>
          <p:cNvPr id="4" name="Text 2"/>
          <p:cNvSpPr/>
          <p:nvPr/>
        </p:nvSpPr>
        <p:spPr>
          <a:xfrm>
            <a:off x="16808887" y="571500"/>
            <a:ext cx="717113" cy="281940"/>
          </a:xfrm>
          <a:prstGeom prst="rect">
            <a:avLst/>
          </a:prstGeom>
          <a:noFill/>
          <a:ln/>
        </p:spPr>
        <p:txBody>
          <a:bodyPr wrap="square" lIns="25400" tIns="25400" rIns="25400" bIns="25400" rtlCol="0" anchor="t">
            <a:normAutofit/>
          </a:bodyPr>
          <a:lstStyle/>
          <a:p>
            <a:pPr algn="l" indent="0" marL="0">
              <a:buNone/>
            </a:pPr>
            <a:r>
              <a:rPr lang="en-US" sz="1650" dirty="0">
                <a:solidFill>
                  <a:srgbClr val="0E0E0E">
                    <a:alpha val="70000"/>
                  </a:srgbClr>
                </a:solidFill>
                <a:latin typeface="Arial" pitchFamily="34" charset="0"/>
                <a:ea typeface="Arial" pitchFamily="34" charset="-122"/>
                <a:cs typeface="Arial" pitchFamily="34" charset="-120"/>
              </a:rPr>
              <a:t>25 / 25</a:t>
            </a:r>
            <a:endParaRPr lang="en-US" sz="1650" dirty="0"/>
          </a:p>
        </p:txBody>
      </p:sp>
      <p:sp>
        <p:nvSpPr>
          <p:cNvPr id="5" name="Text 3"/>
          <p:cNvSpPr/>
          <p:nvPr/>
        </p:nvSpPr>
        <p:spPr>
          <a:xfrm>
            <a:off x="838200" y="1689735"/>
            <a:ext cx="17109948" cy="342900"/>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0E0E0E"/>
                </a:solidFill>
                <a:latin typeface="Arial" pitchFamily="34" charset="0"/>
                <a:ea typeface="Arial" pitchFamily="34" charset="-122"/>
                <a:cs typeface="Arial" pitchFamily="34" charset="-120"/>
              </a:rPr>
              <a:t>THREE COMMITMENTS BEFORE THIS WEEK IS OUT</a:t>
            </a:r>
            <a:endParaRPr lang="en-US" sz="1800" dirty="0"/>
          </a:p>
        </p:txBody>
      </p:sp>
      <p:sp>
        <p:nvSpPr>
          <p:cNvPr id="6" name="Text 4"/>
          <p:cNvSpPr/>
          <p:nvPr/>
        </p:nvSpPr>
        <p:spPr>
          <a:xfrm>
            <a:off x="838200" y="2223135"/>
            <a:ext cx="17109948" cy="3040380"/>
          </a:xfrm>
          <a:prstGeom prst="rect">
            <a:avLst/>
          </a:prstGeom>
          <a:noFill/>
          <a:ln/>
        </p:spPr>
        <p:txBody>
          <a:bodyPr wrap="square" lIns="25400" tIns="25400" rIns="25400" bIns="25400" rtlCol="0" anchor="t">
            <a:normAutofit/>
          </a:bodyPr>
          <a:lstStyle/>
          <a:p>
            <a:pPr algn="l" indent="0" marL="0">
              <a:lnSpc>
                <a:spcPct val="92000"/>
              </a:lnSpc>
              <a:buNone/>
            </a:pPr>
            <a:r>
              <a:rPr lang="en-US" sz="12750" spc="-446" kern="0" dirty="0">
                <a:solidFill>
                  <a:srgbClr val="0E0E0E"/>
                </a:solidFill>
                <a:latin typeface="Arial" pitchFamily="34" charset="0"/>
                <a:ea typeface="Arial" pitchFamily="34" charset="-122"/>
                <a:cs typeface="Arial" pitchFamily="34" charset="-120"/>
              </a:rPr>
              <a:t>Use the instruments. Remain the </a:t>
            </a:r>
            <a:pPr algn="l" indent="0" marL="0">
              <a:lnSpc>
                <a:spcPct val="92000"/>
              </a:lnSpc>
              <a:buNone/>
            </a:pPr>
            <a:r>
              <a:rPr lang="en-US" sz="12750" i="1" spc="-446" kern="0" dirty="0">
                <a:solidFill>
                  <a:srgbClr val="0E0E0E"/>
                </a:solidFill>
                <a:latin typeface="Arial" pitchFamily="34" charset="0"/>
                <a:ea typeface="Arial" pitchFamily="34" charset="-122"/>
                <a:cs typeface="Arial" pitchFamily="34" charset="-120"/>
              </a:rPr>
              <a:t>operator.</a:t>
            </a:r>
            <a:endParaRPr lang="en-US" sz="12750" dirty="0"/>
          </a:p>
        </p:txBody>
      </p:sp>
      <p:sp>
        <p:nvSpPr>
          <p:cNvPr id="7" name="Shape 5"/>
          <p:cNvSpPr/>
          <p:nvPr/>
        </p:nvSpPr>
        <p:spPr>
          <a:xfrm>
            <a:off x="838200" y="5796915"/>
            <a:ext cx="16611600" cy="15240"/>
          </a:xfrm>
          <a:prstGeom prst="rect">
            <a:avLst/>
          </a:prstGeom>
          <a:solidFill>
            <a:srgbClr val="0E0E0E"/>
          </a:solidFill>
          <a:ln/>
        </p:spPr>
      </p:sp>
      <p:sp>
        <p:nvSpPr>
          <p:cNvPr id="8" name="Text 6"/>
          <p:cNvSpPr/>
          <p:nvPr/>
        </p:nvSpPr>
        <p:spPr>
          <a:xfrm>
            <a:off x="838200" y="6155055"/>
            <a:ext cx="5494020" cy="800100"/>
          </a:xfrm>
          <a:prstGeom prst="rect">
            <a:avLst/>
          </a:prstGeom>
          <a:noFill/>
          <a:ln/>
        </p:spPr>
        <p:txBody>
          <a:bodyPr wrap="square" lIns="25400" tIns="25400" rIns="25400" bIns="25400" rtlCol="0" anchor="t">
            <a:normAutofit/>
          </a:bodyPr>
          <a:lstStyle/>
          <a:p>
            <a:pPr algn="l" indent="0" marL="0">
              <a:lnSpc>
                <a:spcPct val="100000"/>
              </a:lnSpc>
              <a:buNone/>
            </a:pPr>
            <a:r>
              <a:rPr lang="en-US" sz="6000" i="1" dirty="0">
                <a:solidFill>
                  <a:srgbClr val="0E0E0E"/>
                </a:solidFill>
                <a:latin typeface="Arial" pitchFamily="34" charset="0"/>
                <a:ea typeface="Arial" pitchFamily="34" charset="-122"/>
                <a:cs typeface="Arial" pitchFamily="34" charset="-120"/>
              </a:rPr>
              <a:t>01</a:t>
            </a:r>
            <a:endParaRPr lang="en-US" sz="6000" dirty="0"/>
          </a:p>
        </p:txBody>
      </p:sp>
      <p:sp>
        <p:nvSpPr>
          <p:cNvPr id="9" name="Text 7"/>
          <p:cNvSpPr/>
          <p:nvPr/>
        </p:nvSpPr>
        <p:spPr>
          <a:xfrm>
            <a:off x="838200" y="7050405"/>
            <a:ext cx="5494020" cy="674370"/>
          </a:xfrm>
          <a:prstGeom prst="rect">
            <a:avLst/>
          </a:prstGeom>
          <a:noFill/>
          <a:ln/>
        </p:spPr>
        <p:txBody>
          <a:bodyPr wrap="square" lIns="25400" tIns="25400" rIns="25400" bIns="25400" rtlCol="0" anchor="t">
            <a:normAutofit/>
          </a:bodyPr>
          <a:lstStyle/>
          <a:p>
            <a:pPr algn="l" indent="0" marL="0">
              <a:lnSpc>
                <a:spcPct val="110000"/>
              </a:lnSpc>
              <a:buNone/>
            </a:pPr>
            <a:r>
              <a:rPr lang="en-US" sz="2250" dirty="0">
                <a:solidFill>
                  <a:srgbClr val="0E0E0E"/>
                </a:solidFill>
                <a:latin typeface="Arial" pitchFamily="34" charset="0"/>
                <a:ea typeface="Arial" pitchFamily="34" charset="-122"/>
                <a:cs typeface="Arial" pitchFamily="34" charset="-120"/>
              </a:rPr>
              <a:t>Verify access to </a:t>
            </a:r>
            <a:pPr algn="l" indent="0" marL="0">
              <a:lnSpc>
                <a:spcPct val="110000"/>
              </a:lnSpc>
              <a:buNone/>
            </a:pPr>
            <a:r>
              <a:rPr lang="en-US" sz="2250" i="1" dirty="0">
                <a:solidFill>
                  <a:srgbClr val="0E0E0E"/>
                </a:solidFill>
                <a:latin typeface="Arial" pitchFamily="34" charset="0"/>
                <a:ea typeface="Arial" pitchFamily="34" charset="-122"/>
                <a:cs typeface="Arial" pitchFamily="34" charset="-120"/>
              </a:rPr>
              <a:t>two </a:t>
            </a:r>
            <a:pPr algn="l" indent="0" marL="0">
              <a:lnSpc>
                <a:spcPct val="110000"/>
              </a:lnSpc>
              <a:buNone/>
            </a:pPr>
            <a:r>
              <a:rPr lang="en-US" sz="2250" dirty="0">
                <a:solidFill>
                  <a:srgbClr val="0E0E0E"/>
                </a:solidFill>
                <a:latin typeface="Arial" pitchFamily="34" charset="0"/>
                <a:ea typeface="Arial" pitchFamily="34" charset="-122"/>
                <a:cs typeface="Arial" pitchFamily="34" charset="-120"/>
              </a:rPr>
              <a:t>instruments from the recommended stack.</a:t>
            </a:r>
            <a:endParaRPr lang="en-US" sz="2250" dirty="0"/>
          </a:p>
        </p:txBody>
      </p:sp>
      <p:sp>
        <p:nvSpPr>
          <p:cNvPr id="10" name="Text 8"/>
          <p:cNvSpPr/>
          <p:nvPr/>
        </p:nvSpPr>
        <p:spPr>
          <a:xfrm>
            <a:off x="6477000" y="6155055"/>
            <a:ext cx="5494020" cy="800100"/>
          </a:xfrm>
          <a:prstGeom prst="rect">
            <a:avLst/>
          </a:prstGeom>
          <a:noFill/>
          <a:ln/>
        </p:spPr>
        <p:txBody>
          <a:bodyPr wrap="square" lIns="25400" tIns="25400" rIns="25400" bIns="25400" rtlCol="0" anchor="t">
            <a:normAutofit/>
          </a:bodyPr>
          <a:lstStyle/>
          <a:p>
            <a:pPr algn="l" indent="0" marL="0">
              <a:lnSpc>
                <a:spcPct val="100000"/>
              </a:lnSpc>
              <a:buNone/>
            </a:pPr>
            <a:r>
              <a:rPr lang="en-US" sz="6000" i="1" dirty="0">
                <a:solidFill>
                  <a:srgbClr val="0E0E0E"/>
                </a:solidFill>
                <a:latin typeface="Arial" pitchFamily="34" charset="0"/>
                <a:ea typeface="Arial" pitchFamily="34" charset="-122"/>
                <a:cs typeface="Arial" pitchFamily="34" charset="-120"/>
              </a:rPr>
              <a:t>02</a:t>
            </a:r>
            <a:endParaRPr lang="en-US" sz="6000" dirty="0"/>
          </a:p>
        </p:txBody>
      </p:sp>
      <p:sp>
        <p:nvSpPr>
          <p:cNvPr id="11" name="Text 9"/>
          <p:cNvSpPr/>
          <p:nvPr/>
        </p:nvSpPr>
        <p:spPr>
          <a:xfrm>
            <a:off x="6477000" y="7050405"/>
            <a:ext cx="5494020" cy="988695"/>
          </a:xfrm>
          <a:prstGeom prst="rect">
            <a:avLst/>
          </a:prstGeom>
          <a:noFill/>
          <a:ln/>
        </p:spPr>
        <p:txBody>
          <a:bodyPr wrap="square" lIns="25400" tIns="25400" rIns="25400" bIns="25400" rtlCol="0" anchor="t">
            <a:normAutofit/>
          </a:bodyPr>
          <a:lstStyle/>
          <a:p>
            <a:pPr algn="l" indent="0" marL="0">
              <a:lnSpc>
                <a:spcPct val="110000"/>
              </a:lnSpc>
              <a:buNone/>
            </a:pPr>
            <a:r>
              <a:rPr lang="en-US" sz="2250" dirty="0">
                <a:solidFill>
                  <a:srgbClr val="0E0E0E"/>
                </a:solidFill>
                <a:latin typeface="Arial" pitchFamily="34" charset="0"/>
                <a:ea typeface="Arial" pitchFamily="34" charset="-122"/>
                <a:cs typeface="Arial" pitchFamily="34" charset="-120"/>
              </a:rPr>
              <a:t>Execute </a:t>
            </a:r>
            <a:pPr algn="l" indent="0" marL="0">
              <a:lnSpc>
                <a:spcPct val="110000"/>
              </a:lnSpc>
              <a:buNone/>
            </a:pPr>
            <a:r>
              <a:rPr lang="en-US" sz="2250" i="1" dirty="0">
                <a:solidFill>
                  <a:srgbClr val="0E0E0E"/>
                </a:solidFill>
                <a:latin typeface="Arial" pitchFamily="34" charset="0"/>
                <a:ea typeface="Arial" pitchFamily="34" charset="-122"/>
                <a:cs typeface="Arial" pitchFamily="34" charset="-120"/>
              </a:rPr>
              <a:t>one </a:t>
            </a:r>
            <a:pPr algn="l" indent="0" marL="0">
              <a:lnSpc>
                <a:spcPct val="110000"/>
              </a:lnSpc>
              <a:buNone/>
            </a:pPr>
            <a:r>
              <a:rPr lang="en-US" sz="2250" dirty="0">
                <a:solidFill>
                  <a:srgbClr val="0E0E0E"/>
                </a:solidFill>
                <a:latin typeface="Arial" pitchFamily="34" charset="0"/>
                <a:ea typeface="Arial" pitchFamily="34" charset="-122"/>
                <a:cs typeface="Arial" pitchFamily="34" charset="-120"/>
              </a:rPr>
              <a:t>of the seven templates against a current academic or professional task.</a:t>
            </a:r>
            <a:endParaRPr lang="en-US" sz="2250" dirty="0"/>
          </a:p>
        </p:txBody>
      </p:sp>
      <p:sp>
        <p:nvSpPr>
          <p:cNvPr id="12" name="Text 10"/>
          <p:cNvSpPr/>
          <p:nvPr/>
        </p:nvSpPr>
        <p:spPr>
          <a:xfrm>
            <a:off x="12115800" y="6155055"/>
            <a:ext cx="5494020" cy="800100"/>
          </a:xfrm>
          <a:prstGeom prst="rect">
            <a:avLst/>
          </a:prstGeom>
          <a:noFill/>
          <a:ln/>
        </p:spPr>
        <p:txBody>
          <a:bodyPr wrap="square" lIns="25400" tIns="25400" rIns="25400" bIns="25400" rtlCol="0" anchor="t">
            <a:normAutofit/>
          </a:bodyPr>
          <a:lstStyle/>
          <a:p>
            <a:pPr algn="l" indent="0" marL="0">
              <a:lnSpc>
                <a:spcPct val="100000"/>
              </a:lnSpc>
              <a:buNone/>
            </a:pPr>
            <a:r>
              <a:rPr lang="en-US" sz="6000" i="1" dirty="0">
                <a:solidFill>
                  <a:srgbClr val="0E0E0E"/>
                </a:solidFill>
                <a:latin typeface="Arial" pitchFamily="34" charset="0"/>
                <a:ea typeface="Arial" pitchFamily="34" charset="-122"/>
                <a:cs typeface="Arial" pitchFamily="34" charset="-120"/>
              </a:rPr>
              <a:t>03</a:t>
            </a:r>
            <a:endParaRPr lang="en-US" sz="6000" dirty="0"/>
          </a:p>
        </p:txBody>
      </p:sp>
      <p:sp>
        <p:nvSpPr>
          <p:cNvPr id="13" name="Text 11"/>
          <p:cNvSpPr/>
          <p:nvPr/>
        </p:nvSpPr>
        <p:spPr>
          <a:xfrm>
            <a:off x="12115800" y="7050405"/>
            <a:ext cx="5494020" cy="981075"/>
          </a:xfrm>
          <a:prstGeom prst="rect">
            <a:avLst/>
          </a:prstGeom>
          <a:noFill/>
          <a:ln/>
        </p:spPr>
        <p:txBody>
          <a:bodyPr wrap="square" lIns="25400" tIns="25400" rIns="25400" bIns="25400" rtlCol="0" anchor="t">
            <a:normAutofit/>
          </a:bodyPr>
          <a:lstStyle/>
          <a:p>
            <a:pPr algn="l" indent="0" marL="0">
              <a:lnSpc>
                <a:spcPct val="110000"/>
              </a:lnSpc>
              <a:buNone/>
            </a:pPr>
            <a:r>
              <a:rPr lang="en-US" sz="2250" dirty="0">
                <a:solidFill>
                  <a:srgbClr val="0E0E0E"/>
                </a:solidFill>
                <a:latin typeface="Arial" pitchFamily="34" charset="0"/>
                <a:ea typeface="Arial" pitchFamily="34" charset="-122"/>
                <a:cs typeface="Arial" pitchFamily="34" charset="-120"/>
              </a:rPr>
              <a:t>Schedule a four-week review: assess whether fluency is increasing or passive use is taking hold.</a:t>
            </a:r>
            <a:endParaRPr lang="en-US" sz="2250" dirty="0"/>
          </a:p>
        </p:txBody>
      </p:sp>
      <p:sp>
        <p:nvSpPr>
          <p:cNvPr id="14" name="Text 12"/>
          <p:cNvSpPr/>
          <p:nvPr/>
        </p:nvSpPr>
        <p:spPr>
          <a:xfrm>
            <a:off x="838200" y="9441180"/>
            <a:ext cx="2490311" cy="312420"/>
          </a:xfrm>
          <a:prstGeom prst="rect">
            <a:avLst/>
          </a:prstGeom>
          <a:noFill/>
          <a:ln/>
        </p:spPr>
        <p:txBody>
          <a:bodyPr wrap="square" lIns="25400" tIns="25400" rIns="25400" bIns="25400" rtlCol="0" anchor="t">
            <a:normAutofit/>
          </a:bodyPr>
          <a:lstStyle/>
          <a:p>
            <a:pPr algn="l" indent="0" marL="0">
              <a:buNone/>
            </a:pPr>
            <a:r>
              <a:rPr lang="en-US" sz="1650" b="1" spc="66" kern="0" dirty="0">
                <a:solidFill>
                  <a:srgbClr val="0E0E0E"/>
                </a:solidFill>
                <a:latin typeface="Arial" pitchFamily="34" charset="0"/>
                <a:ea typeface="Arial" pitchFamily="34" charset="-122"/>
                <a:cs typeface="Arial" pitchFamily="34" charset="-120"/>
              </a:rPr>
              <a:t>QUESTIONS WELCOMED</a:t>
            </a:r>
            <a:endParaRPr lang="en-US" sz="1650" dirty="0"/>
          </a:p>
        </p:txBody>
      </p:sp>
      <p:sp>
        <p:nvSpPr>
          <p:cNvPr id="15" name="Text 13"/>
          <p:cNvSpPr/>
          <p:nvPr/>
        </p:nvSpPr>
        <p:spPr>
          <a:xfrm>
            <a:off x="12698577" y="8900160"/>
            <a:ext cx="4751224" cy="457200"/>
          </a:xfrm>
          <a:prstGeom prst="rect">
            <a:avLst/>
          </a:prstGeom>
          <a:noFill/>
          <a:ln/>
        </p:spPr>
        <p:txBody>
          <a:bodyPr wrap="square" lIns="25400" tIns="25400" rIns="25400" bIns="25400" rtlCol="0" anchor="t">
            <a:normAutofit/>
          </a:bodyPr>
          <a:lstStyle/>
          <a:p>
            <a:pPr algn="r" indent="0" marL="0">
              <a:lnSpc>
                <a:spcPct val="100000"/>
              </a:lnSpc>
              <a:buNone/>
            </a:pPr>
            <a:r>
              <a:rPr lang="en-US" sz="3300" dirty="0">
                <a:solidFill>
                  <a:srgbClr val="0E0E0E"/>
                </a:solidFill>
                <a:latin typeface="Arial" pitchFamily="34" charset="0"/>
                <a:ea typeface="Arial" pitchFamily="34" charset="-122"/>
                <a:cs typeface="Arial" pitchFamily="34" charset="-120"/>
              </a:rPr>
              <a:t>Eng. Mohamed Elredeny</a:t>
            </a:r>
            <a:endParaRPr lang="en-US" sz="3300" dirty="0"/>
          </a:p>
        </p:txBody>
      </p:sp>
      <p:sp>
        <p:nvSpPr>
          <p:cNvPr id="16" name="Text 14"/>
          <p:cNvSpPr/>
          <p:nvPr/>
        </p:nvSpPr>
        <p:spPr>
          <a:xfrm>
            <a:off x="12698577" y="9395460"/>
            <a:ext cx="4751224" cy="358140"/>
          </a:xfrm>
          <a:prstGeom prst="rect">
            <a:avLst/>
          </a:prstGeom>
          <a:noFill/>
          <a:ln/>
        </p:spPr>
        <p:txBody>
          <a:bodyPr wrap="square" lIns="25400" tIns="25400" rIns="25400" bIns="25400" rtlCol="0" anchor="t">
            <a:normAutofit/>
          </a:bodyPr>
          <a:lstStyle/>
          <a:p>
            <a:pPr algn="r" indent="0" marL="0">
              <a:lnSpc>
                <a:spcPct val="140000"/>
              </a:lnSpc>
              <a:buNone/>
            </a:pPr>
            <a:r>
              <a:rPr lang="en-US" sz="1800" dirty="0">
                <a:solidFill>
                  <a:srgbClr val="0E0E0E">
                    <a:alpha val="75000"/>
                  </a:srgbClr>
                </a:solidFill>
                <a:latin typeface="Arial" pitchFamily="34" charset="0"/>
                <a:ea typeface="Arial" pitchFamily="34" charset="-122"/>
                <a:cs typeface="Arial" pitchFamily="34" charset="-120"/>
              </a:rPr>
              <a:t>Use AI. Do not let AI use you.</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2026-04-29T21:24:04Z</dcterms:created>
  <dcterms:modified xsi:type="dcterms:W3CDTF">2026-04-29T21:24:04Z</dcterms:modified>
</cp:coreProperties>
</file>