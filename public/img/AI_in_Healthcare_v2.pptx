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Without AI Help</c:v>
                </c:pt>
              </c:strCache>
            </c:strRef>
          </c:tx>
          <c:spPr>
            <a:solidFill>
              <a:srgbClr val="5A6878"/>
            </a:solidFill>
            <a:effectLst/>
          </c:spPr>
          <c:invertIfNegative val="0"/>
          <c:dLbls>
            <c:numFmt formatCode="#,##0" sourceLinked="0"/>
            <c:txPr>
              <a:bodyPr/>
              <a:lstStyle/>
              <a:p>
                <a:pPr>
                  <a:defRPr b="1" i="0" strike="noStrike" sz="1100" u="none">
                    <a:solidFill>
                      <a:srgbClr val="0B2545"/>
                    </a:solidFill>
                    <a:latin typeface="Arial"/>
                  </a:defRPr>
                </a:pPr>
              </a:p>
            </c:txPr>
            <c:showLegendKey val="0"/>
            <c:showVal val="1"/>
            <c:showCatName val="0"/>
            <c:showSerName val="0"/>
            <c:showPercent val="0"/>
            <c:showBubbleSize val="0"/>
            <c:showLeaderLines val="0"/>
          </c:dLbls>
          <c:cat>
            <c:multiLvlStrRef>
              <c:f>Sheet1!$A$2:$A$4</c:f>
              <c:multiLvlStrCache>
                <c:ptCount val="3"/>
                <c:lvl>
                  <c:pt idx="0">
                    <c:v>Waiting time (hours)</c:v>
                  </c:pt>
                  <c:pt idx="1">
                    <c:v>Doctor's energy left at end of day</c:v>
                  </c:pt>
                  <c:pt idx="2">
                    <c:v>People reached per clinic</c:v>
                  </c:pt>
                </c:lvl>
              </c:multiLvlStrCache>
            </c:multiLvlStrRef>
          </c:cat>
          <c:val>
            <c:numRef>
              <c:f>Sheet1!$B$2:$B$4</c:f>
              <c:numCache>
                <c:formatCode>General</c:formatCode>
                <c:ptCount val="3"/>
                <c:pt idx="0">
                  <c:v>24</c:v>
                </c:pt>
                <c:pt idx="1">
                  <c:v>35</c:v>
                </c:pt>
                <c:pt idx="2">
                  <c:v>30</c:v>
                </c:pt>
              </c:numCache>
            </c:numRef>
          </c:val>
        </c:ser>
        <c:ser>
          <c:idx val="1"/>
          <c:order val="1"/>
          <c:tx>
            <c:strRef>
              <c:f>Sheet1!$C$1</c:f>
              <c:strCache>
                <c:ptCount val="1"/>
                <c:pt idx="0">
                  <c:v>With AI Help</c:v>
                </c:pt>
              </c:strCache>
            </c:strRef>
          </c:tx>
          <c:spPr>
            <a:solidFill>
              <a:srgbClr val="0E7C7B"/>
            </a:solidFill>
            <a:effectLst/>
          </c:spPr>
          <c:invertIfNegative val="0"/>
          <c:dLbls>
            <c:numFmt formatCode="#,##0" sourceLinked="0"/>
            <c:txPr>
              <a:bodyPr/>
              <a:lstStyle/>
              <a:p>
                <a:pPr>
                  <a:defRPr b="1" i="0" strike="noStrike" sz="1100" u="none">
                    <a:solidFill>
                      <a:srgbClr val="0B2545"/>
                    </a:solidFill>
                    <a:latin typeface="Arial"/>
                  </a:defRPr>
                </a:pPr>
              </a:p>
            </c:txPr>
            <c:showLegendKey val="0"/>
            <c:showVal val="1"/>
            <c:showCatName val="0"/>
            <c:showSerName val="0"/>
            <c:showPercent val="0"/>
            <c:showBubbleSize val="0"/>
            <c:showLeaderLines val="0"/>
          </c:dLbls>
          <c:cat>
            <c:multiLvlStrRef>
              <c:f>Sheet1!$A$2:$A$4</c:f>
              <c:multiLvlStrCache>
                <c:ptCount val="3"/>
                <c:lvl>
                  <c:pt idx="0">
                    <c:v>Waiting time (hours)</c:v>
                  </c:pt>
                  <c:pt idx="1">
                    <c:v>Doctor's energy left at end of day</c:v>
                  </c:pt>
                  <c:pt idx="2">
                    <c:v>People reached per clinic</c:v>
                  </c:pt>
                </c:lvl>
              </c:multiLvlStrCache>
            </c:multiLvlStrRef>
          </c:cat>
          <c:val>
            <c:numRef>
              <c:f>Sheet1!$C$2:$C$4</c:f>
              <c:numCache>
                <c:formatCode>General</c:formatCode>
                <c:ptCount val="3"/>
                <c:pt idx="0">
                  <c:v>1</c:v>
                </c:pt>
                <c:pt idx="1">
                  <c:v>72</c:v>
                </c:pt>
                <c:pt idx="2">
                  <c:v>95</c:v>
                </c:pt>
              </c:numCache>
            </c:numRef>
          </c:val>
        </c:ser>
        <c:dLbls>
          <c:numFmt formatCode="#,##0" sourceLinked="0"/>
          <c:txPr>
            <a:bodyPr/>
            <a:lstStyle/>
            <a:p>
              <a:pPr>
                <a:defRPr b="1" i="0" strike="noStrike" sz="1100" u="none">
                  <a:solidFill>
                    <a:srgbClr val="0B2545"/>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33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8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2332"/>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48640" y="548640"/>
            <a:ext cx="274320" cy="274320"/>
          </a:xfrm>
          <a:prstGeom prst="rect">
            <a:avLst/>
          </a:prstGeom>
          <a:solidFill>
            <a:srgbClr val="FFB627"/>
          </a:solidFill>
          <a:ln w="12700">
            <a:solidFill>
              <a:srgbClr val="FFB627"/>
            </a:solidFill>
            <a:prstDash val="solid"/>
          </a:ln>
        </p:spPr>
      </p:sp>
      <p:sp>
        <p:nvSpPr>
          <p:cNvPr id="3" name="Shape 1"/>
          <p:cNvSpPr/>
          <p:nvPr/>
        </p:nvSpPr>
        <p:spPr>
          <a:xfrm>
            <a:off x="914400" y="548640"/>
            <a:ext cx="274320" cy="274320"/>
          </a:xfrm>
          <a:prstGeom prst="rect">
            <a:avLst/>
          </a:prstGeom>
          <a:solidFill>
            <a:srgbClr val="17C3B2"/>
          </a:solidFill>
          <a:ln w="12700">
            <a:solidFill>
              <a:srgbClr val="17C3B2"/>
            </a:solidFill>
            <a:prstDash val="solid"/>
          </a:ln>
        </p:spPr>
      </p:sp>
      <p:sp>
        <p:nvSpPr>
          <p:cNvPr id="4" name="Shape 2"/>
          <p:cNvSpPr/>
          <p:nvPr/>
        </p:nvSpPr>
        <p:spPr>
          <a:xfrm>
            <a:off x="11338560" y="6035040"/>
            <a:ext cx="274320" cy="274320"/>
          </a:xfrm>
          <a:prstGeom prst="rect">
            <a:avLst/>
          </a:prstGeom>
          <a:solidFill>
            <a:srgbClr val="17C3B2"/>
          </a:solidFill>
          <a:ln w="12700">
            <a:solidFill>
              <a:srgbClr val="17C3B2"/>
            </a:solidFill>
            <a:prstDash val="solid"/>
          </a:ln>
        </p:spPr>
      </p:sp>
      <p:sp>
        <p:nvSpPr>
          <p:cNvPr id="5" name="Shape 3"/>
          <p:cNvSpPr/>
          <p:nvPr/>
        </p:nvSpPr>
        <p:spPr>
          <a:xfrm>
            <a:off x="10972800" y="6035040"/>
            <a:ext cx="274320" cy="274320"/>
          </a:xfrm>
          <a:prstGeom prst="rect">
            <a:avLst/>
          </a:prstGeom>
          <a:solidFill>
            <a:srgbClr val="FFB627"/>
          </a:solidFill>
          <a:ln w="12700">
            <a:solidFill>
              <a:srgbClr val="FFB627"/>
            </a:solidFill>
            <a:prstDash val="solid"/>
          </a:ln>
        </p:spPr>
      </p:sp>
      <p:pic>
        <p:nvPicPr>
          <p:cNvPr id="6" name="Image 0" descr="preencoded.png">    </p:cNvPr>
          <p:cNvPicPr>
            <a:picLocks noChangeAspect="1"/>
          </p:cNvPicPr>
          <p:nvPr/>
        </p:nvPicPr>
        <p:blipFill>
          <a:blip r:embed="rId1"/>
          <a:stretch>
            <a:fillRect/>
          </a:stretch>
        </p:blipFill>
        <p:spPr>
          <a:xfrm>
            <a:off x="5440680" y="1188720"/>
            <a:ext cx="1280160" cy="1280160"/>
          </a:xfrm>
          <a:prstGeom prst="rect">
            <a:avLst/>
          </a:prstGeom>
        </p:spPr>
      </p:pic>
      <p:sp>
        <p:nvSpPr>
          <p:cNvPr id="7" name="Text 4"/>
          <p:cNvSpPr/>
          <p:nvPr/>
        </p:nvSpPr>
        <p:spPr>
          <a:xfrm>
            <a:off x="457200" y="2697480"/>
            <a:ext cx="11247120" cy="457200"/>
          </a:xfrm>
          <a:prstGeom prst="rect">
            <a:avLst/>
          </a:prstGeom>
          <a:noFill/>
          <a:ln/>
        </p:spPr>
        <p:txBody>
          <a:bodyPr wrap="square" lIns="0" tIns="0" rIns="0" bIns="0" rtlCol="0" anchor="ctr"/>
          <a:lstStyle/>
          <a:p>
            <a:pPr algn="ctr" indent="0" marL="0">
              <a:buNone/>
            </a:pPr>
            <a:r>
              <a:rPr lang="en-US" sz="2200" b="1" spc="1000" kern="0" dirty="0">
                <a:solidFill>
                  <a:srgbClr val="FFB627"/>
                </a:solidFill>
                <a:latin typeface="Georgia" pitchFamily="34" charset="0"/>
                <a:ea typeface="Georgia" pitchFamily="34" charset="-122"/>
                <a:cs typeface="Georgia" pitchFamily="34" charset="-120"/>
              </a:rPr>
              <a:t>ARTIFICIAL INTELLIGENCE</a:t>
            </a:r>
            <a:endParaRPr lang="en-US" sz="2200" dirty="0"/>
          </a:p>
        </p:txBody>
      </p:sp>
      <p:sp>
        <p:nvSpPr>
          <p:cNvPr id="8" name="Text 5"/>
          <p:cNvSpPr/>
          <p:nvPr/>
        </p:nvSpPr>
        <p:spPr>
          <a:xfrm>
            <a:off x="457200" y="3200400"/>
            <a:ext cx="11247120" cy="1005840"/>
          </a:xfrm>
          <a:prstGeom prst="rect">
            <a:avLst/>
          </a:prstGeom>
          <a:noFill/>
          <a:ln/>
        </p:spPr>
        <p:txBody>
          <a:bodyPr wrap="square" lIns="0" tIns="0" rIns="0" bIns="0" rtlCol="0" anchor="ctr"/>
          <a:lstStyle/>
          <a:p>
            <a:pPr algn="ctr" indent="0" marL="0">
              <a:buNone/>
            </a:pPr>
            <a:r>
              <a:rPr lang="en-US" sz="6800" b="1" dirty="0">
                <a:solidFill>
                  <a:srgbClr val="FFFFFF"/>
                </a:solidFill>
                <a:latin typeface="Georgia" pitchFamily="34" charset="0"/>
                <a:ea typeface="Georgia" pitchFamily="34" charset="-122"/>
                <a:cs typeface="Georgia" pitchFamily="34" charset="-120"/>
              </a:rPr>
              <a:t>in Healthcare</a:t>
            </a:r>
            <a:endParaRPr lang="en-US" sz="6800" dirty="0"/>
          </a:p>
        </p:txBody>
      </p:sp>
      <p:sp>
        <p:nvSpPr>
          <p:cNvPr id="9" name="Shape 6"/>
          <p:cNvSpPr/>
          <p:nvPr/>
        </p:nvSpPr>
        <p:spPr>
          <a:xfrm>
            <a:off x="5532120" y="4343400"/>
            <a:ext cx="1097280" cy="45720"/>
          </a:xfrm>
          <a:prstGeom prst="rect">
            <a:avLst/>
          </a:prstGeom>
          <a:solidFill>
            <a:srgbClr val="FFB627"/>
          </a:solidFill>
          <a:ln w="12700">
            <a:solidFill>
              <a:srgbClr val="FFB627"/>
            </a:solidFill>
            <a:prstDash val="solid"/>
          </a:ln>
        </p:spPr>
      </p:sp>
      <p:sp>
        <p:nvSpPr>
          <p:cNvPr id="10" name="Text 7"/>
          <p:cNvSpPr/>
          <p:nvPr/>
        </p:nvSpPr>
        <p:spPr>
          <a:xfrm>
            <a:off x="457200" y="4526280"/>
            <a:ext cx="11247120" cy="411480"/>
          </a:xfrm>
          <a:prstGeom prst="rect">
            <a:avLst/>
          </a:prstGeom>
          <a:noFill/>
          <a:ln/>
        </p:spPr>
        <p:txBody>
          <a:bodyPr wrap="square" lIns="0" tIns="0" rIns="0" bIns="0" rtlCol="0" anchor="ctr"/>
          <a:lstStyle/>
          <a:p>
            <a:pPr algn="ctr" indent="0" marL="0">
              <a:buNone/>
            </a:pPr>
            <a:r>
              <a:rPr lang="en-US" sz="2000" i="1" dirty="0">
                <a:solidFill>
                  <a:srgbClr val="CBD5E1"/>
                </a:solidFill>
                <a:latin typeface="Calibri" pitchFamily="34" charset="0"/>
                <a:ea typeface="Calibri" pitchFamily="34" charset="-122"/>
                <a:cs typeface="Calibri" pitchFamily="34" charset="-120"/>
              </a:rPr>
              <a:t>How smart machines are quietly making medicine</a:t>
            </a:r>
            <a:endParaRPr lang="en-US" sz="2000" dirty="0"/>
          </a:p>
        </p:txBody>
      </p:sp>
      <p:sp>
        <p:nvSpPr>
          <p:cNvPr id="11" name="Text 8"/>
          <p:cNvSpPr/>
          <p:nvPr/>
        </p:nvSpPr>
        <p:spPr>
          <a:xfrm>
            <a:off x="457200" y="4937760"/>
            <a:ext cx="11247120" cy="411480"/>
          </a:xfrm>
          <a:prstGeom prst="rect">
            <a:avLst/>
          </a:prstGeom>
          <a:noFill/>
          <a:ln/>
        </p:spPr>
        <p:txBody>
          <a:bodyPr wrap="square" lIns="0" tIns="0" rIns="0" bIns="0" rtlCol="0" anchor="ctr"/>
          <a:lstStyle/>
          <a:p>
            <a:pPr algn="ctr" indent="0" marL="0">
              <a:buNone/>
            </a:pPr>
            <a:r>
              <a:rPr lang="en-US" sz="2000" i="1" dirty="0">
                <a:solidFill>
                  <a:srgbClr val="CBD5E1"/>
                </a:solidFill>
                <a:latin typeface="Calibri" pitchFamily="34" charset="0"/>
                <a:ea typeface="Calibri" pitchFamily="34" charset="-122"/>
                <a:cs typeface="Calibri" pitchFamily="34" charset="-120"/>
              </a:rPr>
              <a:t>faster, safer, and available to more people than ever before.</a:t>
            </a:r>
            <a:endParaRPr lang="en-US" sz="2000" dirty="0"/>
          </a:p>
        </p:txBody>
      </p:sp>
      <p:sp>
        <p:nvSpPr>
          <p:cNvPr id="12" name="Text 9"/>
          <p:cNvSpPr/>
          <p:nvPr/>
        </p:nvSpPr>
        <p:spPr>
          <a:xfrm>
            <a:off x="457200" y="5760720"/>
            <a:ext cx="11247120" cy="365760"/>
          </a:xfrm>
          <a:prstGeom prst="rect">
            <a:avLst/>
          </a:prstGeom>
          <a:noFill/>
          <a:ln/>
        </p:spPr>
        <p:txBody>
          <a:bodyPr wrap="square" rtlCol="0" anchor="ctr"/>
          <a:lstStyle/>
          <a:p>
            <a:pPr algn="ctr" indent="0" marL="0">
              <a:buNone/>
            </a:pPr>
            <a:r>
              <a:rPr lang="en-US" sz="1300" spc="200" kern="0" dirty="0">
                <a:solidFill>
                  <a:srgbClr val="94A3B8"/>
                </a:solidFill>
                <a:latin typeface="Calibri" pitchFamily="34" charset="0"/>
                <a:ea typeface="Calibri" pitchFamily="34" charset="-122"/>
                <a:cs typeface="Calibri" pitchFamily="34" charset="-120"/>
              </a:rPr>
              <a:t>A Plain-Language Awareness Seminar  ·  No Technical Background Required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What We'll Cover Today</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A friendly tour through medicine, machines, and the meeting point</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91640"/>
            <a:ext cx="6583680" cy="594360"/>
          </a:xfrm>
          <a:prstGeom prst="rect">
            <a:avLst/>
          </a:prstGeom>
          <a:solidFill>
            <a:srgbClr val="F9FBFC"/>
          </a:solidFill>
          <a:ln w="9525">
            <a:solidFill>
              <a:srgbClr val="E1E8ED"/>
            </a:solidFill>
            <a:prstDash val="solid"/>
          </a:ln>
        </p:spPr>
      </p:sp>
      <p:sp>
        <p:nvSpPr>
          <p:cNvPr id="7" name="Shape 5"/>
          <p:cNvSpPr/>
          <p:nvPr/>
        </p:nvSpPr>
        <p:spPr>
          <a:xfrm>
            <a:off x="777240" y="1691640"/>
            <a:ext cx="594360" cy="594360"/>
          </a:xfrm>
          <a:prstGeom prst="rect">
            <a:avLst/>
          </a:prstGeom>
          <a:solidFill>
            <a:srgbClr val="0E7C7B"/>
          </a:solidFill>
          <a:ln w="12700">
            <a:solidFill>
              <a:srgbClr val="0E7C7B"/>
            </a:solidFill>
            <a:prstDash val="solid"/>
          </a:ln>
        </p:spPr>
      </p:sp>
      <p:sp>
        <p:nvSpPr>
          <p:cNvPr id="8" name="Text 6"/>
          <p:cNvSpPr/>
          <p:nvPr/>
        </p:nvSpPr>
        <p:spPr>
          <a:xfrm>
            <a:off x="777240" y="16916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9" name="Text 7"/>
          <p:cNvSpPr/>
          <p:nvPr/>
        </p:nvSpPr>
        <p:spPr>
          <a:xfrm>
            <a:off x="1508760" y="1737360"/>
            <a:ext cx="5669280" cy="292608"/>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Why Healthcare Needs Help</a:t>
            </a:r>
            <a:endParaRPr lang="en-US" sz="1700" dirty="0"/>
          </a:p>
        </p:txBody>
      </p:sp>
      <p:sp>
        <p:nvSpPr>
          <p:cNvPr id="10" name="Text 8"/>
          <p:cNvSpPr/>
          <p:nvPr/>
        </p:nvSpPr>
        <p:spPr>
          <a:xfrm>
            <a:off x="1508760" y="2002536"/>
            <a:ext cx="5669280" cy="256032"/>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The real problems patients and doctors face today</a:t>
            </a:r>
            <a:endParaRPr lang="en-US" sz="1200" dirty="0"/>
          </a:p>
        </p:txBody>
      </p:sp>
      <p:sp>
        <p:nvSpPr>
          <p:cNvPr id="11" name="Shape 9"/>
          <p:cNvSpPr/>
          <p:nvPr/>
        </p:nvSpPr>
        <p:spPr>
          <a:xfrm>
            <a:off x="777240" y="2404872"/>
            <a:ext cx="6583680" cy="594360"/>
          </a:xfrm>
          <a:prstGeom prst="rect">
            <a:avLst/>
          </a:prstGeom>
          <a:solidFill>
            <a:srgbClr val="F9FBFC"/>
          </a:solidFill>
          <a:ln w="9525">
            <a:solidFill>
              <a:srgbClr val="E1E8ED"/>
            </a:solidFill>
            <a:prstDash val="solid"/>
          </a:ln>
        </p:spPr>
      </p:sp>
      <p:sp>
        <p:nvSpPr>
          <p:cNvPr id="12" name="Shape 10"/>
          <p:cNvSpPr/>
          <p:nvPr/>
        </p:nvSpPr>
        <p:spPr>
          <a:xfrm>
            <a:off x="777240" y="2404872"/>
            <a:ext cx="594360" cy="594360"/>
          </a:xfrm>
          <a:prstGeom prst="rect">
            <a:avLst/>
          </a:prstGeom>
          <a:solidFill>
            <a:srgbClr val="0E7C7B"/>
          </a:solidFill>
          <a:ln w="12700">
            <a:solidFill>
              <a:srgbClr val="0E7C7B"/>
            </a:solidFill>
            <a:prstDash val="solid"/>
          </a:ln>
        </p:spPr>
      </p:sp>
      <p:sp>
        <p:nvSpPr>
          <p:cNvPr id="13" name="Text 11"/>
          <p:cNvSpPr/>
          <p:nvPr/>
        </p:nvSpPr>
        <p:spPr>
          <a:xfrm>
            <a:off x="777240" y="2404872"/>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4" name="Text 12"/>
          <p:cNvSpPr/>
          <p:nvPr/>
        </p:nvSpPr>
        <p:spPr>
          <a:xfrm>
            <a:off x="1508760" y="2450592"/>
            <a:ext cx="5669280" cy="292608"/>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Three Real-Life Stories</a:t>
            </a:r>
            <a:endParaRPr lang="en-US" sz="1700" dirty="0"/>
          </a:p>
        </p:txBody>
      </p:sp>
      <p:sp>
        <p:nvSpPr>
          <p:cNvPr id="15" name="Text 13"/>
          <p:cNvSpPr/>
          <p:nvPr/>
        </p:nvSpPr>
        <p:spPr>
          <a:xfrm>
            <a:off x="1508760" y="2715768"/>
            <a:ext cx="5669280" cy="256032"/>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Meet Sara, Ahmed, and Maya — and see what slows them down</a:t>
            </a:r>
            <a:endParaRPr lang="en-US" sz="1200" dirty="0"/>
          </a:p>
        </p:txBody>
      </p:sp>
      <p:sp>
        <p:nvSpPr>
          <p:cNvPr id="16" name="Shape 14"/>
          <p:cNvSpPr/>
          <p:nvPr/>
        </p:nvSpPr>
        <p:spPr>
          <a:xfrm>
            <a:off x="777240" y="3118104"/>
            <a:ext cx="6583680" cy="594360"/>
          </a:xfrm>
          <a:prstGeom prst="rect">
            <a:avLst/>
          </a:prstGeom>
          <a:solidFill>
            <a:srgbClr val="F9FBFC"/>
          </a:solidFill>
          <a:ln w="9525">
            <a:solidFill>
              <a:srgbClr val="E1E8ED"/>
            </a:solidFill>
            <a:prstDash val="solid"/>
          </a:ln>
        </p:spPr>
      </p:sp>
      <p:sp>
        <p:nvSpPr>
          <p:cNvPr id="17" name="Shape 15"/>
          <p:cNvSpPr/>
          <p:nvPr/>
        </p:nvSpPr>
        <p:spPr>
          <a:xfrm>
            <a:off x="777240" y="3118104"/>
            <a:ext cx="594360" cy="594360"/>
          </a:xfrm>
          <a:prstGeom prst="rect">
            <a:avLst/>
          </a:prstGeom>
          <a:solidFill>
            <a:srgbClr val="0E7C7B"/>
          </a:solidFill>
          <a:ln w="12700">
            <a:solidFill>
              <a:srgbClr val="0E7C7B"/>
            </a:solidFill>
            <a:prstDash val="solid"/>
          </a:ln>
        </p:spPr>
      </p:sp>
      <p:sp>
        <p:nvSpPr>
          <p:cNvPr id="18" name="Text 16"/>
          <p:cNvSpPr/>
          <p:nvPr/>
        </p:nvSpPr>
        <p:spPr>
          <a:xfrm>
            <a:off x="777240" y="3118104"/>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19" name="Text 17"/>
          <p:cNvSpPr/>
          <p:nvPr/>
        </p:nvSpPr>
        <p:spPr>
          <a:xfrm>
            <a:off x="1508760" y="3163824"/>
            <a:ext cx="5669280" cy="292608"/>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What AI Actually Is</a:t>
            </a:r>
            <a:endParaRPr lang="en-US" sz="1700" dirty="0"/>
          </a:p>
        </p:txBody>
      </p:sp>
      <p:sp>
        <p:nvSpPr>
          <p:cNvPr id="20" name="Text 18"/>
          <p:cNvSpPr/>
          <p:nvPr/>
        </p:nvSpPr>
        <p:spPr>
          <a:xfrm>
            <a:off x="1508760" y="3429000"/>
            <a:ext cx="5669280" cy="256032"/>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In simple words, with everyday comparisons</a:t>
            </a:r>
            <a:endParaRPr lang="en-US" sz="1200" dirty="0"/>
          </a:p>
        </p:txBody>
      </p:sp>
      <p:sp>
        <p:nvSpPr>
          <p:cNvPr id="21" name="Shape 19"/>
          <p:cNvSpPr/>
          <p:nvPr/>
        </p:nvSpPr>
        <p:spPr>
          <a:xfrm>
            <a:off x="777240" y="3831336"/>
            <a:ext cx="6583680" cy="594360"/>
          </a:xfrm>
          <a:prstGeom prst="rect">
            <a:avLst/>
          </a:prstGeom>
          <a:solidFill>
            <a:srgbClr val="F9FBFC"/>
          </a:solidFill>
          <a:ln w="9525">
            <a:solidFill>
              <a:srgbClr val="E1E8ED"/>
            </a:solidFill>
            <a:prstDash val="solid"/>
          </a:ln>
        </p:spPr>
      </p:sp>
      <p:sp>
        <p:nvSpPr>
          <p:cNvPr id="22" name="Shape 20"/>
          <p:cNvSpPr/>
          <p:nvPr/>
        </p:nvSpPr>
        <p:spPr>
          <a:xfrm>
            <a:off x="777240" y="3831336"/>
            <a:ext cx="594360" cy="594360"/>
          </a:xfrm>
          <a:prstGeom prst="rect">
            <a:avLst/>
          </a:prstGeom>
          <a:solidFill>
            <a:srgbClr val="0E7C7B"/>
          </a:solidFill>
          <a:ln w="12700">
            <a:solidFill>
              <a:srgbClr val="0E7C7B"/>
            </a:solidFill>
            <a:prstDash val="solid"/>
          </a:ln>
        </p:spPr>
      </p:sp>
      <p:sp>
        <p:nvSpPr>
          <p:cNvPr id="23" name="Text 21"/>
          <p:cNvSpPr/>
          <p:nvPr/>
        </p:nvSpPr>
        <p:spPr>
          <a:xfrm>
            <a:off x="777240" y="3831336"/>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04</a:t>
            </a:r>
            <a:endParaRPr lang="en-US" sz="1600" dirty="0"/>
          </a:p>
        </p:txBody>
      </p:sp>
      <p:sp>
        <p:nvSpPr>
          <p:cNvPr id="24" name="Text 22"/>
          <p:cNvSpPr/>
          <p:nvPr/>
        </p:nvSpPr>
        <p:spPr>
          <a:xfrm>
            <a:off x="1508760" y="3877056"/>
            <a:ext cx="5669280" cy="292608"/>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How AI Helps in Each Story</a:t>
            </a:r>
            <a:endParaRPr lang="en-US" sz="1700" dirty="0"/>
          </a:p>
        </p:txBody>
      </p:sp>
      <p:sp>
        <p:nvSpPr>
          <p:cNvPr id="25" name="Text 23"/>
          <p:cNvSpPr/>
          <p:nvPr/>
        </p:nvSpPr>
        <p:spPr>
          <a:xfrm>
            <a:off x="1508760" y="4142232"/>
            <a:ext cx="5669280" cy="256032"/>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The same situations — but with smart assistance</a:t>
            </a:r>
            <a:endParaRPr lang="en-US" sz="1200" dirty="0"/>
          </a:p>
        </p:txBody>
      </p:sp>
      <p:sp>
        <p:nvSpPr>
          <p:cNvPr id="26" name="Shape 24"/>
          <p:cNvSpPr/>
          <p:nvPr/>
        </p:nvSpPr>
        <p:spPr>
          <a:xfrm>
            <a:off x="777240" y="4544568"/>
            <a:ext cx="6583680" cy="594360"/>
          </a:xfrm>
          <a:prstGeom prst="rect">
            <a:avLst/>
          </a:prstGeom>
          <a:solidFill>
            <a:srgbClr val="F9FBFC"/>
          </a:solidFill>
          <a:ln w="9525">
            <a:solidFill>
              <a:srgbClr val="E1E8ED"/>
            </a:solidFill>
            <a:prstDash val="solid"/>
          </a:ln>
        </p:spPr>
      </p:sp>
      <p:sp>
        <p:nvSpPr>
          <p:cNvPr id="27" name="Shape 25"/>
          <p:cNvSpPr/>
          <p:nvPr/>
        </p:nvSpPr>
        <p:spPr>
          <a:xfrm>
            <a:off x="777240" y="4544568"/>
            <a:ext cx="594360" cy="594360"/>
          </a:xfrm>
          <a:prstGeom prst="rect">
            <a:avLst/>
          </a:prstGeom>
          <a:solidFill>
            <a:srgbClr val="0E7C7B"/>
          </a:solidFill>
          <a:ln w="12700">
            <a:solidFill>
              <a:srgbClr val="0E7C7B"/>
            </a:solidFill>
            <a:prstDash val="solid"/>
          </a:ln>
        </p:spPr>
      </p:sp>
      <p:sp>
        <p:nvSpPr>
          <p:cNvPr id="28" name="Text 26"/>
          <p:cNvSpPr/>
          <p:nvPr/>
        </p:nvSpPr>
        <p:spPr>
          <a:xfrm>
            <a:off x="777240" y="4544568"/>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05</a:t>
            </a:r>
            <a:endParaRPr lang="en-US" sz="1600" dirty="0"/>
          </a:p>
        </p:txBody>
      </p:sp>
      <p:sp>
        <p:nvSpPr>
          <p:cNvPr id="29" name="Text 27"/>
          <p:cNvSpPr/>
          <p:nvPr/>
        </p:nvSpPr>
        <p:spPr>
          <a:xfrm>
            <a:off x="1508760" y="4590288"/>
            <a:ext cx="5669280" cy="292608"/>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Different Kinds of AI Tools</a:t>
            </a:r>
            <a:endParaRPr lang="en-US" sz="1700" dirty="0"/>
          </a:p>
        </p:txBody>
      </p:sp>
      <p:sp>
        <p:nvSpPr>
          <p:cNvPr id="30" name="Text 28"/>
          <p:cNvSpPr/>
          <p:nvPr/>
        </p:nvSpPr>
        <p:spPr>
          <a:xfrm>
            <a:off x="1508760" y="4855464"/>
            <a:ext cx="5669280" cy="256032"/>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AI that sees, AI that reads, AI that predicts</a:t>
            </a:r>
            <a:endParaRPr lang="en-US" sz="1200" dirty="0"/>
          </a:p>
        </p:txBody>
      </p:sp>
      <p:sp>
        <p:nvSpPr>
          <p:cNvPr id="31" name="Shape 29"/>
          <p:cNvSpPr/>
          <p:nvPr/>
        </p:nvSpPr>
        <p:spPr>
          <a:xfrm>
            <a:off x="777240" y="5257800"/>
            <a:ext cx="6583680" cy="594360"/>
          </a:xfrm>
          <a:prstGeom prst="rect">
            <a:avLst/>
          </a:prstGeom>
          <a:solidFill>
            <a:srgbClr val="F9FBFC"/>
          </a:solidFill>
          <a:ln w="9525">
            <a:solidFill>
              <a:srgbClr val="E1E8ED"/>
            </a:solidFill>
            <a:prstDash val="solid"/>
          </a:ln>
        </p:spPr>
      </p:sp>
      <p:sp>
        <p:nvSpPr>
          <p:cNvPr id="32" name="Shape 30"/>
          <p:cNvSpPr/>
          <p:nvPr/>
        </p:nvSpPr>
        <p:spPr>
          <a:xfrm>
            <a:off x="777240" y="5257800"/>
            <a:ext cx="594360" cy="594360"/>
          </a:xfrm>
          <a:prstGeom prst="rect">
            <a:avLst/>
          </a:prstGeom>
          <a:solidFill>
            <a:srgbClr val="0E7C7B"/>
          </a:solidFill>
          <a:ln w="12700">
            <a:solidFill>
              <a:srgbClr val="0E7C7B"/>
            </a:solidFill>
            <a:prstDash val="solid"/>
          </a:ln>
        </p:spPr>
      </p:sp>
      <p:sp>
        <p:nvSpPr>
          <p:cNvPr id="33" name="Text 31"/>
          <p:cNvSpPr/>
          <p:nvPr/>
        </p:nvSpPr>
        <p:spPr>
          <a:xfrm>
            <a:off x="777240" y="525780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06</a:t>
            </a:r>
            <a:endParaRPr lang="en-US" sz="1600" dirty="0"/>
          </a:p>
        </p:txBody>
      </p:sp>
      <p:sp>
        <p:nvSpPr>
          <p:cNvPr id="34" name="Text 32"/>
          <p:cNvSpPr/>
          <p:nvPr/>
        </p:nvSpPr>
        <p:spPr>
          <a:xfrm>
            <a:off x="1508760" y="5303520"/>
            <a:ext cx="5669280" cy="292608"/>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What This Means for You</a:t>
            </a:r>
            <a:endParaRPr lang="en-US" sz="1700" dirty="0"/>
          </a:p>
        </p:txBody>
      </p:sp>
      <p:sp>
        <p:nvSpPr>
          <p:cNvPr id="35" name="Text 33"/>
          <p:cNvSpPr/>
          <p:nvPr/>
        </p:nvSpPr>
        <p:spPr>
          <a:xfrm>
            <a:off x="1508760" y="5568696"/>
            <a:ext cx="5669280" cy="256032"/>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Benefits, concerns, and what to expect next</a:t>
            </a:r>
            <a:endParaRPr lang="en-US" sz="1200" dirty="0"/>
          </a:p>
        </p:txBody>
      </p:sp>
      <p:sp>
        <p:nvSpPr>
          <p:cNvPr id="36" name="Shape 34"/>
          <p:cNvSpPr/>
          <p:nvPr/>
        </p:nvSpPr>
        <p:spPr>
          <a:xfrm>
            <a:off x="7680960" y="1691640"/>
            <a:ext cx="4023360" cy="4572000"/>
          </a:xfrm>
          <a:prstGeom prst="rect">
            <a:avLst/>
          </a:prstGeom>
          <a:solidFill>
            <a:srgbClr val="0B2545"/>
          </a:solidFill>
          <a:ln w="12700">
            <a:solidFill>
              <a:srgbClr val="0B2545"/>
            </a:solidFill>
            <a:prstDash val="solid"/>
          </a:ln>
        </p:spPr>
      </p:sp>
      <p:pic>
        <p:nvPicPr>
          <p:cNvPr id="37" name="Image 0" descr="preencoded.png">    </p:cNvPr>
          <p:cNvPicPr>
            <a:picLocks noChangeAspect="1"/>
          </p:cNvPicPr>
          <p:nvPr/>
        </p:nvPicPr>
        <p:blipFill>
          <a:blip r:embed="rId1"/>
          <a:stretch>
            <a:fillRect/>
          </a:stretch>
        </p:blipFill>
        <p:spPr>
          <a:xfrm>
            <a:off x="7955280" y="1920240"/>
            <a:ext cx="502920" cy="502920"/>
          </a:xfrm>
          <a:prstGeom prst="rect">
            <a:avLst/>
          </a:prstGeom>
        </p:spPr>
      </p:pic>
      <p:sp>
        <p:nvSpPr>
          <p:cNvPr id="38" name="Text 35"/>
          <p:cNvSpPr/>
          <p:nvPr/>
        </p:nvSpPr>
        <p:spPr>
          <a:xfrm>
            <a:off x="7955280" y="2606040"/>
            <a:ext cx="3566160" cy="320040"/>
          </a:xfrm>
          <a:prstGeom prst="rect">
            <a:avLst/>
          </a:prstGeom>
          <a:noFill/>
          <a:ln/>
        </p:spPr>
        <p:txBody>
          <a:bodyPr wrap="square" lIns="0" tIns="0" rIns="0" bIns="0" rtlCol="0" anchor="ctr"/>
          <a:lstStyle/>
          <a:p>
            <a:pPr indent="0" marL="0">
              <a:buNone/>
            </a:pPr>
            <a:r>
              <a:rPr lang="en-US" sz="1100" b="1" spc="400" kern="0" dirty="0">
                <a:solidFill>
                  <a:srgbClr val="FFB627"/>
                </a:solidFill>
                <a:latin typeface="Calibri" pitchFamily="34" charset="0"/>
                <a:ea typeface="Calibri" pitchFamily="34" charset="-122"/>
                <a:cs typeface="Calibri" pitchFamily="34" charset="-120"/>
              </a:rPr>
              <a:t>OUR PROMISE TODAY</a:t>
            </a:r>
            <a:endParaRPr lang="en-US" sz="1100" dirty="0"/>
          </a:p>
        </p:txBody>
      </p:sp>
      <p:sp>
        <p:nvSpPr>
          <p:cNvPr id="39" name="Text 36"/>
          <p:cNvSpPr/>
          <p:nvPr/>
        </p:nvSpPr>
        <p:spPr>
          <a:xfrm>
            <a:off x="7955280" y="3017520"/>
            <a:ext cx="3566160" cy="3108960"/>
          </a:xfrm>
          <a:prstGeom prst="rect">
            <a:avLst/>
          </a:prstGeom>
          <a:noFill/>
          <a:ln/>
        </p:spPr>
        <p:txBody>
          <a:bodyPr wrap="square" rtlCol="0" anchor="t"/>
          <a:lstStyle/>
          <a:p>
            <a:pPr indent="0" marL="0">
              <a:spcAft>
                <a:spcPts val="400"/>
              </a:spcAft>
              <a:buNone/>
            </a:pPr>
            <a:r>
              <a:rPr lang="en-US" sz="1700" b="1" dirty="0">
                <a:solidFill>
                  <a:srgbClr val="FFFFFF"/>
                </a:solidFill>
                <a:latin typeface="Calibri" pitchFamily="34" charset="0"/>
                <a:ea typeface="Calibri" pitchFamily="34" charset="-122"/>
                <a:cs typeface="Calibri" pitchFamily="34" charset="-120"/>
              </a:rPr>
              <a:t>No technical jargon.</a:t>
            </a:r>
            <a:endParaRPr lang="en-US" sz="1700" dirty="0"/>
          </a:p>
          <a:p>
            <a:pPr indent="0" marL="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spcAft>
                <a:spcPts val="400"/>
              </a:spcAft>
              <a:buNone/>
            </a:pPr>
            <a:r>
              <a:rPr lang="en-US" sz="1400" dirty="0">
                <a:solidFill>
                  <a:srgbClr val="CBD5E1"/>
                </a:solidFill>
                <a:latin typeface="Calibri" pitchFamily="34" charset="0"/>
                <a:ea typeface="Calibri" pitchFamily="34" charset="-122"/>
                <a:cs typeface="Calibri" pitchFamily="34" charset="-120"/>
              </a:rPr>
              <a:t>No assumptions about your background.</a:t>
            </a:r>
            <a:endParaRPr lang="en-US" sz="1700" dirty="0"/>
          </a:p>
          <a:p>
            <a:pPr indent="0" marL="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spcAft>
                <a:spcPts val="400"/>
              </a:spcAft>
              <a:buNone/>
            </a:pPr>
            <a:r>
              <a:rPr lang="en-US" sz="1400" i="1" dirty="0">
                <a:solidFill>
                  <a:srgbClr val="CBD5E1"/>
                </a:solidFill>
                <a:latin typeface="Calibri" pitchFamily="34" charset="0"/>
                <a:ea typeface="Calibri" pitchFamily="34" charset="-122"/>
                <a:cs typeface="Calibri" pitchFamily="34" charset="-120"/>
              </a:rPr>
              <a:t>Just clear ideas, real stories, and a glimpse of how technology is gently changing the way medicine reaches people.</a:t>
            </a:r>
            <a:endParaRPr lang="en-US" sz="1700" dirty="0"/>
          </a:p>
        </p:txBody>
      </p:sp>
      <p:sp>
        <p:nvSpPr>
          <p:cNvPr id="40" name="Text 37"/>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41" name="Text 38"/>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02  /  20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Why Healthcare Needs a Helping Hand</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Modern medicine works miracles — but it's also stretched very thin</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Text 4"/>
          <p:cNvSpPr/>
          <p:nvPr/>
        </p:nvSpPr>
        <p:spPr>
          <a:xfrm>
            <a:off x="777240" y="1600200"/>
            <a:ext cx="10607040" cy="822960"/>
          </a:xfrm>
          <a:prstGeom prst="rect">
            <a:avLst/>
          </a:prstGeom>
          <a:noFill/>
          <a:ln/>
        </p:spPr>
        <p:txBody>
          <a:bodyPr wrap="square" rtlCol="0" anchor="t"/>
          <a:lstStyle/>
          <a:p>
            <a:pPr indent="0" marL="0">
              <a:buNone/>
            </a:pPr>
            <a:r>
              <a:rPr lang="en-US" sz="1500" dirty="0">
                <a:solidFill>
                  <a:srgbClr val="1A2332"/>
                </a:solidFill>
                <a:latin typeface="Calibri" pitchFamily="34" charset="0"/>
                <a:ea typeface="Calibri" pitchFamily="34" charset="-122"/>
                <a:cs typeface="Calibri" pitchFamily="34" charset="-120"/>
              </a:rPr>
              <a:t>Across the world, hospitals are full, doctors are exhausted, and patients often wait far too long to get answers. </a:t>
            </a:r>
            <a:pPr indent="0" marL="0">
              <a:buNone/>
            </a:pPr>
            <a:r>
              <a:rPr lang="en-US" sz="1500" dirty="0">
                <a:solidFill>
                  <a:srgbClr val="1A2332"/>
                </a:solidFill>
                <a:latin typeface="Calibri" pitchFamily="34" charset="0"/>
                <a:ea typeface="Calibri" pitchFamily="34" charset="-122"/>
                <a:cs typeface="Calibri" pitchFamily="34" charset="-120"/>
              </a:rPr>
              <a:t>This isn't because medicine has failed — it's because there are simply not enough trained specialists to look at every X-ray, every test, and every patient file in time.</a:t>
            </a:r>
            <a:endParaRPr lang="en-US" sz="1500" dirty="0"/>
          </a:p>
        </p:txBody>
      </p:sp>
      <p:sp>
        <p:nvSpPr>
          <p:cNvPr id="7" name="Shape 5"/>
          <p:cNvSpPr/>
          <p:nvPr/>
        </p:nvSpPr>
        <p:spPr>
          <a:xfrm>
            <a:off x="777240" y="2606040"/>
            <a:ext cx="2606040" cy="27432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8" name="Shape 6"/>
          <p:cNvSpPr/>
          <p:nvPr/>
        </p:nvSpPr>
        <p:spPr>
          <a:xfrm>
            <a:off x="777240" y="2606040"/>
            <a:ext cx="2606040" cy="109728"/>
          </a:xfrm>
          <a:prstGeom prst="rect">
            <a:avLst/>
          </a:prstGeom>
          <a:solidFill>
            <a:srgbClr val="0E7C7B"/>
          </a:solidFill>
          <a:ln w="12700">
            <a:solidFill>
              <a:srgbClr val="0E7C7B"/>
            </a:solidFill>
            <a:prstDash val="solid"/>
          </a:ln>
        </p:spPr>
      </p:sp>
      <p:sp>
        <p:nvSpPr>
          <p:cNvPr id="9" name="Shape 7"/>
          <p:cNvSpPr/>
          <p:nvPr/>
        </p:nvSpPr>
        <p:spPr>
          <a:xfrm>
            <a:off x="1714500" y="2926080"/>
            <a:ext cx="731520" cy="731520"/>
          </a:xfrm>
          <a:prstGeom prst="ellipse">
            <a:avLst/>
          </a:prstGeom>
          <a:solidFill>
            <a:srgbClr val="0E7C7B"/>
          </a:solidFill>
          <a:ln w="12700">
            <a:solidFill>
              <a:srgbClr val="0E7C7B"/>
            </a:solidFill>
            <a:prstDash val="solid"/>
          </a:ln>
        </p:spPr>
      </p:sp>
      <p:pic>
        <p:nvPicPr>
          <p:cNvPr id="10" name="Image 0" descr="preencoded.png">    </p:cNvPr>
          <p:cNvPicPr>
            <a:picLocks noChangeAspect="1"/>
          </p:cNvPicPr>
          <p:nvPr/>
        </p:nvPicPr>
        <p:blipFill>
          <a:blip r:embed="rId1"/>
          <a:stretch>
            <a:fillRect/>
          </a:stretch>
        </p:blipFill>
        <p:spPr>
          <a:xfrm>
            <a:off x="1879092" y="3090672"/>
            <a:ext cx="402336" cy="402336"/>
          </a:xfrm>
          <a:prstGeom prst="rect">
            <a:avLst/>
          </a:prstGeom>
        </p:spPr>
      </p:pic>
      <p:sp>
        <p:nvSpPr>
          <p:cNvPr id="11" name="Text 8"/>
          <p:cNvSpPr/>
          <p:nvPr/>
        </p:nvSpPr>
        <p:spPr>
          <a:xfrm>
            <a:off x="868680" y="3794760"/>
            <a:ext cx="2423160" cy="640080"/>
          </a:xfrm>
          <a:prstGeom prst="rect">
            <a:avLst/>
          </a:prstGeom>
          <a:noFill/>
          <a:ln/>
        </p:spPr>
        <p:txBody>
          <a:bodyPr wrap="square" lIns="0" tIns="0" rIns="0" bIns="0" rtlCol="0" anchor="ctr"/>
          <a:lstStyle/>
          <a:p>
            <a:pPr algn="ctr" indent="0" marL="0">
              <a:buNone/>
            </a:pPr>
            <a:r>
              <a:rPr lang="en-US" sz="3600" b="1" dirty="0">
                <a:solidFill>
                  <a:srgbClr val="0E7C7B"/>
                </a:solidFill>
                <a:latin typeface="Georgia" pitchFamily="34" charset="0"/>
                <a:ea typeface="Georgia" pitchFamily="34" charset="-122"/>
                <a:cs typeface="Georgia" pitchFamily="34" charset="-120"/>
              </a:rPr>
              <a:t>5.5 B</a:t>
            </a:r>
            <a:endParaRPr lang="en-US" sz="3600" dirty="0"/>
          </a:p>
        </p:txBody>
      </p:sp>
      <p:sp>
        <p:nvSpPr>
          <p:cNvPr id="12" name="Text 9"/>
          <p:cNvSpPr/>
          <p:nvPr/>
        </p:nvSpPr>
        <p:spPr>
          <a:xfrm>
            <a:off x="1005840" y="4480560"/>
            <a:ext cx="2148840" cy="777240"/>
          </a:xfrm>
          <a:prstGeom prst="rect">
            <a:avLst/>
          </a:prstGeom>
          <a:noFill/>
          <a:ln/>
        </p:spPr>
        <p:txBody>
          <a:bodyPr wrap="square" lIns="0" tIns="0" rIns="0" bIns="0" rtlCol="0" anchor="t"/>
          <a:lstStyle/>
          <a:p>
            <a:pPr algn="ctr" indent="0" marL="0">
              <a:buNone/>
            </a:pPr>
            <a:r>
              <a:rPr lang="en-US" sz="1250" dirty="0">
                <a:solidFill>
                  <a:srgbClr val="1A2332"/>
                </a:solidFill>
                <a:latin typeface="Calibri" pitchFamily="34" charset="0"/>
                <a:ea typeface="Calibri" pitchFamily="34" charset="-122"/>
                <a:cs typeface="Calibri" pitchFamily="34" charset="-120"/>
              </a:rPr>
              <a:t>people worldwide lack access to safe, timely healthcare</a:t>
            </a:r>
            <a:endParaRPr lang="en-US" sz="1250" dirty="0"/>
          </a:p>
        </p:txBody>
      </p:sp>
      <p:sp>
        <p:nvSpPr>
          <p:cNvPr id="13" name="Shape 10"/>
          <p:cNvSpPr/>
          <p:nvPr/>
        </p:nvSpPr>
        <p:spPr>
          <a:xfrm>
            <a:off x="3547872" y="2606040"/>
            <a:ext cx="2606040" cy="27432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4" name="Shape 11"/>
          <p:cNvSpPr/>
          <p:nvPr/>
        </p:nvSpPr>
        <p:spPr>
          <a:xfrm>
            <a:off x="3547872" y="2606040"/>
            <a:ext cx="2606040" cy="109728"/>
          </a:xfrm>
          <a:prstGeom prst="rect">
            <a:avLst/>
          </a:prstGeom>
          <a:solidFill>
            <a:srgbClr val="FF6B6B"/>
          </a:solidFill>
          <a:ln w="12700">
            <a:solidFill>
              <a:srgbClr val="FF6B6B"/>
            </a:solidFill>
            <a:prstDash val="solid"/>
          </a:ln>
        </p:spPr>
      </p:sp>
      <p:sp>
        <p:nvSpPr>
          <p:cNvPr id="15" name="Shape 12"/>
          <p:cNvSpPr/>
          <p:nvPr/>
        </p:nvSpPr>
        <p:spPr>
          <a:xfrm>
            <a:off x="4485132" y="2926080"/>
            <a:ext cx="731520" cy="731520"/>
          </a:xfrm>
          <a:prstGeom prst="ellipse">
            <a:avLst/>
          </a:prstGeom>
          <a:solidFill>
            <a:srgbClr val="FF6B6B"/>
          </a:solidFill>
          <a:ln w="12700">
            <a:solidFill>
              <a:srgbClr val="FF6B6B"/>
            </a:solidFill>
            <a:prstDash val="solid"/>
          </a:ln>
        </p:spPr>
      </p:sp>
      <p:pic>
        <p:nvPicPr>
          <p:cNvPr id="16" name="Image 1" descr="preencoded.png">    </p:cNvPr>
          <p:cNvPicPr>
            <a:picLocks noChangeAspect="1"/>
          </p:cNvPicPr>
          <p:nvPr/>
        </p:nvPicPr>
        <p:blipFill>
          <a:blip r:embed="rId2"/>
          <a:stretch>
            <a:fillRect/>
          </a:stretch>
        </p:blipFill>
        <p:spPr>
          <a:xfrm>
            <a:off x="4649724" y="3090672"/>
            <a:ext cx="402336" cy="402336"/>
          </a:xfrm>
          <a:prstGeom prst="rect">
            <a:avLst/>
          </a:prstGeom>
        </p:spPr>
      </p:pic>
      <p:sp>
        <p:nvSpPr>
          <p:cNvPr id="17" name="Text 13"/>
          <p:cNvSpPr/>
          <p:nvPr/>
        </p:nvSpPr>
        <p:spPr>
          <a:xfrm>
            <a:off x="3639312" y="3794760"/>
            <a:ext cx="2423160" cy="640080"/>
          </a:xfrm>
          <a:prstGeom prst="rect">
            <a:avLst/>
          </a:prstGeom>
          <a:noFill/>
          <a:ln/>
        </p:spPr>
        <p:txBody>
          <a:bodyPr wrap="square" lIns="0" tIns="0" rIns="0" bIns="0" rtlCol="0" anchor="ctr"/>
          <a:lstStyle/>
          <a:p>
            <a:pPr algn="ctr" indent="0" marL="0">
              <a:buNone/>
            </a:pPr>
            <a:r>
              <a:rPr lang="en-US" sz="3600" b="1" dirty="0">
                <a:solidFill>
                  <a:srgbClr val="FF6B6B"/>
                </a:solidFill>
                <a:latin typeface="Georgia" pitchFamily="34" charset="0"/>
                <a:ea typeface="Georgia" pitchFamily="34" charset="-122"/>
                <a:cs typeface="Georgia" pitchFamily="34" charset="-120"/>
              </a:rPr>
              <a:t>1 in 20</a:t>
            </a:r>
            <a:endParaRPr lang="en-US" sz="3600" dirty="0"/>
          </a:p>
        </p:txBody>
      </p:sp>
      <p:sp>
        <p:nvSpPr>
          <p:cNvPr id="18" name="Text 14"/>
          <p:cNvSpPr/>
          <p:nvPr/>
        </p:nvSpPr>
        <p:spPr>
          <a:xfrm>
            <a:off x="3776472" y="4480560"/>
            <a:ext cx="2148840" cy="777240"/>
          </a:xfrm>
          <a:prstGeom prst="rect">
            <a:avLst/>
          </a:prstGeom>
          <a:noFill/>
          <a:ln/>
        </p:spPr>
        <p:txBody>
          <a:bodyPr wrap="square" lIns="0" tIns="0" rIns="0" bIns="0" rtlCol="0" anchor="t"/>
          <a:lstStyle/>
          <a:p>
            <a:pPr algn="ctr" indent="0" marL="0">
              <a:buNone/>
            </a:pPr>
            <a:r>
              <a:rPr lang="en-US" sz="1250" dirty="0">
                <a:solidFill>
                  <a:srgbClr val="1A2332"/>
                </a:solidFill>
                <a:latin typeface="Calibri" pitchFamily="34" charset="0"/>
                <a:ea typeface="Calibri" pitchFamily="34" charset="-122"/>
                <a:cs typeface="Calibri" pitchFamily="34" charset="-120"/>
              </a:rPr>
              <a:t>adults experience a diagnostic error each year</a:t>
            </a:r>
            <a:endParaRPr lang="en-US" sz="1250" dirty="0"/>
          </a:p>
        </p:txBody>
      </p:sp>
      <p:sp>
        <p:nvSpPr>
          <p:cNvPr id="19" name="Shape 15"/>
          <p:cNvSpPr/>
          <p:nvPr/>
        </p:nvSpPr>
        <p:spPr>
          <a:xfrm>
            <a:off x="6318504" y="2606040"/>
            <a:ext cx="2606040" cy="27432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0" name="Shape 16"/>
          <p:cNvSpPr/>
          <p:nvPr/>
        </p:nvSpPr>
        <p:spPr>
          <a:xfrm>
            <a:off x="6318504" y="2606040"/>
            <a:ext cx="2606040" cy="109728"/>
          </a:xfrm>
          <a:prstGeom prst="rect">
            <a:avLst/>
          </a:prstGeom>
          <a:solidFill>
            <a:srgbClr val="FFB627"/>
          </a:solidFill>
          <a:ln w="12700">
            <a:solidFill>
              <a:srgbClr val="FFB627"/>
            </a:solidFill>
            <a:prstDash val="solid"/>
          </a:ln>
        </p:spPr>
      </p:sp>
      <p:sp>
        <p:nvSpPr>
          <p:cNvPr id="21" name="Shape 17"/>
          <p:cNvSpPr/>
          <p:nvPr/>
        </p:nvSpPr>
        <p:spPr>
          <a:xfrm>
            <a:off x="7255764" y="2926080"/>
            <a:ext cx="731520" cy="731520"/>
          </a:xfrm>
          <a:prstGeom prst="ellipse">
            <a:avLst/>
          </a:prstGeom>
          <a:solidFill>
            <a:srgbClr val="FFB627"/>
          </a:solidFill>
          <a:ln w="12700">
            <a:solidFill>
              <a:srgbClr val="FFB627"/>
            </a:solidFill>
            <a:prstDash val="solid"/>
          </a:ln>
        </p:spPr>
      </p:sp>
      <p:pic>
        <p:nvPicPr>
          <p:cNvPr id="22" name="Image 2" descr="preencoded.png">    </p:cNvPr>
          <p:cNvPicPr>
            <a:picLocks noChangeAspect="1"/>
          </p:cNvPicPr>
          <p:nvPr/>
        </p:nvPicPr>
        <p:blipFill>
          <a:blip r:embed="rId3"/>
          <a:stretch>
            <a:fillRect/>
          </a:stretch>
        </p:blipFill>
        <p:spPr>
          <a:xfrm>
            <a:off x="7420356" y="3090672"/>
            <a:ext cx="402336" cy="402336"/>
          </a:xfrm>
          <a:prstGeom prst="rect">
            <a:avLst/>
          </a:prstGeom>
        </p:spPr>
      </p:pic>
      <p:sp>
        <p:nvSpPr>
          <p:cNvPr id="23" name="Text 18"/>
          <p:cNvSpPr/>
          <p:nvPr/>
        </p:nvSpPr>
        <p:spPr>
          <a:xfrm>
            <a:off x="6409944" y="3794760"/>
            <a:ext cx="2423160" cy="640080"/>
          </a:xfrm>
          <a:prstGeom prst="rect">
            <a:avLst/>
          </a:prstGeom>
          <a:noFill/>
          <a:ln/>
        </p:spPr>
        <p:txBody>
          <a:bodyPr wrap="square" lIns="0" tIns="0" rIns="0" bIns="0" rtlCol="0" anchor="ctr"/>
          <a:lstStyle/>
          <a:p>
            <a:pPr algn="ctr" indent="0" marL="0">
              <a:buNone/>
            </a:pPr>
            <a:r>
              <a:rPr lang="en-US" sz="3600" b="1" dirty="0">
                <a:solidFill>
                  <a:srgbClr val="FFB627"/>
                </a:solidFill>
                <a:latin typeface="Georgia" pitchFamily="34" charset="0"/>
                <a:ea typeface="Georgia" pitchFamily="34" charset="-122"/>
                <a:cs typeface="Georgia" pitchFamily="34" charset="-120"/>
              </a:rPr>
              <a:t>60%</a:t>
            </a:r>
            <a:endParaRPr lang="en-US" sz="3600" dirty="0"/>
          </a:p>
        </p:txBody>
      </p:sp>
      <p:sp>
        <p:nvSpPr>
          <p:cNvPr id="24" name="Text 19"/>
          <p:cNvSpPr/>
          <p:nvPr/>
        </p:nvSpPr>
        <p:spPr>
          <a:xfrm>
            <a:off x="6547104" y="4480560"/>
            <a:ext cx="2148840" cy="777240"/>
          </a:xfrm>
          <a:prstGeom prst="rect">
            <a:avLst/>
          </a:prstGeom>
          <a:noFill/>
          <a:ln/>
        </p:spPr>
        <p:txBody>
          <a:bodyPr wrap="square" lIns="0" tIns="0" rIns="0" bIns="0" rtlCol="0" anchor="t"/>
          <a:lstStyle/>
          <a:p>
            <a:pPr algn="ctr" indent="0" marL="0">
              <a:buNone/>
            </a:pPr>
            <a:r>
              <a:rPr lang="en-US" sz="1250" dirty="0">
                <a:solidFill>
                  <a:srgbClr val="1A2332"/>
                </a:solidFill>
                <a:latin typeface="Calibri" pitchFamily="34" charset="0"/>
                <a:ea typeface="Calibri" pitchFamily="34" charset="-122"/>
                <a:cs typeface="Calibri" pitchFamily="34" charset="-120"/>
              </a:rPr>
              <a:t>of doctors report burnout from overwhelming workloads</a:t>
            </a:r>
            <a:endParaRPr lang="en-US" sz="1250" dirty="0"/>
          </a:p>
        </p:txBody>
      </p:sp>
      <p:sp>
        <p:nvSpPr>
          <p:cNvPr id="25" name="Shape 20"/>
          <p:cNvSpPr/>
          <p:nvPr/>
        </p:nvSpPr>
        <p:spPr>
          <a:xfrm>
            <a:off x="9089136" y="2606040"/>
            <a:ext cx="2606040" cy="27432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6" name="Shape 21"/>
          <p:cNvSpPr/>
          <p:nvPr/>
        </p:nvSpPr>
        <p:spPr>
          <a:xfrm>
            <a:off x="9089136" y="2606040"/>
            <a:ext cx="2606040" cy="109728"/>
          </a:xfrm>
          <a:prstGeom prst="rect">
            <a:avLst/>
          </a:prstGeom>
          <a:solidFill>
            <a:srgbClr val="06A77D"/>
          </a:solidFill>
          <a:ln w="12700">
            <a:solidFill>
              <a:srgbClr val="06A77D"/>
            </a:solidFill>
            <a:prstDash val="solid"/>
          </a:ln>
        </p:spPr>
      </p:sp>
      <p:sp>
        <p:nvSpPr>
          <p:cNvPr id="27" name="Shape 22"/>
          <p:cNvSpPr/>
          <p:nvPr/>
        </p:nvSpPr>
        <p:spPr>
          <a:xfrm>
            <a:off x="10026396" y="2926080"/>
            <a:ext cx="731520" cy="731520"/>
          </a:xfrm>
          <a:prstGeom prst="ellipse">
            <a:avLst/>
          </a:prstGeom>
          <a:solidFill>
            <a:srgbClr val="06A77D"/>
          </a:solidFill>
          <a:ln w="12700">
            <a:solidFill>
              <a:srgbClr val="06A77D"/>
            </a:solidFill>
            <a:prstDash val="solid"/>
          </a:ln>
        </p:spPr>
      </p:sp>
      <p:pic>
        <p:nvPicPr>
          <p:cNvPr id="28" name="Image 3" descr="preencoded.png">    </p:cNvPr>
          <p:cNvPicPr>
            <a:picLocks noChangeAspect="1"/>
          </p:cNvPicPr>
          <p:nvPr/>
        </p:nvPicPr>
        <p:blipFill>
          <a:blip r:embed="rId4"/>
          <a:stretch>
            <a:fillRect/>
          </a:stretch>
        </p:blipFill>
        <p:spPr>
          <a:xfrm>
            <a:off x="10190988" y="3090672"/>
            <a:ext cx="402336" cy="402336"/>
          </a:xfrm>
          <a:prstGeom prst="rect">
            <a:avLst/>
          </a:prstGeom>
        </p:spPr>
      </p:pic>
      <p:sp>
        <p:nvSpPr>
          <p:cNvPr id="29" name="Text 23"/>
          <p:cNvSpPr/>
          <p:nvPr/>
        </p:nvSpPr>
        <p:spPr>
          <a:xfrm>
            <a:off x="9180576" y="3794760"/>
            <a:ext cx="2423160" cy="640080"/>
          </a:xfrm>
          <a:prstGeom prst="rect">
            <a:avLst/>
          </a:prstGeom>
          <a:noFill/>
          <a:ln/>
        </p:spPr>
        <p:txBody>
          <a:bodyPr wrap="square" lIns="0" tIns="0" rIns="0" bIns="0" rtlCol="0" anchor="ctr"/>
          <a:lstStyle/>
          <a:p>
            <a:pPr algn="ctr" indent="0" marL="0">
              <a:buNone/>
            </a:pPr>
            <a:r>
              <a:rPr lang="en-US" sz="3600" b="1" dirty="0">
                <a:solidFill>
                  <a:srgbClr val="06A77D"/>
                </a:solidFill>
                <a:latin typeface="Georgia" pitchFamily="34" charset="0"/>
                <a:ea typeface="Georgia" pitchFamily="34" charset="-122"/>
                <a:cs typeface="Georgia" pitchFamily="34" charset="-120"/>
              </a:rPr>
              <a:t>11 weeks</a:t>
            </a:r>
            <a:endParaRPr lang="en-US" sz="3600" dirty="0"/>
          </a:p>
        </p:txBody>
      </p:sp>
      <p:sp>
        <p:nvSpPr>
          <p:cNvPr id="30" name="Text 24"/>
          <p:cNvSpPr/>
          <p:nvPr/>
        </p:nvSpPr>
        <p:spPr>
          <a:xfrm>
            <a:off x="9317736" y="4480560"/>
            <a:ext cx="2148840" cy="777240"/>
          </a:xfrm>
          <a:prstGeom prst="rect">
            <a:avLst/>
          </a:prstGeom>
          <a:noFill/>
          <a:ln/>
        </p:spPr>
        <p:txBody>
          <a:bodyPr wrap="square" lIns="0" tIns="0" rIns="0" bIns="0" rtlCol="0" anchor="t"/>
          <a:lstStyle/>
          <a:p>
            <a:pPr algn="ctr" indent="0" marL="0">
              <a:buNone/>
            </a:pPr>
            <a:r>
              <a:rPr lang="en-US" sz="1250" dirty="0">
                <a:solidFill>
                  <a:srgbClr val="1A2332"/>
                </a:solidFill>
                <a:latin typeface="Calibri" pitchFamily="34" charset="0"/>
                <a:ea typeface="Calibri" pitchFamily="34" charset="-122"/>
                <a:cs typeface="Calibri" pitchFamily="34" charset="-120"/>
              </a:rPr>
              <a:t>average wait for a specialist appointment in many countries</a:t>
            </a:r>
            <a:endParaRPr lang="en-US" sz="1250" dirty="0"/>
          </a:p>
        </p:txBody>
      </p:sp>
      <p:sp>
        <p:nvSpPr>
          <p:cNvPr id="31" name="Text 25"/>
          <p:cNvSpPr/>
          <p:nvPr/>
        </p:nvSpPr>
        <p:spPr>
          <a:xfrm>
            <a:off x="777240" y="5669280"/>
            <a:ext cx="10607040" cy="365760"/>
          </a:xfrm>
          <a:prstGeom prst="rect">
            <a:avLst/>
          </a:prstGeom>
          <a:noFill/>
          <a:ln/>
        </p:spPr>
        <p:txBody>
          <a:bodyPr wrap="square" lIns="0" tIns="0" rIns="0" bIns="0" rtlCol="0" anchor="ctr"/>
          <a:lstStyle/>
          <a:p>
            <a:pPr algn="ctr" indent="0" marL="0">
              <a:buNone/>
            </a:pPr>
            <a:r>
              <a:rPr lang="en-US" sz="1400" i="1" dirty="0">
                <a:solidFill>
                  <a:srgbClr val="0E7C7B"/>
                </a:solidFill>
                <a:latin typeface="Calibri" pitchFamily="34" charset="0"/>
                <a:ea typeface="Calibri" pitchFamily="34" charset="-122"/>
                <a:cs typeface="Calibri" pitchFamily="34" charset="-120"/>
              </a:rPr>
              <a:t>These aren't just numbers. Behind every one is a person waiting, a family worried, and a doctor doing their best.</a:t>
            </a:r>
            <a:endParaRPr lang="en-US" sz="1400" dirty="0"/>
          </a:p>
        </p:txBody>
      </p:sp>
      <p:sp>
        <p:nvSpPr>
          <p:cNvPr id="32" name="Text 26"/>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3" name="Text 27"/>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03  /  20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Story 1: Sara's Long Wait</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When a routine scan takes a whole day to read</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4206240" cy="4663440"/>
          </a:xfrm>
          <a:prstGeom prst="rect">
            <a:avLst/>
          </a:prstGeom>
          <a:solidFill>
            <a:srgbClr val="0B2545"/>
          </a:solidFill>
          <a:ln w="12700">
            <a:solidFill>
              <a:srgbClr val="0B2545"/>
            </a:solidFill>
            <a:prstDash val="solid"/>
          </a:ln>
        </p:spPr>
      </p:sp>
      <p:sp>
        <p:nvSpPr>
          <p:cNvPr id="7" name="Shape 5"/>
          <p:cNvSpPr/>
          <p:nvPr/>
        </p:nvSpPr>
        <p:spPr>
          <a:xfrm>
            <a:off x="2240280" y="1828800"/>
            <a:ext cx="1280160" cy="1280160"/>
          </a:xfrm>
          <a:prstGeom prst="ellipse">
            <a:avLst/>
          </a:prstGeom>
          <a:solidFill>
            <a:srgbClr val="17C3B2"/>
          </a:solidFill>
          <a:ln w="12700">
            <a:solidFill>
              <a:srgbClr val="17C3B2"/>
            </a:solidFill>
            <a:prstDash val="solid"/>
          </a:ln>
        </p:spPr>
      </p:sp>
      <p:pic>
        <p:nvPicPr>
          <p:cNvPr id="8" name="Image 0" descr="preencoded.png">    </p:cNvPr>
          <p:cNvPicPr>
            <a:picLocks noChangeAspect="1"/>
          </p:cNvPicPr>
          <p:nvPr/>
        </p:nvPicPr>
        <p:blipFill>
          <a:blip r:embed="rId1"/>
          <a:stretch>
            <a:fillRect/>
          </a:stretch>
        </p:blipFill>
        <p:spPr>
          <a:xfrm>
            <a:off x="2468880" y="2057400"/>
            <a:ext cx="822960" cy="822960"/>
          </a:xfrm>
          <a:prstGeom prst="rect">
            <a:avLst/>
          </a:prstGeom>
        </p:spPr>
      </p:pic>
      <p:sp>
        <p:nvSpPr>
          <p:cNvPr id="9" name="Text 6"/>
          <p:cNvSpPr/>
          <p:nvPr/>
        </p:nvSpPr>
        <p:spPr>
          <a:xfrm>
            <a:off x="777240" y="3200400"/>
            <a:ext cx="4206240" cy="41148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Meet Sara</a:t>
            </a:r>
            <a:endParaRPr lang="en-US" sz="2600" dirty="0"/>
          </a:p>
        </p:txBody>
      </p:sp>
      <p:sp>
        <p:nvSpPr>
          <p:cNvPr id="10" name="Text 7"/>
          <p:cNvSpPr/>
          <p:nvPr/>
        </p:nvSpPr>
        <p:spPr>
          <a:xfrm>
            <a:off x="777240" y="3657600"/>
            <a:ext cx="4206240" cy="365760"/>
          </a:xfrm>
          <a:prstGeom prst="rect">
            <a:avLst/>
          </a:prstGeom>
          <a:noFill/>
          <a:ln/>
        </p:spPr>
        <p:txBody>
          <a:bodyPr wrap="square" lIns="0" tIns="0" rIns="0" bIns="0" rtlCol="0" anchor="ctr"/>
          <a:lstStyle/>
          <a:p>
            <a:pPr algn="ctr" indent="0" marL="0">
              <a:buNone/>
            </a:pPr>
            <a:r>
              <a:rPr lang="en-US" sz="1300" i="1" dirty="0">
                <a:solidFill>
                  <a:srgbClr val="FFB627"/>
                </a:solidFill>
                <a:latin typeface="Calibri" pitchFamily="34" charset="0"/>
                <a:ea typeface="Calibri" pitchFamily="34" charset="-122"/>
                <a:cs typeface="Calibri" pitchFamily="34" charset="-120"/>
              </a:rPr>
              <a:t>55 years old · Worried about chest pain</a:t>
            </a:r>
            <a:endParaRPr lang="en-US" sz="1300" dirty="0"/>
          </a:p>
        </p:txBody>
      </p:sp>
      <p:sp>
        <p:nvSpPr>
          <p:cNvPr id="11" name="Shape 8"/>
          <p:cNvSpPr/>
          <p:nvPr/>
        </p:nvSpPr>
        <p:spPr>
          <a:xfrm>
            <a:off x="2514600" y="4114800"/>
            <a:ext cx="731520" cy="36576"/>
          </a:xfrm>
          <a:prstGeom prst="rect">
            <a:avLst/>
          </a:prstGeom>
          <a:solidFill>
            <a:srgbClr val="FFB627"/>
          </a:solidFill>
          <a:ln w="12700">
            <a:solidFill>
              <a:srgbClr val="FFB627"/>
            </a:solidFill>
            <a:prstDash val="solid"/>
          </a:ln>
        </p:spPr>
      </p:sp>
      <p:sp>
        <p:nvSpPr>
          <p:cNvPr id="12" name="Text 9"/>
          <p:cNvSpPr/>
          <p:nvPr/>
        </p:nvSpPr>
        <p:spPr>
          <a:xfrm>
            <a:off x="1051560" y="4297680"/>
            <a:ext cx="3657600" cy="1737360"/>
          </a:xfrm>
          <a:prstGeom prst="rect">
            <a:avLst/>
          </a:prstGeom>
          <a:noFill/>
          <a:ln/>
        </p:spPr>
        <p:txBody>
          <a:bodyPr wrap="square" lIns="0" tIns="0" rIns="0" bIns="0" rtlCol="0" anchor="t"/>
          <a:lstStyle/>
          <a:p>
            <a:pPr algn="ctr" indent="0" marL="0">
              <a:buNone/>
            </a:pPr>
            <a:r>
              <a:rPr lang="en-US" sz="1350" i="1" dirty="0">
                <a:solidFill>
                  <a:srgbClr val="CBD5E1"/>
                </a:solidFill>
                <a:latin typeface="Calibri" pitchFamily="34" charset="0"/>
                <a:ea typeface="Calibri" pitchFamily="34" charset="-122"/>
                <a:cs typeface="Calibri" pitchFamily="34" charset="-120"/>
              </a:rPr>
              <a:t>"I went to the hospital at 9 in the morning. They scanned my chest. Then I waited... and waited... until the next day to find out if I was okay."</a:t>
            </a:r>
            <a:endParaRPr lang="en-US" sz="1350" dirty="0"/>
          </a:p>
        </p:txBody>
      </p:sp>
      <p:sp>
        <p:nvSpPr>
          <p:cNvPr id="13" name="Text 10"/>
          <p:cNvSpPr/>
          <p:nvPr/>
        </p:nvSpPr>
        <p:spPr>
          <a:xfrm>
            <a:off x="5212080" y="1600200"/>
            <a:ext cx="6583680" cy="320040"/>
          </a:xfrm>
          <a:prstGeom prst="rect">
            <a:avLst/>
          </a:prstGeom>
          <a:noFill/>
          <a:ln/>
        </p:spPr>
        <p:txBody>
          <a:bodyPr wrap="square" lIns="0" tIns="0" rIns="0" bIns="0" rtlCol="0" anchor="ctr"/>
          <a:lstStyle/>
          <a:p>
            <a:pPr indent="0" marL="0">
              <a:buNone/>
            </a:pPr>
            <a:r>
              <a:rPr lang="en-US" sz="1100" b="1" spc="400" kern="0" dirty="0">
                <a:solidFill>
                  <a:srgbClr val="5A6878"/>
                </a:solidFill>
                <a:latin typeface="Calibri" pitchFamily="34" charset="0"/>
                <a:ea typeface="Calibri" pitchFamily="34" charset="-122"/>
                <a:cs typeface="Calibri" pitchFamily="34" charset="-120"/>
              </a:rPr>
              <a:t>WHAT HAPPENS BEHIND THE SCENES</a:t>
            </a:r>
            <a:endParaRPr lang="en-US" sz="1100" dirty="0"/>
          </a:p>
        </p:txBody>
      </p:sp>
      <p:sp>
        <p:nvSpPr>
          <p:cNvPr id="14" name="Shape 11"/>
          <p:cNvSpPr/>
          <p:nvPr/>
        </p:nvSpPr>
        <p:spPr>
          <a:xfrm>
            <a:off x="5212080" y="2011680"/>
            <a:ext cx="1188720" cy="822960"/>
          </a:xfrm>
          <a:prstGeom prst="rect">
            <a:avLst/>
          </a:prstGeom>
          <a:solidFill>
            <a:srgbClr val="FFD3D3"/>
          </a:solidFill>
          <a:ln w="12700">
            <a:solidFill>
              <a:srgbClr val="FF6B6B"/>
            </a:solidFill>
            <a:prstDash val="solid"/>
          </a:ln>
        </p:spPr>
      </p:sp>
      <p:sp>
        <p:nvSpPr>
          <p:cNvPr id="15" name="Text 12"/>
          <p:cNvSpPr/>
          <p:nvPr/>
        </p:nvSpPr>
        <p:spPr>
          <a:xfrm>
            <a:off x="5212080" y="2011680"/>
            <a:ext cx="1188720" cy="822960"/>
          </a:xfrm>
          <a:prstGeom prst="rect">
            <a:avLst/>
          </a:prstGeom>
          <a:noFill/>
          <a:ln/>
        </p:spPr>
        <p:txBody>
          <a:bodyPr wrap="square" lIns="0" tIns="0" rIns="0" bIns="0" rtlCol="0" anchor="ctr"/>
          <a:lstStyle/>
          <a:p>
            <a:pPr algn="ctr" indent="0" marL="0">
              <a:buNone/>
            </a:pPr>
            <a:r>
              <a:rPr lang="en-US" sz="1200" b="1" dirty="0">
                <a:solidFill>
                  <a:srgbClr val="C44545"/>
                </a:solidFill>
                <a:latin typeface="Georgia" pitchFamily="34" charset="0"/>
                <a:ea typeface="Georgia" pitchFamily="34" charset="-122"/>
                <a:cs typeface="Georgia" pitchFamily="34" charset="-120"/>
              </a:rPr>
              <a:t>9:00 AM</a:t>
            </a:r>
            <a:endParaRPr lang="en-US" sz="1200" dirty="0"/>
          </a:p>
        </p:txBody>
      </p:sp>
      <p:sp>
        <p:nvSpPr>
          <p:cNvPr id="16" name="Text 13"/>
          <p:cNvSpPr/>
          <p:nvPr/>
        </p:nvSpPr>
        <p:spPr>
          <a:xfrm>
            <a:off x="6537960" y="201168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Sara arrives, scan is taken</a:t>
            </a:r>
            <a:endParaRPr lang="en-US" sz="1500" dirty="0"/>
          </a:p>
        </p:txBody>
      </p:sp>
      <p:sp>
        <p:nvSpPr>
          <p:cNvPr id="17" name="Text 14"/>
          <p:cNvSpPr/>
          <p:nvPr/>
        </p:nvSpPr>
        <p:spPr>
          <a:xfrm>
            <a:off x="6537960" y="233172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A machine produces hundreds of detailed pictures of her chest in just a few minutes.</a:t>
            </a:r>
            <a:endParaRPr lang="en-US" sz="1200" dirty="0"/>
          </a:p>
        </p:txBody>
      </p:sp>
      <p:sp>
        <p:nvSpPr>
          <p:cNvPr id="18" name="Shape 15"/>
          <p:cNvSpPr/>
          <p:nvPr/>
        </p:nvSpPr>
        <p:spPr>
          <a:xfrm>
            <a:off x="5806440" y="2834640"/>
            <a:ext cx="0" cy="228600"/>
          </a:xfrm>
          <a:prstGeom prst="line">
            <a:avLst/>
          </a:prstGeom>
          <a:noFill/>
          <a:ln w="25400">
            <a:solidFill>
              <a:srgbClr val="FF6B6B"/>
            </a:solidFill>
            <a:prstDash val="dash"/>
          </a:ln>
        </p:spPr>
      </p:sp>
      <p:sp>
        <p:nvSpPr>
          <p:cNvPr id="19" name="Shape 16"/>
          <p:cNvSpPr/>
          <p:nvPr/>
        </p:nvSpPr>
        <p:spPr>
          <a:xfrm>
            <a:off x="5212080" y="3063240"/>
            <a:ext cx="1188720" cy="822960"/>
          </a:xfrm>
          <a:prstGeom prst="rect">
            <a:avLst/>
          </a:prstGeom>
          <a:solidFill>
            <a:srgbClr val="FFD3D3"/>
          </a:solidFill>
          <a:ln w="12700">
            <a:solidFill>
              <a:srgbClr val="FF6B6B"/>
            </a:solidFill>
            <a:prstDash val="solid"/>
          </a:ln>
        </p:spPr>
      </p:sp>
      <p:sp>
        <p:nvSpPr>
          <p:cNvPr id="20" name="Text 17"/>
          <p:cNvSpPr/>
          <p:nvPr/>
        </p:nvSpPr>
        <p:spPr>
          <a:xfrm>
            <a:off x="5212080" y="3063240"/>
            <a:ext cx="1188720" cy="822960"/>
          </a:xfrm>
          <a:prstGeom prst="rect">
            <a:avLst/>
          </a:prstGeom>
          <a:noFill/>
          <a:ln/>
        </p:spPr>
        <p:txBody>
          <a:bodyPr wrap="square" lIns="0" tIns="0" rIns="0" bIns="0" rtlCol="0" anchor="ctr"/>
          <a:lstStyle/>
          <a:p>
            <a:pPr algn="ctr" indent="0" marL="0">
              <a:buNone/>
            </a:pPr>
            <a:r>
              <a:rPr lang="en-US" sz="1200" b="1" dirty="0">
                <a:solidFill>
                  <a:srgbClr val="C44545"/>
                </a:solidFill>
                <a:latin typeface="Georgia" pitchFamily="34" charset="0"/>
                <a:ea typeface="Georgia" pitchFamily="34" charset="-122"/>
                <a:cs typeface="Georgia" pitchFamily="34" charset="-120"/>
              </a:rPr>
              <a:t>11:00 AM</a:t>
            </a:r>
            <a:endParaRPr lang="en-US" sz="1200" dirty="0"/>
          </a:p>
        </p:txBody>
      </p:sp>
      <p:sp>
        <p:nvSpPr>
          <p:cNvPr id="21" name="Text 18"/>
          <p:cNvSpPr/>
          <p:nvPr/>
        </p:nvSpPr>
        <p:spPr>
          <a:xfrm>
            <a:off x="6537960" y="306324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Pictures wait in a queue</a:t>
            </a:r>
            <a:endParaRPr lang="en-US" sz="1500" dirty="0"/>
          </a:p>
        </p:txBody>
      </p:sp>
      <p:sp>
        <p:nvSpPr>
          <p:cNvPr id="22" name="Text 19"/>
          <p:cNvSpPr/>
          <p:nvPr/>
        </p:nvSpPr>
        <p:spPr>
          <a:xfrm>
            <a:off x="6537960" y="338328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Her scan goes into a long line behind dozens of others. There aren't enough specialists to look at all of them right away.</a:t>
            </a:r>
            <a:endParaRPr lang="en-US" sz="1200" dirty="0"/>
          </a:p>
        </p:txBody>
      </p:sp>
      <p:sp>
        <p:nvSpPr>
          <p:cNvPr id="23" name="Shape 20"/>
          <p:cNvSpPr/>
          <p:nvPr/>
        </p:nvSpPr>
        <p:spPr>
          <a:xfrm>
            <a:off x="5806440" y="3886200"/>
            <a:ext cx="0" cy="228600"/>
          </a:xfrm>
          <a:prstGeom prst="line">
            <a:avLst/>
          </a:prstGeom>
          <a:noFill/>
          <a:ln w="25400">
            <a:solidFill>
              <a:srgbClr val="FF6B6B"/>
            </a:solidFill>
            <a:prstDash val="dash"/>
          </a:ln>
        </p:spPr>
      </p:sp>
      <p:sp>
        <p:nvSpPr>
          <p:cNvPr id="24" name="Shape 21"/>
          <p:cNvSpPr/>
          <p:nvPr/>
        </p:nvSpPr>
        <p:spPr>
          <a:xfrm>
            <a:off x="5212080" y="4114800"/>
            <a:ext cx="1188720" cy="822960"/>
          </a:xfrm>
          <a:prstGeom prst="rect">
            <a:avLst/>
          </a:prstGeom>
          <a:solidFill>
            <a:srgbClr val="FFD3D3"/>
          </a:solidFill>
          <a:ln w="12700">
            <a:solidFill>
              <a:srgbClr val="FF6B6B"/>
            </a:solidFill>
            <a:prstDash val="solid"/>
          </a:ln>
        </p:spPr>
      </p:sp>
      <p:sp>
        <p:nvSpPr>
          <p:cNvPr id="25" name="Text 22"/>
          <p:cNvSpPr/>
          <p:nvPr/>
        </p:nvSpPr>
        <p:spPr>
          <a:xfrm>
            <a:off x="5212080" y="4114800"/>
            <a:ext cx="1188720" cy="822960"/>
          </a:xfrm>
          <a:prstGeom prst="rect">
            <a:avLst/>
          </a:prstGeom>
          <a:noFill/>
          <a:ln/>
        </p:spPr>
        <p:txBody>
          <a:bodyPr wrap="square" lIns="0" tIns="0" rIns="0" bIns="0" rtlCol="0" anchor="ctr"/>
          <a:lstStyle/>
          <a:p>
            <a:pPr algn="ctr" indent="0" marL="0">
              <a:buNone/>
            </a:pPr>
            <a:r>
              <a:rPr lang="en-US" sz="1200" b="1" dirty="0">
                <a:solidFill>
                  <a:srgbClr val="C44545"/>
                </a:solidFill>
                <a:latin typeface="Georgia" pitchFamily="34" charset="0"/>
                <a:ea typeface="Georgia" pitchFamily="34" charset="-122"/>
                <a:cs typeface="Georgia" pitchFamily="34" charset="-120"/>
              </a:rPr>
              <a:t>5:00 PM</a:t>
            </a:r>
            <a:endParaRPr lang="en-US" sz="1200" dirty="0"/>
          </a:p>
        </p:txBody>
      </p:sp>
      <p:sp>
        <p:nvSpPr>
          <p:cNvPr id="26" name="Text 23"/>
          <p:cNvSpPr/>
          <p:nvPr/>
        </p:nvSpPr>
        <p:spPr>
          <a:xfrm>
            <a:off x="6537960" y="411480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A tired doctor reviews them</a:t>
            </a:r>
            <a:endParaRPr lang="en-US" sz="1500" dirty="0"/>
          </a:p>
        </p:txBody>
      </p:sp>
      <p:sp>
        <p:nvSpPr>
          <p:cNvPr id="27" name="Text 24"/>
          <p:cNvSpPr/>
          <p:nvPr/>
        </p:nvSpPr>
        <p:spPr>
          <a:xfrm>
            <a:off x="6537960" y="443484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The specialist must look closely at every single image — by the end of a long day, the eye gets tired and tiny details can be missed.</a:t>
            </a:r>
            <a:endParaRPr lang="en-US" sz="1200" dirty="0"/>
          </a:p>
        </p:txBody>
      </p:sp>
      <p:sp>
        <p:nvSpPr>
          <p:cNvPr id="28" name="Shape 25"/>
          <p:cNvSpPr/>
          <p:nvPr/>
        </p:nvSpPr>
        <p:spPr>
          <a:xfrm>
            <a:off x="5806440" y="4937760"/>
            <a:ext cx="0" cy="228600"/>
          </a:xfrm>
          <a:prstGeom prst="line">
            <a:avLst/>
          </a:prstGeom>
          <a:noFill/>
          <a:ln w="25400">
            <a:solidFill>
              <a:srgbClr val="FF6B6B"/>
            </a:solidFill>
            <a:prstDash val="dash"/>
          </a:ln>
        </p:spPr>
      </p:sp>
      <p:sp>
        <p:nvSpPr>
          <p:cNvPr id="29" name="Shape 26"/>
          <p:cNvSpPr/>
          <p:nvPr/>
        </p:nvSpPr>
        <p:spPr>
          <a:xfrm>
            <a:off x="5212080" y="5166360"/>
            <a:ext cx="1188720" cy="822960"/>
          </a:xfrm>
          <a:prstGeom prst="rect">
            <a:avLst/>
          </a:prstGeom>
          <a:solidFill>
            <a:srgbClr val="FFD3D3"/>
          </a:solidFill>
          <a:ln w="12700">
            <a:solidFill>
              <a:srgbClr val="FF6B6B"/>
            </a:solidFill>
            <a:prstDash val="solid"/>
          </a:ln>
        </p:spPr>
      </p:sp>
      <p:sp>
        <p:nvSpPr>
          <p:cNvPr id="30" name="Text 27"/>
          <p:cNvSpPr/>
          <p:nvPr/>
        </p:nvSpPr>
        <p:spPr>
          <a:xfrm>
            <a:off x="5212080" y="5166360"/>
            <a:ext cx="1188720" cy="822960"/>
          </a:xfrm>
          <a:prstGeom prst="rect">
            <a:avLst/>
          </a:prstGeom>
          <a:noFill/>
          <a:ln/>
        </p:spPr>
        <p:txBody>
          <a:bodyPr wrap="square" lIns="0" tIns="0" rIns="0" bIns="0" rtlCol="0" anchor="ctr"/>
          <a:lstStyle/>
          <a:p>
            <a:pPr algn="ctr" indent="0" marL="0">
              <a:buNone/>
            </a:pPr>
            <a:r>
              <a:rPr lang="en-US" sz="1200" b="1" dirty="0">
                <a:solidFill>
                  <a:srgbClr val="C44545"/>
                </a:solidFill>
                <a:latin typeface="Georgia" pitchFamily="34" charset="0"/>
                <a:ea typeface="Georgia" pitchFamily="34" charset="-122"/>
                <a:cs typeface="Georgia" pitchFamily="34" charset="-120"/>
              </a:rPr>
              <a:t>Next day</a:t>
            </a:r>
            <a:endParaRPr lang="en-US" sz="1200" dirty="0"/>
          </a:p>
        </p:txBody>
      </p:sp>
      <p:sp>
        <p:nvSpPr>
          <p:cNvPr id="31" name="Text 28"/>
          <p:cNvSpPr/>
          <p:nvPr/>
        </p:nvSpPr>
        <p:spPr>
          <a:xfrm>
            <a:off x="6537960" y="516636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Sara finally gets her answer</a:t>
            </a:r>
            <a:endParaRPr lang="en-US" sz="1500" dirty="0"/>
          </a:p>
        </p:txBody>
      </p:sp>
      <p:sp>
        <p:nvSpPr>
          <p:cNvPr id="32" name="Text 29"/>
          <p:cNvSpPr/>
          <p:nvPr/>
        </p:nvSpPr>
        <p:spPr>
          <a:xfrm>
            <a:off x="6537960" y="548640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She has been worried for almost 24 hours. If something serious had been found, treatment would also have been delayed.</a:t>
            </a:r>
            <a:endParaRPr lang="en-US" sz="1200" dirty="0"/>
          </a:p>
        </p:txBody>
      </p:sp>
      <p:sp>
        <p:nvSpPr>
          <p:cNvPr id="33" name="Text 30"/>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4" name="Text 31"/>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04  /  20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The Same Story — With a Smart Assistant</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What changes when AI helps the doctor</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4206240" cy="4663440"/>
          </a:xfrm>
          <a:prstGeom prst="rect">
            <a:avLst/>
          </a:prstGeom>
          <a:solidFill>
            <a:srgbClr val="0E7C7B"/>
          </a:solidFill>
          <a:ln w="12700">
            <a:solidFill>
              <a:srgbClr val="0E7C7B"/>
            </a:solidFill>
            <a:prstDash val="solid"/>
          </a:ln>
        </p:spPr>
      </p:sp>
      <p:sp>
        <p:nvSpPr>
          <p:cNvPr id="7" name="Shape 5"/>
          <p:cNvSpPr/>
          <p:nvPr/>
        </p:nvSpPr>
        <p:spPr>
          <a:xfrm>
            <a:off x="2240280" y="1828800"/>
            <a:ext cx="1280160" cy="128016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2468880" y="2057400"/>
            <a:ext cx="822960" cy="822960"/>
          </a:xfrm>
          <a:prstGeom prst="rect">
            <a:avLst/>
          </a:prstGeom>
        </p:spPr>
      </p:pic>
      <p:sp>
        <p:nvSpPr>
          <p:cNvPr id="9" name="Text 6"/>
          <p:cNvSpPr/>
          <p:nvPr/>
        </p:nvSpPr>
        <p:spPr>
          <a:xfrm>
            <a:off x="777240" y="3200400"/>
            <a:ext cx="420624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Sara — One Hour Later</a:t>
            </a:r>
            <a:endParaRPr lang="en-US" sz="2400" dirty="0"/>
          </a:p>
        </p:txBody>
      </p:sp>
      <p:sp>
        <p:nvSpPr>
          <p:cNvPr id="10" name="Text 7"/>
          <p:cNvSpPr/>
          <p:nvPr/>
        </p:nvSpPr>
        <p:spPr>
          <a:xfrm>
            <a:off x="777240" y="3657600"/>
            <a:ext cx="4206240" cy="365760"/>
          </a:xfrm>
          <a:prstGeom prst="rect">
            <a:avLst/>
          </a:prstGeom>
          <a:noFill/>
          <a:ln/>
        </p:spPr>
        <p:txBody>
          <a:bodyPr wrap="square" lIns="0" tIns="0" rIns="0" bIns="0" rtlCol="0" anchor="ctr"/>
          <a:lstStyle/>
          <a:p>
            <a:pPr algn="ctr" indent="0" marL="0">
              <a:buNone/>
            </a:pPr>
            <a:r>
              <a:rPr lang="en-US" sz="1300" i="1" dirty="0">
                <a:solidFill>
                  <a:srgbClr val="FFB627"/>
                </a:solidFill>
                <a:latin typeface="Calibri" pitchFamily="34" charset="0"/>
                <a:ea typeface="Calibri" pitchFamily="34" charset="-122"/>
                <a:cs typeface="Calibri" pitchFamily="34" charset="-120"/>
              </a:rPr>
              <a:t>Same scan · Smart assistant in the background</a:t>
            </a:r>
            <a:endParaRPr lang="en-US" sz="1300" dirty="0"/>
          </a:p>
        </p:txBody>
      </p:sp>
      <p:sp>
        <p:nvSpPr>
          <p:cNvPr id="11" name="Shape 8"/>
          <p:cNvSpPr/>
          <p:nvPr/>
        </p:nvSpPr>
        <p:spPr>
          <a:xfrm>
            <a:off x="2514600" y="4114800"/>
            <a:ext cx="731520" cy="36576"/>
          </a:xfrm>
          <a:prstGeom prst="rect">
            <a:avLst/>
          </a:prstGeom>
          <a:solidFill>
            <a:srgbClr val="FFB627"/>
          </a:solidFill>
          <a:ln w="12700">
            <a:solidFill>
              <a:srgbClr val="FFB627"/>
            </a:solidFill>
            <a:prstDash val="solid"/>
          </a:ln>
        </p:spPr>
      </p:sp>
      <p:sp>
        <p:nvSpPr>
          <p:cNvPr id="12" name="Text 9"/>
          <p:cNvSpPr/>
          <p:nvPr/>
        </p:nvSpPr>
        <p:spPr>
          <a:xfrm>
            <a:off x="1051560" y="4297680"/>
            <a:ext cx="3657600" cy="1737360"/>
          </a:xfrm>
          <a:prstGeom prst="rect">
            <a:avLst/>
          </a:prstGeom>
          <a:noFill/>
          <a:ln/>
        </p:spPr>
        <p:txBody>
          <a:bodyPr wrap="square" lIns="0" tIns="0" rIns="0" bIns="0" rtlCol="0" anchor="t"/>
          <a:lstStyle/>
          <a:p>
            <a:pPr algn="ctr" indent="0" marL="0">
              <a:buNone/>
            </a:pPr>
            <a:r>
              <a:rPr lang="en-US" sz="1350" i="1" dirty="0">
                <a:solidFill>
                  <a:srgbClr val="FFFFFF"/>
                </a:solidFill>
                <a:latin typeface="Calibri" pitchFamily="34" charset="0"/>
                <a:ea typeface="Calibri" pitchFamily="34" charset="-122"/>
                <a:cs typeface="Calibri" pitchFamily="34" charset="-120"/>
              </a:rPr>
              <a:t>"I had my scan, drank a coffee in the waiting area, and the doctor was already calling my name with results. Same morning. Total relief."</a:t>
            </a:r>
            <a:endParaRPr lang="en-US" sz="1350" dirty="0"/>
          </a:p>
        </p:txBody>
      </p:sp>
      <p:sp>
        <p:nvSpPr>
          <p:cNvPr id="13" name="Text 10"/>
          <p:cNvSpPr/>
          <p:nvPr/>
        </p:nvSpPr>
        <p:spPr>
          <a:xfrm>
            <a:off x="5212080" y="1600200"/>
            <a:ext cx="6583680" cy="320040"/>
          </a:xfrm>
          <a:prstGeom prst="rect">
            <a:avLst/>
          </a:prstGeom>
          <a:noFill/>
          <a:ln/>
        </p:spPr>
        <p:txBody>
          <a:bodyPr wrap="square" lIns="0" tIns="0" rIns="0" bIns="0" rtlCol="0" anchor="ctr"/>
          <a:lstStyle/>
          <a:p>
            <a:pPr indent="0" marL="0">
              <a:buNone/>
            </a:pPr>
            <a:r>
              <a:rPr lang="en-US" sz="1100" b="1" spc="400" kern="0" dirty="0">
                <a:solidFill>
                  <a:srgbClr val="5A6878"/>
                </a:solidFill>
                <a:latin typeface="Calibri" pitchFamily="34" charset="0"/>
                <a:ea typeface="Calibri" pitchFamily="34" charset="-122"/>
                <a:cs typeface="Calibri" pitchFamily="34" charset="-120"/>
              </a:rPr>
              <a:t>WHAT THE AI ASSISTANT DOES</a:t>
            </a:r>
            <a:endParaRPr lang="en-US" sz="1100" dirty="0"/>
          </a:p>
        </p:txBody>
      </p:sp>
      <p:sp>
        <p:nvSpPr>
          <p:cNvPr id="14" name="Shape 11"/>
          <p:cNvSpPr/>
          <p:nvPr/>
        </p:nvSpPr>
        <p:spPr>
          <a:xfrm>
            <a:off x="5212080" y="2011680"/>
            <a:ext cx="1188720" cy="822960"/>
          </a:xfrm>
          <a:prstGeom prst="rect">
            <a:avLst/>
          </a:prstGeom>
          <a:solidFill>
            <a:srgbClr val="D4F1F4"/>
          </a:solidFill>
          <a:ln w="12700">
            <a:solidFill>
              <a:srgbClr val="0E7C7B"/>
            </a:solidFill>
            <a:prstDash val="solid"/>
          </a:ln>
        </p:spPr>
      </p:sp>
      <p:sp>
        <p:nvSpPr>
          <p:cNvPr id="15" name="Text 12"/>
          <p:cNvSpPr/>
          <p:nvPr/>
        </p:nvSpPr>
        <p:spPr>
          <a:xfrm>
            <a:off x="5212080" y="2011680"/>
            <a:ext cx="118872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Georgia" pitchFamily="34" charset="0"/>
                <a:ea typeface="Georgia" pitchFamily="34" charset="-122"/>
                <a:cs typeface="Georgia" pitchFamily="34" charset="-120"/>
              </a:rPr>
              <a:t>9:00 AM</a:t>
            </a:r>
            <a:endParaRPr lang="en-US" sz="1200" dirty="0"/>
          </a:p>
        </p:txBody>
      </p:sp>
      <p:sp>
        <p:nvSpPr>
          <p:cNvPr id="16" name="Text 13"/>
          <p:cNvSpPr/>
          <p:nvPr/>
        </p:nvSpPr>
        <p:spPr>
          <a:xfrm>
            <a:off x="6537960" y="201168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Scan arrives, AI looks first</a:t>
            </a:r>
            <a:endParaRPr lang="en-US" sz="1500" dirty="0"/>
          </a:p>
        </p:txBody>
      </p:sp>
      <p:sp>
        <p:nvSpPr>
          <p:cNvPr id="17" name="Text 14"/>
          <p:cNvSpPr/>
          <p:nvPr/>
        </p:nvSpPr>
        <p:spPr>
          <a:xfrm>
            <a:off x="6537960" y="233172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Within seconds, a smart program quickly checks every image and highlights anything that might need attention.</a:t>
            </a:r>
            <a:endParaRPr lang="en-US" sz="1200" dirty="0"/>
          </a:p>
        </p:txBody>
      </p:sp>
      <p:sp>
        <p:nvSpPr>
          <p:cNvPr id="18" name="Shape 15"/>
          <p:cNvSpPr/>
          <p:nvPr/>
        </p:nvSpPr>
        <p:spPr>
          <a:xfrm>
            <a:off x="5806440" y="2834640"/>
            <a:ext cx="0" cy="228600"/>
          </a:xfrm>
          <a:prstGeom prst="line">
            <a:avLst/>
          </a:prstGeom>
          <a:noFill/>
          <a:ln w="25400">
            <a:solidFill>
              <a:srgbClr val="0E7C7B"/>
            </a:solidFill>
            <a:prstDash val="dash"/>
          </a:ln>
        </p:spPr>
      </p:sp>
      <p:sp>
        <p:nvSpPr>
          <p:cNvPr id="19" name="Shape 16"/>
          <p:cNvSpPr/>
          <p:nvPr/>
        </p:nvSpPr>
        <p:spPr>
          <a:xfrm>
            <a:off x="5212080" y="3063240"/>
            <a:ext cx="1188720" cy="822960"/>
          </a:xfrm>
          <a:prstGeom prst="rect">
            <a:avLst/>
          </a:prstGeom>
          <a:solidFill>
            <a:srgbClr val="D4F1F4"/>
          </a:solidFill>
          <a:ln w="12700">
            <a:solidFill>
              <a:srgbClr val="0E7C7B"/>
            </a:solidFill>
            <a:prstDash val="solid"/>
          </a:ln>
        </p:spPr>
      </p:sp>
      <p:sp>
        <p:nvSpPr>
          <p:cNvPr id="20" name="Text 17"/>
          <p:cNvSpPr/>
          <p:nvPr/>
        </p:nvSpPr>
        <p:spPr>
          <a:xfrm>
            <a:off x="5212080" y="3063240"/>
            <a:ext cx="118872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Georgia" pitchFamily="34" charset="0"/>
                <a:ea typeface="Georgia" pitchFamily="34" charset="-122"/>
                <a:cs typeface="Georgia" pitchFamily="34" charset="-120"/>
              </a:rPr>
              <a:t>9:05 AM</a:t>
            </a:r>
            <a:endParaRPr lang="en-US" sz="1200" dirty="0"/>
          </a:p>
        </p:txBody>
      </p:sp>
      <p:sp>
        <p:nvSpPr>
          <p:cNvPr id="21" name="Text 18"/>
          <p:cNvSpPr/>
          <p:nvPr/>
        </p:nvSpPr>
        <p:spPr>
          <a:xfrm>
            <a:off x="6537960" y="306324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Urgent cases jump the queue</a:t>
            </a:r>
            <a:endParaRPr lang="en-US" sz="1500" dirty="0"/>
          </a:p>
        </p:txBody>
      </p:sp>
      <p:sp>
        <p:nvSpPr>
          <p:cNvPr id="22" name="Text 19"/>
          <p:cNvSpPr/>
          <p:nvPr/>
        </p:nvSpPr>
        <p:spPr>
          <a:xfrm>
            <a:off x="6537960" y="338328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If something looks serious, the AI moves Sara's scan to the top of the doctor's list — so important things never get lost in a pile.</a:t>
            </a:r>
            <a:endParaRPr lang="en-US" sz="1200" dirty="0"/>
          </a:p>
        </p:txBody>
      </p:sp>
      <p:sp>
        <p:nvSpPr>
          <p:cNvPr id="23" name="Shape 20"/>
          <p:cNvSpPr/>
          <p:nvPr/>
        </p:nvSpPr>
        <p:spPr>
          <a:xfrm>
            <a:off x="5806440" y="3886200"/>
            <a:ext cx="0" cy="228600"/>
          </a:xfrm>
          <a:prstGeom prst="line">
            <a:avLst/>
          </a:prstGeom>
          <a:noFill/>
          <a:ln w="25400">
            <a:solidFill>
              <a:srgbClr val="0E7C7B"/>
            </a:solidFill>
            <a:prstDash val="dash"/>
          </a:ln>
        </p:spPr>
      </p:sp>
      <p:sp>
        <p:nvSpPr>
          <p:cNvPr id="24" name="Shape 21"/>
          <p:cNvSpPr/>
          <p:nvPr/>
        </p:nvSpPr>
        <p:spPr>
          <a:xfrm>
            <a:off x="5212080" y="4114800"/>
            <a:ext cx="1188720" cy="822960"/>
          </a:xfrm>
          <a:prstGeom prst="rect">
            <a:avLst/>
          </a:prstGeom>
          <a:solidFill>
            <a:srgbClr val="D4F1F4"/>
          </a:solidFill>
          <a:ln w="12700">
            <a:solidFill>
              <a:srgbClr val="0E7C7B"/>
            </a:solidFill>
            <a:prstDash val="solid"/>
          </a:ln>
        </p:spPr>
      </p:sp>
      <p:sp>
        <p:nvSpPr>
          <p:cNvPr id="25" name="Text 22"/>
          <p:cNvSpPr/>
          <p:nvPr/>
        </p:nvSpPr>
        <p:spPr>
          <a:xfrm>
            <a:off x="5212080" y="4114800"/>
            <a:ext cx="118872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Georgia" pitchFamily="34" charset="0"/>
                <a:ea typeface="Georgia" pitchFamily="34" charset="-122"/>
                <a:cs typeface="Georgia" pitchFamily="34" charset="-120"/>
              </a:rPr>
              <a:t>9:30 AM</a:t>
            </a:r>
            <a:endParaRPr lang="en-US" sz="1200" dirty="0"/>
          </a:p>
        </p:txBody>
      </p:sp>
      <p:sp>
        <p:nvSpPr>
          <p:cNvPr id="26" name="Text 23"/>
          <p:cNvSpPr/>
          <p:nvPr/>
        </p:nvSpPr>
        <p:spPr>
          <a:xfrm>
            <a:off x="6537960" y="411480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Doctor reviews with help</a:t>
            </a:r>
            <a:endParaRPr lang="en-US" sz="1500" dirty="0"/>
          </a:p>
        </p:txBody>
      </p:sp>
      <p:sp>
        <p:nvSpPr>
          <p:cNvPr id="27" name="Text 24"/>
          <p:cNvSpPr/>
          <p:nvPr/>
        </p:nvSpPr>
        <p:spPr>
          <a:xfrm>
            <a:off x="6537960" y="443484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The specialist still makes the final decision, but now they see helpful suggestions and measurements next to each image — like a second pair of trained eyes.</a:t>
            </a:r>
            <a:endParaRPr lang="en-US" sz="1200" dirty="0"/>
          </a:p>
        </p:txBody>
      </p:sp>
      <p:sp>
        <p:nvSpPr>
          <p:cNvPr id="28" name="Shape 25"/>
          <p:cNvSpPr/>
          <p:nvPr/>
        </p:nvSpPr>
        <p:spPr>
          <a:xfrm>
            <a:off x="5806440" y="4937760"/>
            <a:ext cx="0" cy="228600"/>
          </a:xfrm>
          <a:prstGeom prst="line">
            <a:avLst/>
          </a:prstGeom>
          <a:noFill/>
          <a:ln w="25400">
            <a:solidFill>
              <a:srgbClr val="0E7C7B"/>
            </a:solidFill>
            <a:prstDash val="dash"/>
          </a:ln>
        </p:spPr>
      </p:sp>
      <p:sp>
        <p:nvSpPr>
          <p:cNvPr id="29" name="Shape 26"/>
          <p:cNvSpPr/>
          <p:nvPr/>
        </p:nvSpPr>
        <p:spPr>
          <a:xfrm>
            <a:off x="5212080" y="5166360"/>
            <a:ext cx="1188720" cy="822960"/>
          </a:xfrm>
          <a:prstGeom prst="rect">
            <a:avLst/>
          </a:prstGeom>
          <a:solidFill>
            <a:srgbClr val="D4F1F4"/>
          </a:solidFill>
          <a:ln w="12700">
            <a:solidFill>
              <a:srgbClr val="0E7C7B"/>
            </a:solidFill>
            <a:prstDash val="solid"/>
          </a:ln>
        </p:spPr>
      </p:sp>
      <p:sp>
        <p:nvSpPr>
          <p:cNvPr id="30" name="Text 27"/>
          <p:cNvSpPr/>
          <p:nvPr/>
        </p:nvSpPr>
        <p:spPr>
          <a:xfrm>
            <a:off x="5212080" y="5166360"/>
            <a:ext cx="1188720" cy="822960"/>
          </a:xfrm>
          <a:prstGeom prst="rect">
            <a:avLst/>
          </a:prstGeom>
          <a:noFill/>
          <a:ln/>
        </p:spPr>
        <p:txBody>
          <a:bodyPr wrap="square" lIns="0" tIns="0" rIns="0" bIns="0" rtlCol="0" anchor="ctr"/>
          <a:lstStyle/>
          <a:p>
            <a:pPr algn="ctr" indent="0" marL="0">
              <a:buNone/>
            </a:pPr>
            <a:r>
              <a:rPr lang="en-US" sz="1200" b="1" dirty="0">
                <a:solidFill>
                  <a:srgbClr val="0E7C7B"/>
                </a:solidFill>
                <a:latin typeface="Georgia" pitchFamily="34" charset="0"/>
                <a:ea typeface="Georgia" pitchFamily="34" charset="-122"/>
                <a:cs typeface="Georgia" pitchFamily="34" charset="-120"/>
              </a:rPr>
              <a:t>10:00 AM</a:t>
            </a:r>
            <a:endParaRPr lang="en-US" sz="1200" dirty="0"/>
          </a:p>
        </p:txBody>
      </p:sp>
      <p:sp>
        <p:nvSpPr>
          <p:cNvPr id="31" name="Text 28"/>
          <p:cNvSpPr/>
          <p:nvPr/>
        </p:nvSpPr>
        <p:spPr>
          <a:xfrm>
            <a:off x="6537960" y="5166360"/>
            <a:ext cx="5212080" cy="32004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Sara has her answer</a:t>
            </a:r>
            <a:endParaRPr lang="en-US" sz="1500" dirty="0"/>
          </a:p>
        </p:txBody>
      </p:sp>
      <p:sp>
        <p:nvSpPr>
          <p:cNvPr id="32" name="Text 29"/>
          <p:cNvSpPr/>
          <p:nvPr/>
        </p:nvSpPr>
        <p:spPr>
          <a:xfrm>
            <a:off x="6537960" y="5486400"/>
            <a:ext cx="521208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Same day, same hour. Less worry, faster treatment if needed, and a doctor who isn't drowning in paperwork.</a:t>
            </a:r>
            <a:endParaRPr lang="en-US" sz="1200" dirty="0"/>
          </a:p>
        </p:txBody>
      </p:sp>
      <p:sp>
        <p:nvSpPr>
          <p:cNvPr id="33" name="Text 30"/>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4" name="Text 31"/>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05  /  20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Story 2: Ahmed and the Village Clinic</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When the nearest specialist is hours away</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5303520" cy="4663440"/>
          </a:xfrm>
          <a:prstGeom prst="rect">
            <a:avLst/>
          </a:prstGeom>
          <a:solidFill>
            <a:srgbClr val="F9FBFC"/>
          </a:solidFill>
          <a:ln w="12700">
            <a:solidFill>
              <a:srgbClr val="E1E8ED"/>
            </a:solidFill>
            <a:prstDash val="solid"/>
          </a:ln>
        </p:spPr>
      </p:sp>
      <p:sp>
        <p:nvSpPr>
          <p:cNvPr id="7" name="Shape 5"/>
          <p:cNvSpPr/>
          <p:nvPr/>
        </p:nvSpPr>
        <p:spPr>
          <a:xfrm>
            <a:off x="777240" y="1600200"/>
            <a:ext cx="109728" cy="4663440"/>
          </a:xfrm>
          <a:prstGeom prst="rect">
            <a:avLst/>
          </a:prstGeom>
          <a:solidFill>
            <a:srgbClr val="FF6B6B"/>
          </a:solidFill>
          <a:ln w="12700">
            <a:solidFill>
              <a:srgbClr val="FF6B6B"/>
            </a:solidFill>
            <a:prstDash val="solid"/>
          </a:ln>
        </p:spPr>
      </p:sp>
      <p:sp>
        <p:nvSpPr>
          <p:cNvPr id="8" name="Shape 6"/>
          <p:cNvSpPr/>
          <p:nvPr/>
        </p:nvSpPr>
        <p:spPr>
          <a:xfrm>
            <a:off x="1097280" y="1828800"/>
            <a:ext cx="822960" cy="822960"/>
          </a:xfrm>
          <a:prstGeom prst="ellipse">
            <a:avLst/>
          </a:prstGeom>
          <a:solidFill>
            <a:srgbClr val="FF6B6B"/>
          </a:solidFill>
          <a:ln w="12700">
            <a:solidFill>
              <a:srgbClr val="FF6B6B"/>
            </a:solidFill>
            <a:prstDash val="solid"/>
          </a:ln>
        </p:spPr>
      </p:sp>
      <p:pic>
        <p:nvPicPr>
          <p:cNvPr id="9" name="Image 0" descr="preencoded.png">    </p:cNvPr>
          <p:cNvPicPr>
            <a:picLocks noChangeAspect="1"/>
          </p:cNvPicPr>
          <p:nvPr/>
        </p:nvPicPr>
        <p:blipFill>
          <a:blip r:embed="rId1"/>
          <a:stretch>
            <a:fillRect/>
          </a:stretch>
        </p:blipFill>
        <p:spPr>
          <a:xfrm>
            <a:off x="1207008" y="1938528"/>
            <a:ext cx="603504" cy="603504"/>
          </a:xfrm>
          <a:prstGeom prst="rect">
            <a:avLst/>
          </a:prstGeom>
        </p:spPr>
      </p:pic>
      <p:sp>
        <p:nvSpPr>
          <p:cNvPr id="10" name="Text 7"/>
          <p:cNvSpPr/>
          <p:nvPr/>
        </p:nvSpPr>
        <p:spPr>
          <a:xfrm>
            <a:off x="2103120" y="1828800"/>
            <a:ext cx="3840480" cy="411480"/>
          </a:xfrm>
          <a:prstGeom prst="rect">
            <a:avLst/>
          </a:prstGeom>
          <a:noFill/>
          <a:ln/>
        </p:spPr>
        <p:txBody>
          <a:bodyPr wrap="square" lIns="0" tIns="0" rIns="0" bIns="0" rtlCol="0" anchor="ctr"/>
          <a:lstStyle/>
          <a:p>
            <a:pPr indent="0" marL="0">
              <a:buNone/>
            </a:pPr>
            <a:r>
              <a:rPr lang="en-US" sz="2200" b="1" dirty="0">
                <a:solidFill>
                  <a:srgbClr val="0B2545"/>
                </a:solidFill>
                <a:latin typeface="Georgia" pitchFamily="34" charset="0"/>
                <a:ea typeface="Georgia" pitchFamily="34" charset="-122"/>
                <a:cs typeface="Georgia" pitchFamily="34" charset="-120"/>
              </a:rPr>
              <a:t>Ahmed, 60</a:t>
            </a:r>
            <a:endParaRPr lang="en-US" sz="2200" dirty="0"/>
          </a:p>
        </p:txBody>
      </p:sp>
      <p:sp>
        <p:nvSpPr>
          <p:cNvPr id="11" name="Text 8"/>
          <p:cNvSpPr/>
          <p:nvPr/>
        </p:nvSpPr>
        <p:spPr>
          <a:xfrm>
            <a:off x="2103120" y="2286000"/>
            <a:ext cx="384048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Lives in a small town · Has diabetes for 15 years</a:t>
            </a:r>
            <a:endParaRPr lang="en-US" sz="1200" dirty="0"/>
          </a:p>
        </p:txBody>
      </p:sp>
      <p:sp>
        <p:nvSpPr>
          <p:cNvPr id="12" name="Text 9"/>
          <p:cNvSpPr/>
          <p:nvPr/>
        </p:nvSpPr>
        <p:spPr>
          <a:xfrm>
            <a:off x="1097280" y="2926080"/>
            <a:ext cx="4754880" cy="274320"/>
          </a:xfrm>
          <a:prstGeom prst="rect">
            <a:avLst/>
          </a:prstGeom>
          <a:noFill/>
          <a:ln/>
        </p:spPr>
        <p:txBody>
          <a:bodyPr wrap="square" lIns="0" tIns="0" rIns="0" bIns="0" rtlCol="0" anchor="ctr"/>
          <a:lstStyle/>
          <a:p>
            <a:pPr indent="0" marL="0">
              <a:buNone/>
            </a:pPr>
            <a:r>
              <a:rPr lang="en-US" sz="1100" b="1" spc="400" kern="0" dirty="0">
                <a:solidFill>
                  <a:srgbClr val="FF6B6B"/>
                </a:solidFill>
                <a:latin typeface="Calibri" pitchFamily="34" charset="0"/>
                <a:ea typeface="Calibri" pitchFamily="34" charset="-122"/>
                <a:cs typeface="Calibri" pitchFamily="34" charset="-120"/>
              </a:rPr>
              <a:t>THE OLD WAY</a:t>
            </a:r>
            <a:endParaRPr lang="en-US" sz="1100" dirty="0"/>
          </a:p>
        </p:txBody>
      </p:sp>
      <p:sp>
        <p:nvSpPr>
          <p:cNvPr id="13" name="Text 10"/>
          <p:cNvSpPr/>
          <p:nvPr/>
        </p:nvSpPr>
        <p:spPr>
          <a:xfrm>
            <a:off x="1097280" y="3246120"/>
            <a:ext cx="4846320" cy="2834640"/>
          </a:xfrm>
          <a:prstGeom prst="rect">
            <a:avLst/>
          </a:prstGeom>
          <a:noFill/>
          <a:ln/>
        </p:spPr>
        <p:txBody>
          <a:bodyPr wrap="square" rtlCol="0" anchor="t"/>
          <a:lstStyle/>
          <a:p>
            <a:pPr indent="0" marL="0">
              <a:spcAft>
                <a:spcPts val="400"/>
              </a:spcAft>
              <a:buNone/>
            </a:pPr>
            <a:r>
              <a:rPr lang="en-US" sz="1300" dirty="0">
                <a:solidFill>
                  <a:srgbClr val="1A2332"/>
                </a:solidFill>
                <a:latin typeface="Calibri" pitchFamily="34" charset="0"/>
                <a:ea typeface="Calibri" pitchFamily="34" charset="-122"/>
                <a:cs typeface="Calibri" pitchFamily="34" charset="-120"/>
              </a:rPr>
              <a:t>Diabetes can quietly damage the eyes over years. To catch this early, Ahmed needs a special eye check.</a:t>
            </a:r>
            <a:endParaRPr lang="en-US" sz="1300" dirty="0"/>
          </a:p>
          <a:p>
            <a:pPr indent="0" marL="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300" dirty="0">
                <a:solidFill>
                  <a:srgbClr val="1A2332"/>
                </a:solidFill>
                <a:latin typeface="Calibri" pitchFamily="34" charset="0"/>
                <a:ea typeface="Calibri" pitchFamily="34" charset="-122"/>
                <a:cs typeface="Calibri" pitchFamily="34" charset="-120"/>
              </a:rPr>
              <a:t>But the nearest eye specialist is a 4-hour bus ride away. Many people in his town simply never go — until it's too late and they begin to lose their vision.</a:t>
            </a:r>
            <a:endParaRPr lang="en-US" sz="1300" dirty="0"/>
          </a:p>
        </p:txBody>
      </p:sp>
      <p:sp>
        <p:nvSpPr>
          <p:cNvPr id="14" name="Shape 11"/>
          <p:cNvSpPr/>
          <p:nvPr/>
        </p:nvSpPr>
        <p:spPr>
          <a:xfrm>
            <a:off x="6263640" y="1600200"/>
            <a:ext cx="5440680" cy="4663440"/>
          </a:xfrm>
          <a:prstGeom prst="rect">
            <a:avLst/>
          </a:prstGeom>
          <a:solidFill>
            <a:srgbClr val="D4F1F4"/>
          </a:solidFill>
          <a:ln w="12700">
            <a:solidFill>
              <a:srgbClr val="0E7C7B"/>
            </a:solidFill>
            <a:prstDash val="solid"/>
          </a:ln>
        </p:spPr>
      </p:sp>
      <p:sp>
        <p:nvSpPr>
          <p:cNvPr id="15" name="Shape 12"/>
          <p:cNvSpPr/>
          <p:nvPr/>
        </p:nvSpPr>
        <p:spPr>
          <a:xfrm>
            <a:off x="6263640" y="1600200"/>
            <a:ext cx="109728" cy="4663440"/>
          </a:xfrm>
          <a:prstGeom prst="rect">
            <a:avLst/>
          </a:prstGeom>
          <a:solidFill>
            <a:srgbClr val="0E7C7B"/>
          </a:solidFill>
          <a:ln w="12700">
            <a:solidFill>
              <a:srgbClr val="0E7C7B"/>
            </a:solidFill>
            <a:prstDash val="solid"/>
          </a:ln>
        </p:spPr>
      </p:sp>
      <p:sp>
        <p:nvSpPr>
          <p:cNvPr id="16" name="Shape 13"/>
          <p:cNvSpPr/>
          <p:nvPr/>
        </p:nvSpPr>
        <p:spPr>
          <a:xfrm>
            <a:off x="6583680" y="1828800"/>
            <a:ext cx="822960" cy="822960"/>
          </a:xfrm>
          <a:prstGeom prst="ellipse">
            <a:avLst/>
          </a:prstGeom>
          <a:solidFill>
            <a:srgbClr val="0E7C7B"/>
          </a:solidFill>
          <a:ln w="12700">
            <a:solidFill>
              <a:srgbClr val="0E7C7B"/>
            </a:solidFill>
            <a:prstDash val="solid"/>
          </a:ln>
        </p:spPr>
      </p:sp>
      <p:pic>
        <p:nvPicPr>
          <p:cNvPr id="17" name="Image 1" descr="preencoded.png">    </p:cNvPr>
          <p:cNvPicPr>
            <a:picLocks noChangeAspect="1"/>
          </p:cNvPicPr>
          <p:nvPr/>
        </p:nvPicPr>
        <p:blipFill>
          <a:blip r:embed="rId2"/>
          <a:stretch>
            <a:fillRect/>
          </a:stretch>
        </p:blipFill>
        <p:spPr>
          <a:xfrm>
            <a:off x="6775704" y="1947672"/>
            <a:ext cx="438912" cy="585216"/>
          </a:xfrm>
          <a:prstGeom prst="rect">
            <a:avLst/>
          </a:prstGeom>
        </p:spPr>
      </p:pic>
      <p:sp>
        <p:nvSpPr>
          <p:cNvPr id="18" name="Text 14"/>
          <p:cNvSpPr/>
          <p:nvPr/>
        </p:nvSpPr>
        <p:spPr>
          <a:xfrm>
            <a:off x="7589520" y="1828800"/>
            <a:ext cx="4023360" cy="274320"/>
          </a:xfrm>
          <a:prstGeom prst="rect">
            <a:avLst/>
          </a:prstGeom>
          <a:noFill/>
          <a:ln/>
        </p:spPr>
        <p:txBody>
          <a:bodyPr wrap="square" lIns="0" tIns="0" rIns="0" bIns="0" rtlCol="0" anchor="ctr"/>
          <a:lstStyle/>
          <a:p>
            <a:pPr indent="0" marL="0">
              <a:buNone/>
            </a:pPr>
            <a:r>
              <a:rPr lang="en-US" sz="1100" b="1" spc="400" kern="0" dirty="0">
                <a:solidFill>
                  <a:srgbClr val="0E7C7B"/>
                </a:solidFill>
                <a:latin typeface="Calibri" pitchFamily="34" charset="0"/>
                <a:ea typeface="Calibri" pitchFamily="34" charset="-122"/>
                <a:cs typeface="Calibri" pitchFamily="34" charset="-120"/>
              </a:rPr>
              <a:t>THE NEW WAY</a:t>
            </a:r>
            <a:endParaRPr lang="en-US" sz="1100" dirty="0"/>
          </a:p>
        </p:txBody>
      </p:sp>
      <p:sp>
        <p:nvSpPr>
          <p:cNvPr id="19" name="Text 15"/>
          <p:cNvSpPr/>
          <p:nvPr/>
        </p:nvSpPr>
        <p:spPr>
          <a:xfrm>
            <a:off x="7589520" y="2121408"/>
            <a:ext cx="4023360" cy="457200"/>
          </a:xfrm>
          <a:prstGeom prst="rect">
            <a:avLst/>
          </a:prstGeom>
          <a:noFill/>
          <a:ln/>
        </p:spPr>
        <p:txBody>
          <a:bodyPr wrap="square" lIns="0" tIns="0" rIns="0" bIns="0" rtlCol="0" anchor="ctr"/>
          <a:lstStyle/>
          <a:p>
            <a:pPr indent="0" marL="0">
              <a:buNone/>
            </a:pPr>
            <a:r>
              <a:rPr lang="en-US" sz="2200" b="1" dirty="0">
                <a:solidFill>
                  <a:srgbClr val="0B2545"/>
                </a:solidFill>
                <a:latin typeface="Georgia" pitchFamily="34" charset="0"/>
                <a:ea typeface="Georgia" pitchFamily="34" charset="-122"/>
                <a:cs typeface="Georgia" pitchFamily="34" charset="-120"/>
              </a:rPr>
              <a:t>Smart screening, locally</a:t>
            </a:r>
            <a:endParaRPr lang="en-US" sz="2200" dirty="0"/>
          </a:p>
        </p:txBody>
      </p:sp>
      <p:sp>
        <p:nvSpPr>
          <p:cNvPr id="20" name="Text 16"/>
          <p:cNvSpPr/>
          <p:nvPr/>
        </p:nvSpPr>
        <p:spPr>
          <a:xfrm>
            <a:off x="6583680" y="2743200"/>
            <a:ext cx="4846320" cy="3291840"/>
          </a:xfrm>
          <a:prstGeom prst="rect">
            <a:avLst/>
          </a:prstGeom>
          <a:noFill/>
          <a:ln/>
        </p:spPr>
        <p:txBody>
          <a:bodyPr wrap="square" rtlCol="0" anchor="t"/>
          <a:lstStyle/>
          <a:p>
            <a:pPr marL="342900" indent="-342900">
              <a:spcAft>
                <a:spcPts val="200"/>
              </a:spcAft>
              <a:buSzPct val="100000"/>
              <a:buChar char="•"/>
            </a:pPr>
            <a:r>
              <a:rPr lang="en-US" sz="1300" dirty="0">
                <a:solidFill>
                  <a:srgbClr val="1A2332"/>
                </a:solidFill>
                <a:latin typeface="Calibri" pitchFamily="34" charset="0"/>
                <a:ea typeface="Calibri" pitchFamily="34" charset="-122"/>
                <a:cs typeface="Calibri" pitchFamily="34" charset="-120"/>
              </a:rPr>
              <a:t>A nurse at Ahmed's local clinic uses a small camera attached to a tablet to take a picture of the back of his eye.</a:t>
            </a:r>
            <a:endParaRPr lang="en-US" sz="1300" dirty="0"/>
          </a:p>
          <a:p>
            <a:pPr indent="0" marL="0">
              <a:spcAft>
                <a:spcPts val="2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200"/>
              </a:spcAft>
              <a:buSzPct val="100000"/>
              <a:buChar char="•"/>
            </a:pPr>
            <a:r>
              <a:rPr lang="en-US" sz="1300" dirty="0">
                <a:solidFill>
                  <a:srgbClr val="1A2332"/>
                </a:solidFill>
                <a:latin typeface="Calibri" pitchFamily="34" charset="0"/>
                <a:ea typeface="Calibri" pitchFamily="34" charset="-122"/>
                <a:cs typeface="Calibri" pitchFamily="34" charset="-120"/>
              </a:rPr>
              <a:t>A smart program — trained on millions of eye images — analyzes it in under 10 seconds.</a:t>
            </a:r>
            <a:endParaRPr lang="en-US" sz="1300" dirty="0"/>
          </a:p>
          <a:p>
            <a:pPr indent="0" marL="0">
              <a:spcAft>
                <a:spcPts val="2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200"/>
              </a:spcAft>
              <a:buSzPct val="100000"/>
              <a:buChar char="•"/>
            </a:pPr>
            <a:r>
              <a:rPr lang="en-US" sz="1300" dirty="0">
                <a:solidFill>
                  <a:srgbClr val="1A2332"/>
                </a:solidFill>
                <a:latin typeface="Calibri" pitchFamily="34" charset="0"/>
                <a:ea typeface="Calibri" pitchFamily="34" charset="-122"/>
                <a:cs typeface="Calibri" pitchFamily="34" charset="-120"/>
              </a:rPr>
              <a:t>Result: "All clear" or "Please see a specialist soon." The whole visit takes 15 minutes.</a:t>
            </a:r>
            <a:endParaRPr lang="en-US" sz="1300" dirty="0"/>
          </a:p>
          <a:p>
            <a:pPr indent="0" marL="0">
              <a:spcAft>
                <a:spcPts val="2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200"/>
              </a:spcAft>
              <a:buSzPct val="100000"/>
              <a:buChar char="•"/>
            </a:pPr>
            <a:r>
              <a:rPr lang="en-US" sz="1300" i="1" dirty="0">
                <a:solidFill>
                  <a:srgbClr val="1A2332"/>
                </a:solidFill>
                <a:latin typeface="Calibri" pitchFamily="34" charset="0"/>
                <a:ea typeface="Calibri" pitchFamily="34" charset="-122"/>
                <a:cs typeface="Calibri" pitchFamily="34" charset="-120"/>
              </a:rPr>
              <a:t>Real systems doing this are already approved and used in clinics around the world.</a:t>
            </a:r>
            <a:endParaRPr lang="en-US" sz="1300" dirty="0"/>
          </a:p>
        </p:txBody>
      </p:sp>
      <p:sp>
        <p:nvSpPr>
          <p:cNvPr id="21" name="Text 17"/>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22" name="Text 18"/>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06  /  20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Story 3: Dr. Maya's Mountain of Paperwork</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Why doctors spend more time typing than caring</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10607040" cy="914400"/>
          </a:xfrm>
          <a:prstGeom prst="rect">
            <a:avLst/>
          </a:prstGeom>
          <a:solidFill>
            <a:srgbClr val="0B2545"/>
          </a:solidFill>
          <a:ln w="12700">
            <a:solidFill>
              <a:srgbClr val="0B2545"/>
            </a:solidFill>
            <a:prstDash val="solid"/>
          </a:ln>
        </p:spPr>
      </p:sp>
      <p:sp>
        <p:nvSpPr>
          <p:cNvPr id="7" name="Shape 5"/>
          <p:cNvSpPr/>
          <p:nvPr/>
        </p:nvSpPr>
        <p:spPr>
          <a:xfrm>
            <a:off x="777240" y="1600200"/>
            <a:ext cx="109728" cy="914400"/>
          </a:xfrm>
          <a:prstGeom prst="rect">
            <a:avLst/>
          </a:prstGeom>
          <a:solidFill>
            <a:srgbClr val="FFB627"/>
          </a:solidFill>
          <a:ln w="12700">
            <a:solidFill>
              <a:srgbClr val="FFB627"/>
            </a:solidFill>
            <a:prstDash val="solid"/>
          </a:ln>
        </p:spPr>
      </p:sp>
      <p:sp>
        <p:nvSpPr>
          <p:cNvPr id="8" name="Text 6"/>
          <p:cNvSpPr/>
          <p:nvPr/>
        </p:nvSpPr>
        <p:spPr>
          <a:xfrm>
            <a:off x="1097280" y="1691640"/>
            <a:ext cx="10241280" cy="502920"/>
          </a:xfrm>
          <a:prstGeom prst="rect">
            <a:avLst/>
          </a:prstGeom>
          <a:noFill/>
          <a:ln/>
        </p:spPr>
        <p:txBody>
          <a:bodyPr wrap="square" lIns="0" tIns="0" rIns="0" bIns="0" rtlCol="0" anchor="ctr"/>
          <a:lstStyle/>
          <a:p>
            <a:pPr indent="0" marL="0">
              <a:buNone/>
            </a:pPr>
            <a:r>
              <a:rPr lang="en-US" sz="2400" b="1" dirty="0">
                <a:solidFill>
                  <a:srgbClr val="FFB627"/>
                </a:solidFill>
                <a:latin typeface="Georgia" pitchFamily="34" charset="0"/>
                <a:ea typeface="Georgia" pitchFamily="34" charset="-122"/>
                <a:cs typeface="Georgia" pitchFamily="34" charset="-120"/>
              </a:rPr>
              <a:t>2 hours of paperwork </a:t>
            </a:r>
            <a:pPr indent="0" marL="0">
              <a:buNone/>
            </a:pPr>
            <a:r>
              <a:rPr lang="en-US" sz="1900" dirty="0">
                <a:solidFill>
                  <a:srgbClr val="FFFFFF"/>
                </a:solidFill>
                <a:latin typeface="Georgia" pitchFamily="34" charset="0"/>
                <a:ea typeface="Georgia" pitchFamily="34" charset="-122"/>
                <a:cs typeface="Georgia" pitchFamily="34" charset="-120"/>
              </a:rPr>
              <a:t>for every 1 hour spent with patients.</a:t>
            </a:r>
            <a:endParaRPr lang="en-US" sz="2400" dirty="0"/>
          </a:p>
        </p:txBody>
      </p:sp>
      <p:sp>
        <p:nvSpPr>
          <p:cNvPr id="9" name="Text 7"/>
          <p:cNvSpPr/>
          <p:nvPr/>
        </p:nvSpPr>
        <p:spPr>
          <a:xfrm>
            <a:off x="1097280" y="2194560"/>
            <a:ext cx="1024128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Source: studies of physician workload, Annals of Internal Medicine</a:t>
            </a:r>
            <a:endParaRPr lang="en-US" sz="1100" dirty="0"/>
          </a:p>
        </p:txBody>
      </p:sp>
      <p:sp>
        <p:nvSpPr>
          <p:cNvPr id="10" name="Shape 8"/>
          <p:cNvSpPr/>
          <p:nvPr/>
        </p:nvSpPr>
        <p:spPr>
          <a:xfrm>
            <a:off x="777240" y="2697480"/>
            <a:ext cx="5349240" cy="3520440"/>
          </a:xfrm>
          <a:prstGeom prst="rect">
            <a:avLst/>
          </a:prstGeom>
          <a:solidFill>
            <a:srgbClr val="F9FBFC"/>
          </a:solidFill>
          <a:ln w="12700">
            <a:solidFill>
              <a:srgbClr val="E1E8ED"/>
            </a:solidFill>
            <a:prstDash val="solid"/>
          </a:ln>
        </p:spPr>
      </p:sp>
      <p:pic>
        <p:nvPicPr>
          <p:cNvPr id="11" name="Image 0" descr="preencoded.png">    </p:cNvPr>
          <p:cNvPicPr>
            <a:picLocks noChangeAspect="1"/>
          </p:cNvPicPr>
          <p:nvPr/>
        </p:nvPicPr>
        <p:blipFill>
          <a:blip r:embed="rId1"/>
          <a:stretch>
            <a:fillRect/>
          </a:stretch>
        </p:blipFill>
        <p:spPr>
          <a:xfrm>
            <a:off x="1051560" y="2926080"/>
            <a:ext cx="640080" cy="640080"/>
          </a:xfrm>
          <a:prstGeom prst="rect">
            <a:avLst/>
          </a:prstGeom>
        </p:spPr>
      </p:pic>
      <p:sp>
        <p:nvSpPr>
          <p:cNvPr id="12" name="Text 9"/>
          <p:cNvSpPr/>
          <p:nvPr/>
        </p:nvSpPr>
        <p:spPr>
          <a:xfrm>
            <a:off x="1828800" y="2926080"/>
            <a:ext cx="4114800" cy="457200"/>
          </a:xfrm>
          <a:prstGeom prst="rect">
            <a:avLst/>
          </a:prstGeom>
          <a:noFill/>
          <a:ln/>
        </p:spPr>
        <p:txBody>
          <a:bodyPr wrap="square" lIns="0" tIns="0" rIns="0" bIns="0" rtlCol="0" anchor="ctr"/>
          <a:lstStyle/>
          <a:p>
            <a:pPr indent="0" marL="0">
              <a:buNone/>
            </a:pPr>
            <a:r>
              <a:rPr lang="en-US" sz="2000" b="1" dirty="0">
                <a:solidFill>
                  <a:srgbClr val="FF6B6B"/>
                </a:solidFill>
                <a:latin typeface="Georgia" pitchFamily="34" charset="0"/>
                <a:ea typeface="Georgia" pitchFamily="34" charset="-122"/>
                <a:cs typeface="Georgia" pitchFamily="34" charset="-120"/>
              </a:rPr>
              <a:t>The Problem</a:t>
            </a:r>
            <a:endParaRPr lang="en-US" sz="2000" dirty="0"/>
          </a:p>
        </p:txBody>
      </p:sp>
      <p:sp>
        <p:nvSpPr>
          <p:cNvPr id="13" name="Text 10"/>
          <p:cNvSpPr/>
          <p:nvPr/>
        </p:nvSpPr>
        <p:spPr>
          <a:xfrm>
            <a:off x="1051560" y="3703320"/>
            <a:ext cx="4937760" cy="2468880"/>
          </a:xfrm>
          <a:prstGeom prst="rect">
            <a:avLst/>
          </a:prstGeom>
          <a:noFill/>
          <a:ln/>
        </p:spPr>
        <p:txBody>
          <a:bodyPr wrap="square" rtlCol="0" anchor="t"/>
          <a:lstStyle/>
          <a:p>
            <a:pPr indent="0" marL="0">
              <a:spcAft>
                <a:spcPts val="300"/>
              </a:spcAft>
              <a:buNone/>
            </a:pPr>
            <a:r>
              <a:rPr lang="en-US" sz="1300" dirty="0">
                <a:solidFill>
                  <a:srgbClr val="1A2332"/>
                </a:solidFill>
                <a:latin typeface="Calibri" pitchFamily="34" charset="0"/>
                <a:ea typeface="Calibri" pitchFamily="34" charset="-122"/>
                <a:cs typeface="Calibri" pitchFamily="34" charset="-120"/>
              </a:rPr>
              <a:t>Every patient visit creates handwritten notes, forms, and reports — most of it stored as plain text.</a:t>
            </a:r>
            <a:endParaRPr lang="en-US" sz="1300" dirty="0"/>
          </a:p>
          <a:p>
            <a:pPr indent="0" marL="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300"/>
              </a:spcAft>
              <a:buNone/>
            </a:pPr>
            <a:r>
              <a:rPr lang="en-US" sz="1300" dirty="0">
                <a:solidFill>
                  <a:srgbClr val="1A2332"/>
                </a:solidFill>
                <a:latin typeface="Calibri" pitchFamily="34" charset="0"/>
                <a:ea typeface="Calibri" pitchFamily="34" charset="-122"/>
                <a:cs typeface="Calibri" pitchFamily="34" charset="-120"/>
              </a:rPr>
              <a:t>When Dr. Maya needs to find something — say, all her patients with high blood pressure — she has to read through hundreds of files herself. That's hours she could spend with people instead.</a:t>
            </a:r>
            <a:endParaRPr lang="en-US" sz="1300" dirty="0"/>
          </a:p>
          <a:p>
            <a:pPr indent="0" marL="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300"/>
              </a:spcAft>
              <a:buNone/>
            </a:pPr>
            <a:r>
              <a:rPr lang="en-US" sz="1300" i="1" dirty="0">
                <a:solidFill>
                  <a:srgbClr val="1A2332"/>
                </a:solidFill>
                <a:latin typeface="Calibri" pitchFamily="34" charset="0"/>
                <a:ea typeface="Calibri" pitchFamily="34" charset="-122"/>
                <a:cs typeface="Calibri" pitchFamily="34" charset="-120"/>
              </a:rPr>
              <a:t>Important warning signs sometimes slip through simply because no human can read everything in time.</a:t>
            </a:r>
            <a:endParaRPr lang="en-US" sz="1300" dirty="0"/>
          </a:p>
        </p:txBody>
      </p:sp>
      <p:sp>
        <p:nvSpPr>
          <p:cNvPr id="14" name="Shape 11"/>
          <p:cNvSpPr/>
          <p:nvPr/>
        </p:nvSpPr>
        <p:spPr>
          <a:xfrm>
            <a:off x="6355080" y="2697480"/>
            <a:ext cx="5349240" cy="3520440"/>
          </a:xfrm>
          <a:prstGeom prst="rect">
            <a:avLst/>
          </a:prstGeom>
          <a:solidFill>
            <a:srgbClr val="D4F1F4"/>
          </a:solidFill>
          <a:ln w="12700">
            <a:solidFill>
              <a:srgbClr val="0E7C7B"/>
            </a:solidFill>
            <a:prstDash val="solid"/>
          </a:ln>
        </p:spPr>
      </p:sp>
      <p:pic>
        <p:nvPicPr>
          <p:cNvPr id="15" name="Image 1" descr="preencoded.png">    </p:cNvPr>
          <p:cNvPicPr>
            <a:picLocks noChangeAspect="1"/>
          </p:cNvPicPr>
          <p:nvPr/>
        </p:nvPicPr>
        <p:blipFill>
          <a:blip r:embed="rId2"/>
          <a:stretch>
            <a:fillRect/>
          </a:stretch>
        </p:blipFill>
        <p:spPr>
          <a:xfrm>
            <a:off x="6629400" y="2926080"/>
            <a:ext cx="640080" cy="640080"/>
          </a:xfrm>
          <a:prstGeom prst="rect">
            <a:avLst/>
          </a:prstGeom>
        </p:spPr>
      </p:pic>
      <p:sp>
        <p:nvSpPr>
          <p:cNvPr id="16" name="Text 12"/>
          <p:cNvSpPr/>
          <p:nvPr/>
        </p:nvSpPr>
        <p:spPr>
          <a:xfrm>
            <a:off x="7406640" y="2926080"/>
            <a:ext cx="4114800" cy="457200"/>
          </a:xfrm>
          <a:prstGeom prst="rect">
            <a:avLst/>
          </a:prstGeom>
          <a:noFill/>
          <a:ln/>
        </p:spPr>
        <p:txBody>
          <a:bodyPr wrap="square" lIns="0" tIns="0" rIns="0" bIns="0" rtlCol="0" anchor="ctr"/>
          <a:lstStyle/>
          <a:p>
            <a:pPr indent="0" marL="0">
              <a:buNone/>
            </a:pPr>
            <a:r>
              <a:rPr lang="en-US" sz="2000" b="1" dirty="0">
                <a:solidFill>
                  <a:srgbClr val="0E7C7B"/>
                </a:solidFill>
                <a:latin typeface="Georgia" pitchFamily="34" charset="0"/>
                <a:ea typeface="Georgia" pitchFamily="34" charset="-122"/>
                <a:cs typeface="Georgia" pitchFamily="34" charset="-120"/>
              </a:rPr>
              <a:t>The Smart Helper</a:t>
            </a:r>
            <a:endParaRPr lang="en-US" sz="2000" dirty="0"/>
          </a:p>
        </p:txBody>
      </p:sp>
      <p:sp>
        <p:nvSpPr>
          <p:cNvPr id="17" name="Text 13"/>
          <p:cNvSpPr/>
          <p:nvPr/>
        </p:nvSpPr>
        <p:spPr>
          <a:xfrm>
            <a:off x="6629400" y="3703320"/>
            <a:ext cx="4937760" cy="2468880"/>
          </a:xfrm>
          <a:prstGeom prst="rect">
            <a:avLst/>
          </a:prstGeom>
          <a:noFill/>
          <a:ln/>
        </p:spPr>
        <p:txBody>
          <a:bodyPr wrap="square" rtlCol="0" anchor="t"/>
          <a:lstStyle/>
          <a:p>
            <a:pPr marL="342900" indent="-342900">
              <a:spcAft>
                <a:spcPts val="300"/>
              </a:spcAft>
              <a:buSzPct val="100000"/>
              <a:buChar char="•"/>
            </a:pPr>
            <a:r>
              <a:rPr lang="en-US" sz="1300" dirty="0">
                <a:solidFill>
                  <a:srgbClr val="1A2332"/>
                </a:solidFill>
                <a:latin typeface="Calibri" pitchFamily="34" charset="0"/>
                <a:ea typeface="Calibri" pitchFamily="34" charset="-122"/>
                <a:cs typeface="Calibri" pitchFamily="34" charset="-120"/>
              </a:rPr>
              <a:t>An AI that understands written language can read every note in seconds.</a:t>
            </a:r>
            <a:endParaRPr lang="en-US" sz="1300" dirty="0"/>
          </a:p>
          <a:p>
            <a:pPr indent="0" marL="0">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300"/>
              </a:spcAft>
              <a:buSzPct val="100000"/>
              <a:buChar char="•"/>
            </a:pPr>
            <a:r>
              <a:rPr lang="en-US" sz="1300" dirty="0">
                <a:solidFill>
                  <a:srgbClr val="1A2332"/>
                </a:solidFill>
                <a:latin typeface="Calibri" pitchFamily="34" charset="0"/>
                <a:ea typeface="Calibri" pitchFamily="34" charset="-122"/>
                <a:cs typeface="Calibri" pitchFamily="34" charset="-120"/>
              </a:rPr>
              <a:t>It can pull out key facts: medications, allergies, conditions — without changing the original notes.</a:t>
            </a:r>
            <a:endParaRPr lang="en-US" sz="1300" dirty="0"/>
          </a:p>
          <a:p>
            <a:pPr indent="0" marL="0">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300"/>
              </a:spcAft>
              <a:buSzPct val="100000"/>
              <a:buChar char="•"/>
            </a:pPr>
            <a:r>
              <a:rPr lang="en-US" sz="1300" dirty="0">
                <a:solidFill>
                  <a:srgbClr val="1A2332"/>
                </a:solidFill>
                <a:latin typeface="Calibri" pitchFamily="34" charset="0"/>
                <a:ea typeface="Calibri" pitchFamily="34" charset="-122"/>
                <a:cs typeface="Calibri" pitchFamily="34" charset="-120"/>
              </a:rPr>
              <a:t>It can flag patients who match certain risks ("these 12 people may need a follow-up call").</a:t>
            </a:r>
            <a:endParaRPr lang="en-US" sz="1300" dirty="0"/>
          </a:p>
          <a:p>
            <a:pPr indent="0" marL="0">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300"/>
              </a:spcAft>
              <a:buSzPct val="100000"/>
              <a:buChar char="•"/>
            </a:pPr>
            <a:r>
              <a:rPr lang="en-US" sz="1300" b="1" i="1" dirty="0">
                <a:solidFill>
                  <a:srgbClr val="0E7C7B"/>
                </a:solidFill>
                <a:latin typeface="Calibri" pitchFamily="34" charset="0"/>
                <a:ea typeface="Calibri" pitchFamily="34" charset="-122"/>
                <a:cs typeface="Calibri" pitchFamily="34" charset="-120"/>
              </a:rPr>
              <a:t>Dr. Maya gets an extra hour each day — to listen, to explain, to actually be a doctor.</a:t>
            </a:r>
            <a:endParaRPr lang="en-US" sz="1300" dirty="0"/>
          </a:p>
        </p:txBody>
      </p:sp>
      <p:sp>
        <p:nvSpPr>
          <p:cNvPr id="18" name="Text 14"/>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19" name="Text 15"/>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07  /  20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So... What Is AI, Really?</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An honest answer in everyday words</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5852160" cy="4663440"/>
          </a:xfrm>
          <a:prstGeom prst="rect">
            <a:avLst/>
          </a:prstGeom>
          <a:solidFill>
            <a:srgbClr val="0B2545"/>
          </a:solidFill>
          <a:ln w="12700">
            <a:solidFill>
              <a:srgbClr val="0B2545"/>
            </a:solidFill>
            <a:prstDash val="solid"/>
          </a:ln>
        </p:spPr>
      </p:sp>
      <p:pic>
        <p:nvPicPr>
          <p:cNvPr id="7" name="Image 0" descr="preencoded.png">    </p:cNvPr>
          <p:cNvPicPr>
            <a:picLocks noChangeAspect="1"/>
          </p:cNvPicPr>
          <p:nvPr/>
        </p:nvPicPr>
        <p:blipFill>
          <a:blip r:embed="rId1"/>
          <a:stretch>
            <a:fillRect/>
          </a:stretch>
        </p:blipFill>
        <p:spPr>
          <a:xfrm>
            <a:off x="1051560" y="1828800"/>
            <a:ext cx="640080" cy="640080"/>
          </a:xfrm>
          <a:prstGeom prst="rect">
            <a:avLst/>
          </a:prstGeom>
        </p:spPr>
      </p:pic>
      <p:sp>
        <p:nvSpPr>
          <p:cNvPr id="8" name="Text 5"/>
          <p:cNvSpPr/>
          <p:nvPr/>
        </p:nvSpPr>
        <p:spPr>
          <a:xfrm>
            <a:off x="1828800" y="182880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Think of it like learning a recipe</a:t>
            </a:r>
            <a:endParaRPr lang="en-US" sz="2200" dirty="0"/>
          </a:p>
        </p:txBody>
      </p:sp>
      <p:sp>
        <p:nvSpPr>
          <p:cNvPr id="9" name="Text 6"/>
          <p:cNvSpPr/>
          <p:nvPr/>
        </p:nvSpPr>
        <p:spPr>
          <a:xfrm>
            <a:off x="1051560" y="2651760"/>
            <a:ext cx="5486400" cy="3474720"/>
          </a:xfrm>
          <a:prstGeom prst="rect">
            <a:avLst/>
          </a:prstGeom>
          <a:noFill/>
          <a:ln/>
        </p:spPr>
        <p:txBody>
          <a:bodyPr wrap="square" rtlCol="0" anchor="t"/>
          <a:lstStyle/>
          <a:p>
            <a:pPr indent="0" marL="0">
              <a:buNone/>
            </a:pPr>
            <a:r>
              <a:rPr lang="en-US" sz="1400" dirty="0">
                <a:solidFill>
                  <a:srgbClr val="E2E8F0"/>
                </a:solidFill>
                <a:latin typeface="Calibri" pitchFamily="34" charset="0"/>
                <a:ea typeface="Calibri" pitchFamily="34" charset="-122"/>
                <a:cs typeface="Calibri" pitchFamily="34" charset="-120"/>
              </a:rPr>
              <a:t>If you've ever made tea after watching it done a hundred times, you know how AI works.</a:t>
            </a:r>
            <a:endParaRPr lang="en-US" sz="14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E2E8F0"/>
                </a:solidFill>
                <a:latin typeface="Calibri" pitchFamily="34" charset="0"/>
                <a:ea typeface="Calibri" pitchFamily="34" charset="-122"/>
                <a:cs typeface="Calibri" pitchFamily="34" charset="-120"/>
              </a:rPr>
              <a:t>AI is a program that learns by </a:t>
            </a:r>
            <a:pPr indent="0" marL="0">
              <a:buNone/>
            </a:pPr>
            <a:r>
              <a:rPr lang="en-US" sz="1400" b="1" dirty="0">
                <a:solidFill>
                  <a:srgbClr val="FFB627"/>
                </a:solidFill>
                <a:latin typeface="Calibri" pitchFamily="34" charset="0"/>
                <a:ea typeface="Calibri" pitchFamily="34" charset="-122"/>
                <a:cs typeface="Calibri" pitchFamily="34" charset="-120"/>
              </a:rPr>
              <a:t>looking at huge numbers of examples</a:t>
            </a:r>
            <a:pPr indent="0" marL="0">
              <a:buNone/>
            </a:pPr>
            <a:r>
              <a:rPr lang="en-US" sz="1400" dirty="0">
                <a:solidFill>
                  <a:srgbClr val="E2E8F0"/>
                </a:solidFill>
                <a:latin typeface="Calibri" pitchFamily="34" charset="0"/>
                <a:ea typeface="Calibri" pitchFamily="34" charset="-122"/>
                <a:cs typeface="Calibri" pitchFamily="34" charset="-120"/>
              </a:rPr>
              <a:t>. Show it millions of pictures of cats and dogs, and eventually it learns the difference. Show it millions of medical scans labelled by doctors, and it learns to recognize the warning signs they look for.</a:t>
            </a:r>
            <a:endParaRPr lang="en-US" sz="14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i="1" dirty="0">
                <a:solidFill>
                  <a:srgbClr val="E2E8F0"/>
                </a:solidFill>
                <a:latin typeface="Calibri" pitchFamily="34" charset="0"/>
                <a:ea typeface="Calibri" pitchFamily="34" charset="-122"/>
                <a:cs typeface="Calibri" pitchFamily="34" charset="-120"/>
              </a:rPr>
              <a:t>It doesn't </a:t>
            </a:r>
            <a:pPr indent="0" marL="0">
              <a:buNone/>
            </a:pPr>
            <a:r>
              <a:rPr lang="en-US" sz="1400" b="1" i="1" dirty="0">
                <a:solidFill>
                  <a:srgbClr val="FFFFFF"/>
                </a:solidFill>
                <a:latin typeface="Calibri" pitchFamily="34" charset="0"/>
                <a:ea typeface="Calibri" pitchFamily="34" charset="-122"/>
                <a:cs typeface="Calibri" pitchFamily="34" charset="-120"/>
              </a:rPr>
              <a:t>understand</a:t>
            </a:r>
            <a:pPr indent="0" marL="0">
              <a:buNone/>
            </a:pPr>
            <a:r>
              <a:rPr lang="en-US" sz="1400" i="1" dirty="0">
                <a:solidFill>
                  <a:srgbClr val="E2E8F0"/>
                </a:solidFill>
                <a:latin typeface="Calibri" pitchFamily="34" charset="0"/>
                <a:ea typeface="Calibri" pitchFamily="34" charset="-122"/>
                <a:cs typeface="Calibri" pitchFamily="34" charset="-120"/>
              </a:rPr>
              <a:t> medicine the way a doctor does. It just gets very, very good at noticing patterns — patterns that humans sometimes miss simply because they're tired or in a hurry.</a:t>
            </a:r>
            <a:endParaRPr lang="en-US" sz="1400" dirty="0"/>
          </a:p>
        </p:txBody>
      </p:sp>
      <p:sp>
        <p:nvSpPr>
          <p:cNvPr id="10" name="Shape 7"/>
          <p:cNvSpPr/>
          <p:nvPr/>
        </p:nvSpPr>
        <p:spPr>
          <a:xfrm>
            <a:off x="6812280" y="1600200"/>
            <a:ext cx="4937760" cy="1051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1" name="Shape 8"/>
          <p:cNvSpPr/>
          <p:nvPr/>
        </p:nvSpPr>
        <p:spPr>
          <a:xfrm>
            <a:off x="6812280" y="1600200"/>
            <a:ext cx="91440" cy="1051560"/>
          </a:xfrm>
          <a:prstGeom prst="rect">
            <a:avLst/>
          </a:prstGeom>
          <a:solidFill>
            <a:srgbClr val="06A77D"/>
          </a:solidFill>
          <a:ln w="12700">
            <a:solidFill>
              <a:srgbClr val="06A77D"/>
            </a:solidFill>
            <a:prstDash val="solid"/>
          </a:ln>
        </p:spPr>
      </p:sp>
      <p:sp>
        <p:nvSpPr>
          <p:cNvPr id="12" name="Shape 9"/>
          <p:cNvSpPr/>
          <p:nvPr/>
        </p:nvSpPr>
        <p:spPr>
          <a:xfrm>
            <a:off x="6812280" y="2788920"/>
            <a:ext cx="4937760" cy="1051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3" name="Shape 10"/>
          <p:cNvSpPr/>
          <p:nvPr/>
        </p:nvSpPr>
        <p:spPr>
          <a:xfrm>
            <a:off x="6812280" y="2788920"/>
            <a:ext cx="91440" cy="1051560"/>
          </a:xfrm>
          <a:prstGeom prst="rect">
            <a:avLst/>
          </a:prstGeom>
          <a:solidFill>
            <a:srgbClr val="06A77D"/>
          </a:solidFill>
          <a:ln w="12700">
            <a:solidFill>
              <a:srgbClr val="06A77D"/>
            </a:solidFill>
            <a:prstDash val="solid"/>
          </a:ln>
        </p:spPr>
      </p:sp>
      <p:sp>
        <p:nvSpPr>
          <p:cNvPr id="14" name="Shape 11"/>
          <p:cNvSpPr/>
          <p:nvPr/>
        </p:nvSpPr>
        <p:spPr>
          <a:xfrm>
            <a:off x="6812280" y="3977640"/>
            <a:ext cx="4937760" cy="1051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5" name="Shape 12"/>
          <p:cNvSpPr/>
          <p:nvPr/>
        </p:nvSpPr>
        <p:spPr>
          <a:xfrm>
            <a:off x="6812280" y="3977640"/>
            <a:ext cx="91440" cy="1051560"/>
          </a:xfrm>
          <a:prstGeom prst="rect">
            <a:avLst/>
          </a:prstGeom>
          <a:solidFill>
            <a:srgbClr val="FF6B6B"/>
          </a:solidFill>
          <a:ln w="12700">
            <a:solidFill>
              <a:srgbClr val="FF6B6B"/>
            </a:solidFill>
            <a:prstDash val="solid"/>
          </a:ln>
        </p:spPr>
      </p:sp>
      <p:sp>
        <p:nvSpPr>
          <p:cNvPr id="16" name="Shape 13"/>
          <p:cNvSpPr/>
          <p:nvPr/>
        </p:nvSpPr>
        <p:spPr>
          <a:xfrm>
            <a:off x="6812280" y="5166360"/>
            <a:ext cx="4937760" cy="1051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7" name="Shape 14"/>
          <p:cNvSpPr/>
          <p:nvPr/>
        </p:nvSpPr>
        <p:spPr>
          <a:xfrm>
            <a:off x="6812280" y="5166360"/>
            <a:ext cx="91440" cy="1051560"/>
          </a:xfrm>
          <a:prstGeom prst="rect">
            <a:avLst/>
          </a:prstGeom>
          <a:solidFill>
            <a:srgbClr val="FF6B6B"/>
          </a:solidFill>
          <a:ln w="12700">
            <a:solidFill>
              <a:srgbClr val="FF6B6B"/>
            </a:solidFill>
            <a:prstDash val="solid"/>
          </a:ln>
        </p:spPr>
      </p:sp>
      <p:pic>
        <p:nvPicPr>
          <p:cNvPr id="18" name="Image 1" descr="preencoded.png">    </p:cNvPr>
          <p:cNvPicPr>
            <a:picLocks noChangeAspect="1"/>
          </p:cNvPicPr>
          <p:nvPr/>
        </p:nvPicPr>
        <p:blipFill>
          <a:blip r:embed="rId2"/>
          <a:stretch>
            <a:fillRect/>
          </a:stretch>
        </p:blipFill>
        <p:spPr>
          <a:xfrm>
            <a:off x="7040880" y="1920240"/>
            <a:ext cx="411480" cy="411480"/>
          </a:xfrm>
          <a:prstGeom prst="rect">
            <a:avLst/>
          </a:prstGeom>
        </p:spPr>
      </p:pic>
      <p:sp>
        <p:nvSpPr>
          <p:cNvPr id="19" name="Text 15"/>
          <p:cNvSpPr/>
          <p:nvPr/>
        </p:nvSpPr>
        <p:spPr>
          <a:xfrm>
            <a:off x="7589520" y="1719072"/>
            <a:ext cx="4023360" cy="274320"/>
          </a:xfrm>
          <a:prstGeom prst="rect">
            <a:avLst/>
          </a:prstGeom>
          <a:noFill/>
          <a:ln/>
        </p:spPr>
        <p:txBody>
          <a:bodyPr wrap="square" lIns="0" tIns="0" rIns="0" bIns="0" rtlCol="0" anchor="ctr"/>
          <a:lstStyle/>
          <a:p>
            <a:pPr indent="0" marL="0">
              <a:buNone/>
            </a:pPr>
            <a:r>
              <a:rPr lang="en-US" sz="1000" b="1" spc="300" kern="0" dirty="0">
                <a:solidFill>
                  <a:srgbClr val="06A77D"/>
                </a:solidFill>
                <a:latin typeface="Calibri" pitchFamily="34" charset="0"/>
                <a:ea typeface="Calibri" pitchFamily="34" charset="-122"/>
                <a:cs typeface="Calibri" pitchFamily="34" charset="-120"/>
              </a:rPr>
              <a:t>AI IS</a:t>
            </a:r>
            <a:endParaRPr lang="en-US" sz="1000" dirty="0"/>
          </a:p>
        </p:txBody>
      </p:sp>
      <p:sp>
        <p:nvSpPr>
          <p:cNvPr id="20" name="Text 16"/>
          <p:cNvSpPr/>
          <p:nvPr/>
        </p:nvSpPr>
        <p:spPr>
          <a:xfrm>
            <a:off x="7589520" y="1984248"/>
            <a:ext cx="4023360" cy="640080"/>
          </a:xfrm>
          <a:prstGeom prst="rect">
            <a:avLst/>
          </a:prstGeom>
          <a:noFill/>
          <a:ln/>
        </p:spPr>
        <p:txBody>
          <a:bodyPr wrap="square" lIns="0" tIns="0" rIns="0" bIns="0" rtlCol="0" anchor="t"/>
          <a:lstStyle/>
          <a:p>
            <a:pPr indent="0" marL="0">
              <a:buNone/>
            </a:pPr>
            <a:r>
              <a:rPr lang="en-US" sz="1300" dirty="0">
                <a:solidFill>
                  <a:srgbClr val="1A2332"/>
                </a:solidFill>
                <a:latin typeface="Calibri" pitchFamily="34" charset="0"/>
                <a:ea typeface="Calibri" pitchFamily="34" charset="-122"/>
                <a:cs typeface="Calibri" pitchFamily="34" charset="-120"/>
              </a:rPr>
              <a:t>A pattern-spotter. Tireless. Consistent. Available 24/7.</a:t>
            </a:r>
            <a:endParaRPr lang="en-US" sz="1300" dirty="0"/>
          </a:p>
        </p:txBody>
      </p:sp>
      <p:pic>
        <p:nvPicPr>
          <p:cNvPr id="21" name="Image 2" descr="preencoded.png">    </p:cNvPr>
          <p:cNvPicPr>
            <a:picLocks noChangeAspect="1"/>
          </p:cNvPicPr>
          <p:nvPr/>
        </p:nvPicPr>
        <p:blipFill>
          <a:blip r:embed="rId3"/>
          <a:stretch>
            <a:fillRect/>
          </a:stretch>
        </p:blipFill>
        <p:spPr>
          <a:xfrm>
            <a:off x="7040880" y="3108960"/>
            <a:ext cx="411480" cy="411480"/>
          </a:xfrm>
          <a:prstGeom prst="rect">
            <a:avLst/>
          </a:prstGeom>
        </p:spPr>
      </p:pic>
      <p:sp>
        <p:nvSpPr>
          <p:cNvPr id="22" name="Text 17"/>
          <p:cNvSpPr/>
          <p:nvPr/>
        </p:nvSpPr>
        <p:spPr>
          <a:xfrm>
            <a:off x="7589520" y="2907792"/>
            <a:ext cx="4023360" cy="274320"/>
          </a:xfrm>
          <a:prstGeom prst="rect">
            <a:avLst/>
          </a:prstGeom>
          <a:noFill/>
          <a:ln/>
        </p:spPr>
        <p:txBody>
          <a:bodyPr wrap="square" lIns="0" tIns="0" rIns="0" bIns="0" rtlCol="0" anchor="ctr"/>
          <a:lstStyle/>
          <a:p>
            <a:pPr indent="0" marL="0">
              <a:buNone/>
            </a:pPr>
            <a:r>
              <a:rPr lang="en-US" sz="1000" b="1" spc="300" kern="0" dirty="0">
                <a:solidFill>
                  <a:srgbClr val="06A77D"/>
                </a:solidFill>
                <a:latin typeface="Calibri" pitchFamily="34" charset="0"/>
                <a:ea typeface="Calibri" pitchFamily="34" charset="-122"/>
                <a:cs typeface="Calibri" pitchFamily="34" charset="-120"/>
              </a:rPr>
              <a:t>AI IS</a:t>
            </a:r>
            <a:endParaRPr lang="en-US" sz="1000" dirty="0"/>
          </a:p>
        </p:txBody>
      </p:sp>
      <p:sp>
        <p:nvSpPr>
          <p:cNvPr id="23" name="Text 18"/>
          <p:cNvSpPr/>
          <p:nvPr/>
        </p:nvSpPr>
        <p:spPr>
          <a:xfrm>
            <a:off x="7589520" y="3172968"/>
            <a:ext cx="4023360" cy="640080"/>
          </a:xfrm>
          <a:prstGeom prst="rect">
            <a:avLst/>
          </a:prstGeom>
          <a:noFill/>
          <a:ln/>
        </p:spPr>
        <p:txBody>
          <a:bodyPr wrap="square" lIns="0" tIns="0" rIns="0" bIns="0" rtlCol="0" anchor="t"/>
          <a:lstStyle/>
          <a:p>
            <a:pPr indent="0" marL="0">
              <a:buNone/>
            </a:pPr>
            <a:r>
              <a:rPr lang="en-US" sz="1300" dirty="0">
                <a:solidFill>
                  <a:srgbClr val="1A2332"/>
                </a:solidFill>
                <a:latin typeface="Calibri" pitchFamily="34" charset="0"/>
                <a:ea typeface="Calibri" pitchFamily="34" charset="-122"/>
                <a:cs typeface="Calibri" pitchFamily="34" charset="-120"/>
              </a:rPr>
              <a:t>A helper that gives doctors a useful second opinion.</a:t>
            </a:r>
            <a:endParaRPr lang="en-US" sz="1300" dirty="0"/>
          </a:p>
        </p:txBody>
      </p:sp>
      <p:pic>
        <p:nvPicPr>
          <p:cNvPr id="24" name="Image 3" descr="preencoded.png">    </p:cNvPr>
          <p:cNvPicPr>
            <a:picLocks noChangeAspect="1"/>
          </p:cNvPicPr>
          <p:nvPr/>
        </p:nvPicPr>
        <p:blipFill>
          <a:blip r:embed="rId4"/>
          <a:stretch>
            <a:fillRect/>
          </a:stretch>
        </p:blipFill>
        <p:spPr>
          <a:xfrm>
            <a:off x="7040880" y="4297680"/>
            <a:ext cx="411480" cy="411480"/>
          </a:xfrm>
          <a:prstGeom prst="rect">
            <a:avLst/>
          </a:prstGeom>
        </p:spPr>
      </p:pic>
      <p:sp>
        <p:nvSpPr>
          <p:cNvPr id="25" name="Text 19"/>
          <p:cNvSpPr/>
          <p:nvPr/>
        </p:nvSpPr>
        <p:spPr>
          <a:xfrm>
            <a:off x="7589520" y="4096512"/>
            <a:ext cx="4023360" cy="274320"/>
          </a:xfrm>
          <a:prstGeom prst="rect">
            <a:avLst/>
          </a:prstGeom>
          <a:noFill/>
          <a:ln/>
        </p:spPr>
        <p:txBody>
          <a:bodyPr wrap="square" lIns="0" tIns="0" rIns="0" bIns="0" rtlCol="0" anchor="ctr"/>
          <a:lstStyle/>
          <a:p>
            <a:pPr indent="0" marL="0">
              <a:buNone/>
            </a:pPr>
            <a:r>
              <a:rPr lang="en-US" sz="1000" b="1" spc="300" kern="0" dirty="0">
                <a:solidFill>
                  <a:srgbClr val="FF6B6B"/>
                </a:solidFill>
                <a:latin typeface="Calibri" pitchFamily="34" charset="0"/>
                <a:ea typeface="Calibri" pitchFamily="34" charset="-122"/>
                <a:cs typeface="Calibri" pitchFamily="34" charset="-120"/>
              </a:rPr>
              <a:t>AI IS NOT</a:t>
            </a:r>
            <a:endParaRPr lang="en-US" sz="1000" dirty="0"/>
          </a:p>
        </p:txBody>
      </p:sp>
      <p:sp>
        <p:nvSpPr>
          <p:cNvPr id="26" name="Text 20"/>
          <p:cNvSpPr/>
          <p:nvPr/>
        </p:nvSpPr>
        <p:spPr>
          <a:xfrm>
            <a:off x="7589520" y="4361688"/>
            <a:ext cx="4023360" cy="640080"/>
          </a:xfrm>
          <a:prstGeom prst="rect">
            <a:avLst/>
          </a:prstGeom>
          <a:noFill/>
          <a:ln/>
        </p:spPr>
        <p:txBody>
          <a:bodyPr wrap="square" lIns="0" tIns="0" rIns="0" bIns="0" rtlCol="0" anchor="t"/>
          <a:lstStyle/>
          <a:p>
            <a:pPr indent="0" marL="0">
              <a:buNone/>
            </a:pPr>
            <a:r>
              <a:rPr lang="en-US" sz="1300" dirty="0">
                <a:solidFill>
                  <a:srgbClr val="1A2332"/>
                </a:solidFill>
                <a:latin typeface="Calibri" pitchFamily="34" charset="0"/>
                <a:ea typeface="Calibri" pitchFamily="34" charset="-122"/>
                <a:cs typeface="Calibri" pitchFamily="34" charset="-120"/>
              </a:rPr>
              <a:t>A replacement for doctors, nurses, or human judgment.</a:t>
            </a:r>
            <a:endParaRPr lang="en-US" sz="1300" dirty="0"/>
          </a:p>
        </p:txBody>
      </p:sp>
      <p:pic>
        <p:nvPicPr>
          <p:cNvPr id="27" name="Image 4" descr="preencoded.png">    </p:cNvPr>
          <p:cNvPicPr>
            <a:picLocks noChangeAspect="1"/>
          </p:cNvPicPr>
          <p:nvPr/>
        </p:nvPicPr>
        <p:blipFill>
          <a:blip r:embed="rId5"/>
          <a:stretch>
            <a:fillRect/>
          </a:stretch>
        </p:blipFill>
        <p:spPr>
          <a:xfrm>
            <a:off x="7040880" y="5486400"/>
            <a:ext cx="411480" cy="411480"/>
          </a:xfrm>
          <a:prstGeom prst="rect">
            <a:avLst/>
          </a:prstGeom>
        </p:spPr>
      </p:pic>
      <p:sp>
        <p:nvSpPr>
          <p:cNvPr id="28" name="Text 21"/>
          <p:cNvSpPr/>
          <p:nvPr/>
        </p:nvSpPr>
        <p:spPr>
          <a:xfrm>
            <a:off x="7589520" y="5285232"/>
            <a:ext cx="4023360" cy="274320"/>
          </a:xfrm>
          <a:prstGeom prst="rect">
            <a:avLst/>
          </a:prstGeom>
          <a:noFill/>
          <a:ln/>
        </p:spPr>
        <p:txBody>
          <a:bodyPr wrap="square" lIns="0" tIns="0" rIns="0" bIns="0" rtlCol="0" anchor="ctr"/>
          <a:lstStyle/>
          <a:p>
            <a:pPr indent="0" marL="0">
              <a:buNone/>
            </a:pPr>
            <a:r>
              <a:rPr lang="en-US" sz="1000" b="1" spc="300" kern="0" dirty="0">
                <a:solidFill>
                  <a:srgbClr val="FF6B6B"/>
                </a:solidFill>
                <a:latin typeface="Calibri" pitchFamily="34" charset="0"/>
                <a:ea typeface="Calibri" pitchFamily="34" charset="-122"/>
                <a:cs typeface="Calibri" pitchFamily="34" charset="-120"/>
              </a:rPr>
              <a:t>AI IS NOT</a:t>
            </a:r>
            <a:endParaRPr lang="en-US" sz="1000" dirty="0"/>
          </a:p>
        </p:txBody>
      </p:sp>
      <p:sp>
        <p:nvSpPr>
          <p:cNvPr id="29" name="Text 22"/>
          <p:cNvSpPr/>
          <p:nvPr/>
        </p:nvSpPr>
        <p:spPr>
          <a:xfrm>
            <a:off x="7589520" y="5550408"/>
            <a:ext cx="4023360" cy="640080"/>
          </a:xfrm>
          <a:prstGeom prst="rect">
            <a:avLst/>
          </a:prstGeom>
          <a:noFill/>
          <a:ln/>
        </p:spPr>
        <p:txBody>
          <a:bodyPr wrap="square" lIns="0" tIns="0" rIns="0" bIns="0" rtlCol="0" anchor="t"/>
          <a:lstStyle/>
          <a:p>
            <a:pPr indent="0" marL="0">
              <a:buNone/>
            </a:pPr>
            <a:r>
              <a:rPr lang="en-US" sz="1300" dirty="0">
                <a:solidFill>
                  <a:srgbClr val="1A2332"/>
                </a:solidFill>
                <a:latin typeface="Calibri" pitchFamily="34" charset="0"/>
                <a:ea typeface="Calibri" pitchFamily="34" charset="-122"/>
                <a:cs typeface="Calibri" pitchFamily="34" charset="-120"/>
              </a:rPr>
              <a:t>Magic. It can be wrong, especially in unusual cases.</a:t>
            </a:r>
            <a:endParaRPr lang="en-US" sz="1300" dirty="0"/>
          </a:p>
        </p:txBody>
      </p:sp>
      <p:sp>
        <p:nvSpPr>
          <p:cNvPr id="30" name="Text 23"/>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1" name="Text 24"/>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08  /  20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Three Kinds of Smart Helpers</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Different tools for different parts of healthcare</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3657600" cy="45720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7" name="Shape 5"/>
          <p:cNvSpPr/>
          <p:nvPr/>
        </p:nvSpPr>
        <p:spPr>
          <a:xfrm>
            <a:off x="777240" y="1600200"/>
            <a:ext cx="3657600" cy="1463040"/>
          </a:xfrm>
          <a:prstGeom prst="rect">
            <a:avLst/>
          </a:prstGeom>
          <a:solidFill>
            <a:srgbClr val="0E7C7B"/>
          </a:solidFill>
          <a:ln w="12700">
            <a:solidFill>
              <a:srgbClr val="0E7C7B"/>
            </a:solidFill>
            <a:prstDash val="solid"/>
          </a:ln>
        </p:spPr>
      </p:sp>
      <p:pic>
        <p:nvPicPr>
          <p:cNvPr id="8" name="Image 0" descr="preencoded.png">    </p:cNvPr>
          <p:cNvPicPr>
            <a:picLocks noChangeAspect="1"/>
          </p:cNvPicPr>
          <p:nvPr/>
        </p:nvPicPr>
        <p:blipFill>
          <a:blip r:embed="rId1"/>
          <a:stretch>
            <a:fillRect/>
          </a:stretch>
        </p:blipFill>
        <p:spPr>
          <a:xfrm>
            <a:off x="2286000" y="1920240"/>
            <a:ext cx="640080" cy="640080"/>
          </a:xfrm>
          <a:prstGeom prst="rect">
            <a:avLst/>
          </a:prstGeom>
        </p:spPr>
      </p:pic>
      <p:sp>
        <p:nvSpPr>
          <p:cNvPr id="9" name="Text 6"/>
          <p:cNvSpPr/>
          <p:nvPr/>
        </p:nvSpPr>
        <p:spPr>
          <a:xfrm>
            <a:off x="777240" y="2606040"/>
            <a:ext cx="3657600" cy="32004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Calibri" pitchFamily="34" charset="0"/>
                <a:ea typeface="Calibri" pitchFamily="34" charset="-122"/>
                <a:cs typeface="Calibri" pitchFamily="34" charset="-120"/>
              </a:rPr>
              <a:t>AI THAT SEES</a:t>
            </a:r>
            <a:endParaRPr lang="en-US" sz="1100" dirty="0"/>
          </a:p>
        </p:txBody>
      </p:sp>
      <p:sp>
        <p:nvSpPr>
          <p:cNvPr id="10" name="Text 7"/>
          <p:cNvSpPr/>
          <p:nvPr/>
        </p:nvSpPr>
        <p:spPr>
          <a:xfrm>
            <a:off x="1005840" y="3200400"/>
            <a:ext cx="3200400" cy="457200"/>
          </a:xfrm>
          <a:prstGeom prst="rect">
            <a:avLst/>
          </a:prstGeom>
          <a:noFill/>
          <a:ln/>
        </p:spPr>
        <p:txBody>
          <a:bodyPr wrap="square" lIns="0" tIns="0" rIns="0" bIns="0" rtlCol="0" anchor="ctr"/>
          <a:lstStyle/>
          <a:p>
            <a:pPr algn="ctr" indent="0" marL="0">
              <a:buNone/>
            </a:pPr>
            <a:r>
              <a:rPr lang="en-US" sz="2000" b="1" dirty="0">
                <a:solidFill>
                  <a:srgbClr val="0B2545"/>
                </a:solidFill>
                <a:latin typeface="Georgia" pitchFamily="34" charset="0"/>
                <a:ea typeface="Georgia" pitchFamily="34" charset="-122"/>
                <a:cs typeface="Georgia" pitchFamily="34" charset="-120"/>
              </a:rPr>
              <a:t>Image Recognition</a:t>
            </a:r>
            <a:endParaRPr lang="en-US" sz="2000" dirty="0"/>
          </a:p>
        </p:txBody>
      </p:sp>
      <p:sp>
        <p:nvSpPr>
          <p:cNvPr id="11" name="Text 8"/>
          <p:cNvSpPr/>
          <p:nvPr/>
        </p:nvSpPr>
        <p:spPr>
          <a:xfrm>
            <a:off x="1051560" y="3749040"/>
            <a:ext cx="3108960" cy="1554480"/>
          </a:xfrm>
          <a:prstGeom prst="rect">
            <a:avLst/>
          </a:prstGeom>
          <a:noFill/>
          <a:ln/>
        </p:spPr>
        <p:txBody>
          <a:bodyPr wrap="square" lIns="0" tIns="0" rIns="0" bIns="0" rtlCol="0" anchor="t"/>
          <a:lstStyle/>
          <a:p>
            <a:pPr algn="l" indent="0" marL="0">
              <a:buNone/>
            </a:pPr>
            <a:r>
              <a:rPr lang="en-US" sz="1300" dirty="0">
                <a:solidFill>
                  <a:srgbClr val="1A2332"/>
                </a:solidFill>
                <a:latin typeface="Calibri" pitchFamily="34" charset="0"/>
                <a:ea typeface="Calibri" pitchFamily="34" charset="-122"/>
                <a:cs typeface="Calibri" pitchFamily="34" charset="-120"/>
              </a:rPr>
              <a:t>Looks at pictures — X-rays, eye scans, skin photos — and spots things a tired human might miss. Already helps detect cancers, eye disease, and lung problems.</a:t>
            </a:r>
            <a:endParaRPr lang="en-US" sz="1300" dirty="0"/>
          </a:p>
        </p:txBody>
      </p:sp>
      <p:sp>
        <p:nvSpPr>
          <p:cNvPr id="12" name="Shape 9"/>
          <p:cNvSpPr/>
          <p:nvPr/>
        </p:nvSpPr>
        <p:spPr>
          <a:xfrm>
            <a:off x="1005840" y="5303520"/>
            <a:ext cx="3200400" cy="713232"/>
          </a:xfrm>
          <a:prstGeom prst="rect">
            <a:avLst/>
          </a:prstGeom>
          <a:solidFill>
            <a:srgbClr val="F5F8FA"/>
          </a:solidFill>
          <a:ln w="6350">
            <a:solidFill>
              <a:srgbClr val="E1E8ED"/>
            </a:solidFill>
            <a:prstDash val="solid"/>
          </a:ln>
        </p:spPr>
      </p:sp>
      <p:sp>
        <p:nvSpPr>
          <p:cNvPr id="13" name="Text 10"/>
          <p:cNvSpPr/>
          <p:nvPr/>
        </p:nvSpPr>
        <p:spPr>
          <a:xfrm>
            <a:off x="1143000" y="5349240"/>
            <a:ext cx="2926080" cy="640080"/>
          </a:xfrm>
          <a:prstGeom prst="rect">
            <a:avLst/>
          </a:prstGeom>
          <a:noFill/>
          <a:ln/>
        </p:spPr>
        <p:txBody>
          <a:bodyPr wrap="square" lIns="0" tIns="0" rIns="0" bIns="0" rtlCol="0" anchor="ctr"/>
          <a:lstStyle/>
          <a:p>
            <a:pPr indent="0" marL="0">
              <a:buNone/>
            </a:pPr>
            <a:r>
              <a:rPr lang="en-US" sz="1100" i="1" dirty="0">
                <a:solidFill>
                  <a:srgbClr val="5A6878"/>
                </a:solidFill>
                <a:latin typeface="Calibri" pitchFamily="34" charset="0"/>
                <a:ea typeface="Calibri" pitchFamily="34" charset="-122"/>
                <a:cs typeface="Calibri" pitchFamily="34" charset="-120"/>
              </a:rPr>
              <a:t>Example: A phone app that can tell a worrying mole from a harmless one.</a:t>
            </a:r>
            <a:endParaRPr lang="en-US" sz="1100" dirty="0"/>
          </a:p>
        </p:txBody>
      </p:sp>
      <p:sp>
        <p:nvSpPr>
          <p:cNvPr id="14" name="Shape 11"/>
          <p:cNvSpPr/>
          <p:nvPr/>
        </p:nvSpPr>
        <p:spPr>
          <a:xfrm>
            <a:off x="4599432" y="1600200"/>
            <a:ext cx="3657600" cy="45720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5" name="Shape 12"/>
          <p:cNvSpPr/>
          <p:nvPr/>
        </p:nvSpPr>
        <p:spPr>
          <a:xfrm>
            <a:off x="4599432" y="1600200"/>
            <a:ext cx="3657600" cy="1463040"/>
          </a:xfrm>
          <a:prstGeom prst="rect">
            <a:avLst/>
          </a:prstGeom>
          <a:solidFill>
            <a:srgbClr val="FF6B6B"/>
          </a:solidFill>
          <a:ln w="12700">
            <a:solidFill>
              <a:srgbClr val="FF6B6B"/>
            </a:solidFill>
            <a:prstDash val="solid"/>
          </a:ln>
        </p:spPr>
      </p:sp>
      <p:pic>
        <p:nvPicPr>
          <p:cNvPr id="16" name="Image 1" descr="preencoded.png">    </p:cNvPr>
          <p:cNvPicPr>
            <a:picLocks noChangeAspect="1"/>
          </p:cNvPicPr>
          <p:nvPr/>
        </p:nvPicPr>
        <p:blipFill>
          <a:blip r:embed="rId2"/>
          <a:stretch>
            <a:fillRect/>
          </a:stretch>
        </p:blipFill>
        <p:spPr>
          <a:xfrm>
            <a:off x="6108192" y="1920240"/>
            <a:ext cx="640080" cy="640080"/>
          </a:xfrm>
          <a:prstGeom prst="rect">
            <a:avLst/>
          </a:prstGeom>
        </p:spPr>
      </p:pic>
      <p:sp>
        <p:nvSpPr>
          <p:cNvPr id="17" name="Text 13"/>
          <p:cNvSpPr/>
          <p:nvPr/>
        </p:nvSpPr>
        <p:spPr>
          <a:xfrm>
            <a:off x="4599432" y="2606040"/>
            <a:ext cx="3657600" cy="32004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Calibri" pitchFamily="34" charset="0"/>
                <a:ea typeface="Calibri" pitchFamily="34" charset="-122"/>
                <a:cs typeface="Calibri" pitchFamily="34" charset="-120"/>
              </a:rPr>
              <a:t>AI THAT READS</a:t>
            </a:r>
            <a:endParaRPr lang="en-US" sz="1100" dirty="0"/>
          </a:p>
        </p:txBody>
      </p:sp>
      <p:sp>
        <p:nvSpPr>
          <p:cNvPr id="18" name="Text 14"/>
          <p:cNvSpPr/>
          <p:nvPr/>
        </p:nvSpPr>
        <p:spPr>
          <a:xfrm>
            <a:off x="4828032" y="3200400"/>
            <a:ext cx="3200400" cy="457200"/>
          </a:xfrm>
          <a:prstGeom prst="rect">
            <a:avLst/>
          </a:prstGeom>
          <a:noFill/>
          <a:ln/>
        </p:spPr>
        <p:txBody>
          <a:bodyPr wrap="square" lIns="0" tIns="0" rIns="0" bIns="0" rtlCol="0" anchor="ctr"/>
          <a:lstStyle/>
          <a:p>
            <a:pPr algn="ctr" indent="0" marL="0">
              <a:buNone/>
            </a:pPr>
            <a:r>
              <a:rPr lang="en-US" sz="2000" b="1" dirty="0">
                <a:solidFill>
                  <a:srgbClr val="0B2545"/>
                </a:solidFill>
                <a:latin typeface="Georgia" pitchFamily="34" charset="0"/>
                <a:ea typeface="Georgia" pitchFamily="34" charset="-122"/>
                <a:cs typeface="Georgia" pitchFamily="34" charset="-120"/>
              </a:rPr>
              <a:t>Language Understanding</a:t>
            </a:r>
            <a:endParaRPr lang="en-US" sz="2000" dirty="0"/>
          </a:p>
        </p:txBody>
      </p:sp>
      <p:sp>
        <p:nvSpPr>
          <p:cNvPr id="19" name="Text 15"/>
          <p:cNvSpPr/>
          <p:nvPr/>
        </p:nvSpPr>
        <p:spPr>
          <a:xfrm>
            <a:off x="4873752" y="3749040"/>
            <a:ext cx="3108960" cy="1554480"/>
          </a:xfrm>
          <a:prstGeom prst="rect">
            <a:avLst/>
          </a:prstGeom>
          <a:noFill/>
          <a:ln/>
        </p:spPr>
        <p:txBody>
          <a:bodyPr wrap="square" lIns="0" tIns="0" rIns="0" bIns="0" rtlCol="0" anchor="t"/>
          <a:lstStyle/>
          <a:p>
            <a:pPr algn="l" indent="0" marL="0">
              <a:buNone/>
            </a:pPr>
            <a:r>
              <a:rPr lang="en-US" sz="1300" dirty="0">
                <a:solidFill>
                  <a:srgbClr val="1A2332"/>
                </a:solidFill>
                <a:latin typeface="Calibri" pitchFamily="34" charset="0"/>
                <a:ea typeface="Calibri" pitchFamily="34" charset="-122"/>
                <a:cs typeface="Calibri" pitchFamily="34" charset="-120"/>
              </a:rPr>
              <a:t>Reads written notes, prescriptions, and medical records. Pulls out the important facts so doctors don't have to scroll through everything by hand.</a:t>
            </a:r>
            <a:endParaRPr lang="en-US" sz="1300" dirty="0"/>
          </a:p>
        </p:txBody>
      </p:sp>
      <p:sp>
        <p:nvSpPr>
          <p:cNvPr id="20" name="Shape 16"/>
          <p:cNvSpPr/>
          <p:nvPr/>
        </p:nvSpPr>
        <p:spPr>
          <a:xfrm>
            <a:off x="4828032" y="5303520"/>
            <a:ext cx="3200400" cy="713232"/>
          </a:xfrm>
          <a:prstGeom prst="rect">
            <a:avLst/>
          </a:prstGeom>
          <a:solidFill>
            <a:srgbClr val="F5F8FA"/>
          </a:solidFill>
          <a:ln w="6350">
            <a:solidFill>
              <a:srgbClr val="E1E8ED"/>
            </a:solidFill>
            <a:prstDash val="solid"/>
          </a:ln>
        </p:spPr>
      </p:sp>
      <p:sp>
        <p:nvSpPr>
          <p:cNvPr id="21" name="Text 17"/>
          <p:cNvSpPr/>
          <p:nvPr/>
        </p:nvSpPr>
        <p:spPr>
          <a:xfrm>
            <a:off x="4965192" y="5349240"/>
            <a:ext cx="2926080" cy="640080"/>
          </a:xfrm>
          <a:prstGeom prst="rect">
            <a:avLst/>
          </a:prstGeom>
          <a:noFill/>
          <a:ln/>
        </p:spPr>
        <p:txBody>
          <a:bodyPr wrap="square" lIns="0" tIns="0" rIns="0" bIns="0" rtlCol="0" anchor="ctr"/>
          <a:lstStyle/>
          <a:p>
            <a:pPr indent="0" marL="0">
              <a:buNone/>
            </a:pPr>
            <a:r>
              <a:rPr lang="en-US" sz="1100" i="1" dirty="0">
                <a:solidFill>
                  <a:srgbClr val="5A6878"/>
                </a:solidFill>
                <a:latin typeface="Calibri" pitchFamily="34" charset="0"/>
                <a:ea typeface="Calibri" pitchFamily="34" charset="-122"/>
                <a:cs typeface="Calibri" pitchFamily="34" charset="-120"/>
              </a:rPr>
              <a:t>Example: A system that summarizes a 20-page hospital file in 3 sentences.</a:t>
            </a:r>
            <a:endParaRPr lang="en-US" sz="1100" dirty="0"/>
          </a:p>
        </p:txBody>
      </p:sp>
      <p:sp>
        <p:nvSpPr>
          <p:cNvPr id="22" name="Shape 18"/>
          <p:cNvSpPr/>
          <p:nvPr/>
        </p:nvSpPr>
        <p:spPr>
          <a:xfrm>
            <a:off x="8421624" y="1600200"/>
            <a:ext cx="3657600" cy="45720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3" name="Shape 19"/>
          <p:cNvSpPr/>
          <p:nvPr/>
        </p:nvSpPr>
        <p:spPr>
          <a:xfrm>
            <a:off x="8421624" y="1600200"/>
            <a:ext cx="3657600" cy="1463040"/>
          </a:xfrm>
          <a:prstGeom prst="rect">
            <a:avLst/>
          </a:prstGeom>
          <a:solidFill>
            <a:srgbClr val="FFB627"/>
          </a:solidFill>
          <a:ln w="12700">
            <a:solidFill>
              <a:srgbClr val="FFB627"/>
            </a:solidFill>
            <a:prstDash val="solid"/>
          </a:ln>
        </p:spPr>
      </p:sp>
      <p:pic>
        <p:nvPicPr>
          <p:cNvPr id="24" name="Image 2" descr="preencoded.png">    </p:cNvPr>
          <p:cNvPicPr>
            <a:picLocks noChangeAspect="1"/>
          </p:cNvPicPr>
          <p:nvPr/>
        </p:nvPicPr>
        <p:blipFill>
          <a:blip r:embed="rId3"/>
          <a:stretch>
            <a:fillRect/>
          </a:stretch>
        </p:blipFill>
        <p:spPr>
          <a:xfrm>
            <a:off x="9930384" y="1920240"/>
            <a:ext cx="640080" cy="640080"/>
          </a:xfrm>
          <a:prstGeom prst="rect">
            <a:avLst/>
          </a:prstGeom>
        </p:spPr>
      </p:pic>
      <p:sp>
        <p:nvSpPr>
          <p:cNvPr id="25" name="Text 20"/>
          <p:cNvSpPr/>
          <p:nvPr/>
        </p:nvSpPr>
        <p:spPr>
          <a:xfrm>
            <a:off x="8421624" y="2606040"/>
            <a:ext cx="3657600" cy="32004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Calibri" pitchFamily="34" charset="0"/>
                <a:ea typeface="Calibri" pitchFamily="34" charset="-122"/>
                <a:cs typeface="Calibri" pitchFamily="34" charset="-120"/>
              </a:rPr>
              <a:t>AI THAT PREDICTS</a:t>
            </a:r>
            <a:endParaRPr lang="en-US" sz="1100" dirty="0"/>
          </a:p>
        </p:txBody>
      </p:sp>
      <p:sp>
        <p:nvSpPr>
          <p:cNvPr id="26" name="Text 21"/>
          <p:cNvSpPr/>
          <p:nvPr/>
        </p:nvSpPr>
        <p:spPr>
          <a:xfrm>
            <a:off x="8650224" y="3200400"/>
            <a:ext cx="3200400" cy="457200"/>
          </a:xfrm>
          <a:prstGeom prst="rect">
            <a:avLst/>
          </a:prstGeom>
          <a:noFill/>
          <a:ln/>
        </p:spPr>
        <p:txBody>
          <a:bodyPr wrap="square" lIns="0" tIns="0" rIns="0" bIns="0" rtlCol="0" anchor="ctr"/>
          <a:lstStyle/>
          <a:p>
            <a:pPr algn="ctr" indent="0" marL="0">
              <a:buNone/>
            </a:pPr>
            <a:r>
              <a:rPr lang="en-US" sz="2000" b="1" dirty="0">
                <a:solidFill>
                  <a:srgbClr val="0B2545"/>
                </a:solidFill>
                <a:latin typeface="Georgia" pitchFamily="34" charset="0"/>
                <a:ea typeface="Georgia" pitchFamily="34" charset="-122"/>
                <a:cs typeface="Georgia" pitchFamily="34" charset="-120"/>
              </a:rPr>
              <a:t>Risk Forecasting</a:t>
            </a:r>
            <a:endParaRPr lang="en-US" sz="2000" dirty="0"/>
          </a:p>
        </p:txBody>
      </p:sp>
      <p:sp>
        <p:nvSpPr>
          <p:cNvPr id="27" name="Text 22"/>
          <p:cNvSpPr/>
          <p:nvPr/>
        </p:nvSpPr>
        <p:spPr>
          <a:xfrm>
            <a:off x="8695944" y="3749040"/>
            <a:ext cx="3108960" cy="1554480"/>
          </a:xfrm>
          <a:prstGeom prst="rect">
            <a:avLst/>
          </a:prstGeom>
          <a:noFill/>
          <a:ln/>
        </p:spPr>
        <p:txBody>
          <a:bodyPr wrap="square" lIns="0" tIns="0" rIns="0" bIns="0" rtlCol="0" anchor="t"/>
          <a:lstStyle/>
          <a:p>
            <a:pPr algn="l" indent="0" marL="0">
              <a:buNone/>
            </a:pPr>
            <a:r>
              <a:rPr lang="en-US" sz="1300" dirty="0">
                <a:solidFill>
                  <a:srgbClr val="1A2332"/>
                </a:solidFill>
                <a:latin typeface="Calibri" pitchFamily="34" charset="0"/>
                <a:ea typeface="Calibri" pitchFamily="34" charset="-122"/>
                <a:cs typeface="Calibri" pitchFamily="34" charset="-120"/>
              </a:rPr>
              <a:t>Looks at many small clues together — age, blood pressure, lab numbers — and predicts who might get sicker, so doctors can act early.</a:t>
            </a:r>
            <a:endParaRPr lang="en-US" sz="1300" dirty="0"/>
          </a:p>
        </p:txBody>
      </p:sp>
      <p:sp>
        <p:nvSpPr>
          <p:cNvPr id="28" name="Shape 23"/>
          <p:cNvSpPr/>
          <p:nvPr/>
        </p:nvSpPr>
        <p:spPr>
          <a:xfrm>
            <a:off x="8650224" y="5303520"/>
            <a:ext cx="3200400" cy="713232"/>
          </a:xfrm>
          <a:prstGeom prst="rect">
            <a:avLst/>
          </a:prstGeom>
          <a:solidFill>
            <a:srgbClr val="F5F8FA"/>
          </a:solidFill>
          <a:ln w="6350">
            <a:solidFill>
              <a:srgbClr val="E1E8ED"/>
            </a:solidFill>
            <a:prstDash val="solid"/>
          </a:ln>
        </p:spPr>
      </p:sp>
      <p:sp>
        <p:nvSpPr>
          <p:cNvPr id="29" name="Text 24"/>
          <p:cNvSpPr/>
          <p:nvPr/>
        </p:nvSpPr>
        <p:spPr>
          <a:xfrm>
            <a:off x="8787384" y="5349240"/>
            <a:ext cx="2926080" cy="640080"/>
          </a:xfrm>
          <a:prstGeom prst="rect">
            <a:avLst/>
          </a:prstGeom>
          <a:noFill/>
          <a:ln/>
        </p:spPr>
        <p:txBody>
          <a:bodyPr wrap="square" lIns="0" tIns="0" rIns="0" bIns="0" rtlCol="0" anchor="ctr"/>
          <a:lstStyle/>
          <a:p>
            <a:pPr indent="0" marL="0">
              <a:buNone/>
            </a:pPr>
            <a:r>
              <a:rPr lang="en-US" sz="1100" i="1" dirty="0">
                <a:solidFill>
                  <a:srgbClr val="5A6878"/>
                </a:solidFill>
                <a:latin typeface="Calibri" pitchFamily="34" charset="0"/>
                <a:ea typeface="Calibri" pitchFamily="34" charset="-122"/>
                <a:cs typeface="Calibri" pitchFamily="34" charset="-120"/>
              </a:rPr>
              <a:t>Example: An alert that warns nurses a patient may worsen in the next 6 hours.</a:t>
            </a:r>
            <a:endParaRPr lang="en-US" sz="1100" dirty="0"/>
          </a:p>
        </p:txBody>
      </p:sp>
      <p:sp>
        <p:nvSpPr>
          <p:cNvPr id="30" name="Text 25"/>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1" name="Text 26"/>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09  /  20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What Changes for Everyday People</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The same care, just faster and more reliable</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graphicFrame>
        <p:nvGraphicFramePr>
          <p:cNvPr id="6" name="Chart 0" descr=""/>
          <p:cNvGraphicFramePr/>
          <p:nvPr/>
        </p:nvGraphicFramePr>
        <p:xfrm>
          <a:off x="777240" y="1691640"/>
          <a:ext cx="7315200" cy="4434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21040" y="1691640"/>
            <a:ext cx="3383280" cy="4434840"/>
          </a:xfrm>
          <a:prstGeom prst="rect">
            <a:avLst/>
          </a:prstGeom>
          <a:solidFill>
            <a:srgbClr val="0B2545"/>
          </a:solidFill>
          <a:ln w="12700">
            <a:solidFill>
              <a:srgbClr val="0B2545"/>
            </a:solidFill>
            <a:prstDash val="solid"/>
          </a:ln>
        </p:spPr>
      </p:sp>
      <p:sp>
        <p:nvSpPr>
          <p:cNvPr id="8" name="Text 5"/>
          <p:cNvSpPr/>
          <p:nvPr/>
        </p:nvSpPr>
        <p:spPr>
          <a:xfrm>
            <a:off x="8503920" y="1874520"/>
            <a:ext cx="3017520" cy="320040"/>
          </a:xfrm>
          <a:prstGeom prst="rect">
            <a:avLst/>
          </a:prstGeom>
          <a:noFill/>
          <a:ln/>
        </p:spPr>
        <p:txBody>
          <a:bodyPr wrap="square" lIns="0" tIns="0" rIns="0" bIns="0" rtlCol="0" anchor="ctr"/>
          <a:lstStyle/>
          <a:p>
            <a:pPr indent="0" marL="0">
              <a:buNone/>
            </a:pPr>
            <a:r>
              <a:rPr lang="en-US" sz="1100" b="1" spc="400" kern="0" dirty="0">
                <a:solidFill>
                  <a:srgbClr val="FFB627"/>
                </a:solidFill>
                <a:latin typeface="Calibri" pitchFamily="34" charset="0"/>
                <a:ea typeface="Calibri" pitchFamily="34" charset="-122"/>
                <a:cs typeface="Calibri" pitchFamily="34" charset="-120"/>
              </a:rPr>
              <a:t>THE BIG PICTURE</a:t>
            </a:r>
            <a:endParaRPr lang="en-US" sz="1100" dirty="0"/>
          </a:p>
        </p:txBody>
      </p:sp>
      <p:sp>
        <p:nvSpPr>
          <p:cNvPr id="9" name="Text 6"/>
          <p:cNvSpPr/>
          <p:nvPr/>
        </p:nvSpPr>
        <p:spPr>
          <a:xfrm>
            <a:off x="8503920" y="2377440"/>
            <a:ext cx="3017520" cy="6400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20×</a:t>
            </a:r>
            <a:endParaRPr lang="en-US" sz="3800" dirty="0"/>
          </a:p>
        </p:txBody>
      </p:sp>
      <p:sp>
        <p:nvSpPr>
          <p:cNvPr id="10" name="Text 7"/>
          <p:cNvSpPr/>
          <p:nvPr/>
        </p:nvSpPr>
        <p:spPr>
          <a:xfrm>
            <a:off x="8503920" y="3063240"/>
            <a:ext cx="301752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less waiting</a:t>
            </a:r>
            <a:endParaRPr lang="en-US" sz="1200" dirty="0"/>
          </a:p>
        </p:txBody>
      </p:sp>
      <p:sp>
        <p:nvSpPr>
          <p:cNvPr id="11" name="Shape 8"/>
          <p:cNvSpPr/>
          <p:nvPr/>
        </p:nvSpPr>
        <p:spPr>
          <a:xfrm>
            <a:off x="8503920" y="3520440"/>
            <a:ext cx="2834640" cy="0"/>
          </a:xfrm>
          <a:prstGeom prst="line">
            <a:avLst/>
          </a:prstGeom>
          <a:noFill/>
          <a:ln w="12700">
            <a:solidFill>
              <a:srgbClr val="334155"/>
            </a:solidFill>
            <a:prstDash val="solid"/>
          </a:ln>
        </p:spPr>
      </p:sp>
      <p:sp>
        <p:nvSpPr>
          <p:cNvPr id="12" name="Text 9"/>
          <p:cNvSpPr/>
          <p:nvPr/>
        </p:nvSpPr>
        <p:spPr>
          <a:xfrm>
            <a:off x="8503920" y="3611880"/>
            <a:ext cx="3017520" cy="6400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2×</a:t>
            </a:r>
            <a:endParaRPr lang="en-US" sz="3800" dirty="0"/>
          </a:p>
        </p:txBody>
      </p:sp>
      <p:sp>
        <p:nvSpPr>
          <p:cNvPr id="13" name="Text 10"/>
          <p:cNvSpPr/>
          <p:nvPr/>
        </p:nvSpPr>
        <p:spPr>
          <a:xfrm>
            <a:off x="8503920" y="4297680"/>
            <a:ext cx="301752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doctor energy left to actually care</a:t>
            </a:r>
            <a:endParaRPr lang="en-US" sz="1200" dirty="0"/>
          </a:p>
        </p:txBody>
      </p:sp>
      <p:sp>
        <p:nvSpPr>
          <p:cNvPr id="14" name="Shape 11"/>
          <p:cNvSpPr/>
          <p:nvPr/>
        </p:nvSpPr>
        <p:spPr>
          <a:xfrm>
            <a:off x="8503920" y="4754880"/>
            <a:ext cx="2834640" cy="0"/>
          </a:xfrm>
          <a:prstGeom prst="line">
            <a:avLst/>
          </a:prstGeom>
          <a:noFill/>
          <a:ln w="12700">
            <a:solidFill>
              <a:srgbClr val="334155"/>
            </a:solidFill>
            <a:prstDash val="solid"/>
          </a:ln>
        </p:spPr>
      </p:sp>
      <p:sp>
        <p:nvSpPr>
          <p:cNvPr id="15" name="Text 12"/>
          <p:cNvSpPr/>
          <p:nvPr/>
        </p:nvSpPr>
        <p:spPr>
          <a:xfrm>
            <a:off x="8503920" y="4846320"/>
            <a:ext cx="3017520" cy="6400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3×</a:t>
            </a:r>
            <a:endParaRPr lang="en-US" sz="3800" dirty="0"/>
          </a:p>
        </p:txBody>
      </p:sp>
      <p:sp>
        <p:nvSpPr>
          <p:cNvPr id="16" name="Text 13"/>
          <p:cNvSpPr/>
          <p:nvPr/>
        </p:nvSpPr>
        <p:spPr>
          <a:xfrm>
            <a:off x="8503920" y="5532120"/>
            <a:ext cx="301752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more people reached</a:t>
            </a:r>
            <a:endParaRPr lang="en-US" sz="1200" dirty="0"/>
          </a:p>
        </p:txBody>
      </p:sp>
      <p:sp>
        <p:nvSpPr>
          <p:cNvPr id="17" name="Text 14"/>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18" name="Text 15"/>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10  /  20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A Closer Look at AI That Sees</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Where image-recognition is already making a difference</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91640"/>
            <a:ext cx="544068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7" name="Shape 5"/>
          <p:cNvSpPr/>
          <p:nvPr/>
        </p:nvSpPr>
        <p:spPr>
          <a:xfrm>
            <a:off x="777240" y="1691640"/>
            <a:ext cx="109728" cy="2194560"/>
          </a:xfrm>
          <a:prstGeom prst="rect">
            <a:avLst/>
          </a:prstGeom>
          <a:solidFill>
            <a:srgbClr val="0E7C7B"/>
          </a:solidFill>
          <a:ln w="12700">
            <a:solidFill>
              <a:srgbClr val="0E7C7B"/>
            </a:solidFill>
            <a:prstDash val="solid"/>
          </a:ln>
        </p:spPr>
      </p:sp>
      <p:sp>
        <p:nvSpPr>
          <p:cNvPr id="8" name="Shape 6"/>
          <p:cNvSpPr/>
          <p:nvPr/>
        </p:nvSpPr>
        <p:spPr>
          <a:xfrm>
            <a:off x="1051560" y="1965960"/>
            <a:ext cx="777240" cy="777240"/>
          </a:xfrm>
          <a:prstGeom prst="ellipse">
            <a:avLst/>
          </a:prstGeom>
          <a:solidFill>
            <a:srgbClr val="D4F1F4"/>
          </a:solidFill>
          <a:ln w="12700">
            <a:solidFill>
              <a:srgbClr val="D4F1F4"/>
            </a:solidFill>
            <a:prstDash val="solid"/>
          </a:ln>
        </p:spPr>
      </p:sp>
      <p:pic>
        <p:nvPicPr>
          <p:cNvPr id="9" name="Image 0" descr="preencoded.png">    </p:cNvPr>
          <p:cNvPicPr>
            <a:picLocks noChangeAspect="1"/>
          </p:cNvPicPr>
          <p:nvPr/>
        </p:nvPicPr>
        <p:blipFill>
          <a:blip r:embed="rId1"/>
          <a:stretch>
            <a:fillRect/>
          </a:stretch>
        </p:blipFill>
        <p:spPr>
          <a:xfrm>
            <a:off x="1234440" y="2148840"/>
            <a:ext cx="411480" cy="411480"/>
          </a:xfrm>
          <a:prstGeom prst="rect">
            <a:avLst/>
          </a:prstGeom>
        </p:spPr>
      </p:pic>
      <p:sp>
        <p:nvSpPr>
          <p:cNvPr id="10" name="Text 7"/>
          <p:cNvSpPr/>
          <p:nvPr/>
        </p:nvSpPr>
        <p:spPr>
          <a:xfrm>
            <a:off x="2011680" y="1965960"/>
            <a:ext cx="4023360" cy="41148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Reading X-rays and Scans</a:t>
            </a:r>
            <a:endParaRPr lang="en-US" sz="1700" dirty="0"/>
          </a:p>
        </p:txBody>
      </p:sp>
      <p:sp>
        <p:nvSpPr>
          <p:cNvPr id="11" name="Text 8"/>
          <p:cNvSpPr/>
          <p:nvPr/>
        </p:nvSpPr>
        <p:spPr>
          <a:xfrm>
            <a:off x="2011680" y="2423160"/>
            <a:ext cx="40233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Helps doctors find pneumonia, broken bones, and tumors faster — especially in busy emergency rooms.</a:t>
            </a:r>
            <a:endParaRPr lang="en-US" sz="1250" dirty="0"/>
          </a:p>
        </p:txBody>
      </p:sp>
      <p:sp>
        <p:nvSpPr>
          <p:cNvPr id="12" name="Text 9"/>
          <p:cNvSpPr/>
          <p:nvPr/>
        </p:nvSpPr>
        <p:spPr>
          <a:xfrm>
            <a:off x="2011680" y="3319272"/>
            <a:ext cx="4023360" cy="457200"/>
          </a:xfrm>
          <a:prstGeom prst="rect">
            <a:avLst/>
          </a:prstGeom>
          <a:noFill/>
          <a:ln/>
        </p:spPr>
        <p:txBody>
          <a:bodyPr wrap="square" lIns="0" tIns="0" rIns="0" bIns="0" rtlCol="0" anchor="t"/>
          <a:lstStyle/>
          <a:p>
            <a:pPr indent="0" marL="0">
              <a:buNone/>
            </a:pPr>
            <a:r>
              <a:rPr lang="en-US" sz="1050" i="1" dirty="0">
                <a:solidFill>
                  <a:srgbClr val="5A6878"/>
                </a:solidFill>
                <a:latin typeface="Calibri" pitchFamily="34" charset="0"/>
                <a:ea typeface="Calibri" pitchFamily="34" charset="-122"/>
                <a:cs typeface="Calibri" pitchFamily="34" charset="-120"/>
              </a:rPr>
              <a:t>Used in: hospitals across Europe and the US for chest X-ray triage.</a:t>
            </a:r>
            <a:endParaRPr lang="en-US" sz="1050" dirty="0"/>
          </a:p>
        </p:txBody>
      </p:sp>
      <p:sp>
        <p:nvSpPr>
          <p:cNvPr id="13" name="Shape 10"/>
          <p:cNvSpPr/>
          <p:nvPr/>
        </p:nvSpPr>
        <p:spPr>
          <a:xfrm>
            <a:off x="6400800" y="1691640"/>
            <a:ext cx="544068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4" name="Shape 11"/>
          <p:cNvSpPr/>
          <p:nvPr/>
        </p:nvSpPr>
        <p:spPr>
          <a:xfrm>
            <a:off x="6400800" y="1691640"/>
            <a:ext cx="109728" cy="2194560"/>
          </a:xfrm>
          <a:prstGeom prst="rect">
            <a:avLst/>
          </a:prstGeom>
          <a:solidFill>
            <a:srgbClr val="0E7C7B"/>
          </a:solidFill>
          <a:ln w="12700">
            <a:solidFill>
              <a:srgbClr val="0E7C7B"/>
            </a:solidFill>
            <a:prstDash val="solid"/>
          </a:ln>
        </p:spPr>
      </p:sp>
      <p:sp>
        <p:nvSpPr>
          <p:cNvPr id="15" name="Shape 12"/>
          <p:cNvSpPr/>
          <p:nvPr/>
        </p:nvSpPr>
        <p:spPr>
          <a:xfrm>
            <a:off x="6675120" y="1965960"/>
            <a:ext cx="777240" cy="777240"/>
          </a:xfrm>
          <a:prstGeom prst="ellipse">
            <a:avLst/>
          </a:prstGeom>
          <a:solidFill>
            <a:srgbClr val="D4F1F4"/>
          </a:solidFill>
          <a:ln w="12700">
            <a:solidFill>
              <a:srgbClr val="D4F1F4"/>
            </a:solidFill>
            <a:prstDash val="solid"/>
          </a:ln>
        </p:spPr>
      </p:sp>
      <p:pic>
        <p:nvPicPr>
          <p:cNvPr id="16" name="Image 1" descr="preencoded.png">    </p:cNvPr>
          <p:cNvPicPr>
            <a:picLocks noChangeAspect="1"/>
          </p:cNvPicPr>
          <p:nvPr/>
        </p:nvPicPr>
        <p:blipFill>
          <a:blip r:embed="rId2"/>
          <a:stretch>
            <a:fillRect/>
          </a:stretch>
        </p:blipFill>
        <p:spPr>
          <a:xfrm>
            <a:off x="6858000" y="2148840"/>
            <a:ext cx="411480" cy="411480"/>
          </a:xfrm>
          <a:prstGeom prst="rect">
            <a:avLst/>
          </a:prstGeom>
        </p:spPr>
      </p:pic>
      <p:sp>
        <p:nvSpPr>
          <p:cNvPr id="17" name="Text 13"/>
          <p:cNvSpPr/>
          <p:nvPr/>
        </p:nvSpPr>
        <p:spPr>
          <a:xfrm>
            <a:off x="7635240" y="1965960"/>
            <a:ext cx="4023360" cy="41148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Eye Disease Screening</a:t>
            </a:r>
            <a:endParaRPr lang="en-US" sz="1700" dirty="0"/>
          </a:p>
        </p:txBody>
      </p:sp>
      <p:sp>
        <p:nvSpPr>
          <p:cNvPr id="18" name="Text 14"/>
          <p:cNvSpPr/>
          <p:nvPr/>
        </p:nvSpPr>
        <p:spPr>
          <a:xfrm>
            <a:off x="7635240" y="2423160"/>
            <a:ext cx="40233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Detects early signs of damage from diabetes — preventing blindness in people who'd never see a specialist.</a:t>
            </a:r>
            <a:endParaRPr lang="en-US" sz="1250" dirty="0"/>
          </a:p>
        </p:txBody>
      </p:sp>
      <p:sp>
        <p:nvSpPr>
          <p:cNvPr id="19" name="Text 15"/>
          <p:cNvSpPr/>
          <p:nvPr/>
        </p:nvSpPr>
        <p:spPr>
          <a:xfrm>
            <a:off x="7635240" y="3319272"/>
            <a:ext cx="4023360" cy="457200"/>
          </a:xfrm>
          <a:prstGeom prst="rect">
            <a:avLst/>
          </a:prstGeom>
          <a:noFill/>
          <a:ln/>
        </p:spPr>
        <p:txBody>
          <a:bodyPr wrap="square" lIns="0" tIns="0" rIns="0" bIns="0" rtlCol="0" anchor="t"/>
          <a:lstStyle/>
          <a:p>
            <a:pPr indent="0" marL="0">
              <a:buNone/>
            </a:pPr>
            <a:r>
              <a:rPr lang="en-US" sz="1050" i="1" dirty="0">
                <a:solidFill>
                  <a:srgbClr val="5A6878"/>
                </a:solidFill>
                <a:latin typeface="Calibri" pitchFamily="34" charset="0"/>
                <a:ea typeface="Calibri" pitchFamily="34" charset="-122"/>
                <a:cs typeface="Calibri" pitchFamily="34" charset="-120"/>
              </a:rPr>
              <a:t>Used in: primary-care clinics in the US, India, Thailand, and the UK.</a:t>
            </a:r>
            <a:endParaRPr lang="en-US" sz="1050" dirty="0"/>
          </a:p>
        </p:txBody>
      </p:sp>
      <p:sp>
        <p:nvSpPr>
          <p:cNvPr id="20" name="Shape 16"/>
          <p:cNvSpPr/>
          <p:nvPr/>
        </p:nvSpPr>
        <p:spPr>
          <a:xfrm>
            <a:off x="777240" y="4050792"/>
            <a:ext cx="544068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1" name="Shape 17"/>
          <p:cNvSpPr/>
          <p:nvPr/>
        </p:nvSpPr>
        <p:spPr>
          <a:xfrm>
            <a:off x="777240" y="4050792"/>
            <a:ext cx="109728" cy="2194560"/>
          </a:xfrm>
          <a:prstGeom prst="rect">
            <a:avLst/>
          </a:prstGeom>
          <a:solidFill>
            <a:srgbClr val="0E7C7B"/>
          </a:solidFill>
          <a:ln w="12700">
            <a:solidFill>
              <a:srgbClr val="0E7C7B"/>
            </a:solidFill>
            <a:prstDash val="solid"/>
          </a:ln>
        </p:spPr>
      </p:sp>
      <p:sp>
        <p:nvSpPr>
          <p:cNvPr id="22" name="Shape 18"/>
          <p:cNvSpPr/>
          <p:nvPr/>
        </p:nvSpPr>
        <p:spPr>
          <a:xfrm>
            <a:off x="1051560" y="4325112"/>
            <a:ext cx="777240" cy="777240"/>
          </a:xfrm>
          <a:prstGeom prst="ellipse">
            <a:avLst/>
          </a:prstGeom>
          <a:solidFill>
            <a:srgbClr val="D4F1F4"/>
          </a:solidFill>
          <a:ln w="12700">
            <a:solidFill>
              <a:srgbClr val="D4F1F4"/>
            </a:solidFill>
            <a:prstDash val="solid"/>
          </a:ln>
        </p:spPr>
      </p:sp>
      <p:pic>
        <p:nvPicPr>
          <p:cNvPr id="23" name="Image 2" descr="preencoded.png">    </p:cNvPr>
          <p:cNvPicPr>
            <a:picLocks noChangeAspect="1"/>
          </p:cNvPicPr>
          <p:nvPr/>
        </p:nvPicPr>
        <p:blipFill>
          <a:blip r:embed="rId3"/>
          <a:stretch>
            <a:fillRect/>
          </a:stretch>
        </p:blipFill>
        <p:spPr>
          <a:xfrm>
            <a:off x="1234440" y="4507992"/>
            <a:ext cx="411480" cy="411480"/>
          </a:xfrm>
          <a:prstGeom prst="rect">
            <a:avLst/>
          </a:prstGeom>
        </p:spPr>
      </p:pic>
      <p:sp>
        <p:nvSpPr>
          <p:cNvPr id="24" name="Text 19"/>
          <p:cNvSpPr/>
          <p:nvPr/>
        </p:nvSpPr>
        <p:spPr>
          <a:xfrm>
            <a:off x="2011680" y="4325112"/>
            <a:ext cx="4023360" cy="41148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Skin Photo Analysis</a:t>
            </a:r>
            <a:endParaRPr lang="en-US" sz="1700" dirty="0"/>
          </a:p>
        </p:txBody>
      </p:sp>
      <p:sp>
        <p:nvSpPr>
          <p:cNvPr id="25" name="Text 20"/>
          <p:cNvSpPr/>
          <p:nvPr/>
        </p:nvSpPr>
        <p:spPr>
          <a:xfrm>
            <a:off x="2011680" y="4782312"/>
            <a:ext cx="40233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A picture from your phone can be checked for early warning signs of skin cancer.</a:t>
            </a:r>
            <a:endParaRPr lang="en-US" sz="1250" dirty="0"/>
          </a:p>
        </p:txBody>
      </p:sp>
      <p:sp>
        <p:nvSpPr>
          <p:cNvPr id="26" name="Text 21"/>
          <p:cNvSpPr/>
          <p:nvPr/>
        </p:nvSpPr>
        <p:spPr>
          <a:xfrm>
            <a:off x="2011680" y="5678424"/>
            <a:ext cx="4023360" cy="457200"/>
          </a:xfrm>
          <a:prstGeom prst="rect">
            <a:avLst/>
          </a:prstGeom>
          <a:noFill/>
          <a:ln/>
        </p:spPr>
        <p:txBody>
          <a:bodyPr wrap="square" lIns="0" tIns="0" rIns="0" bIns="0" rtlCol="0" anchor="t"/>
          <a:lstStyle/>
          <a:p>
            <a:pPr indent="0" marL="0">
              <a:buNone/>
            </a:pPr>
            <a:r>
              <a:rPr lang="en-US" sz="1050" i="1" dirty="0">
                <a:solidFill>
                  <a:srgbClr val="5A6878"/>
                </a:solidFill>
                <a:latin typeface="Calibri" pitchFamily="34" charset="0"/>
                <a:ea typeface="Calibri" pitchFamily="34" charset="-122"/>
                <a:cs typeface="Calibri" pitchFamily="34" charset="-120"/>
              </a:rPr>
              <a:t>Used in: teledermatology apps now available in dozens of countries.</a:t>
            </a:r>
            <a:endParaRPr lang="en-US" sz="1050" dirty="0"/>
          </a:p>
        </p:txBody>
      </p:sp>
      <p:sp>
        <p:nvSpPr>
          <p:cNvPr id="27" name="Shape 22"/>
          <p:cNvSpPr/>
          <p:nvPr/>
        </p:nvSpPr>
        <p:spPr>
          <a:xfrm>
            <a:off x="6400800" y="4050792"/>
            <a:ext cx="544068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8" name="Shape 23"/>
          <p:cNvSpPr/>
          <p:nvPr/>
        </p:nvSpPr>
        <p:spPr>
          <a:xfrm>
            <a:off x="6400800" y="4050792"/>
            <a:ext cx="109728" cy="2194560"/>
          </a:xfrm>
          <a:prstGeom prst="rect">
            <a:avLst/>
          </a:prstGeom>
          <a:solidFill>
            <a:srgbClr val="0E7C7B"/>
          </a:solidFill>
          <a:ln w="12700">
            <a:solidFill>
              <a:srgbClr val="0E7C7B"/>
            </a:solidFill>
            <a:prstDash val="solid"/>
          </a:ln>
        </p:spPr>
      </p:sp>
      <p:sp>
        <p:nvSpPr>
          <p:cNvPr id="29" name="Shape 24"/>
          <p:cNvSpPr/>
          <p:nvPr/>
        </p:nvSpPr>
        <p:spPr>
          <a:xfrm>
            <a:off x="6675120" y="4325112"/>
            <a:ext cx="777240" cy="777240"/>
          </a:xfrm>
          <a:prstGeom prst="ellipse">
            <a:avLst/>
          </a:prstGeom>
          <a:solidFill>
            <a:srgbClr val="D4F1F4"/>
          </a:solidFill>
          <a:ln w="12700">
            <a:solidFill>
              <a:srgbClr val="D4F1F4"/>
            </a:solidFill>
            <a:prstDash val="solid"/>
          </a:ln>
        </p:spPr>
      </p:sp>
      <p:pic>
        <p:nvPicPr>
          <p:cNvPr id="30" name="Image 3" descr="preencoded.png">    </p:cNvPr>
          <p:cNvPicPr>
            <a:picLocks noChangeAspect="1"/>
          </p:cNvPicPr>
          <p:nvPr/>
        </p:nvPicPr>
        <p:blipFill>
          <a:blip r:embed="rId4"/>
          <a:stretch>
            <a:fillRect/>
          </a:stretch>
        </p:blipFill>
        <p:spPr>
          <a:xfrm>
            <a:off x="6858000" y="4507992"/>
            <a:ext cx="411480" cy="411480"/>
          </a:xfrm>
          <a:prstGeom prst="rect">
            <a:avLst/>
          </a:prstGeom>
        </p:spPr>
      </p:pic>
      <p:sp>
        <p:nvSpPr>
          <p:cNvPr id="31" name="Text 25"/>
          <p:cNvSpPr/>
          <p:nvPr/>
        </p:nvSpPr>
        <p:spPr>
          <a:xfrm>
            <a:off x="7635240" y="4325112"/>
            <a:ext cx="4023360" cy="41148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Lab Sample Analysis</a:t>
            </a:r>
            <a:endParaRPr lang="en-US" sz="1700" dirty="0"/>
          </a:p>
        </p:txBody>
      </p:sp>
      <p:sp>
        <p:nvSpPr>
          <p:cNvPr id="32" name="Text 26"/>
          <p:cNvSpPr/>
          <p:nvPr/>
        </p:nvSpPr>
        <p:spPr>
          <a:xfrm>
            <a:off x="7635240" y="4782312"/>
            <a:ext cx="40233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Speeds up the careful examination of tissue samples — finding things that are easy to miss with the naked eye.</a:t>
            </a:r>
            <a:endParaRPr lang="en-US" sz="1250" dirty="0"/>
          </a:p>
        </p:txBody>
      </p:sp>
      <p:sp>
        <p:nvSpPr>
          <p:cNvPr id="33" name="Text 27"/>
          <p:cNvSpPr/>
          <p:nvPr/>
        </p:nvSpPr>
        <p:spPr>
          <a:xfrm>
            <a:off x="7635240" y="5678424"/>
            <a:ext cx="4023360" cy="457200"/>
          </a:xfrm>
          <a:prstGeom prst="rect">
            <a:avLst/>
          </a:prstGeom>
          <a:noFill/>
          <a:ln/>
        </p:spPr>
        <p:txBody>
          <a:bodyPr wrap="square" lIns="0" tIns="0" rIns="0" bIns="0" rtlCol="0" anchor="t"/>
          <a:lstStyle/>
          <a:p>
            <a:pPr indent="0" marL="0">
              <a:buNone/>
            </a:pPr>
            <a:r>
              <a:rPr lang="en-US" sz="1050" i="1" dirty="0">
                <a:solidFill>
                  <a:srgbClr val="5A6878"/>
                </a:solidFill>
                <a:latin typeface="Calibri" pitchFamily="34" charset="0"/>
                <a:ea typeface="Calibri" pitchFamily="34" charset="-122"/>
                <a:cs typeface="Calibri" pitchFamily="34" charset="-120"/>
              </a:rPr>
              <a:t>Used in: cancer pathology labs to support quicker diagnosis.</a:t>
            </a:r>
            <a:endParaRPr lang="en-US" sz="1050" dirty="0"/>
          </a:p>
        </p:txBody>
      </p:sp>
      <p:sp>
        <p:nvSpPr>
          <p:cNvPr id="34" name="Text 28"/>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5" name="Text 29"/>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11  /  20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A Closer Look at AI That Reads</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Turning piles of paperwork into useful information</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Text 4"/>
          <p:cNvSpPr/>
          <p:nvPr/>
        </p:nvSpPr>
        <p:spPr>
          <a:xfrm>
            <a:off x="777240" y="1600200"/>
            <a:ext cx="10972800" cy="320040"/>
          </a:xfrm>
          <a:prstGeom prst="rect">
            <a:avLst/>
          </a:prstGeom>
          <a:noFill/>
          <a:ln/>
        </p:spPr>
        <p:txBody>
          <a:bodyPr wrap="square" lIns="0" tIns="0" rIns="0" bIns="0" rtlCol="0" anchor="ctr"/>
          <a:lstStyle/>
          <a:p>
            <a:pPr indent="0" marL="0">
              <a:buNone/>
            </a:pPr>
            <a:r>
              <a:rPr lang="en-US" sz="1100" b="1" spc="400" kern="0" dirty="0">
                <a:solidFill>
                  <a:srgbClr val="5A6878"/>
                </a:solidFill>
                <a:latin typeface="Calibri" pitchFamily="34" charset="0"/>
                <a:ea typeface="Calibri" pitchFamily="34" charset="-122"/>
                <a:cs typeface="Calibri" pitchFamily="34" charset="-120"/>
              </a:rPr>
              <a:t>A SIMPLE EXAMPLE</a:t>
            </a:r>
            <a:endParaRPr lang="en-US" sz="1100" dirty="0"/>
          </a:p>
        </p:txBody>
      </p:sp>
      <p:sp>
        <p:nvSpPr>
          <p:cNvPr id="7" name="Shape 5"/>
          <p:cNvSpPr/>
          <p:nvPr/>
        </p:nvSpPr>
        <p:spPr>
          <a:xfrm>
            <a:off x="777240" y="1965960"/>
            <a:ext cx="5440680" cy="1783080"/>
          </a:xfrm>
          <a:prstGeom prst="rect">
            <a:avLst/>
          </a:prstGeom>
          <a:solidFill>
            <a:srgbClr val="F9FBFC"/>
          </a:solidFill>
          <a:ln w="12700">
            <a:solidFill>
              <a:srgbClr val="E1E8ED"/>
            </a:solidFill>
            <a:prstDash val="solid"/>
          </a:ln>
        </p:spPr>
      </p:sp>
      <p:sp>
        <p:nvSpPr>
          <p:cNvPr id="8" name="Text 6"/>
          <p:cNvSpPr/>
          <p:nvPr/>
        </p:nvSpPr>
        <p:spPr>
          <a:xfrm>
            <a:off x="960120" y="2057400"/>
            <a:ext cx="5029200" cy="274320"/>
          </a:xfrm>
          <a:prstGeom prst="rect">
            <a:avLst/>
          </a:prstGeom>
          <a:noFill/>
          <a:ln/>
        </p:spPr>
        <p:txBody>
          <a:bodyPr wrap="square" lIns="0" tIns="0" rIns="0" bIns="0" rtlCol="0" anchor="ctr"/>
          <a:lstStyle/>
          <a:p>
            <a:pPr indent="0" marL="0">
              <a:buNone/>
            </a:pPr>
            <a:r>
              <a:rPr lang="en-US" sz="1000" b="1" spc="300" kern="0" dirty="0">
                <a:solidFill>
                  <a:srgbClr val="5A6878"/>
                </a:solidFill>
                <a:latin typeface="Calibri" pitchFamily="34" charset="0"/>
                <a:ea typeface="Calibri" pitchFamily="34" charset="-122"/>
                <a:cs typeface="Calibri" pitchFamily="34" charset="-120"/>
              </a:rPr>
              <a:t>BEFORE  ·  A long doctor's note</a:t>
            </a:r>
            <a:endParaRPr lang="en-US" sz="1000" dirty="0"/>
          </a:p>
        </p:txBody>
      </p:sp>
      <p:sp>
        <p:nvSpPr>
          <p:cNvPr id="9" name="Text 7"/>
          <p:cNvSpPr/>
          <p:nvPr/>
        </p:nvSpPr>
        <p:spPr>
          <a:xfrm>
            <a:off x="960120" y="2377440"/>
            <a:ext cx="5074920" cy="1325880"/>
          </a:xfrm>
          <a:prstGeom prst="rect">
            <a:avLst/>
          </a:prstGeom>
          <a:noFill/>
          <a:ln/>
        </p:spPr>
        <p:txBody>
          <a:bodyPr wrap="square" lIns="0" tIns="0" rIns="0" bIns="0" rtlCol="0" anchor="t"/>
          <a:lstStyle/>
          <a:p>
            <a:pPr indent="0" marL="0">
              <a:buNone/>
            </a:pPr>
            <a:r>
              <a:rPr lang="en-US" sz="1150" i="1" dirty="0">
                <a:solidFill>
                  <a:srgbClr val="1A2332"/>
                </a:solidFill>
                <a:latin typeface="Calibri" pitchFamily="34" charset="0"/>
                <a:ea typeface="Calibri" pitchFamily="34" charset="-122"/>
                <a:cs typeface="Calibri" pitchFamily="34" charset="-120"/>
              </a:rPr>
              <a:t>"Patient is a 62-year-old gentleman with a long history of high blood sugar and high blood pressure, here today complaining of breathing trouble for the past three days. Had a heart attack a few years ago. Currently on medication for blood pressure. No chest pain reported."</a:t>
            </a:r>
            <a:endParaRPr lang="en-US" sz="1150" dirty="0"/>
          </a:p>
        </p:txBody>
      </p:sp>
      <p:pic>
        <p:nvPicPr>
          <p:cNvPr id="10" name="Image 0" descr="preencoded.png">    </p:cNvPr>
          <p:cNvPicPr>
            <a:picLocks noChangeAspect="1"/>
          </p:cNvPicPr>
          <p:nvPr/>
        </p:nvPicPr>
        <p:blipFill>
          <a:blip r:embed="rId1"/>
          <a:stretch>
            <a:fillRect/>
          </a:stretch>
        </p:blipFill>
        <p:spPr>
          <a:xfrm>
            <a:off x="6263640" y="2697480"/>
            <a:ext cx="365760" cy="365760"/>
          </a:xfrm>
          <a:prstGeom prst="rect">
            <a:avLst/>
          </a:prstGeom>
        </p:spPr>
      </p:pic>
      <p:sp>
        <p:nvSpPr>
          <p:cNvPr id="11" name="Shape 8"/>
          <p:cNvSpPr/>
          <p:nvPr/>
        </p:nvSpPr>
        <p:spPr>
          <a:xfrm>
            <a:off x="6720840" y="1965960"/>
            <a:ext cx="4983480" cy="1783080"/>
          </a:xfrm>
          <a:prstGeom prst="rect">
            <a:avLst/>
          </a:prstGeom>
          <a:solidFill>
            <a:srgbClr val="D4F1F4"/>
          </a:solidFill>
          <a:ln w="12700">
            <a:solidFill>
              <a:srgbClr val="0E7C7B"/>
            </a:solidFill>
            <a:prstDash val="solid"/>
          </a:ln>
        </p:spPr>
      </p:sp>
      <p:sp>
        <p:nvSpPr>
          <p:cNvPr id="12" name="Text 9"/>
          <p:cNvSpPr/>
          <p:nvPr/>
        </p:nvSpPr>
        <p:spPr>
          <a:xfrm>
            <a:off x="6903720" y="2057400"/>
            <a:ext cx="4572000" cy="274320"/>
          </a:xfrm>
          <a:prstGeom prst="rect">
            <a:avLst/>
          </a:prstGeom>
          <a:noFill/>
          <a:ln/>
        </p:spPr>
        <p:txBody>
          <a:bodyPr wrap="square" lIns="0" tIns="0" rIns="0" bIns="0" rtlCol="0" anchor="ctr"/>
          <a:lstStyle/>
          <a:p>
            <a:pPr indent="0" marL="0">
              <a:buNone/>
            </a:pPr>
            <a:r>
              <a:rPr lang="en-US" sz="1000" b="1" spc="300" kern="0" dirty="0">
                <a:solidFill>
                  <a:srgbClr val="0E7C7B"/>
                </a:solidFill>
                <a:latin typeface="Calibri" pitchFamily="34" charset="0"/>
                <a:ea typeface="Calibri" pitchFamily="34" charset="-122"/>
                <a:cs typeface="Calibri" pitchFamily="34" charset="-120"/>
              </a:rPr>
              <a:t>AFTER  ·  Clean, organized facts</a:t>
            </a:r>
            <a:endParaRPr lang="en-US" sz="1000" dirty="0"/>
          </a:p>
        </p:txBody>
      </p:sp>
      <p:sp>
        <p:nvSpPr>
          <p:cNvPr id="13" name="Text 10"/>
          <p:cNvSpPr/>
          <p:nvPr/>
        </p:nvSpPr>
        <p:spPr>
          <a:xfrm>
            <a:off x="6903720" y="2377440"/>
            <a:ext cx="4617720" cy="1325880"/>
          </a:xfrm>
          <a:prstGeom prst="rect">
            <a:avLst/>
          </a:prstGeom>
          <a:noFill/>
          <a:ln/>
        </p:spPr>
        <p:txBody>
          <a:bodyPr wrap="square" rtlCol="0" anchor="t"/>
          <a:lstStyle/>
          <a:p>
            <a:pPr indent="0" marL="0">
              <a:spcAft>
                <a:spcPts val="200"/>
              </a:spcAft>
              <a:buNone/>
            </a:pPr>
            <a:r>
              <a:rPr lang="en-US" sz="1150" b="1" dirty="0">
                <a:solidFill>
                  <a:srgbClr val="0B2545"/>
                </a:solidFill>
                <a:latin typeface="Calibri" pitchFamily="34" charset="0"/>
                <a:ea typeface="Calibri" pitchFamily="34" charset="-122"/>
                <a:cs typeface="Calibri" pitchFamily="34" charset="-120"/>
              </a:rPr>
              <a:t>Age: </a:t>
            </a:r>
            <a:pPr indent="0" marL="0">
              <a:spcAft>
                <a:spcPts val="200"/>
              </a:spcAft>
              <a:buNone/>
            </a:pPr>
            <a:r>
              <a:rPr lang="en-US" sz="1150" dirty="0">
                <a:solidFill>
                  <a:srgbClr val="1A2332"/>
                </a:solidFill>
                <a:latin typeface="Calibri" pitchFamily="34" charset="0"/>
                <a:ea typeface="Calibri" pitchFamily="34" charset="-122"/>
                <a:cs typeface="Calibri" pitchFamily="34" charset="-120"/>
              </a:rPr>
              <a:t>62  ·  </a:t>
            </a:r>
            <a:pPr indent="0" marL="0">
              <a:spcAft>
                <a:spcPts val="200"/>
              </a:spcAft>
              <a:buNone/>
            </a:pPr>
            <a:r>
              <a:rPr lang="en-US" sz="1150" b="1" dirty="0">
                <a:solidFill>
                  <a:srgbClr val="0B2545"/>
                </a:solidFill>
                <a:latin typeface="Calibri" pitchFamily="34" charset="0"/>
                <a:ea typeface="Calibri" pitchFamily="34" charset="-122"/>
                <a:cs typeface="Calibri" pitchFamily="34" charset="-120"/>
              </a:rPr>
              <a:t>Conditions: </a:t>
            </a:r>
            <a:pPr indent="0" marL="0">
              <a:spcAft>
                <a:spcPts val="200"/>
              </a:spcAft>
              <a:buNone/>
            </a:pPr>
            <a:r>
              <a:rPr lang="en-US" sz="1150" dirty="0">
                <a:solidFill>
                  <a:srgbClr val="1A2332"/>
                </a:solidFill>
                <a:latin typeface="Calibri" pitchFamily="34" charset="0"/>
                <a:ea typeface="Calibri" pitchFamily="34" charset="-122"/>
                <a:cs typeface="Calibri" pitchFamily="34" charset="-120"/>
              </a:rPr>
              <a:t>Diabetes, High Blood Pressure</a:t>
            </a:r>
            <a:endParaRPr lang="en-US" sz="1150" dirty="0"/>
          </a:p>
          <a:p>
            <a:pPr indent="0" marL="0">
              <a:spcAft>
                <a:spcPts val="200"/>
              </a:spcAft>
              <a:buNone/>
            </a:pPr>
            <a:r>
              <a:rPr lang="en-US" sz="1150" b="1" dirty="0">
                <a:solidFill>
                  <a:srgbClr val="0B2545"/>
                </a:solidFill>
                <a:latin typeface="Calibri" pitchFamily="34" charset="0"/>
                <a:ea typeface="Calibri" pitchFamily="34" charset="-122"/>
                <a:cs typeface="Calibri" pitchFamily="34" charset="-120"/>
              </a:rPr>
              <a:t>Past events: </a:t>
            </a:r>
            <a:pPr indent="0" marL="0">
              <a:spcAft>
                <a:spcPts val="200"/>
              </a:spcAft>
              <a:buNone/>
            </a:pPr>
            <a:r>
              <a:rPr lang="en-US" sz="1150" dirty="0">
                <a:solidFill>
                  <a:srgbClr val="1A2332"/>
                </a:solidFill>
                <a:latin typeface="Calibri" pitchFamily="34" charset="0"/>
                <a:ea typeface="Calibri" pitchFamily="34" charset="-122"/>
                <a:cs typeface="Calibri" pitchFamily="34" charset="-120"/>
              </a:rPr>
              <a:t>Heart attack history</a:t>
            </a:r>
            <a:endParaRPr lang="en-US" sz="1150" dirty="0"/>
          </a:p>
          <a:p>
            <a:pPr indent="0" marL="0">
              <a:spcAft>
                <a:spcPts val="200"/>
              </a:spcAft>
              <a:buNone/>
            </a:pPr>
            <a:r>
              <a:rPr lang="en-US" sz="1150" b="1" dirty="0">
                <a:solidFill>
                  <a:srgbClr val="0B2545"/>
                </a:solidFill>
                <a:latin typeface="Calibri" pitchFamily="34" charset="0"/>
                <a:ea typeface="Calibri" pitchFamily="34" charset="-122"/>
                <a:cs typeface="Calibri" pitchFamily="34" charset="-120"/>
              </a:rPr>
              <a:t>Today: </a:t>
            </a:r>
            <a:pPr indent="0" marL="0">
              <a:spcAft>
                <a:spcPts val="200"/>
              </a:spcAft>
              <a:buNone/>
            </a:pPr>
            <a:r>
              <a:rPr lang="en-US" sz="1150" dirty="0">
                <a:solidFill>
                  <a:srgbClr val="1A2332"/>
                </a:solidFill>
                <a:latin typeface="Calibri" pitchFamily="34" charset="0"/>
                <a:ea typeface="Calibri" pitchFamily="34" charset="-122"/>
                <a:cs typeface="Calibri" pitchFamily="34" charset="-120"/>
              </a:rPr>
              <a:t>Breathing trouble (3 days)</a:t>
            </a:r>
            <a:endParaRPr lang="en-US" sz="1150" dirty="0"/>
          </a:p>
          <a:p>
            <a:pPr indent="0" marL="0">
              <a:spcAft>
                <a:spcPts val="200"/>
              </a:spcAft>
              <a:buNone/>
            </a:pPr>
            <a:r>
              <a:rPr lang="en-US" sz="1150" b="1" dirty="0">
                <a:solidFill>
                  <a:srgbClr val="0B2545"/>
                </a:solidFill>
                <a:latin typeface="Calibri" pitchFamily="34" charset="0"/>
                <a:ea typeface="Calibri" pitchFamily="34" charset="-122"/>
                <a:cs typeface="Calibri" pitchFamily="34" charset="-120"/>
              </a:rPr>
              <a:t>On medication: </a:t>
            </a:r>
            <a:pPr indent="0" marL="0">
              <a:spcAft>
                <a:spcPts val="200"/>
              </a:spcAft>
              <a:buNone/>
            </a:pPr>
            <a:r>
              <a:rPr lang="en-US" sz="1150" dirty="0">
                <a:solidFill>
                  <a:srgbClr val="1A2332"/>
                </a:solidFill>
                <a:latin typeface="Calibri" pitchFamily="34" charset="0"/>
                <a:ea typeface="Calibri" pitchFamily="34" charset="-122"/>
                <a:cs typeface="Calibri" pitchFamily="34" charset="-120"/>
              </a:rPr>
              <a:t>Yes — for blood pressure</a:t>
            </a:r>
            <a:endParaRPr lang="en-US" sz="1150" dirty="0"/>
          </a:p>
        </p:txBody>
      </p:sp>
      <p:sp>
        <p:nvSpPr>
          <p:cNvPr id="14" name="Text 11"/>
          <p:cNvSpPr/>
          <p:nvPr/>
        </p:nvSpPr>
        <p:spPr>
          <a:xfrm>
            <a:off x="777240" y="3977640"/>
            <a:ext cx="10972800" cy="320040"/>
          </a:xfrm>
          <a:prstGeom prst="rect">
            <a:avLst/>
          </a:prstGeom>
          <a:noFill/>
          <a:ln/>
        </p:spPr>
        <p:txBody>
          <a:bodyPr wrap="square" lIns="0" tIns="0" rIns="0" bIns="0" rtlCol="0" anchor="ctr"/>
          <a:lstStyle/>
          <a:p>
            <a:pPr indent="0" marL="0">
              <a:buNone/>
            </a:pPr>
            <a:r>
              <a:rPr lang="en-US" sz="1100" b="1" spc="400" kern="0" dirty="0">
                <a:solidFill>
                  <a:srgbClr val="5A6878"/>
                </a:solidFill>
                <a:latin typeface="Calibri" pitchFamily="34" charset="0"/>
                <a:ea typeface="Calibri" pitchFamily="34" charset="-122"/>
                <a:cs typeface="Calibri" pitchFamily="34" charset="-120"/>
              </a:rPr>
              <a:t>WHERE THIS HELPS IN REAL LIFE</a:t>
            </a:r>
            <a:endParaRPr lang="en-US" sz="1100" dirty="0"/>
          </a:p>
        </p:txBody>
      </p:sp>
      <p:sp>
        <p:nvSpPr>
          <p:cNvPr id="15" name="Shape 12"/>
          <p:cNvSpPr/>
          <p:nvPr/>
        </p:nvSpPr>
        <p:spPr>
          <a:xfrm>
            <a:off x="777240" y="4343400"/>
            <a:ext cx="3657600" cy="178308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6" name="Shape 13"/>
          <p:cNvSpPr/>
          <p:nvPr/>
        </p:nvSpPr>
        <p:spPr>
          <a:xfrm>
            <a:off x="1051560" y="4617720"/>
            <a:ext cx="640080" cy="640080"/>
          </a:xfrm>
          <a:prstGeom prst="ellipse">
            <a:avLst/>
          </a:prstGeom>
          <a:solidFill>
            <a:srgbClr val="FF6B6B"/>
          </a:solidFill>
          <a:ln w="12700">
            <a:solidFill>
              <a:srgbClr val="FF6B6B"/>
            </a:solidFill>
            <a:prstDash val="solid"/>
          </a:ln>
        </p:spPr>
      </p:sp>
      <p:pic>
        <p:nvPicPr>
          <p:cNvPr id="17" name="Image 1" descr="preencoded.png">    </p:cNvPr>
          <p:cNvPicPr>
            <a:picLocks noChangeAspect="1"/>
          </p:cNvPicPr>
          <p:nvPr/>
        </p:nvPicPr>
        <p:blipFill>
          <a:blip r:embed="rId2"/>
          <a:stretch>
            <a:fillRect/>
          </a:stretch>
        </p:blipFill>
        <p:spPr>
          <a:xfrm>
            <a:off x="1170432" y="4736592"/>
            <a:ext cx="402336" cy="402336"/>
          </a:xfrm>
          <a:prstGeom prst="rect">
            <a:avLst/>
          </a:prstGeom>
        </p:spPr>
      </p:pic>
      <p:sp>
        <p:nvSpPr>
          <p:cNvPr id="18" name="Text 14"/>
          <p:cNvSpPr/>
          <p:nvPr/>
        </p:nvSpPr>
        <p:spPr>
          <a:xfrm>
            <a:off x="1828800" y="4617720"/>
            <a:ext cx="2468880" cy="365760"/>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Hospital records</a:t>
            </a:r>
            <a:endParaRPr lang="en-US" sz="1600" dirty="0"/>
          </a:p>
        </p:txBody>
      </p:sp>
      <p:sp>
        <p:nvSpPr>
          <p:cNvPr id="19" name="Text 15"/>
          <p:cNvSpPr/>
          <p:nvPr/>
        </p:nvSpPr>
        <p:spPr>
          <a:xfrm>
            <a:off x="1051560" y="5349240"/>
            <a:ext cx="320040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Quickly find every patient with a certain risk factor — without reading thousands of files.</a:t>
            </a:r>
            <a:endParaRPr lang="en-US" sz="1200" dirty="0"/>
          </a:p>
        </p:txBody>
      </p:sp>
      <p:sp>
        <p:nvSpPr>
          <p:cNvPr id="20" name="Shape 16"/>
          <p:cNvSpPr/>
          <p:nvPr/>
        </p:nvSpPr>
        <p:spPr>
          <a:xfrm>
            <a:off x="4599432" y="4343400"/>
            <a:ext cx="3657600" cy="178308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1" name="Shape 17"/>
          <p:cNvSpPr/>
          <p:nvPr/>
        </p:nvSpPr>
        <p:spPr>
          <a:xfrm>
            <a:off x="4873752" y="4617720"/>
            <a:ext cx="640080" cy="640080"/>
          </a:xfrm>
          <a:prstGeom prst="ellipse">
            <a:avLst/>
          </a:prstGeom>
          <a:solidFill>
            <a:srgbClr val="FF6B6B"/>
          </a:solidFill>
          <a:ln w="12700">
            <a:solidFill>
              <a:srgbClr val="FF6B6B"/>
            </a:solidFill>
            <a:prstDash val="solid"/>
          </a:ln>
        </p:spPr>
      </p:sp>
      <p:pic>
        <p:nvPicPr>
          <p:cNvPr id="22" name="Image 2" descr="preencoded.png">    </p:cNvPr>
          <p:cNvPicPr>
            <a:picLocks noChangeAspect="1"/>
          </p:cNvPicPr>
          <p:nvPr/>
        </p:nvPicPr>
        <p:blipFill>
          <a:blip r:embed="rId3"/>
          <a:stretch>
            <a:fillRect/>
          </a:stretch>
        </p:blipFill>
        <p:spPr>
          <a:xfrm>
            <a:off x="4992624" y="4736592"/>
            <a:ext cx="402336" cy="402336"/>
          </a:xfrm>
          <a:prstGeom prst="rect">
            <a:avLst/>
          </a:prstGeom>
        </p:spPr>
      </p:pic>
      <p:sp>
        <p:nvSpPr>
          <p:cNvPr id="23" name="Text 18"/>
          <p:cNvSpPr/>
          <p:nvPr/>
        </p:nvSpPr>
        <p:spPr>
          <a:xfrm>
            <a:off x="5650992" y="4617720"/>
            <a:ext cx="2468880" cy="365760"/>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Voice assistants</a:t>
            </a:r>
            <a:endParaRPr lang="en-US" sz="1600" dirty="0"/>
          </a:p>
        </p:txBody>
      </p:sp>
      <p:sp>
        <p:nvSpPr>
          <p:cNvPr id="24" name="Text 19"/>
          <p:cNvSpPr/>
          <p:nvPr/>
        </p:nvSpPr>
        <p:spPr>
          <a:xfrm>
            <a:off x="4873752" y="5349240"/>
            <a:ext cx="320040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Doctors talk; the AI types accurate notes — letting them look at patients, not screens.</a:t>
            </a:r>
            <a:endParaRPr lang="en-US" sz="1200" dirty="0"/>
          </a:p>
        </p:txBody>
      </p:sp>
      <p:sp>
        <p:nvSpPr>
          <p:cNvPr id="25" name="Shape 20"/>
          <p:cNvSpPr/>
          <p:nvPr/>
        </p:nvSpPr>
        <p:spPr>
          <a:xfrm>
            <a:off x="8421624" y="4343400"/>
            <a:ext cx="3657600" cy="178308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6" name="Shape 21"/>
          <p:cNvSpPr/>
          <p:nvPr/>
        </p:nvSpPr>
        <p:spPr>
          <a:xfrm>
            <a:off x="8695944" y="4617720"/>
            <a:ext cx="640080" cy="640080"/>
          </a:xfrm>
          <a:prstGeom prst="ellipse">
            <a:avLst/>
          </a:prstGeom>
          <a:solidFill>
            <a:srgbClr val="FF6B6B"/>
          </a:solidFill>
          <a:ln w="12700">
            <a:solidFill>
              <a:srgbClr val="FF6B6B"/>
            </a:solidFill>
            <a:prstDash val="solid"/>
          </a:ln>
        </p:spPr>
      </p:sp>
      <p:pic>
        <p:nvPicPr>
          <p:cNvPr id="27" name="Image 3" descr="preencoded.png">    </p:cNvPr>
          <p:cNvPicPr>
            <a:picLocks noChangeAspect="1"/>
          </p:cNvPicPr>
          <p:nvPr/>
        </p:nvPicPr>
        <p:blipFill>
          <a:blip r:embed="rId4"/>
          <a:stretch>
            <a:fillRect/>
          </a:stretch>
        </p:blipFill>
        <p:spPr>
          <a:xfrm>
            <a:off x="8814816" y="4736592"/>
            <a:ext cx="402336" cy="402336"/>
          </a:xfrm>
          <a:prstGeom prst="rect">
            <a:avLst/>
          </a:prstGeom>
        </p:spPr>
      </p:pic>
      <p:sp>
        <p:nvSpPr>
          <p:cNvPr id="28" name="Text 22"/>
          <p:cNvSpPr/>
          <p:nvPr/>
        </p:nvSpPr>
        <p:spPr>
          <a:xfrm>
            <a:off x="9473184" y="4617720"/>
            <a:ext cx="2468880" cy="365760"/>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Smart search</a:t>
            </a:r>
            <a:endParaRPr lang="en-US" sz="1600" dirty="0"/>
          </a:p>
        </p:txBody>
      </p:sp>
      <p:sp>
        <p:nvSpPr>
          <p:cNvPr id="29" name="Text 23"/>
          <p:cNvSpPr/>
          <p:nvPr/>
        </p:nvSpPr>
        <p:spPr>
          <a:xfrm>
            <a:off x="8695944" y="5349240"/>
            <a:ext cx="3200400" cy="68580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Ask a question, and the AI searches the entire medical literature in seconds for trustworthy answers.</a:t>
            </a:r>
            <a:endParaRPr lang="en-US" sz="1200" dirty="0"/>
          </a:p>
        </p:txBody>
      </p:sp>
      <p:sp>
        <p:nvSpPr>
          <p:cNvPr id="30" name="Text 24"/>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1" name="Text 25"/>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12  /  20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A Closer Look at AI That Predicts</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Catching problems before they become emergencies</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4937760" cy="4663440"/>
          </a:xfrm>
          <a:prstGeom prst="rect">
            <a:avLst/>
          </a:prstGeom>
          <a:solidFill>
            <a:srgbClr val="0B2545"/>
          </a:solidFill>
          <a:ln w="12700">
            <a:solidFill>
              <a:srgbClr val="0B2545"/>
            </a:solidFill>
            <a:prstDash val="solid"/>
          </a:ln>
        </p:spPr>
      </p:sp>
      <p:pic>
        <p:nvPicPr>
          <p:cNvPr id="7" name="Image 0" descr="preencoded.png">    </p:cNvPr>
          <p:cNvPicPr>
            <a:picLocks noChangeAspect="1"/>
          </p:cNvPicPr>
          <p:nvPr/>
        </p:nvPicPr>
        <p:blipFill>
          <a:blip r:embed="rId1"/>
          <a:stretch>
            <a:fillRect/>
          </a:stretch>
        </p:blipFill>
        <p:spPr>
          <a:xfrm>
            <a:off x="1051560" y="1828800"/>
            <a:ext cx="594360" cy="594360"/>
          </a:xfrm>
          <a:prstGeom prst="rect">
            <a:avLst/>
          </a:prstGeom>
        </p:spPr>
      </p:pic>
      <p:sp>
        <p:nvSpPr>
          <p:cNvPr id="8" name="Text 5"/>
          <p:cNvSpPr/>
          <p:nvPr/>
        </p:nvSpPr>
        <p:spPr>
          <a:xfrm>
            <a:off x="1783080" y="1828800"/>
            <a:ext cx="3840480" cy="6400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Like a weather forecast</a:t>
            </a:r>
            <a:endParaRPr lang="en-US" sz="2200" dirty="0"/>
          </a:p>
        </p:txBody>
      </p:sp>
      <p:sp>
        <p:nvSpPr>
          <p:cNvPr id="9" name="Text 6"/>
          <p:cNvSpPr/>
          <p:nvPr/>
        </p:nvSpPr>
        <p:spPr>
          <a:xfrm>
            <a:off x="1051560" y="2606040"/>
            <a:ext cx="4526280" cy="3520440"/>
          </a:xfrm>
          <a:prstGeom prst="rect">
            <a:avLst/>
          </a:prstGeom>
          <a:noFill/>
          <a:ln/>
        </p:spPr>
        <p:txBody>
          <a:bodyPr wrap="square" rtlCol="0" anchor="t"/>
          <a:lstStyle/>
          <a:p>
            <a:pPr indent="0" marL="0">
              <a:buNone/>
            </a:pPr>
            <a:r>
              <a:rPr lang="en-US" sz="1400" dirty="0">
                <a:solidFill>
                  <a:srgbClr val="E2E8F0"/>
                </a:solidFill>
                <a:latin typeface="Calibri" pitchFamily="34" charset="0"/>
                <a:ea typeface="Calibri" pitchFamily="34" charset="-122"/>
                <a:cs typeface="Calibri" pitchFamily="34" charset="-120"/>
              </a:rPr>
              <a:t>A weather app doesn't </a:t>
            </a:r>
            <a:pPr indent="0" marL="0">
              <a:buNone/>
            </a:pPr>
            <a:r>
              <a:rPr lang="en-US" sz="1400" b="1" i="1" dirty="0">
                <a:solidFill>
                  <a:srgbClr val="FFB627"/>
                </a:solidFill>
                <a:latin typeface="Calibri" pitchFamily="34" charset="0"/>
                <a:ea typeface="Calibri" pitchFamily="34" charset="-122"/>
                <a:cs typeface="Calibri" pitchFamily="34" charset="-120"/>
              </a:rPr>
              <a:t>know</a:t>
            </a:r>
            <a:pPr indent="0" marL="0">
              <a:buNone/>
            </a:pPr>
            <a:r>
              <a:rPr lang="en-US" sz="1400" dirty="0">
                <a:solidFill>
                  <a:srgbClr val="E2E8F0"/>
                </a:solidFill>
                <a:latin typeface="Calibri" pitchFamily="34" charset="0"/>
                <a:ea typeface="Calibri" pitchFamily="34" charset="-122"/>
                <a:cs typeface="Calibri" pitchFamily="34" charset="-120"/>
              </a:rPr>
              <a:t> it will rain tomorrow. It looks at clouds, wind, temperature, and history — and gives you a smart guess.</a:t>
            </a:r>
            <a:endParaRPr lang="en-US" sz="14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E2E8F0"/>
                </a:solidFill>
                <a:latin typeface="Calibri" pitchFamily="34" charset="0"/>
                <a:ea typeface="Calibri" pitchFamily="34" charset="-122"/>
                <a:cs typeface="Calibri" pitchFamily="34" charset="-120"/>
              </a:rPr>
              <a:t>Predictive AI in healthcare works the same way. By looking at lots of small signs together — heart rate, blood test numbers, age, past illness — it can warn nurses </a:t>
            </a:r>
            <a:pPr indent="0" marL="0">
              <a:buNone/>
            </a:pPr>
            <a:r>
              <a:rPr lang="en-US" sz="1400" b="1" dirty="0">
                <a:solidFill>
                  <a:srgbClr val="FFFFFF"/>
                </a:solidFill>
                <a:latin typeface="Calibri" pitchFamily="34" charset="0"/>
                <a:ea typeface="Calibri" pitchFamily="34" charset="-122"/>
                <a:cs typeface="Calibri" pitchFamily="34" charset="-120"/>
              </a:rPr>
              <a:t>hours before</a:t>
            </a:r>
            <a:pPr indent="0" marL="0">
              <a:buNone/>
            </a:pPr>
            <a:r>
              <a:rPr lang="en-US" sz="1400" dirty="0">
                <a:solidFill>
                  <a:srgbClr val="E2E8F0"/>
                </a:solidFill>
                <a:latin typeface="Calibri" pitchFamily="34" charset="0"/>
                <a:ea typeface="Calibri" pitchFamily="34" charset="-122"/>
                <a:cs typeface="Calibri" pitchFamily="34" charset="-120"/>
              </a:rPr>
              <a:t> a patient might take a turn for the worse.</a:t>
            </a:r>
            <a:endParaRPr lang="en-US" sz="14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500" b="1" i="1" dirty="0">
                <a:solidFill>
                  <a:srgbClr val="FFB627"/>
                </a:solidFill>
                <a:latin typeface="Calibri" pitchFamily="34" charset="0"/>
                <a:ea typeface="Calibri" pitchFamily="34" charset="-122"/>
                <a:cs typeface="Calibri" pitchFamily="34" charset="-120"/>
              </a:rPr>
              <a:t>That extra time saves lives.</a:t>
            </a:r>
            <a:endParaRPr lang="en-US" sz="1400" dirty="0"/>
          </a:p>
        </p:txBody>
      </p:sp>
      <p:sp>
        <p:nvSpPr>
          <p:cNvPr id="10" name="Text 7"/>
          <p:cNvSpPr/>
          <p:nvPr/>
        </p:nvSpPr>
        <p:spPr>
          <a:xfrm>
            <a:off x="5897880" y="1600200"/>
            <a:ext cx="5852160" cy="320040"/>
          </a:xfrm>
          <a:prstGeom prst="rect">
            <a:avLst/>
          </a:prstGeom>
          <a:noFill/>
          <a:ln/>
        </p:spPr>
        <p:txBody>
          <a:bodyPr wrap="square" lIns="0" tIns="0" rIns="0" bIns="0" rtlCol="0" anchor="ctr"/>
          <a:lstStyle/>
          <a:p>
            <a:pPr indent="0" marL="0">
              <a:buNone/>
            </a:pPr>
            <a:r>
              <a:rPr lang="en-US" sz="1100" b="1" spc="400" kern="0" dirty="0">
                <a:solidFill>
                  <a:srgbClr val="5A6878"/>
                </a:solidFill>
                <a:latin typeface="Calibri" pitchFamily="34" charset="0"/>
                <a:ea typeface="Calibri" pitchFamily="34" charset="-122"/>
                <a:cs typeface="Calibri" pitchFamily="34" charset="-120"/>
              </a:rPr>
              <a:t>WHERE PREDICTIVE AI HELPS TODAY</a:t>
            </a:r>
            <a:endParaRPr lang="en-US" sz="1100" dirty="0"/>
          </a:p>
        </p:txBody>
      </p:sp>
      <p:sp>
        <p:nvSpPr>
          <p:cNvPr id="11" name="Shape 8"/>
          <p:cNvSpPr/>
          <p:nvPr/>
        </p:nvSpPr>
        <p:spPr>
          <a:xfrm>
            <a:off x="5897880" y="2011680"/>
            <a:ext cx="5852160" cy="914400"/>
          </a:xfrm>
          <a:prstGeom prst="rect">
            <a:avLst/>
          </a:prstGeom>
          <a:solidFill>
            <a:srgbClr val="F9FBFC"/>
          </a:solidFill>
          <a:ln w="12700">
            <a:solidFill>
              <a:srgbClr val="E1E8ED"/>
            </a:solidFill>
            <a:prstDash val="solid"/>
          </a:ln>
        </p:spPr>
      </p:sp>
      <p:sp>
        <p:nvSpPr>
          <p:cNvPr id="12" name="Shape 9"/>
          <p:cNvSpPr/>
          <p:nvPr/>
        </p:nvSpPr>
        <p:spPr>
          <a:xfrm>
            <a:off x="5897880" y="2011680"/>
            <a:ext cx="91440" cy="914400"/>
          </a:xfrm>
          <a:prstGeom prst="rect">
            <a:avLst/>
          </a:prstGeom>
          <a:solidFill>
            <a:srgbClr val="FFB627"/>
          </a:solidFill>
          <a:ln w="12700">
            <a:solidFill>
              <a:srgbClr val="FFB627"/>
            </a:solidFill>
            <a:prstDash val="solid"/>
          </a:ln>
        </p:spPr>
      </p:sp>
      <p:sp>
        <p:nvSpPr>
          <p:cNvPr id="13" name="Shape 10"/>
          <p:cNvSpPr/>
          <p:nvPr/>
        </p:nvSpPr>
        <p:spPr>
          <a:xfrm>
            <a:off x="6126480" y="2240280"/>
            <a:ext cx="457200" cy="457200"/>
          </a:xfrm>
          <a:prstGeom prst="ellipse">
            <a:avLst/>
          </a:prstGeom>
          <a:solidFill>
            <a:srgbClr val="FFB627"/>
          </a:solidFill>
          <a:ln w="12700">
            <a:solidFill>
              <a:srgbClr val="FFB627"/>
            </a:solidFill>
            <a:prstDash val="solid"/>
          </a:ln>
        </p:spPr>
      </p:sp>
      <p:sp>
        <p:nvSpPr>
          <p:cNvPr id="14" name="Text 11"/>
          <p:cNvSpPr/>
          <p:nvPr/>
        </p:nvSpPr>
        <p:spPr>
          <a:xfrm>
            <a:off x="6126480" y="2240280"/>
            <a:ext cx="457200" cy="457200"/>
          </a:xfrm>
          <a:prstGeom prst="rect">
            <a:avLst/>
          </a:prstGeom>
          <a:noFill/>
          <a:ln/>
        </p:spPr>
        <p:txBody>
          <a:bodyPr wrap="square" lIns="0" tIns="0" rIns="0" bIns="0" rtlCol="0" anchor="ctr"/>
          <a:lstStyle/>
          <a:p>
            <a:pPr algn="ctr" indent="0" marL="0">
              <a:buNone/>
            </a:pPr>
            <a:r>
              <a:rPr lang="en-US" sz="1400" b="1" dirty="0">
                <a:solidFill>
                  <a:srgbClr val="0B2545"/>
                </a:solidFill>
                <a:latin typeface="Georgia" pitchFamily="34" charset="0"/>
                <a:ea typeface="Georgia" pitchFamily="34" charset="-122"/>
                <a:cs typeface="Georgia" pitchFamily="34" charset="-120"/>
              </a:rPr>
              <a:t>1</a:t>
            </a:r>
            <a:endParaRPr lang="en-US" sz="1400" dirty="0"/>
          </a:p>
        </p:txBody>
      </p:sp>
      <p:sp>
        <p:nvSpPr>
          <p:cNvPr id="15" name="Text 12"/>
          <p:cNvSpPr/>
          <p:nvPr/>
        </p:nvSpPr>
        <p:spPr>
          <a:xfrm>
            <a:off x="6766560" y="2103120"/>
            <a:ext cx="4846320" cy="32004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Early warning in hospitals</a:t>
            </a:r>
            <a:endParaRPr lang="en-US" sz="1400" dirty="0"/>
          </a:p>
        </p:txBody>
      </p:sp>
      <p:sp>
        <p:nvSpPr>
          <p:cNvPr id="16" name="Text 13"/>
          <p:cNvSpPr/>
          <p:nvPr/>
        </p:nvSpPr>
        <p:spPr>
          <a:xfrm>
            <a:off x="6766560" y="2423160"/>
            <a:ext cx="4846320" cy="50292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Watching for signs of a serious condition called sepsis — where every hour of delay can make it worse.</a:t>
            </a:r>
            <a:endParaRPr lang="en-US" sz="1150" dirty="0"/>
          </a:p>
        </p:txBody>
      </p:sp>
      <p:sp>
        <p:nvSpPr>
          <p:cNvPr id="17" name="Shape 14"/>
          <p:cNvSpPr/>
          <p:nvPr/>
        </p:nvSpPr>
        <p:spPr>
          <a:xfrm>
            <a:off x="5897880" y="3063240"/>
            <a:ext cx="5852160" cy="914400"/>
          </a:xfrm>
          <a:prstGeom prst="rect">
            <a:avLst/>
          </a:prstGeom>
          <a:solidFill>
            <a:srgbClr val="F9FBFC"/>
          </a:solidFill>
          <a:ln w="12700">
            <a:solidFill>
              <a:srgbClr val="E1E8ED"/>
            </a:solidFill>
            <a:prstDash val="solid"/>
          </a:ln>
        </p:spPr>
      </p:sp>
      <p:sp>
        <p:nvSpPr>
          <p:cNvPr id="18" name="Shape 15"/>
          <p:cNvSpPr/>
          <p:nvPr/>
        </p:nvSpPr>
        <p:spPr>
          <a:xfrm>
            <a:off x="5897880" y="3063240"/>
            <a:ext cx="91440" cy="914400"/>
          </a:xfrm>
          <a:prstGeom prst="rect">
            <a:avLst/>
          </a:prstGeom>
          <a:solidFill>
            <a:srgbClr val="FFB627"/>
          </a:solidFill>
          <a:ln w="12700">
            <a:solidFill>
              <a:srgbClr val="FFB627"/>
            </a:solidFill>
            <a:prstDash val="solid"/>
          </a:ln>
        </p:spPr>
      </p:sp>
      <p:sp>
        <p:nvSpPr>
          <p:cNvPr id="19" name="Shape 16"/>
          <p:cNvSpPr/>
          <p:nvPr/>
        </p:nvSpPr>
        <p:spPr>
          <a:xfrm>
            <a:off x="6126480" y="3291840"/>
            <a:ext cx="457200" cy="457200"/>
          </a:xfrm>
          <a:prstGeom prst="ellipse">
            <a:avLst/>
          </a:prstGeom>
          <a:solidFill>
            <a:srgbClr val="FFB627"/>
          </a:solidFill>
          <a:ln w="12700">
            <a:solidFill>
              <a:srgbClr val="FFB627"/>
            </a:solidFill>
            <a:prstDash val="solid"/>
          </a:ln>
        </p:spPr>
      </p:sp>
      <p:sp>
        <p:nvSpPr>
          <p:cNvPr id="20" name="Text 17"/>
          <p:cNvSpPr/>
          <p:nvPr/>
        </p:nvSpPr>
        <p:spPr>
          <a:xfrm>
            <a:off x="6126480" y="3291840"/>
            <a:ext cx="457200" cy="457200"/>
          </a:xfrm>
          <a:prstGeom prst="rect">
            <a:avLst/>
          </a:prstGeom>
          <a:noFill/>
          <a:ln/>
        </p:spPr>
        <p:txBody>
          <a:bodyPr wrap="square" lIns="0" tIns="0" rIns="0" bIns="0" rtlCol="0" anchor="ctr"/>
          <a:lstStyle/>
          <a:p>
            <a:pPr algn="ctr" indent="0" marL="0">
              <a:buNone/>
            </a:pPr>
            <a:r>
              <a:rPr lang="en-US" sz="1400" b="1" dirty="0">
                <a:solidFill>
                  <a:srgbClr val="0B2545"/>
                </a:solidFill>
                <a:latin typeface="Georgia" pitchFamily="34" charset="0"/>
                <a:ea typeface="Georgia" pitchFamily="34" charset="-122"/>
                <a:cs typeface="Georgia" pitchFamily="34" charset="-120"/>
              </a:rPr>
              <a:t>2</a:t>
            </a:r>
            <a:endParaRPr lang="en-US" sz="1400" dirty="0"/>
          </a:p>
        </p:txBody>
      </p:sp>
      <p:sp>
        <p:nvSpPr>
          <p:cNvPr id="21" name="Text 18"/>
          <p:cNvSpPr/>
          <p:nvPr/>
        </p:nvSpPr>
        <p:spPr>
          <a:xfrm>
            <a:off x="6766560" y="3154680"/>
            <a:ext cx="4846320" cy="32004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Heart-attack risk scores</a:t>
            </a:r>
            <a:endParaRPr lang="en-US" sz="1400" dirty="0"/>
          </a:p>
        </p:txBody>
      </p:sp>
      <p:sp>
        <p:nvSpPr>
          <p:cNvPr id="22" name="Text 19"/>
          <p:cNvSpPr/>
          <p:nvPr/>
        </p:nvSpPr>
        <p:spPr>
          <a:xfrm>
            <a:off x="6766560" y="3474720"/>
            <a:ext cx="4846320" cy="50292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Helping family doctors decide who really needs extra heart tests and who can safely wait.</a:t>
            </a:r>
            <a:endParaRPr lang="en-US" sz="1150" dirty="0"/>
          </a:p>
        </p:txBody>
      </p:sp>
      <p:sp>
        <p:nvSpPr>
          <p:cNvPr id="23" name="Shape 20"/>
          <p:cNvSpPr/>
          <p:nvPr/>
        </p:nvSpPr>
        <p:spPr>
          <a:xfrm>
            <a:off x="5897880" y="4114800"/>
            <a:ext cx="5852160" cy="914400"/>
          </a:xfrm>
          <a:prstGeom prst="rect">
            <a:avLst/>
          </a:prstGeom>
          <a:solidFill>
            <a:srgbClr val="F9FBFC"/>
          </a:solidFill>
          <a:ln w="12700">
            <a:solidFill>
              <a:srgbClr val="E1E8ED"/>
            </a:solidFill>
            <a:prstDash val="solid"/>
          </a:ln>
        </p:spPr>
      </p:sp>
      <p:sp>
        <p:nvSpPr>
          <p:cNvPr id="24" name="Shape 21"/>
          <p:cNvSpPr/>
          <p:nvPr/>
        </p:nvSpPr>
        <p:spPr>
          <a:xfrm>
            <a:off x="5897880" y="4114800"/>
            <a:ext cx="91440" cy="914400"/>
          </a:xfrm>
          <a:prstGeom prst="rect">
            <a:avLst/>
          </a:prstGeom>
          <a:solidFill>
            <a:srgbClr val="FFB627"/>
          </a:solidFill>
          <a:ln w="12700">
            <a:solidFill>
              <a:srgbClr val="FFB627"/>
            </a:solidFill>
            <a:prstDash val="solid"/>
          </a:ln>
        </p:spPr>
      </p:sp>
      <p:sp>
        <p:nvSpPr>
          <p:cNvPr id="25" name="Shape 22"/>
          <p:cNvSpPr/>
          <p:nvPr/>
        </p:nvSpPr>
        <p:spPr>
          <a:xfrm>
            <a:off x="6126480" y="4343400"/>
            <a:ext cx="457200" cy="457200"/>
          </a:xfrm>
          <a:prstGeom prst="ellipse">
            <a:avLst/>
          </a:prstGeom>
          <a:solidFill>
            <a:srgbClr val="FFB627"/>
          </a:solidFill>
          <a:ln w="12700">
            <a:solidFill>
              <a:srgbClr val="FFB627"/>
            </a:solidFill>
            <a:prstDash val="solid"/>
          </a:ln>
        </p:spPr>
      </p:sp>
      <p:sp>
        <p:nvSpPr>
          <p:cNvPr id="26" name="Text 23"/>
          <p:cNvSpPr/>
          <p:nvPr/>
        </p:nvSpPr>
        <p:spPr>
          <a:xfrm>
            <a:off x="6126480" y="4343400"/>
            <a:ext cx="457200" cy="457200"/>
          </a:xfrm>
          <a:prstGeom prst="rect">
            <a:avLst/>
          </a:prstGeom>
          <a:noFill/>
          <a:ln/>
        </p:spPr>
        <p:txBody>
          <a:bodyPr wrap="square" lIns="0" tIns="0" rIns="0" bIns="0" rtlCol="0" anchor="ctr"/>
          <a:lstStyle/>
          <a:p>
            <a:pPr algn="ctr" indent="0" marL="0">
              <a:buNone/>
            </a:pPr>
            <a:r>
              <a:rPr lang="en-US" sz="1400" b="1" dirty="0">
                <a:solidFill>
                  <a:srgbClr val="0B2545"/>
                </a:solidFill>
                <a:latin typeface="Georgia" pitchFamily="34" charset="0"/>
                <a:ea typeface="Georgia" pitchFamily="34" charset="-122"/>
                <a:cs typeface="Georgia" pitchFamily="34" charset="-120"/>
              </a:rPr>
              <a:t>3</a:t>
            </a:r>
            <a:endParaRPr lang="en-US" sz="1400" dirty="0"/>
          </a:p>
        </p:txBody>
      </p:sp>
      <p:sp>
        <p:nvSpPr>
          <p:cNvPr id="27" name="Text 24"/>
          <p:cNvSpPr/>
          <p:nvPr/>
        </p:nvSpPr>
        <p:spPr>
          <a:xfrm>
            <a:off x="6766560" y="4206240"/>
            <a:ext cx="4846320" cy="32004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Predicting hospital readmission</a:t>
            </a:r>
            <a:endParaRPr lang="en-US" sz="1400" dirty="0"/>
          </a:p>
        </p:txBody>
      </p:sp>
      <p:sp>
        <p:nvSpPr>
          <p:cNvPr id="28" name="Text 25"/>
          <p:cNvSpPr/>
          <p:nvPr/>
        </p:nvSpPr>
        <p:spPr>
          <a:xfrm>
            <a:off x="6766560" y="4526280"/>
            <a:ext cx="4846320" cy="50292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Identifying patients who need a phone check-in after discharge — preventing them from coming back to emergency.</a:t>
            </a:r>
            <a:endParaRPr lang="en-US" sz="1150" dirty="0"/>
          </a:p>
        </p:txBody>
      </p:sp>
      <p:sp>
        <p:nvSpPr>
          <p:cNvPr id="29" name="Shape 26"/>
          <p:cNvSpPr/>
          <p:nvPr/>
        </p:nvSpPr>
        <p:spPr>
          <a:xfrm>
            <a:off x="5897880" y="5166360"/>
            <a:ext cx="5852160" cy="914400"/>
          </a:xfrm>
          <a:prstGeom prst="rect">
            <a:avLst/>
          </a:prstGeom>
          <a:solidFill>
            <a:srgbClr val="F9FBFC"/>
          </a:solidFill>
          <a:ln w="12700">
            <a:solidFill>
              <a:srgbClr val="E1E8ED"/>
            </a:solidFill>
            <a:prstDash val="solid"/>
          </a:ln>
        </p:spPr>
      </p:sp>
      <p:sp>
        <p:nvSpPr>
          <p:cNvPr id="30" name="Shape 27"/>
          <p:cNvSpPr/>
          <p:nvPr/>
        </p:nvSpPr>
        <p:spPr>
          <a:xfrm>
            <a:off x="5897880" y="5166360"/>
            <a:ext cx="91440" cy="914400"/>
          </a:xfrm>
          <a:prstGeom prst="rect">
            <a:avLst/>
          </a:prstGeom>
          <a:solidFill>
            <a:srgbClr val="FFB627"/>
          </a:solidFill>
          <a:ln w="12700">
            <a:solidFill>
              <a:srgbClr val="FFB627"/>
            </a:solidFill>
            <a:prstDash val="solid"/>
          </a:ln>
        </p:spPr>
      </p:sp>
      <p:sp>
        <p:nvSpPr>
          <p:cNvPr id="31" name="Shape 28"/>
          <p:cNvSpPr/>
          <p:nvPr/>
        </p:nvSpPr>
        <p:spPr>
          <a:xfrm>
            <a:off x="6126480" y="5394960"/>
            <a:ext cx="457200" cy="457200"/>
          </a:xfrm>
          <a:prstGeom prst="ellipse">
            <a:avLst/>
          </a:prstGeom>
          <a:solidFill>
            <a:srgbClr val="FFB627"/>
          </a:solidFill>
          <a:ln w="12700">
            <a:solidFill>
              <a:srgbClr val="FFB627"/>
            </a:solidFill>
            <a:prstDash val="solid"/>
          </a:ln>
        </p:spPr>
      </p:sp>
      <p:sp>
        <p:nvSpPr>
          <p:cNvPr id="32" name="Text 29"/>
          <p:cNvSpPr/>
          <p:nvPr/>
        </p:nvSpPr>
        <p:spPr>
          <a:xfrm>
            <a:off x="6126480" y="5394960"/>
            <a:ext cx="457200" cy="457200"/>
          </a:xfrm>
          <a:prstGeom prst="rect">
            <a:avLst/>
          </a:prstGeom>
          <a:noFill/>
          <a:ln/>
        </p:spPr>
        <p:txBody>
          <a:bodyPr wrap="square" lIns="0" tIns="0" rIns="0" bIns="0" rtlCol="0" anchor="ctr"/>
          <a:lstStyle/>
          <a:p>
            <a:pPr algn="ctr" indent="0" marL="0">
              <a:buNone/>
            </a:pPr>
            <a:r>
              <a:rPr lang="en-US" sz="1400" b="1" dirty="0">
                <a:solidFill>
                  <a:srgbClr val="0B2545"/>
                </a:solidFill>
                <a:latin typeface="Georgia" pitchFamily="34" charset="0"/>
                <a:ea typeface="Georgia" pitchFamily="34" charset="-122"/>
                <a:cs typeface="Georgia" pitchFamily="34" charset="-120"/>
              </a:rPr>
              <a:t>4</a:t>
            </a:r>
            <a:endParaRPr lang="en-US" sz="1400" dirty="0"/>
          </a:p>
        </p:txBody>
      </p:sp>
      <p:sp>
        <p:nvSpPr>
          <p:cNvPr id="33" name="Text 30"/>
          <p:cNvSpPr/>
          <p:nvPr/>
        </p:nvSpPr>
        <p:spPr>
          <a:xfrm>
            <a:off x="6766560" y="5257800"/>
            <a:ext cx="4846320" cy="32004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Spotting medication risks</a:t>
            </a:r>
            <a:endParaRPr lang="en-US" sz="1400" dirty="0"/>
          </a:p>
        </p:txBody>
      </p:sp>
      <p:sp>
        <p:nvSpPr>
          <p:cNvPr id="34" name="Text 31"/>
          <p:cNvSpPr/>
          <p:nvPr/>
        </p:nvSpPr>
        <p:spPr>
          <a:xfrm>
            <a:off x="6766560" y="5577840"/>
            <a:ext cx="4846320" cy="50292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Flagging dangerous drug combinations before a prescription is even written.</a:t>
            </a:r>
            <a:endParaRPr lang="en-US" sz="1150" dirty="0"/>
          </a:p>
        </p:txBody>
      </p:sp>
      <p:sp>
        <p:nvSpPr>
          <p:cNvPr id="35" name="Text 32"/>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6" name="Text 33"/>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13  /  20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Who Actually Benefits</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Smart medicine reaches further than you might think</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3657600" cy="45720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7" name="Shape 5"/>
          <p:cNvSpPr/>
          <p:nvPr/>
        </p:nvSpPr>
        <p:spPr>
          <a:xfrm>
            <a:off x="777240" y="1600200"/>
            <a:ext cx="3657600" cy="109728"/>
          </a:xfrm>
          <a:prstGeom prst="rect">
            <a:avLst/>
          </a:prstGeom>
          <a:solidFill>
            <a:srgbClr val="FF6B6B"/>
          </a:solidFill>
          <a:ln w="12700">
            <a:solidFill>
              <a:srgbClr val="FF6B6B"/>
            </a:solidFill>
            <a:prstDash val="solid"/>
          </a:ln>
        </p:spPr>
      </p:sp>
      <p:sp>
        <p:nvSpPr>
          <p:cNvPr id="8" name="Shape 6"/>
          <p:cNvSpPr/>
          <p:nvPr/>
        </p:nvSpPr>
        <p:spPr>
          <a:xfrm>
            <a:off x="2148840" y="2011680"/>
            <a:ext cx="914400" cy="914400"/>
          </a:xfrm>
          <a:prstGeom prst="ellipse">
            <a:avLst/>
          </a:prstGeom>
          <a:solidFill>
            <a:srgbClr val="FF6B6B"/>
          </a:solidFill>
          <a:ln w="12700">
            <a:solidFill>
              <a:srgbClr val="FF6B6B"/>
            </a:solidFill>
            <a:prstDash val="solid"/>
          </a:ln>
        </p:spPr>
      </p:sp>
      <p:pic>
        <p:nvPicPr>
          <p:cNvPr id="9" name="Image 0" descr="preencoded.png">    </p:cNvPr>
          <p:cNvPicPr>
            <a:picLocks noChangeAspect="1"/>
          </p:cNvPicPr>
          <p:nvPr/>
        </p:nvPicPr>
        <p:blipFill>
          <a:blip r:embed="rId1"/>
          <a:stretch>
            <a:fillRect/>
          </a:stretch>
        </p:blipFill>
        <p:spPr>
          <a:xfrm>
            <a:off x="2359152" y="2221992"/>
            <a:ext cx="493776" cy="493776"/>
          </a:xfrm>
          <a:prstGeom prst="rect">
            <a:avLst/>
          </a:prstGeom>
        </p:spPr>
      </p:pic>
      <p:sp>
        <p:nvSpPr>
          <p:cNvPr id="10" name="Text 7"/>
          <p:cNvSpPr/>
          <p:nvPr/>
        </p:nvSpPr>
        <p:spPr>
          <a:xfrm>
            <a:off x="777240" y="3017520"/>
            <a:ext cx="3657600" cy="457200"/>
          </a:xfrm>
          <a:prstGeom prst="rect">
            <a:avLst/>
          </a:prstGeom>
          <a:noFill/>
          <a:ln/>
        </p:spPr>
        <p:txBody>
          <a:bodyPr wrap="square" lIns="0" tIns="0" rIns="0" bIns="0" rtlCol="0" anchor="ctr"/>
          <a:lstStyle/>
          <a:p>
            <a:pPr algn="ctr" indent="0" marL="0">
              <a:buNone/>
            </a:pPr>
            <a:r>
              <a:rPr lang="en-US" sz="2400" b="1" dirty="0">
                <a:solidFill>
                  <a:srgbClr val="0B2545"/>
                </a:solidFill>
                <a:latin typeface="Georgia" pitchFamily="34" charset="0"/>
                <a:ea typeface="Georgia" pitchFamily="34" charset="-122"/>
                <a:cs typeface="Georgia" pitchFamily="34" charset="-120"/>
              </a:rPr>
              <a:t>Patients</a:t>
            </a:r>
            <a:endParaRPr lang="en-US" sz="2400" dirty="0"/>
          </a:p>
        </p:txBody>
      </p:sp>
      <p:sp>
        <p:nvSpPr>
          <p:cNvPr id="11" name="Shape 8"/>
          <p:cNvSpPr/>
          <p:nvPr/>
        </p:nvSpPr>
        <p:spPr>
          <a:xfrm>
            <a:off x="2240280" y="3520440"/>
            <a:ext cx="731520" cy="36576"/>
          </a:xfrm>
          <a:prstGeom prst="rect">
            <a:avLst/>
          </a:prstGeom>
          <a:solidFill>
            <a:srgbClr val="FF6B6B"/>
          </a:solidFill>
          <a:ln w="12700">
            <a:solidFill>
              <a:srgbClr val="FF6B6B"/>
            </a:solidFill>
            <a:prstDash val="solid"/>
          </a:ln>
        </p:spPr>
      </p:sp>
      <p:sp>
        <p:nvSpPr>
          <p:cNvPr id="12" name="Text 9"/>
          <p:cNvSpPr/>
          <p:nvPr/>
        </p:nvSpPr>
        <p:spPr>
          <a:xfrm>
            <a:off x="1143000" y="3794760"/>
            <a:ext cx="310896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Faster answers, less waiting</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Earlier detection of serious problems</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Care available even far from big hospitals</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More time talking with the doctor</a:t>
            </a:r>
            <a:endParaRPr lang="en-US" sz="1300" dirty="0"/>
          </a:p>
        </p:txBody>
      </p:sp>
      <p:sp>
        <p:nvSpPr>
          <p:cNvPr id="13" name="Shape 10"/>
          <p:cNvSpPr/>
          <p:nvPr/>
        </p:nvSpPr>
        <p:spPr>
          <a:xfrm>
            <a:off x="4599432" y="1600200"/>
            <a:ext cx="3657600" cy="45720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4" name="Shape 11"/>
          <p:cNvSpPr/>
          <p:nvPr/>
        </p:nvSpPr>
        <p:spPr>
          <a:xfrm>
            <a:off x="4599432" y="1600200"/>
            <a:ext cx="3657600" cy="109728"/>
          </a:xfrm>
          <a:prstGeom prst="rect">
            <a:avLst/>
          </a:prstGeom>
          <a:solidFill>
            <a:srgbClr val="0E7C7B"/>
          </a:solidFill>
          <a:ln w="12700">
            <a:solidFill>
              <a:srgbClr val="0E7C7B"/>
            </a:solidFill>
            <a:prstDash val="solid"/>
          </a:ln>
        </p:spPr>
      </p:sp>
      <p:sp>
        <p:nvSpPr>
          <p:cNvPr id="15" name="Shape 12"/>
          <p:cNvSpPr/>
          <p:nvPr/>
        </p:nvSpPr>
        <p:spPr>
          <a:xfrm>
            <a:off x="5971032" y="2011680"/>
            <a:ext cx="914400" cy="914400"/>
          </a:xfrm>
          <a:prstGeom prst="ellipse">
            <a:avLst/>
          </a:prstGeom>
          <a:solidFill>
            <a:srgbClr val="0E7C7B"/>
          </a:solidFill>
          <a:ln w="12700">
            <a:solidFill>
              <a:srgbClr val="0E7C7B"/>
            </a:solidFill>
            <a:prstDash val="solid"/>
          </a:ln>
        </p:spPr>
      </p:sp>
      <p:pic>
        <p:nvPicPr>
          <p:cNvPr id="16" name="Image 1" descr="preencoded.png">    </p:cNvPr>
          <p:cNvPicPr>
            <a:picLocks noChangeAspect="1"/>
          </p:cNvPicPr>
          <p:nvPr/>
        </p:nvPicPr>
        <p:blipFill>
          <a:blip r:embed="rId2"/>
          <a:stretch>
            <a:fillRect/>
          </a:stretch>
        </p:blipFill>
        <p:spPr>
          <a:xfrm>
            <a:off x="6181344" y="2221992"/>
            <a:ext cx="493776" cy="493776"/>
          </a:xfrm>
          <a:prstGeom prst="rect">
            <a:avLst/>
          </a:prstGeom>
        </p:spPr>
      </p:pic>
      <p:sp>
        <p:nvSpPr>
          <p:cNvPr id="17" name="Text 13"/>
          <p:cNvSpPr/>
          <p:nvPr/>
        </p:nvSpPr>
        <p:spPr>
          <a:xfrm>
            <a:off x="4599432" y="3017520"/>
            <a:ext cx="3657600" cy="457200"/>
          </a:xfrm>
          <a:prstGeom prst="rect">
            <a:avLst/>
          </a:prstGeom>
          <a:noFill/>
          <a:ln/>
        </p:spPr>
        <p:txBody>
          <a:bodyPr wrap="square" lIns="0" tIns="0" rIns="0" bIns="0" rtlCol="0" anchor="ctr"/>
          <a:lstStyle/>
          <a:p>
            <a:pPr algn="ctr" indent="0" marL="0">
              <a:buNone/>
            </a:pPr>
            <a:r>
              <a:rPr lang="en-US" sz="2400" b="1" dirty="0">
                <a:solidFill>
                  <a:srgbClr val="0B2545"/>
                </a:solidFill>
                <a:latin typeface="Georgia" pitchFamily="34" charset="0"/>
                <a:ea typeface="Georgia" pitchFamily="34" charset="-122"/>
                <a:cs typeface="Georgia" pitchFamily="34" charset="-120"/>
              </a:rPr>
              <a:t>Doctors and Nurses</a:t>
            </a:r>
            <a:endParaRPr lang="en-US" sz="2400" dirty="0"/>
          </a:p>
        </p:txBody>
      </p:sp>
      <p:sp>
        <p:nvSpPr>
          <p:cNvPr id="18" name="Shape 14"/>
          <p:cNvSpPr/>
          <p:nvPr/>
        </p:nvSpPr>
        <p:spPr>
          <a:xfrm>
            <a:off x="6062472" y="3520440"/>
            <a:ext cx="731520" cy="36576"/>
          </a:xfrm>
          <a:prstGeom prst="rect">
            <a:avLst/>
          </a:prstGeom>
          <a:solidFill>
            <a:srgbClr val="0E7C7B"/>
          </a:solidFill>
          <a:ln w="12700">
            <a:solidFill>
              <a:srgbClr val="0E7C7B"/>
            </a:solidFill>
            <a:prstDash val="solid"/>
          </a:ln>
        </p:spPr>
      </p:sp>
      <p:sp>
        <p:nvSpPr>
          <p:cNvPr id="19" name="Text 15"/>
          <p:cNvSpPr/>
          <p:nvPr/>
        </p:nvSpPr>
        <p:spPr>
          <a:xfrm>
            <a:off x="4965192" y="3794760"/>
            <a:ext cx="310896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A reliable second opinion</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Less paperwork, more patient time</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Help spotting things they might miss when tired</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Learning support from huge collections of cases</a:t>
            </a:r>
            <a:endParaRPr lang="en-US" sz="1300" dirty="0"/>
          </a:p>
        </p:txBody>
      </p:sp>
      <p:sp>
        <p:nvSpPr>
          <p:cNvPr id="20" name="Shape 16"/>
          <p:cNvSpPr/>
          <p:nvPr/>
        </p:nvSpPr>
        <p:spPr>
          <a:xfrm>
            <a:off x="8421624" y="1600200"/>
            <a:ext cx="3657600" cy="457200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1" name="Shape 17"/>
          <p:cNvSpPr/>
          <p:nvPr/>
        </p:nvSpPr>
        <p:spPr>
          <a:xfrm>
            <a:off x="8421624" y="1600200"/>
            <a:ext cx="3657600" cy="109728"/>
          </a:xfrm>
          <a:prstGeom prst="rect">
            <a:avLst/>
          </a:prstGeom>
          <a:solidFill>
            <a:srgbClr val="FFB627"/>
          </a:solidFill>
          <a:ln w="12700">
            <a:solidFill>
              <a:srgbClr val="FFB627"/>
            </a:solidFill>
            <a:prstDash val="solid"/>
          </a:ln>
        </p:spPr>
      </p:sp>
      <p:sp>
        <p:nvSpPr>
          <p:cNvPr id="22" name="Shape 18"/>
          <p:cNvSpPr/>
          <p:nvPr/>
        </p:nvSpPr>
        <p:spPr>
          <a:xfrm>
            <a:off x="9793224" y="2011680"/>
            <a:ext cx="914400" cy="914400"/>
          </a:xfrm>
          <a:prstGeom prst="ellipse">
            <a:avLst/>
          </a:prstGeom>
          <a:solidFill>
            <a:srgbClr val="FFB627"/>
          </a:solidFill>
          <a:ln w="12700">
            <a:solidFill>
              <a:srgbClr val="FFB627"/>
            </a:solidFill>
            <a:prstDash val="solid"/>
          </a:ln>
        </p:spPr>
      </p:sp>
      <p:pic>
        <p:nvPicPr>
          <p:cNvPr id="23" name="Image 2" descr="preencoded.png">    </p:cNvPr>
          <p:cNvPicPr>
            <a:picLocks noChangeAspect="1"/>
          </p:cNvPicPr>
          <p:nvPr/>
        </p:nvPicPr>
        <p:blipFill>
          <a:blip r:embed="rId3"/>
          <a:stretch>
            <a:fillRect/>
          </a:stretch>
        </p:blipFill>
        <p:spPr>
          <a:xfrm>
            <a:off x="10003536" y="2221992"/>
            <a:ext cx="493776" cy="493776"/>
          </a:xfrm>
          <a:prstGeom prst="rect">
            <a:avLst/>
          </a:prstGeom>
        </p:spPr>
      </p:pic>
      <p:sp>
        <p:nvSpPr>
          <p:cNvPr id="24" name="Text 19"/>
          <p:cNvSpPr/>
          <p:nvPr/>
        </p:nvSpPr>
        <p:spPr>
          <a:xfrm>
            <a:off x="8421624" y="3017520"/>
            <a:ext cx="3657600" cy="457200"/>
          </a:xfrm>
          <a:prstGeom prst="rect">
            <a:avLst/>
          </a:prstGeom>
          <a:noFill/>
          <a:ln/>
        </p:spPr>
        <p:txBody>
          <a:bodyPr wrap="square" lIns="0" tIns="0" rIns="0" bIns="0" rtlCol="0" anchor="ctr"/>
          <a:lstStyle/>
          <a:p>
            <a:pPr algn="ctr" indent="0" marL="0">
              <a:buNone/>
            </a:pPr>
            <a:r>
              <a:rPr lang="en-US" sz="2400" b="1" dirty="0">
                <a:solidFill>
                  <a:srgbClr val="0B2545"/>
                </a:solidFill>
                <a:latin typeface="Georgia" pitchFamily="34" charset="0"/>
                <a:ea typeface="Georgia" pitchFamily="34" charset="-122"/>
                <a:cs typeface="Georgia" pitchFamily="34" charset="-120"/>
              </a:rPr>
              <a:t>Communities</a:t>
            </a:r>
            <a:endParaRPr lang="en-US" sz="2400" dirty="0"/>
          </a:p>
        </p:txBody>
      </p:sp>
      <p:sp>
        <p:nvSpPr>
          <p:cNvPr id="25" name="Shape 20"/>
          <p:cNvSpPr/>
          <p:nvPr/>
        </p:nvSpPr>
        <p:spPr>
          <a:xfrm>
            <a:off x="9884664" y="3520440"/>
            <a:ext cx="731520" cy="36576"/>
          </a:xfrm>
          <a:prstGeom prst="rect">
            <a:avLst/>
          </a:prstGeom>
          <a:solidFill>
            <a:srgbClr val="FFB627"/>
          </a:solidFill>
          <a:ln w="12700">
            <a:solidFill>
              <a:srgbClr val="FFB627"/>
            </a:solidFill>
            <a:prstDash val="solid"/>
          </a:ln>
        </p:spPr>
      </p:sp>
      <p:sp>
        <p:nvSpPr>
          <p:cNvPr id="26" name="Text 21"/>
          <p:cNvSpPr/>
          <p:nvPr/>
        </p:nvSpPr>
        <p:spPr>
          <a:xfrm>
            <a:off x="8787384" y="3794760"/>
            <a:ext cx="310896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Specialist-quality screening in remote areas</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Catching outbreaks of disease earlier</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Lower healthcare costs over time</a:t>
            </a:r>
            <a:endParaRPr lang="en-US" sz="1300" dirty="0"/>
          </a:p>
          <a:p>
            <a:pPr marL="342900" indent="-342900">
              <a:spcAft>
                <a:spcPts val="800"/>
              </a:spcAft>
              <a:buSzPct val="100000"/>
              <a:buChar char="●"/>
            </a:pPr>
            <a:r>
              <a:rPr lang="en-US" sz="1300" dirty="0">
                <a:solidFill>
                  <a:srgbClr val="1A2332"/>
                </a:solidFill>
                <a:latin typeface="Calibri" pitchFamily="34" charset="0"/>
                <a:ea typeface="Calibri" pitchFamily="34" charset="-122"/>
                <a:cs typeface="Calibri" pitchFamily="34" charset="-120"/>
              </a:rPr>
              <a:t>Fairer access to expert care</a:t>
            </a:r>
            <a:endParaRPr lang="en-US" sz="1300" dirty="0"/>
          </a:p>
        </p:txBody>
      </p:sp>
      <p:sp>
        <p:nvSpPr>
          <p:cNvPr id="27" name="Text 22"/>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28" name="Text 23"/>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14  /  20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Honest Concerns We Should All Care About</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Smart machines need careful supervision — here's why</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00200"/>
            <a:ext cx="5486400" cy="141732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7" name="Shape 5"/>
          <p:cNvSpPr/>
          <p:nvPr/>
        </p:nvSpPr>
        <p:spPr>
          <a:xfrm>
            <a:off x="777240" y="1600200"/>
            <a:ext cx="91440" cy="1417320"/>
          </a:xfrm>
          <a:prstGeom prst="rect">
            <a:avLst/>
          </a:prstGeom>
          <a:solidFill>
            <a:srgbClr val="FF6B6B"/>
          </a:solidFill>
          <a:ln w="12700">
            <a:solidFill>
              <a:srgbClr val="FF6B6B"/>
            </a:solidFill>
            <a:prstDash val="solid"/>
          </a:ln>
        </p:spPr>
      </p:sp>
      <p:sp>
        <p:nvSpPr>
          <p:cNvPr id="8" name="Shape 6"/>
          <p:cNvSpPr/>
          <p:nvPr/>
        </p:nvSpPr>
        <p:spPr>
          <a:xfrm>
            <a:off x="1051560" y="1874520"/>
            <a:ext cx="502920" cy="502920"/>
          </a:xfrm>
          <a:prstGeom prst="ellipse">
            <a:avLst/>
          </a:prstGeom>
          <a:solidFill>
            <a:srgbClr val="FFD3D3"/>
          </a:solidFill>
          <a:ln w="12700">
            <a:solidFill>
              <a:srgbClr val="FFD3D3"/>
            </a:solidFill>
            <a:prstDash val="solid"/>
          </a:ln>
        </p:spPr>
      </p:sp>
      <p:pic>
        <p:nvPicPr>
          <p:cNvPr id="9" name="Image 0" descr="preencoded.png">    </p:cNvPr>
          <p:cNvPicPr>
            <a:picLocks noChangeAspect="1"/>
          </p:cNvPicPr>
          <p:nvPr/>
        </p:nvPicPr>
        <p:blipFill>
          <a:blip r:embed="rId1"/>
          <a:stretch>
            <a:fillRect/>
          </a:stretch>
        </p:blipFill>
        <p:spPr>
          <a:xfrm>
            <a:off x="1161288" y="1984248"/>
            <a:ext cx="283464" cy="283464"/>
          </a:xfrm>
          <a:prstGeom prst="rect">
            <a:avLst/>
          </a:prstGeom>
        </p:spPr>
      </p:pic>
      <p:sp>
        <p:nvSpPr>
          <p:cNvPr id="10" name="Text 7"/>
          <p:cNvSpPr/>
          <p:nvPr/>
        </p:nvSpPr>
        <p:spPr>
          <a:xfrm>
            <a:off x="1691640" y="1847088"/>
            <a:ext cx="4389120" cy="320040"/>
          </a:xfrm>
          <a:prstGeom prst="rect">
            <a:avLst/>
          </a:prstGeom>
          <a:noFill/>
          <a:ln/>
        </p:spPr>
        <p:txBody>
          <a:bodyPr wrap="square" lIns="0" tIns="0" rIns="0" bIns="0" rtlCol="0" anchor="ctr"/>
          <a:lstStyle/>
          <a:p>
            <a:pPr indent="0" marL="0">
              <a:buNone/>
            </a:pPr>
            <a:r>
              <a:rPr lang="en-US" sz="1600" b="1" dirty="0">
                <a:solidFill>
                  <a:srgbClr val="C44545"/>
                </a:solidFill>
                <a:latin typeface="Georgia" pitchFamily="34" charset="0"/>
                <a:ea typeface="Georgia" pitchFamily="34" charset="-122"/>
                <a:cs typeface="Georgia" pitchFamily="34" charset="-120"/>
              </a:rPr>
              <a:t>Fairness</a:t>
            </a:r>
            <a:endParaRPr lang="en-US" sz="1600" dirty="0"/>
          </a:p>
        </p:txBody>
      </p:sp>
      <p:sp>
        <p:nvSpPr>
          <p:cNvPr id="11" name="Text 8"/>
          <p:cNvSpPr/>
          <p:nvPr/>
        </p:nvSpPr>
        <p:spPr>
          <a:xfrm>
            <a:off x="1691640" y="2167128"/>
            <a:ext cx="4389120" cy="77724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If the AI was trained mostly on one group of people, it may work less well for others. We must check it works for everyone — across ages, backgrounds, and skin tones.</a:t>
            </a:r>
            <a:endParaRPr lang="en-US" sz="1150" dirty="0"/>
          </a:p>
        </p:txBody>
      </p:sp>
      <p:sp>
        <p:nvSpPr>
          <p:cNvPr id="12" name="Shape 9"/>
          <p:cNvSpPr/>
          <p:nvPr/>
        </p:nvSpPr>
        <p:spPr>
          <a:xfrm>
            <a:off x="6446520" y="1600200"/>
            <a:ext cx="5486400" cy="141732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3" name="Shape 10"/>
          <p:cNvSpPr/>
          <p:nvPr/>
        </p:nvSpPr>
        <p:spPr>
          <a:xfrm>
            <a:off x="6446520" y="1600200"/>
            <a:ext cx="91440" cy="1417320"/>
          </a:xfrm>
          <a:prstGeom prst="rect">
            <a:avLst/>
          </a:prstGeom>
          <a:solidFill>
            <a:srgbClr val="FF6B6B"/>
          </a:solidFill>
          <a:ln w="12700">
            <a:solidFill>
              <a:srgbClr val="FF6B6B"/>
            </a:solidFill>
            <a:prstDash val="solid"/>
          </a:ln>
        </p:spPr>
      </p:sp>
      <p:sp>
        <p:nvSpPr>
          <p:cNvPr id="14" name="Shape 11"/>
          <p:cNvSpPr/>
          <p:nvPr/>
        </p:nvSpPr>
        <p:spPr>
          <a:xfrm>
            <a:off x="6720840" y="1874520"/>
            <a:ext cx="502920" cy="502920"/>
          </a:xfrm>
          <a:prstGeom prst="ellipse">
            <a:avLst/>
          </a:prstGeom>
          <a:solidFill>
            <a:srgbClr val="FFD3D3"/>
          </a:solidFill>
          <a:ln w="12700">
            <a:solidFill>
              <a:srgbClr val="FFD3D3"/>
            </a:solidFill>
            <a:prstDash val="solid"/>
          </a:ln>
        </p:spPr>
      </p:sp>
      <p:pic>
        <p:nvPicPr>
          <p:cNvPr id="15" name="Image 1" descr="preencoded.png">    </p:cNvPr>
          <p:cNvPicPr>
            <a:picLocks noChangeAspect="1"/>
          </p:cNvPicPr>
          <p:nvPr/>
        </p:nvPicPr>
        <p:blipFill>
          <a:blip r:embed="rId2"/>
          <a:stretch>
            <a:fillRect/>
          </a:stretch>
        </p:blipFill>
        <p:spPr>
          <a:xfrm>
            <a:off x="6830568" y="1984248"/>
            <a:ext cx="283464" cy="283464"/>
          </a:xfrm>
          <a:prstGeom prst="rect">
            <a:avLst/>
          </a:prstGeom>
        </p:spPr>
      </p:pic>
      <p:sp>
        <p:nvSpPr>
          <p:cNvPr id="16" name="Text 12"/>
          <p:cNvSpPr/>
          <p:nvPr/>
        </p:nvSpPr>
        <p:spPr>
          <a:xfrm>
            <a:off x="7360920" y="1847088"/>
            <a:ext cx="4389120" cy="320040"/>
          </a:xfrm>
          <a:prstGeom prst="rect">
            <a:avLst/>
          </a:prstGeom>
          <a:noFill/>
          <a:ln/>
        </p:spPr>
        <p:txBody>
          <a:bodyPr wrap="square" lIns="0" tIns="0" rIns="0" bIns="0" rtlCol="0" anchor="ctr"/>
          <a:lstStyle/>
          <a:p>
            <a:pPr indent="0" marL="0">
              <a:buNone/>
            </a:pPr>
            <a:r>
              <a:rPr lang="en-US" sz="1600" b="1" dirty="0">
                <a:solidFill>
                  <a:srgbClr val="C44545"/>
                </a:solidFill>
                <a:latin typeface="Georgia" pitchFamily="34" charset="0"/>
                <a:ea typeface="Georgia" pitchFamily="34" charset="-122"/>
                <a:cs typeface="Georgia" pitchFamily="34" charset="-120"/>
              </a:rPr>
              <a:t>Privacy</a:t>
            </a:r>
            <a:endParaRPr lang="en-US" sz="1600" dirty="0"/>
          </a:p>
        </p:txBody>
      </p:sp>
      <p:sp>
        <p:nvSpPr>
          <p:cNvPr id="17" name="Text 13"/>
          <p:cNvSpPr/>
          <p:nvPr/>
        </p:nvSpPr>
        <p:spPr>
          <a:xfrm>
            <a:off x="7360920" y="2167128"/>
            <a:ext cx="4389120" cy="77724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Health information is deeply personal. Strong rules and safe technology must protect every record from being misused or leaked.</a:t>
            </a:r>
            <a:endParaRPr lang="en-US" sz="1150" dirty="0"/>
          </a:p>
        </p:txBody>
      </p:sp>
      <p:sp>
        <p:nvSpPr>
          <p:cNvPr id="18" name="Shape 14"/>
          <p:cNvSpPr/>
          <p:nvPr/>
        </p:nvSpPr>
        <p:spPr>
          <a:xfrm>
            <a:off x="777240" y="3136392"/>
            <a:ext cx="5486400" cy="141732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9" name="Shape 15"/>
          <p:cNvSpPr/>
          <p:nvPr/>
        </p:nvSpPr>
        <p:spPr>
          <a:xfrm>
            <a:off x="777240" y="3136392"/>
            <a:ext cx="91440" cy="1417320"/>
          </a:xfrm>
          <a:prstGeom prst="rect">
            <a:avLst/>
          </a:prstGeom>
          <a:solidFill>
            <a:srgbClr val="FF6B6B"/>
          </a:solidFill>
          <a:ln w="12700">
            <a:solidFill>
              <a:srgbClr val="FF6B6B"/>
            </a:solidFill>
            <a:prstDash val="solid"/>
          </a:ln>
        </p:spPr>
      </p:sp>
      <p:sp>
        <p:nvSpPr>
          <p:cNvPr id="20" name="Shape 16"/>
          <p:cNvSpPr/>
          <p:nvPr/>
        </p:nvSpPr>
        <p:spPr>
          <a:xfrm>
            <a:off x="1051560" y="3410712"/>
            <a:ext cx="502920" cy="502920"/>
          </a:xfrm>
          <a:prstGeom prst="ellipse">
            <a:avLst/>
          </a:prstGeom>
          <a:solidFill>
            <a:srgbClr val="FFD3D3"/>
          </a:solidFill>
          <a:ln w="12700">
            <a:solidFill>
              <a:srgbClr val="FFD3D3"/>
            </a:solidFill>
            <a:prstDash val="solid"/>
          </a:ln>
        </p:spPr>
      </p:sp>
      <p:pic>
        <p:nvPicPr>
          <p:cNvPr id="21" name="Image 2" descr="preencoded.png">    </p:cNvPr>
          <p:cNvPicPr>
            <a:picLocks noChangeAspect="1"/>
          </p:cNvPicPr>
          <p:nvPr/>
        </p:nvPicPr>
        <p:blipFill>
          <a:blip r:embed="rId3"/>
          <a:stretch>
            <a:fillRect/>
          </a:stretch>
        </p:blipFill>
        <p:spPr>
          <a:xfrm>
            <a:off x="1161288" y="3520440"/>
            <a:ext cx="283464" cy="283464"/>
          </a:xfrm>
          <a:prstGeom prst="rect">
            <a:avLst/>
          </a:prstGeom>
        </p:spPr>
      </p:pic>
      <p:sp>
        <p:nvSpPr>
          <p:cNvPr id="22" name="Text 17"/>
          <p:cNvSpPr/>
          <p:nvPr/>
        </p:nvSpPr>
        <p:spPr>
          <a:xfrm>
            <a:off x="1691640" y="3383280"/>
            <a:ext cx="4389120" cy="320040"/>
          </a:xfrm>
          <a:prstGeom prst="rect">
            <a:avLst/>
          </a:prstGeom>
          <a:noFill/>
          <a:ln/>
        </p:spPr>
        <p:txBody>
          <a:bodyPr wrap="square" lIns="0" tIns="0" rIns="0" bIns="0" rtlCol="0" anchor="ctr"/>
          <a:lstStyle/>
          <a:p>
            <a:pPr indent="0" marL="0">
              <a:buNone/>
            </a:pPr>
            <a:r>
              <a:rPr lang="en-US" sz="1600" b="1" dirty="0">
                <a:solidFill>
                  <a:srgbClr val="C44545"/>
                </a:solidFill>
                <a:latin typeface="Georgia" pitchFamily="34" charset="0"/>
                <a:ea typeface="Georgia" pitchFamily="34" charset="-122"/>
                <a:cs typeface="Georgia" pitchFamily="34" charset="-120"/>
              </a:rPr>
              <a:t>Trust &amp; Explanation</a:t>
            </a:r>
            <a:endParaRPr lang="en-US" sz="1600" dirty="0"/>
          </a:p>
        </p:txBody>
      </p:sp>
      <p:sp>
        <p:nvSpPr>
          <p:cNvPr id="23" name="Text 18"/>
          <p:cNvSpPr/>
          <p:nvPr/>
        </p:nvSpPr>
        <p:spPr>
          <a:xfrm>
            <a:off x="1691640" y="3703320"/>
            <a:ext cx="4389120" cy="77724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When AI gives a result, doctors and patients deserve to understand why. "The computer said so" is never a good enough answer in medicine.</a:t>
            </a:r>
            <a:endParaRPr lang="en-US" sz="1150" dirty="0"/>
          </a:p>
        </p:txBody>
      </p:sp>
      <p:sp>
        <p:nvSpPr>
          <p:cNvPr id="24" name="Shape 19"/>
          <p:cNvSpPr/>
          <p:nvPr/>
        </p:nvSpPr>
        <p:spPr>
          <a:xfrm>
            <a:off x="6446520" y="3136392"/>
            <a:ext cx="5486400" cy="141732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5" name="Shape 20"/>
          <p:cNvSpPr/>
          <p:nvPr/>
        </p:nvSpPr>
        <p:spPr>
          <a:xfrm>
            <a:off x="6446520" y="3136392"/>
            <a:ext cx="91440" cy="1417320"/>
          </a:xfrm>
          <a:prstGeom prst="rect">
            <a:avLst/>
          </a:prstGeom>
          <a:solidFill>
            <a:srgbClr val="FF6B6B"/>
          </a:solidFill>
          <a:ln w="12700">
            <a:solidFill>
              <a:srgbClr val="FF6B6B"/>
            </a:solidFill>
            <a:prstDash val="solid"/>
          </a:ln>
        </p:spPr>
      </p:sp>
      <p:sp>
        <p:nvSpPr>
          <p:cNvPr id="26" name="Shape 21"/>
          <p:cNvSpPr/>
          <p:nvPr/>
        </p:nvSpPr>
        <p:spPr>
          <a:xfrm>
            <a:off x="6720840" y="3410712"/>
            <a:ext cx="502920" cy="502920"/>
          </a:xfrm>
          <a:prstGeom prst="ellipse">
            <a:avLst/>
          </a:prstGeom>
          <a:solidFill>
            <a:srgbClr val="FFD3D3"/>
          </a:solidFill>
          <a:ln w="12700">
            <a:solidFill>
              <a:srgbClr val="FFD3D3"/>
            </a:solidFill>
            <a:prstDash val="solid"/>
          </a:ln>
        </p:spPr>
      </p:sp>
      <p:pic>
        <p:nvPicPr>
          <p:cNvPr id="27" name="Image 3" descr="preencoded.png">    </p:cNvPr>
          <p:cNvPicPr>
            <a:picLocks noChangeAspect="1"/>
          </p:cNvPicPr>
          <p:nvPr/>
        </p:nvPicPr>
        <p:blipFill>
          <a:blip r:embed="rId4"/>
          <a:stretch>
            <a:fillRect/>
          </a:stretch>
        </p:blipFill>
        <p:spPr>
          <a:xfrm>
            <a:off x="6830568" y="3520440"/>
            <a:ext cx="283464" cy="283464"/>
          </a:xfrm>
          <a:prstGeom prst="rect">
            <a:avLst/>
          </a:prstGeom>
        </p:spPr>
      </p:pic>
      <p:sp>
        <p:nvSpPr>
          <p:cNvPr id="28" name="Text 22"/>
          <p:cNvSpPr/>
          <p:nvPr/>
        </p:nvSpPr>
        <p:spPr>
          <a:xfrm>
            <a:off x="7360920" y="3383280"/>
            <a:ext cx="4389120" cy="320040"/>
          </a:xfrm>
          <a:prstGeom prst="rect">
            <a:avLst/>
          </a:prstGeom>
          <a:noFill/>
          <a:ln/>
        </p:spPr>
        <p:txBody>
          <a:bodyPr wrap="square" lIns="0" tIns="0" rIns="0" bIns="0" rtlCol="0" anchor="ctr"/>
          <a:lstStyle/>
          <a:p>
            <a:pPr indent="0" marL="0">
              <a:buNone/>
            </a:pPr>
            <a:r>
              <a:rPr lang="en-US" sz="1600" b="1" dirty="0">
                <a:solidFill>
                  <a:srgbClr val="C44545"/>
                </a:solidFill>
                <a:latin typeface="Georgia" pitchFamily="34" charset="0"/>
                <a:ea typeface="Georgia" pitchFamily="34" charset="-122"/>
                <a:cs typeface="Georgia" pitchFamily="34" charset="-120"/>
              </a:rPr>
              <a:t>Mistakes Still Happen</a:t>
            </a:r>
            <a:endParaRPr lang="en-US" sz="1600" dirty="0"/>
          </a:p>
        </p:txBody>
      </p:sp>
      <p:sp>
        <p:nvSpPr>
          <p:cNvPr id="29" name="Text 23"/>
          <p:cNvSpPr/>
          <p:nvPr/>
        </p:nvSpPr>
        <p:spPr>
          <a:xfrm>
            <a:off x="7360920" y="3703320"/>
            <a:ext cx="4389120" cy="77724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AI can be wrong, especially in unusual cases. That's why a human professional must always review and have the final say.</a:t>
            </a:r>
            <a:endParaRPr lang="en-US" sz="1150" dirty="0"/>
          </a:p>
        </p:txBody>
      </p:sp>
      <p:sp>
        <p:nvSpPr>
          <p:cNvPr id="30" name="Shape 24"/>
          <p:cNvSpPr/>
          <p:nvPr/>
        </p:nvSpPr>
        <p:spPr>
          <a:xfrm>
            <a:off x="777240" y="4672584"/>
            <a:ext cx="5486400" cy="141732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31" name="Shape 25"/>
          <p:cNvSpPr/>
          <p:nvPr/>
        </p:nvSpPr>
        <p:spPr>
          <a:xfrm>
            <a:off x="777240" y="4672584"/>
            <a:ext cx="91440" cy="1417320"/>
          </a:xfrm>
          <a:prstGeom prst="rect">
            <a:avLst/>
          </a:prstGeom>
          <a:solidFill>
            <a:srgbClr val="FF6B6B"/>
          </a:solidFill>
          <a:ln w="12700">
            <a:solidFill>
              <a:srgbClr val="FF6B6B"/>
            </a:solidFill>
            <a:prstDash val="solid"/>
          </a:ln>
        </p:spPr>
      </p:sp>
      <p:sp>
        <p:nvSpPr>
          <p:cNvPr id="32" name="Shape 26"/>
          <p:cNvSpPr/>
          <p:nvPr/>
        </p:nvSpPr>
        <p:spPr>
          <a:xfrm>
            <a:off x="1051560" y="4946904"/>
            <a:ext cx="502920" cy="502920"/>
          </a:xfrm>
          <a:prstGeom prst="ellipse">
            <a:avLst/>
          </a:prstGeom>
          <a:solidFill>
            <a:srgbClr val="FFD3D3"/>
          </a:solidFill>
          <a:ln w="12700">
            <a:solidFill>
              <a:srgbClr val="FFD3D3"/>
            </a:solidFill>
            <a:prstDash val="solid"/>
          </a:ln>
        </p:spPr>
      </p:sp>
      <p:pic>
        <p:nvPicPr>
          <p:cNvPr id="33" name="Image 4" descr="preencoded.png">    </p:cNvPr>
          <p:cNvPicPr>
            <a:picLocks noChangeAspect="1"/>
          </p:cNvPicPr>
          <p:nvPr/>
        </p:nvPicPr>
        <p:blipFill>
          <a:blip r:embed="rId5"/>
          <a:stretch>
            <a:fillRect/>
          </a:stretch>
        </p:blipFill>
        <p:spPr>
          <a:xfrm>
            <a:off x="1161288" y="5056632"/>
            <a:ext cx="283464" cy="283464"/>
          </a:xfrm>
          <a:prstGeom prst="rect">
            <a:avLst/>
          </a:prstGeom>
        </p:spPr>
      </p:pic>
      <p:sp>
        <p:nvSpPr>
          <p:cNvPr id="34" name="Text 27"/>
          <p:cNvSpPr/>
          <p:nvPr/>
        </p:nvSpPr>
        <p:spPr>
          <a:xfrm>
            <a:off x="1691640" y="4919472"/>
            <a:ext cx="4389120" cy="320040"/>
          </a:xfrm>
          <a:prstGeom prst="rect">
            <a:avLst/>
          </a:prstGeom>
          <a:noFill/>
          <a:ln/>
        </p:spPr>
        <p:txBody>
          <a:bodyPr wrap="square" lIns="0" tIns="0" rIns="0" bIns="0" rtlCol="0" anchor="ctr"/>
          <a:lstStyle/>
          <a:p>
            <a:pPr indent="0" marL="0">
              <a:buNone/>
            </a:pPr>
            <a:r>
              <a:rPr lang="en-US" sz="1600" b="1" dirty="0">
                <a:solidFill>
                  <a:srgbClr val="C44545"/>
                </a:solidFill>
                <a:latin typeface="Georgia" pitchFamily="34" charset="0"/>
                <a:ea typeface="Georgia" pitchFamily="34" charset="-122"/>
                <a:cs typeface="Georgia" pitchFamily="34" charset="-120"/>
              </a:rPr>
              <a:t>Access for All</a:t>
            </a:r>
            <a:endParaRPr lang="en-US" sz="1600" dirty="0"/>
          </a:p>
        </p:txBody>
      </p:sp>
      <p:sp>
        <p:nvSpPr>
          <p:cNvPr id="35" name="Text 28"/>
          <p:cNvSpPr/>
          <p:nvPr/>
        </p:nvSpPr>
        <p:spPr>
          <a:xfrm>
            <a:off x="1691640" y="5239512"/>
            <a:ext cx="4389120" cy="77724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These tools must reach hospitals everywhere — not just wealthy cities. Otherwise the gap in healthcare grows even wider.</a:t>
            </a:r>
            <a:endParaRPr lang="en-US" sz="1150" dirty="0"/>
          </a:p>
        </p:txBody>
      </p:sp>
      <p:sp>
        <p:nvSpPr>
          <p:cNvPr id="36" name="Shape 29"/>
          <p:cNvSpPr/>
          <p:nvPr/>
        </p:nvSpPr>
        <p:spPr>
          <a:xfrm>
            <a:off x="6446520" y="4672584"/>
            <a:ext cx="5486400" cy="141732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37" name="Shape 30"/>
          <p:cNvSpPr/>
          <p:nvPr/>
        </p:nvSpPr>
        <p:spPr>
          <a:xfrm>
            <a:off x="6446520" y="4672584"/>
            <a:ext cx="91440" cy="1417320"/>
          </a:xfrm>
          <a:prstGeom prst="rect">
            <a:avLst/>
          </a:prstGeom>
          <a:solidFill>
            <a:srgbClr val="FF6B6B"/>
          </a:solidFill>
          <a:ln w="12700">
            <a:solidFill>
              <a:srgbClr val="FF6B6B"/>
            </a:solidFill>
            <a:prstDash val="solid"/>
          </a:ln>
        </p:spPr>
      </p:sp>
      <p:sp>
        <p:nvSpPr>
          <p:cNvPr id="38" name="Shape 31"/>
          <p:cNvSpPr/>
          <p:nvPr/>
        </p:nvSpPr>
        <p:spPr>
          <a:xfrm>
            <a:off x="6720840" y="4946904"/>
            <a:ext cx="502920" cy="502920"/>
          </a:xfrm>
          <a:prstGeom prst="ellipse">
            <a:avLst/>
          </a:prstGeom>
          <a:solidFill>
            <a:srgbClr val="FFD3D3"/>
          </a:solidFill>
          <a:ln w="12700">
            <a:solidFill>
              <a:srgbClr val="FFD3D3"/>
            </a:solidFill>
            <a:prstDash val="solid"/>
          </a:ln>
        </p:spPr>
      </p:sp>
      <p:pic>
        <p:nvPicPr>
          <p:cNvPr id="39" name="Image 5" descr="preencoded.png">    </p:cNvPr>
          <p:cNvPicPr>
            <a:picLocks noChangeAspect="1"/>
          </p:cNvPicPr>
          <p:nvPr/>
        </p:nvPicPr>
        <p:blipFill>
          <a:blip r:embed="rId6"/>
          <a:stretch>
            <a:fillRect/>
          </a:stretch>
        </p:blipFill>
        <p:spPr>
          <a:xfrm>
            <a:off x="6830568" y="5056632"/>
            <a:ext cx="283464" cy="283464"/>
          </a:xfrm>
          <a:prstGeom prst="rect">
            <a:avLst/>
          </a:prstGeom>
        </p:spPr>
      </p:pic>
      <p:sp>
        <p:nvSpPr>
          <p:cNvPr id="40" name="Text 32"/>
          <p:cNvSpPr/>
          <p:nvPr/>
        </p:nvSpPr>
        <p:spPr>
          <a:xfrm>
            <a:off x="7360920" y="4919472"/>
            <a:ext cx="4389120" cy="320040"/>
          </a:xfrm>
          <a:prstGeom prst="rect">
            <a:avLst/>
          </a:prstGeom>
          <a:noFill/>
          <a:ln/>
        </p:spPr>
        <p:txBody>
          <a:bodyPr wrap="square" lIns="0" tIns="0" rIns="0" bIns="0" rtlCol="0" anchor="ctr"/>
          <a:lstStyle/>
          <a:p>
            <a:pPr indent="0" marL="0">
              <a:buNone/>
            </a:pPr>
            <a:r>
              <a:rPr lang="en-US" sz="1600" b="1" dirty="0">
                <a:solidFill>
                  <a:srgbClr val="C44545"/>
                </a:solidFill>
                <a:latin typeface="Georgia" pitchFamily="34" charset="0"/>
                <a:ea typeface="Georgia" pitchFamily="34" charset="-122"/>
                <a:cs typeface="Georgia" pitchFamily="34" charset="-120"/>
              </a:rPr>
              <a:t>Human Connection</a:t>
            </a:r>
            <a:endParaRPr lang="en-US" sz="1600" dirty="0"/>
          </a:p>
        </p:txBody>
      </p:sp>
      <p:sp>
        <p:nvSpPr>
          <p:cNvPr id="41" name="Text 33"/>
          <p:cNvSpPr/>
          <p:nvPr/>
        </p:nvSpPr>
        <p:spPr>
          <a:xfrm>
            <a:off x="7360920" y="5239512"/>
            <a:ext cx="4389120" cy="777240"/>
          </a:xfrm>
          <a:prstGeom prst="rect">
            <a:avLst/>
          </a:prstGeom>
          <a:noFill/>
          <a:ln/>
        </p:spPr>
        <p:txBody>
          <a:bodyPr wrap="square" lIns="0" tIns="0" rIns="0" bIns="0" rtlCol="0" anchor="t"/>
          <a:lstStyle/>
          <a:p>
            <a:pPr indent="0" marL="0">
              <a:buNone/>
            </a:pPr>
            <a:r>
              <a:rPr lang="en-US" sz="1150" dirty="0">
                <a:solidFill>
                  <a:srgbClr val="1A2332"/>
                </a:solidFill>
                <a:latin typeface="Calibri" pitchFamily="34" charset="0"/>
                <a:ea typeface="Calibri" pitchFamily="34" charset="-122"/>
                <a:cs typeface="Calibri" pitchFamily="34" charset="-120"/>
              </a:rPr>
              <a:t>Technology should give doctors more time with patients — not replace the listening, the comfort, and the kindness that matter most.</a:t>
            </a:r>
            <a:endParaRPr lang="en-US" sz="1150" dirty="0"/>
          </a:p>
        </p:txBody>
      </p:sp>
      <p:sp>
        <p:nvSpPr>
          <p:cNvPr id="42" name="Text 34"/>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43" name="Text 35"/>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15  /  20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What's Coming Next</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A glimpse of where this is heading in the next few years</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91640"/>
            <a:ext cx="5486400" cy="2194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7" name="Text 5"/>
          <p:cNvSpPr/>
          <p:nvPr/>
        </p:nvSpPr>
        <p:spPr>
          <a:xfrm>
            <a:off x="1005840" y="1874520"/>
            <a:ext cx="914400" cy="457200"/>
          </a:xfrm>
          <a:prstGeom prst="rect">
            <a:avLst/>
          </a:prstGeom>
          <a:noFill/>
          <a:ln/>
        </p:spPr>
        <p:txBody>
          <a:bodyPr wrap="square" lIns="0" tIns="0" rIns="0" bIns="0" rtlCol="0" anchor="ctr"/>
          <a:lstStyle/>
          <a:p>
            <a:pPr indent="0" marL="0">
              <a:buNone/>
            </a:pPr>
            <a:r>
              <a:rPr lang="en-US" sz="2400" b="1" dirty="0">
                <a:solidFill>
                  <a:srgbClr val="17C3B2"/>
                </a:solidFill>
                <a:latin typeface="Georgia" pitchFamily="34" charset="0"/>
                <a:ea typeface="Georgia" pitchFamily="34" charset="-122"/>
                <a:cs typeface="Georgia" pitchFamily="34" charset="-120"/>
              </a:rPr>
              <a:t>01</a:t>
            </a:r>
            <a:endParaRPr lang="en-US" sz="2400" dirty="0"/>
          </a:p>
        </p:txBody>
      </p:sp>
      <p:sp>
        <p:nvSpPr>
          <p:cNvPr id="8" name="Shape 6"/>
          <p:cNvSpPr/>
          <p:nvPr/>
        </p:nvSpPr>
        <p:spPr>
          <a:xfrm>
            <a:off x="5349240" y="1920240"/>
            <a:ext cx="640080" cy="640080"/>
          </a:xfrm>
          <a:prstGeom prst="ellipse">
            <a:avLst/>
          </a:prstGeom>
          <a:solidFill>
            <a:srgbClr val="0E7C7B"/>
          </a:solidFill>
          <a:ln w="12700">
            <a:solidFill>
              <a:srgbClr val="0E7C7B"/>
            </a:solidFill>
            <a:prstDash val="solid"/>
          </a:ln>
        </p:spPr>
      </p:sp>
      <p:pic>
        <p:nvPicPr>
          <p:cNvPr id="9" name="Image 0" descr="preencoded.png">    </p:cNvPr>
          <p:cNvPicPr>
            <a:picLocks noChangeAspect="1"/>
          </p:cNvPicPr>
          <p:nvPr/>
        </p:nvPicPr>
        <p:blipFill>
          <a:blip r:embed="rId1"/>
          <a:stretch>
            <a:fillRect/>
          </a:stretch>
        </p:blipFill>
        <p:spPr>
          <a:xfrm>
            <a:off x="5486400" y="2057400"/>
            <a:ext cx="365760" cy="365760"/>
          </a:xfrm>
          <a:prstGeom prst="rect">
            <a:avLst/>
          </a:prstGeom>
        </p:spPr>
      </p:pic>
      <p:sp>
        <p:nvSpPr>
          <p:cNvPr id="10" name="Text 7"/>
          <p:cNvSpPr/>
          <p:nvPr/>
        </p:nvSpPr>
        <p:spPr>
          <a:xfrm>
            <a:off x="1051560" y="2468880"/>
            <a:ext cx="4937760" cy="41148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Healthcare in Your Pocket</a:t>
            </a:r>
            <a:endParaRPr lang="en-US" sz="1800" dirty="0"/>
          </a:p>
        </p:txBody>
      </p:sp>
      <p:sp>
        <p:nvSpPr>
          <p:cNvPr id="11" name="Text 8"/>
          <p:cNvSpPr/>
          <p:nvPr/>
        </p:nvSpPr>
        <p:spPr>
          <a:xfrm>
            <a:off x="1051560" y="2926080"/>
            <a:ext cx="49377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Phone apps that combine your watch's heart rate, your sleep patterns, and your symptoms to give friendly, evidence-based advice — and tell you when to actually see a doctor.</a:t>
            </a:r>
            <a:endParaRPr lang="en-US" sz="1250" dirty="0"/>
          </a:p>
        </p:txBody>
      </p:sp>
      <p:sp>
        <p:nvSpPr>
          <p:cNvPr id="12" name="Shape 9"/>
          <p:cNvSpPr/>
          <p:nvPr/>
        </p:nvSpPr>
        <p:spPr>
          <a:xfrm>
            <a:off x="6446520" y="1691640"/>
            <a:ext cx="5486400" cy="2194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3" name="Text 10"/>
          <p:cNvSpPr/>
          <p:nvPr/>
        </p:nvSpPr>
        <p:spPr>
          <a:xfrm>
            <a:off x="6675120" y="1874520"/>
            <a:ext cx="914400" cy="457200"/>
          </a:xfrm>
          <a:prstGeom prst="rect">
            <a:avLst/>
          </a:prstGeom>
          <a:noFill/>
          <a:ln/>
        </p:spPr>
        <p:txBody>
          <a:bodyPr wrap="square" lIns="0" tIns="0" rIns="0" bIns="0" rtlCol="0" anchor="ctr"/>
          <a:lstStyle/>
          <a:p>
            <a:pPr indent="0" marL="0">
              <a:buNone/>
            </a:pPr>
            <a:r>
              <a:rPr lang="en-US" sz="2400" b="1" dirty="0">
                <a:solidFill>
                  <a:srgbClr val="17C3B2"/>
                </a:solidFill>
                <a:latin typeface="Georgia" pitchFamily="34" charset="0"/>
                <a:ea typeface="Georgia" pitchFamily="34" charset="-122"/>
                <a:cs typeface="Georgia" pitchFamily="34" charset="-120"/>
              </a:rPr>
              <a:t>02</a:t>
            </a:r>
            <a:endParaRPr lang="en-US" sz="2400" dirty="0"/>
          </a:p>
        </p:txBody>
      </p:sp>
      <p:sp>
        <p:nvSpPr>
          <p:cNvPr id="14" name="Shape 11"/>
          <p:cNvSpPr/>
          <p:nvPr/>
        </p:nvSpPr>
        <p:spPr>
          <a:xfrm>
            <a:off x="11018520" y="1920240"/>
            <a:ext cx="640080" cy="640080"/>
          </a:xfrm>
          <a:prstGeom prst="ellipse">
            <a:avLst/>
          </a:prstGeom>
          <a:solidFill>
            <a:srgbClr val="0E7C7B"/>
          </a:solidFill>
          <a:ln w="12700">
            <a:solidFill>
              <a:srgbClr val="0E7C7B"/>
            </a:solidFill>
            <a:prstDash val="solid"/>
          </a:ln>
        </p:spPr>
      </p:sp>
      <p:pic>
        <p:nvPicPr>
          <p:cNvPr id="15" name="Image 1" descr="preencoded.png">    </p:cNvPr>
          <p:cNvPicPr>
            <a:picLocks noChangeAspect="1"/>
          </p:cNvPicPr>
          <p:nvPr/>
        </p:nvPicPr>
        <p:blipFill>
          <a:blip r:embed="rId2"/>
          <a:stretch>
            <a:fillRect/>
          </a:stretch>
        </p:blipFill>
        <p:spPr>
          <a:xfrm>
            <a:off x="11155680" y="2057400"/>
            <a:ext cx="365760" cy="365760"/>
          </a:xfrm>
          <a:prstGeom prst="rect">
            <a:avLst/>
          </a:prstGeom>
        </p:spPr>
      </p:pic>
      <p:sp>
        <p:nvSpPr>
          <p:cNvPr id="16" name="Text 12"/>
          <p:cNvSpPr/>
          <p:nvPr/>
        </p:nvSpPr>
        <p:spPr>
          <a:xfrm>
            <a:off x="6720840" y="2468880"/>
            <a:ext cx="4937760" cy="41148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Faster Medicine Discovery</a:t>
            </a:r>
            <a:endParaRPr lang="en-US" sz="1800" dirty="0"/>
          </a:p>
        </p:txBody>
      </p:sp>
      <p:sp>
        <p:nvSpPr>
          <p:cNvPr id="17" name="Text 13"/>
          <p:cNvSpPr/>
          <p:nvPr/>
        </p:nvSpPr>
        <p:spPr>
          <a:xfrm>
            <a:off x="6720840" y="2926080"/>
            <a:ext cx="49377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AI is already helping find new treatments by exploring millions of possibilities in days instead of years. Diseases that had no cure are getting fresh hope.</a:t>
            </a:r>
            <a:endParaRPr lang="en-US" sz="1250" dirty="0"/>
          </a:p>
        </p:txBody>
      </p:sp>
      <p:sp>
        <p:nvSpPr>
          <p:cNvPr id="18" name="Shape 14"/>
          <p:cNvSpPr/>
          <p:nvPr/>
        </p:nvSpPr>
        <p:spPr>
          <a:xfrm>
            <a:off x="777240" y="4050792"/>
            <a:ext cx="5486400" cy="2194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9" name="Text 15"/>
          <p:cNvSpPr/>
          <p:nvPr/>
        </p:nvSpPr>
        <p:spPr>
          <a:xfrm>
            <a:off x="1005840" y="4233672"/>
            <a:ext cx="914400" cy="457200"/>
          </a:xfrm>
          <a:prstGeom prst="rect">
            <a:avLst/>
          </a:prstGeom>
          <a:noFill/>
          <a:ln/>
        </p:spPr>
        <p:txBody>
          <a:bodyPr wrap="square" lIns="0" tIns="0" rIns="0" bIns="0" rtlCol="0" anchor="ctr"/>
          <a:lstStyle/>
          <a:p>
            <a:pPr indent="0" marL="0">
              <a:buNone/>
            </a:pPr>
            <a:r>
              <a:rPr lang="en-US" sz="2400" b="1" dirty="0">
                <a:solidFill>
                  <a:srgbClr val="17C3B2"/>
                </a:solidFill>
                <a:latin typeface="Georgia" pitchFamily="34" charset="0"/>
                <a:ea typeface="Georgia" pitchFamily="34" charset="-122"/>
                <a:cs typeface="Georgia" pitchFamily="34" charset="-120"/>
              </a:rPr>
              <a:t>03</a:t>
            </a:r>
            <a:endParaRPr lang="en-US" sz="2400" dirty="0"/>
          </a:p>
        </p:txBody>
      </p:sp>
      <p:sp>
        <p:nvSpPr>
          <p:cNvPr id="20" name="Shape 16"/>
          <p:cNvSpPr/>
          <p:nvPr/>
        </p:nvSpPr>
        <p:spPr>
          <a:xfrm>
            <a:off x="5349240" y="4279392"/>
            <a:ext cx="640080" cy="640080"/>
          </a:xfrm>
          <a:prstGeom prst="ellipse">
            <a:avLst/>
          </a:prstGeom>
          <a:solidFill>
            <a:srgbClr val="0E7C7B"/>
          </a:solidFill>
          <a:ln w="12700">
            <a:solidFill>
              <a:srgbClr val="0E7C7B"/>
            </a:solidFill>
            <a:prstDash val="solid"/>
          </a:ln>
        </p:spPr>
      </p:sp>
      <p:pic>
        <p:nvPicPr>
          <p:cNvPr id="21" name="Image 2" descr="preencoded.png">    </p:cNvPr>
          <p:cNvPicPr>
            <a:picLocks noChangeAspect="1"/>
          </p:cNvPicPr>
          <p:nvPr/>
        </p:nvPicPr>
        <p:blipFill>
          <a:blip r:embed="rId3"/>
          <a:stretch>
            <a:fillRect/>
          </a:stretch>
        </p:blipFill>
        <p:spPr>
          <a:xfrm>
            <a:off x="5486400" y="4416552"/>
            <a:ext cx="365760" cy="365760"/>
          </a:xfrm>
          <a:prstGeom prst="rect">
            <a:avLst/>
          </a:prstGeom>
        </p:spPr>
      </p:pic>
      <p:sp>
        <p:nvSpPr>
          <p:cNvPr id="22" name="Text 17"/>
          <p:cNvSpPr/>
          <p:nvPr/>
        </p:nvSpPr>
        <p:spPr>
          <a:xfrm>
            <a:off x="1051560" y="4828032"/>
            <a:ext cx="4937760" cy="41148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Personalized Care</a:t>
            </a:r>
            <a:endParaRPr lang="en-US" sz="1800" dirty="0"/>
          </a:p>
        </p:txBody>
      </p:sp>
      <p:sp>
        <p:nvSpPr>
          <p:cNvPr id="23" name="Text 18"/>
          <p:cNvSpPr/>
          <p:nvPr/>
        </p:nvSpPr>
        <p:spPr>
          <a:xfrm>
            <a:off x="1051560" y="5285232"/>
            <a:ext cx="49377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Treatment plans tuned to your specific body, genes, and lifestyle — instead of one-size-fits-all. Better results and fewer side effects.</a:t>
            </a:r>
            <a:endParaRPr lang="en-US" sz="1250" dirty="0"/>
          </a:p>
        </p:txBody>
      </p:sp>
      <p:sp>
        <p:nvSpPr>
          <p:cNvPr id="24" name="Shape 19"/>
          <p:cNvSpPr/>
          <p:nvPr/>
        </p:nvSpPr>
        <p:spPr>
          <a:xfrm>
            <a:off x="6446520" y="4050792"/>
            <a:ext cx="5486400" cy="2194560"/>
          </a:xfrm>
          <a:prstGeom prst="rect">
            <a:avLst/>
          </a:prstGeom>
          <a:solidFill>
            <a:srgbClr val="F9FBFC"/>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5" name="Text 20"/>
          <p:cNvSpPr/>
          <p:nvPr/>
        </p:nvSpPr>
        <p:spPr>
          <a:xfrm>
            <a:off x="6675120" y="4233672"/>
            <a:ext cx="914400" cy="457200"/>
          </a:xfrm>
          <a:prstGeom prst="rect">
            <a:avLst/>
          </a:prstGeom>
          <a:noFill/>
          <a:ln/>
        </p:spPr>
        <p:txBody>
          <a:bodyPr wrap="square" lIns="0" tIns="0" rIns="0" bIns="0" rtlCol="0" anchor="ctr"/>
          <a:lstStyle/>
          <a:p>
            <a:pPr indent="0" marL="0">
              <a:buNone/>
            </a:pPr>
            <a:r>
              <a:rPr lang="en-US" sz="2400" b="1" dirty="0">
                <a:solidFill>
                  <a:srgbClr val="17C3B2"/>
                </a:solidFill>
                <a:latin typeface="Georgia" pitchFamily="34" charset="0"/>
                <a:ea typeface="Georgia" pitchFamily="34" charset="-122"/>
                <a:cs typeface="Georgia" pitchFamily="34" charset="-120"/>
              </a:rPr>
              <a:t>04</a:t>
            </a:r>
            <a:endParaRPr lang="en-US" sz="2400" dirty="0"/>
          </a:p>
        </p:txBody>
      </p:sp>
      <p:sp>
        <p:nvSpPr>
          <p:cNvPr id="26" name="Shape 21"/>
          <p:cNvSpPr/>
          <p:nvPr/>
        </p:nvSpPr>
        <p:spPr>
          <a:xfrm>
            <a:off x="11018520" y="4279392"/>
            <a:ext cx="640080" cy="640080"/>
          </a:xfrm>
          <a:prstGeom prst="ellipse">
            <a:avLst/>
          </a:prstGeom>
          <a:solidFill>
            <a:srgbClr val="0E7C7B"/>
          </a:solidFill>
          <a:ln w="12700">
            <a:solidFill>
              <a:srgbClr val="0E7C7B"/>
            </a:solidFill>
            <a:prstDash val="solid"/>
          </a:ln>
        </p:spPr>
      </p:sp>
      <p:pic>
        <p:nvPicPr>
          <p:cNvPr id="27" name="Image 3" descr="preencoded.png">    </p:cNvPr>
          <p:cNvPicPr>
            <a:picLocks noChangeAspect="1"/>
          </p:cNvPicPr>
          <p:nvPr/>
        </p:nvPicPr>
        <p:blipFill>
          <a:blip r:embed="rId4"/>
          <a:stretch>
            <a:fillRect/>
          </a:stretch>
        </p:blipFill>
        <p:spPr>
          <a:xfrm>
            <a:off x="11155680" y="4416552"/>
            <a:ext cx="365760" cy="365760"/>
          </a:xfrm>
          <a:prstGeom prst="rect">
            <a:avLst/>
          </a:prstGeom>
        </p:spPr>
      </p:pic>
      <p:sp>
        <p:nvSpPr>
          <p:cNvPr id="28" name="Text 22"/>
          <p:cNvSpPr/>
          <p:nvPr/>
        </p:nvSpPr>
        <p:spPr>
          <a:xfrm>
            <a:off x="6720840" y="4828032"/>
            <a:ext cx="4937760" cy="41148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Healthcare Without Borders</a:t>
            </a:r>
            <a:endParaRPr lang="en-US" sz="1800" dirty="0"/>
          </a:p>
        </p:txBody>
      </p:sp>
      <p:sp>
        <p:nvSpPr>
          <p:cNvPr id="29" name="Text 23"/>
          <p:cNvSpPr/>
          <p:nvPr/>
        </p:nvSpPr>
        <p:spPr>
          <a:xfrm>
            <a:off x="6720840" y="5285232"/>
            <a:ext cx="4937760" cy="86868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Smart systems will let a top specialist's expertise reach a clinic in a remote village — through a nurse holding a phone. Geography stops being destiny.</a:t>
            </a:r>
            <a:endParaRPr lang="en-US" sz="1250" dirty="0"/>
          </a:p>
        </p:txBody>
      </p:sp>
      <p:sp>
        <p:nvSpPr>
          <p:cNvPr id="30" name="Text 24"/>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1" name="Text 25"/>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16  /  20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457200" y="457200"/>
            <a:ext cx="274320" cy="274320"/>
          </a:xfrm>
          <a:prstGeom prst="rect">
            <a:avLst/>
          </a:prstGeom>
          <a:solidFill>
            <a:srgbClr val="FFB627"/>
          </a:solidFill>
          <a:ln w="12700">
            <a:solidFill>
              <a:srgbClr val="FFB627"/>
            </a:solidFill>
            <a:prstDash val="solid"/>
          </a:ln>
        </p:spPr>
      </p:sp>
      <p:sp>
        <p:nvSpPr>
          <p:cNvPr id="3" name="Text 1"/>
          <p:cNvSpPr/>
          <p:nvPr/>
        </p:nvSpPr>
        <p:spPr>
          <a:xfrm>
            <a:off x="777240" y="1371600"/>
            <a:ext cx="10058400" cy="365760"/>
          </a:xfrm>
          <a:prstGeom prst="rect">
            <a:avLst/>
          </a:prstGeom>
          <a:noFill/>
          <a:ln/>
        </p:spPr>
        <p:txBody>
          <a:bodyPr wrap="square" lIns="0" tIns="0" rIns="0" bIns="0" rtlCol="0" anchor="ctr"/>
          <a:lstStyle/>
          <a:p>
            <a:pPr indent="0" marL="0">
              <a:buNone/>
            </a:pPr>
            <a:r>
              <a:rPr lang="en-US" sz="1400" b="1" spc="800" kern="0" dirty="0">
                <a:solidFill>
                  <a:srgbClr val="FFB627"/>
                </a:solidFill>
                <a:latin typeface="Calibri" pitchFamily="34" charset="0"/>
                <a:ea typeface="Calibri" pitchFamily="34" charset="-122"/>
                <a:cs typeface="Calibri" pitchFamily="34" charset="-120"/>
              </a:rPr>
              <a:t>PART III  ·  OUR PROPOSAL</a:t>
            </a:r>
            <a:endParaRPr lang="en-US" sz="1400" dirty="0"/>
          </a:p>
        </p:txBody>
      </p:sp>
      <p:sp>
        <p:nvSpPr>
          <p:cNvPr id="4" name="Text 2"/>
          <p:cNvSpPr/>
          <p:nvPr/>
        </p:nvSpPr>
        <p:spPr>
          <a:xfrm>
            <a:off x="777240" y="1874520"/>
            <a:ext cx="10607040" cy="914400"/>
          </a:xfrm>
          <a:prstGeom prst="rect">
            <a:avLst/>
          </a:prstGeom>
          <a:noFill/>
          <a:ln/>
        </p:spPr>
        <p:txBody>
          <a:bodyPr wrap="square" lIns="0" tIns="0" rIns="0" bIns="0"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Imagine a Single Place</a:t>
            </a:r>
            <a:endParaRPr lang="en-US" sz="5000" dirty="0"/>
          </a:p>
        </p:txBody>
      </p:sp>
      <p:sp>
        <p:nvSpPr>
          <p:cNvPr id="5" name="Text 3"/>
          <p:cNvSpPr/>
          <p:nvPr/>
        </p:nvSpPr>
        <p:spPr>
          <a:xfrm>
            <a:off x="777240" y="2788920"/>
            <a:ext cx="10607040" cy="640080"/>
          </a:xfrm>
          <a:prstGeom prst="rect">
            <a:avLst/>
          </a:prstGeom>
          <a:noFill/>
          <a:ln/>
        </p:spPr>
        <p:txBody>
          <a:bodyPr wrap="square" lIns="0" tIns="0" rIns="0" bIns="0" rtlCol="0" anchor="ctr"/>
          <a:lstStyle/>
          <a:p>
            <a:pPr indent="0" marL="0">
              <a:buNone/>
            </a:pPr>
            <a:r>
              <a:rPr lang="en-US" sz="2800" i="1" dirty="0">
                <a:solidFill>
                  <a:srgbClr val="17C3B2"/>
                </a:solidFill>
                <a:latin typeface="Georgia" pitchFamily="34" charset="0"/>
                <a:ea typeface="Georgia" pitchFamily="34" charset="-122"/>
                <a:cs typeface="Georgia" pitchFamily="34" charset="-120"/>
              </a:rPr>
              <a:t>Where Smart Healthcare Comes Together</a:t>
            </a:r>
            <a:endParaRPr lang="en-US" sz="2800" dirty="0"/>
          </a:p>
        </p:txBody>
      </p:sp>
      <p:sp>
        <p:nvSpPr>
          <p:cNvPr id="6" name="Shape 4"/>
          <p:cNvSpPr/>
          <p:nvPr/>
        </p:nvSpPr>
        <p:spPr>
          <a:xfrm>
            <a:off x="777240" y="3611880"/>
            <a:ext cx="914400" cy="45720"/>
          </a:xfrm>
          <a:prstGeom prst="rect">
            <a:avLst/>
          </a:prstGeom>
          <a:solidFill>
            <a:srgbClr val="FFB627"/>
          </a:solidFill>
          <a:ln w="12700">
            <a:solidFill>
              <a:srgbClr val="FFB627"/>
            </a:solidFill>
            <a:prstDash val="solid"/>
          </a:ln>
        </p:spPr>
      </p:sp>
      <p:sp>
        <p:nvSpPr>
          <p:cNvPr id="7" name="Text 5"/>
          <p:cNvSpPr/>
          <p:nvPr/>
        </p:nvSpPr>
        <p:spPr>
          <a:xfrm>
            <a:off x="777240" y="3840480"/>
            <a:ext cx="10607040" cy="1371600"/>
          </a:xfrm>
          <a:prstGeom prst="rect">
            <a:avLst/>
          </a:prstGeom>
          <a:noFill/>
          <a:ln/>
        </p:spPr>
        <p:txBody>
          <a:bodyPr wrap="square" rtlCol="0" anchor="t"/>
          <a:lstStyle/>
          <a:p>
            <a:pPr indent="0" marL="0">
              <a:buNone/>
            </a:pPr>
            <a:r>
              <a:rPr lang="en-US" sz="1700" i="1" dirty="0">
                <a:solidFill>
                  <a:srgbClr val="CBD5E1"/>
                </a:solidFill>
                <a:latin typeface="Calibri" pitchFamily="34" charset="0"/>
                <a:ea typeface="Calibri" pitchFamily="34" charset="-122"/>
                <a:cs typeface="Calibri" pitchFamily="34" charset="-120"/>
              </a:rPr>
              <a:t>A friendly platform for patients, doctors, and clinics — bringing together AI that sees, AI that reads, and AI that predicts. Easy to use. Trustworthy. Built around the people it serves.</a:t>
            </a:r>
            <a:endParaRPr lang="en-US" sz="1700" dirty="0"/>
          </a:p>
        </p:txBody>
      </p:sp>
      <p:sp>
        <p:nvSpPr>
          <p:cNvPr id="8" name="Shape 6"/>
          <p:cNvSpPr/>
          <p:nvPr/>
        </p:nvSpPr>
        <p:spPr>
          <a:xfrm>
            <a:off x="777240" y="5440680"/>
            <a:ext cx="2606040" cy="640080"/>
          </a:xfrm>
          <a:prstGeom prst="rect">
            <a:avLst/>
          </a:prstGeom>
          <a:solidFill>
            <a:srgbClr val="1E3A5F"/>
          </a:solidFill>
          <a:ln w="12700">
            <a:solidFill>
              <a:srgbClr val="17C3B2"/>
            </a:solidFill>
            <a:prstDash val="solid"/>
          </a:ln>
        </p:spPr>
      </p:sp>
      <p:sp>
        <p:nvSpPr>
          <p:cNvPr id="9" name="Text 7"/>
          <p:cNvSpPr/>
          <p:nvPr/>
        </p:nvSpPr>
        <p:spPr>
          <a:xfrm>
            <a:off x="777240" y="5440680"/>
            <a:ext cx="2606040" cy="640080"/>
          </a:xfrm>
          <a:prstGeom prst="rect">
            <a:avLst/>
          </a:prstGeom>
          <a:noFill/>
          <a:ln/>
        </p:spPr>
        <p:txBody>
          <a:bodyPr wrap="square" lIns="0" tIns="0" rIns="0" bIns="0" rtlCol="0" anchor="ctr"/>
          <a:lstStyle/>
          <a:p>
            <a:pPr algn="ctr" indent="0" marL="0">
              <a:buNone/>
            </a:pPr>
            <a:r>
              <a:rPr lang="en-US" sz="1300" b="1" dirty="0">
                <a:solidFill>
                  <a:srgbClr val="17C3B2"/>
                </a:solidFill>
                <a:latin typeface="Calibri" pitchFamily="34" charset="0"/>
                <a:ea typeface="Calibri" pitchFamily="34" charset="-122"/>
                <a:cs typeface="Calibri" pitchFamily="34" charset="-120"/>
              </a:rPr>
              <a:t>Patient Portal</a:t>
            </a:r>
            <a:endParaRPr lang="en-US" sz="1300" dirty="0"/>
          </a:p>
        </p:txBody>
      </p:sp>
      <p:sp>
        <p:nvSpPr>
          <p:cNvPr id="10" name="Shape 8"/>
          <p:cNvSpPr/>
          <p:nvPr/>
        </p:nvSpPr>
        <p:spPr>
          <a:xfrm>
            <a:off x="3566160" y="5440680"/>
            <a:ext cx="2606040" cy="640080"/>
          </a:xfrm>
          <a:prstGeom prst="rect">
            <a:avLst/>
          </a:prstGeom>
          <a:solidFill>
            <a:srgbClr val="1E3A5F"/>
          </a:solidFill>
          <a:ln w="12700">
            <a:solidFill>
              <a:srgbClr val="17C3B2"/>
            </a:solidFill>
            <a:prstDash val="solid"/>
          </a:ln>
        </p:spPr>
      </p:sp>
      <p:sp>
        <p:nvSpPr>
          <p:cNvPr id="11" name="Text 9"/>
          <p:cNvSpPr/>
          <p:nvPr/>
        </p:nvSpPr>
        <p:spPr>
          <a:xfrm>
            <a:off x="3566160" y="5440680"/>
            <a:ext cx="2606040" cy="640080"/>
          </a:xfrm>
          <a:prstGeom prst="rect">
            <a:avLst/>
          </a:prstGeom>
          <a:noFill/>
          <a:ln/>
        </p:spPr>
        <p:txBody>
          <a:bodyPr wrap="square" lIns="0" tIns="0" rIns="0" bIns="0" rtlCol="0" anchor="ctr"/>
          <a:lstStyle/>
          <a:p>
            <a:pPr algn="ctr" indent="0" marL="0">
              <a:buNone/>
            </a:pPr>
            <a:r>
              <a:rPr lang="en-US" sz="1300" b="1" dirty="0">
                <a:solidFill>
                  <a:srgbClr val="17C3B2"/>
                </a:solidFill>
                <a:latin typeface="Calibri" pitchFamily="34" charset="0"/>
                <a:ea typeface="Calibri" pitchFamily="34" charset="-122"/>
                <a:cs typeface="Calibri" pitchFamily="34" charset="-120"/>
              </a:rPr>
              <a:t>Smart Diagnosis</a:t>
            </a:r>
            <a:endParaRPr lang="en-US" sz="1300" dirty="0"/>
          </a:p>
        </p:txBody>
      </p:sp>
      <p:sp>
        <p:nvSpPr>
          <p:cNvPr id="12" name="Shape 10"/>
          <p:cNvSpPr/>
          <p:nvPr/>
        </p:nvSpPr>
        <p:spPr>
          <a:xfrm>
            <a:off x="6355080" y="5440680"/>
            <a:ext cx="2606040" cy="640080"/>
          </a:xfrm>
          <a:prstGeom prst="rect">
            <a:avLst/>
          </a:prstGeom>
          <a:solidFill>
            <a:srgbClr val="1E3A5F"/>
          </a:solidFill>
          <a:ln w="12700">
            <a:solidFill>
              <a:srgbClr val="17C3B2"/>
            </a:solidFill>
            <a:prstDash val="solid"/>
          </a:ln>
        </p:spPr>
      </p:sp>
      <p:sp>
        <p:nvSpPr>
          <p:cNvPr id="13" name="Text 11"/>
          <p:cNvSpPr/>
          <p:nvPr/>
        </p:nvSpPr>
        <p:spPr>
          <a:xfrm>
            <a:off x="6355080" y="5440680"/>
            <a:ext cx="2606040" cy="640080"/>
          </a:xfrm>
          <a:prstGeom prst="rect">
            <a:avLst/>
          </a:prstGeom>
          <a:noFill/>
          <a:ln/>
        </p:spPr>
        <p:txBody>
          <a:bodyPr wrap="square" lIns="0" tIns="0" rIns="0" bIns="0" rtlCol="0" anchor="ctr"/>
          <a:lstStyle/>
          <a:p>
            <a:pPr algn="ctr" indent="0" marL="0">
              <a:buNone/>
            </a:pPr>
            <a:r>
              <a:rPr lang="en-US" sz="1300" b="1" dirty="0">
                <a:solidFill>
                  <a:srgbClr val="17C3B2"/>
                </a:solidFill>
                <a:latin typeface="Calibri" pitchFamily="34" charset="0"/>
                <a:ea typeface="Calibri" pitchFamily="34" charset="-122"/>
                <a:cs typeface="Calibri" pitchFamily="34" charset="-120"/>
              </a:rPr>
              <a:t>Secure Records</a:t>
            </a:r>
            <a:endParaRPr lang="en-US" sz="1300" dirty="0"/>
          </a:p>
        </p:txBody>
      </p:sp>
      <p:sp>
        <p:nvSpPr>
          <p:cNvPr id="14" name="Shape 12"/>
          <p:cNvSpPr/>
          <p:nvPr/>
        </p:nvSpPr>
        <p:spPr>
          <a:xfrm>
            <a:off x="9144000" y="5440680"/>
            <a:ext cx="2606040" cy="640080"/>
          </a:xfrm>
          <a:prstGeom prst="rect">
            <a:avLst/>
          </a:prstGeom>
          <a:solidFill>
            <a:srgbClr val="1E3A5F"/>
          </a:solidFill>
          <a:ln w="12700">
            <a:solidFill>
              <a:srgbClr val="17C3B2"/>
            </a:solidFill>
            <a:prstDash val="solid"/>
          </a:ln>
        </p:spPr>
      </p:sp>
      <p:sp>
        <p:nvSpPr>
          <p:cNvPr id="15" name="Text 13"/>
          <p:cNvSpPr/>
          <p:nvPr/>
        </p:nvSpPr>
        <p:spPr>
          <a:xfrm>
            <a:off x="9144000" y="5440680"/>
            <a:ext cx="2606040" cy="640080"/>
          </a:xfrm>
          <a:prstGeom prst="rect">
            <a:avLst/>
          </a:prstGeom>
          <a:noFill/>
          <a:ln/>
        </p:spPr>
        <p:txBody>
          <a:bodyPr wrap="square" lIns="0" tIns="0" rIns="0" bIns="0" rtlCol="0" anchor="ctr"/>
          <a:lstStyle/>
          <a:p>
            <a:pPr algn="ctr" indent="0" marL="0">
              <a:buNone/>
            </a:pPr>
            <a:r>
              <a:rPr lang="en-US" sz="1300" b="1" dirty="0">
                <a:solidFill>
                  <a:srgbClr val="17C3B2"/>
                </a:solidFill>
                <a:latin typeface="Calibri" pitchFamily="34" charset="0"/>
                <a:ea typeface="Calibri" pitchFamily="34" charset="-122"/>
                <a:cs typeface="Calibri" pitchFamily="34" charset="-120"/>
              </a:rPr>
              <a:t>Doctor Dashboard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What the Platform Will Offer</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Six everyday features powered by smart technology</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691640"/>
            <a:ext cx="365760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7" name="Shape 5"/>
          <p:cNvSpPr/>
          <p:nvPr/>
        </p:nvSpPr>
        <p:spPr>
          <a:xfrm>
            <a:off x="777240" y="1691640"/>
            <a:ext cx="914400" cy="2194560"/>
          </a:xfrm>
          <a:prstGeom prst="rect">
            <a:avLst/>
          </a:prstGeom>
          <a:solidFill>
            <a:srgbClr val="0E7C7B"/>
          </a:solidFill>
          <a:ln w="12700">
            <a:solidFill>
              <a:srgbClr val="0E7C7B"/>
            </a:solidFill>
            <a:prstDash val="solid"/>
          </a:ln>
        </p:spPr>
      </p:sp>
      <p:pic>
        <p:nvPicPr>
          <p:cNvPr id="8" name="Image 0" descr="preencoded.png">    </p:cNvPr>
          <p:cNvPicPr>
            <a:picLocks noChangeAspect="1"/>
          </p:cNvPicPr>
          <p:nvPr/>
        </p:nvPicPr>
        <p:blipFill>
          <a:blip r:embed="rId1"/>
          <a:stretch>
            <a:fillRect/>
          </a:stretch>
        </p:blipFill>
        <p:spPr>
          <a:xfrm>
            <a:off x="1051560" y="2606040"/>
            <a:ext cx="365760" cy="365760"/>
          </a:xfrm>
          <a:prstGeom prst="rect">
            <a:avLst/>
          </a:prstGeom>
        </p:spPr>
      </p:pic>
      <p:sp>
        <p:nvSpPr>
          <p:cNvPr id="9" name="Text 6"/>
          <p:cNvSpPr/>
          <p:nvPr/>
        </p:nvSpPr>
        <p:spPr>
          <a:xfrm>
            <a:off x="1828800" y="1965960"/>
            <a:ext cx="2514600" cy="548640"/>
          </a:xfrm>
          <a:prstGeom prst="rect">
            <a:avLst/>
          </a:prstGeom>
          <a:noFill/>
          <a:ln/>
        </p:spPr>
        <p:txBody>
          <a:bodyPr wrap="square" lIns="0" tIns="0" rIns="0" bIns="0" rtlCol="0" anchor="t"/>
          <a:lstStyle/>
          <a:p>
            <a:pPr indent="0" marL="0">
              <a:buNone/>
            </a:pPr>
            <a:r>
              <a:rPr lang="en-US" sz="1600" b="1" dirty="0">
                <a:solidFill>
                  <a:srgbClr val="0B2545"/>
                </a:solidFill>
                <a:latin typeface="Georgia" pitchFamily="34" charset="0"/>
                <a:ea typeface="Georgia" pitchFamily="34" charset="-122"/>
                <a:cs typeface="Georgia" pitchFamily="34" charset="-120"/>
              </a:rPr>
              <a:t>Easy Patient Sign-up</a:t>
            </a:r>
            <a:endParaRPr lang="en-US" sz="1600" dirty="0"/>
          </a:p>
        </p:txBody>
      </p:sp>
      <p:sp>
        <p:nvSpPr>
          <p:cNvPr id="10" name="Text 7"/>
          <p:cNvSpPr/>
          <p:nvPr/>
        </p:nvSpPr>
        <p:spPr>
          <a:xfrm>
            <a:off x="1828800" y="2560320"/>
            <a:ext cx="2514600" cy="123444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Simple, friendly account creation with health-history tracking.</a:t>
            </a:r>
            <a:endParaRPr lang="en-US" sz="1250" dirty="0"/>
          </a:p>
        </p:txBody>
      </p:sp>
      <p:sp>
        <p:nvSpPr>
          <p:cNvPr id="11" name="Shape 8"/>
          <p:cNvSpPr/>
          <p:nvPr/>
        </p:nvSpPr>
        <p:spPr>
          <a:xfrm>
            <a:off x="4599432" y="1691640"/>
            <a:ext cx="365760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2" name="Shape 9"/>
          <p:cNvSpPr/>
          <p:nvPr/>
        </p:nvSpPr>
        <p:spPr>
          <a:xfrm>
            <a:off x="4599432" y="1691640"/>
            <a:ext cx="914400" cy="2194560"/>
          </a:xfrm>
          <a:prstGeom prst="rect">
            <a:avLst/>
          </a:prstGeom>
          <a:solidFill>
            <a:srgbClr val="0E7C7B"/>
          </a:solidFill>
          <a:ln w="12700">
            <a:solidFill>
              <a:srgbClr val="0E7C7B"/>
            </a:solidFill>
            <a:prstDash val="solid"/>
          </a:ln>
        </p:spPr>
      </p:sp>
      <p:pic>
        <p:nvPicPr>
          <p:cNvPr id="13" name="Image 1" descr="preencoded.png">    </p:cNvPr>
          <p:cNvPicPr>
            <a:picLocks noChangeAspect="1"/>
          </p:cNvPicPr>
          <p:nvPr/>
        </p:nvPicPr>
        <p:blipFill>
          <a:blip r:embed="rId2"/>
          <a:stretch>
            <a:fillRect/>
          </a:stretch>
        </p:blipFill>
        <p:spPr>
          <a:xfrm>
            <a:off x="4873752" y="2606040"/>
            <a:ext cx="365760" cy="365760"/>
          </a:xfrm>
          <a:prstGeom prst="rect">
            <a:avLst/>
          </a:prstGeom>
        </p:spPr>
      </p:pic>
      <p:sp>
        <p:nvSpPr>
          <p:cNvPr id="14" name="Text 10"/>
          <p:cNvSpPr/>
          <p:nvPr/>
        </p:nvSpPr>
        <p:spPr>
          <a:xfrm>
            <a:off x="5650992" y="1965960"/>
            <a:ext cx="2514600" cy="548640"/>
          </a:xfrm>
          <a:prstGeom prst="rect">
            <a:avLst/>
          </a:prstGeom>
          <a:noFill/>
          <a:ln/>
        </p:spPr>
        <p:txBody>
          <a:bodyPr wrap="square" lIns="0" tIns="0" rIns="0" bIns="0" rtlCol="0" anchor="t"/>
          <a:lstStyle/>
          <a:p>
            <a:pPr indent="0" marL="0">
              <a:buNone/>
            </a:pPr>
            <a:r>
              <a:rPr lang="en-US" sz="1600" b="1" dirty="0">
                <a:solidFill>
                  <a:srgbClr val="0B2545"/>
                </a:solidFill>
                <a:latin typeface="Georgia" pitchFamily="34" charset="0"/>
                <a:ea typeface="Georgia" pitchFamily="34" charset="-122"/>
                <a:cs typeface="Georgia" pitchFamily="34" charset="-120"/>
              </a:rPr>
              <a:t>Photo &amp; Scan Analysis</a:t>
            </a:r>
            <a:endParaRPr lang="en-US" sz="1600" dirty="0"/>
          </a:p>
        </p:txBody>
      </p:sp>
      <p:sp>
        <p:nvSpPr>
          <p:cNvPr id="15" name="Text 11"/>
          <p:cNvSpPr/>
          <p:nvPr/>
        </p:nvSpPr>
        <p:spPr>
          <a:xfrm>
            <a:off x="5650992" y="2560320"/>
            <a:ext cx="2514600" cy="123444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Upload an X-ray, eye photo, or skin image and get a quick second opinion.</a:t>
            </a:r>
            <a:endParaRPr lang="en-US" sz="1250" dirty="0"/>
          </a:p>
        </p:txBody>
      </p:sp>
      <p:sp>
        <p:nvSpPr>
          <p:cNvPr id="16" name="Shape 12"/>
          <p:cNvSpPr/>
          <p:nvPr/>
        </p:nvSpPr>
        <p:spPr>
          <a:xfrm>
            <a:off x="8421624" y="1691640"/>
            <a:ext cx="365760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17" name="Shape 13"/>
          <p:cNvSpPr/>
          <p:nvPr/>
        </p:nvSpPr>
        <p:spPr>
          <a:xfrm>
            <a:off x="8421624" y="1691640"/>
            <a:ext cx="914400" cy="2194560"/>
          </a:xfrm>
          <a:prstGeom prst="rect">
            <a:avLst/>
          </a:prstGeom>
          <a:solidFill>
            <a:srgbClr val="0E7C7B"/>
          </a:solidFill>
          <a:ln w="12700">
            <a:solidFill>
              <a:srgbClr val="0E7C7B"/>
            </a:solidFill>
            <a:prstDash val="solid"/>
          </a:ln>
        </p:spPr>
      </p:sp>
      <p:pic>
        <p:nvPicPr>
          <p:cNvPr id="18" name="Image 2" descr="preencoded.png">    </p:cNvPr>
          <p:cNvPicPr>
            <a:picLocks noChangeAspect="1"/>
          </p:cNvPicPr>
          <p:nvPr/>
        </p:nvPicPr>
        <p:blipFill>
          <a:blip r:embed="rId3"/>
          <a:stretch>
            <a:fillRect/>
          </a:stretch>
        </p:blipFill>
        <p:spPr>
          <a:xfrm>
            <a:off x="8695944" y="2606040"/>
            <a:ext cx="365760" cy="365760"/>
          </a:xfrm>
          <a:prstGeom prst="rect">
            <a:avLst/>
          </a:prstGeom>
        </p:spPr>
      </p:pic>
      <p:sp>
        <p:nvSpPr>
          <p:cNvPr id="19" name="Text 14"/>
          <p:cNvSpPr/>
          <p:nvPr/>
        </p:nvSpPr>
        <p:spPr>
          <a:xfrm>
            <a:off x="9473184" y="1965960"/>
            <a:ext cx="2514600" cy="548640"/>
          </a:xfrm>
          <a:prstGeom prst="rect">
            <a:avLst/>
          </a:prstGeom>
          <a:noFill/>
          <a:ln/>
        </p:spPr>
        <p:txBody>
          <a:bodyPr wrap="square" lIns="0" tIns="0" rIns="0" bIns="0" rtlCol="0" anchor="t"/>
          <a:lstStyle/>
          <a:p>
            <a:pPr indent="0" marL="0">
              <a:buNone/>
            </a:pPr>
            <a:r>
              <a:rPr lang="en-US" sz="1600" b="1" dirty="0">
                <a:solidFill>
                  <a:srgbClr val="0B2545"/>
                </a:solidFill>
                <a:latin typeface="Georgia" pitchFamily="34" charset="0"/>
                <a:ea typeface="Georgia" pitchFamily="34" charset="-122"/>
                <a:cs typeface="Georgia" pitchFamily="34" charset="-120"/>
              </a:rPr>
              <a:t>Symptom Conversation</a:t>
            </a:r>
            <a:endParaRPr lang="en-US" sz="1600" dirty="0"/>
          </a:p>
        </p:txBody>
      </p:sp>
      <p:sp>
        <p:nvSpPr>
          <p:cNvPr id="20" name="Text 15"/>
          <p:cNvSpPr/>
          <p:nvPr/>
        </p:nvSpPr>
        <p:spPr>
          <a:xfrm>
            <a:off x="9473184" y="2560320"/>
            <a:ext cx="2514600" cy="123444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Chat with a smart assistant that helps decide whether to visit a doctor.</a:t>
            </a:r>
            <a:endParaRPr lang="en-US" sz="1250" dirty="0"/>
          </a:p>
        </p:txBody>
      </p:sp>
      <p:sp>
        <p:nvSpPr>
          <p:cNvPr id="21" name="Shape 16"/>
          <p:cNvSpPr/>
          <p:nvPr/>
        </p:nvSpPr>
        <p:spPr>
          <a:xfrm>
            <a:off x="777240" y="4050792"/>
            <a:ext cx="365760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2" name="Shape 17"/>
          <p:cNvSpPr/>
          <p:nvPr/>
        </p:nvSpPr>
        <p:spPr>
          <a:xfrm>
            <a:off x="777240" y="4050792"/>
            <a:ext cx="914400" cy="2194560"/>
          </a:xfrm>
          <a:prstGeom prst="rect">
            <a:avLst/>
          </a:prstGeom>
          <a:solidFill>
            <a:srgbClr val="0E7C7B"/>
          </a:solidFill>
          <a:ln w="12700">
            <a:solidFill>
              <a:srgbClr val="0E7C7B"/>
            </a:solidFill>
            <a:prstDash val="solid"/>
          </a:ln>
        </p:spPr>
      </p:sp>
      <p:pic>
        <p:nvPicPr>
          <p:cNvPr id="23" name="Image 3" descr="preencoded.png">    </p:cNvPr>
          <p:cNvPicPr>
            <a:picLocks noChangeAspect="1"/>
          </p:cNvPicPr>
          <p:nvPr/>
        </p:nvPicPr>
        <p:blipFill>
          <a:blip r:embed="rId4"/>
          <a:stretch>
            <a:fillRect/>
          </a:stretch>
        </p:blipFill>
        <p:spPr>
          <a:xfrm>
            <a:off x="1051560" y="4965192"/>
            <a:ext cx="365760" cy="365760"/>
          </a:xfrm>
          <a:prstGeom prst="rect">
            <a:avLst/>
          </a:prstGeom>
        </p:spPr>
      </p:pic>
      <p:sp>
        <p:nvSpPr>
          <p:cNvPr id="24" name="Text 18"/>
          <p:cNvSpPr/>
          <p:nvPr/>
        </p:nvSpPr>
        <p:spPr>
          <a:xfrm>
            <a:off x="1828800" y="4325112"/>
            <a:ext cx="2514600" cy="548640"/>
          </a:xfrm>
          <a:prstGeom prst="rect">
            <a:avLst/>
          </a:prstGeom>
          <a:noFill/>
          <a:ln/>
        </p:spPr>
        <p:txBody>
          <a:bodyPr wrap="square" lIns="0" tIns="0" rIns="0" bIns="0" rtlCol="0" anchor="t"/>
          <a:lstStyle/>
          <a:p>
            <a:pPr indent="0" marL="0">
              <a:buNone/>
            </a:pPr>
            <a:r>
              <a:rPr lang="en-US" sz="1600" b="1" dirty="0">
                <a:solidFill>
                  <a:srgbClr val="0B2545"/>
                </a:solidFill>
                <a:latin typeface="Georgia" pitchFamily="34" charset="0"/>
                <a:ea typeface="Georgia" pitchFamily="34" charset="-122"/>
                <a:cs typeface="Georgia" pitchFamily="34" charset="-120"/>
              </a:rPr>
              <a:t>Appointment Booking</a:t>
            </a:r>
            <a:endParaRPr lang="en-US" sz="1600" dirty="0"/>
          </a:p>
        </p:txBody>
      </p:sp>
      <p:sp>
        <p:nvSpPr>
          <p:cNvPr id="25" name="Text 19"/>
          <p:cNvSpPr/>
          <p:nvPr/>
        </p:nvSpPr>
        <p:spPr>
          <a:xfrm>
            <a:off x="1828800" y="4919472"/>
            <a:ext cx="2514600" cy="123444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Find the right specialist nearby and book in just a few taps.</a:t>
            </a:r>
            <a:endParaRPr lang="en-US" sz="1250" dirty="0"/>
          </a:p>
        </p:txBody>
      </p:sp>
      <p:sp>
        <p:nvSpPr>
          <p:cNvPr id="26" name="Shape 20"/>
          <p:cNvSpPr/>
          <p:nvPr/>
        </p:nvSpPr>
        <p:spPr>
          <a:xfrm>
            <a:off x="4599432" y="4050792"/>
            <a:ext cx="365760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27" name="Shape 21"/>
          <p:cNvSpPr/>
          <p:nvPr/>
        </p:nvSpPr>
        <p:spPr>
          <a:xfrm>
            <a:off x="4599432" y="4050792"/>
            <a:ext cx="914400" cy="2194560"/>
          </a:xfrm>
          <a:prstGeom prst="rect">
            <a:avLst/>
          </a:prstGeom>
          <a:solidFill>
            <a:srgbClr val="0E7C7B"/>
          </a:solidFill>
          <a:ln w="12700">
            <a:solidFill>
              <a:srgbClr val="0E7C7B"/>
            </a:solidFill>
            <a:prstDash val="solid"/>
          </a:ln>
        </p:spPr>
      </p:sp>
      <p:pic>
        <p:nvPicPr>
          <p:cNvPr id="28" name="Image 4" descr="preencoded.png">    </p:cNvPr>
          <p:cNvPicPr>
            <a:picLocks noChangeAspect="1"/>
          </p:cNvPicPr>
          <p:nvPr/>
        </p:nvPicPr>
        <p:blipFill>
          <a:blip r:embed="rId5"/>
          <a:stretch>
            <a:fillRect/>
          </a:stretch>
        </p:blipFill>
        <p:spPr>
          <a:xfrm>
            <a:off x="4873752" y="4965192"/>
            <a:ext cx="365760" cy="365760"/>
          </a:xfrm>
          <a:prstGeom prst="rect">
            <a:avLst/>
          </a:prstGeom>
        </p:spPr>
      </p:pic>
      <p:sp>
        <p:nvSpPr>
          <p:cNvPr id="29" name="Text 22"/>
          <p:cNvSpPr/>
          <p:nvPr/>
        </p:nvSpPr>
        <p:spPr>
          <a:xfrm>
            <a:off x="5650992" y="4325112"/>
            <a:ext cx="2514600" cy="548640"/>
          </a:xfrm>
          <a:prstGeom prst="rect">
            <a:avLst/>
          </a:prstGeom>
          <a:noFill/>
          <a:ln/>
        </p:spPr>
        <p:txBody>
          <a:bodyPr wrap="square" lIns="0" tIns="0" rIns="0" bIns="0" rtlCol="0" anchor="t"/>
          <a:lstStyle/>
          <a:p>
            <a:pPr indent="0" marL="0">
              <a:buNone/>
            </a:pPr>
            <a:r>
              <a:rPr lang="en-US" sz="1600" b="1" dirty="0">
                <a:solidFill>
                  <a:srgbClr val="0B2545"/>
                </a:solidFill>
                <a:latin typeface="Georgia" pitchFamily="34" charset="0"/>
                <a:ea typeface="Georgia" pitchFamily="34" charset="-122"/>
                <a:cs typeface="Georgia" pitchFamily="34" charset="-120"/>
              </a:rPr>
              <a:t>Personal Health Vault</a:t>
            </a:r>
            <a:endParaRPr lang="en-US" sz="1600" dirty="0"/>
          </a:p>
        </p:txBody>
      </p:sp>
      <p:sp>
        <p:nvSpPr>
          <p:cNvPr id="30" name="Text 23"/>
          <p:cNvSpPr/>
          <p:nvPr/>
        </p:nvSpPr>
        <p:spPr>
          <a:xfrm>
            <a:off x="5650992" y="4919472"/>
            <a:ext cx="2514600" cy="123444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All your records, prescriptions, and reports — safe, private, in one place.</a:t>
            </a:r>
            <a:endParaRPr lang="en-US" sz="1250" dirty="0"/>
          </a:p>
        </p:txBody>
      </p:sp>
      <p:sp>
        <p:nvSpPr>
          <p:cNvPr id="31" name="Shape 24"/>
          <p:cNvSpPr/>
          <p:nvPr/>
        </p:nvSpPr>
        <p:spPr>
          <a:xfrm>
            <a:off x="8421624" y="4050792"/>
            <a:ext cx="3657600" cy="2194560"/>
          </a:xfrm>
          <a:prstGeom prst="rect">
            <a:avLst/>
          </a:prstGeom>
          <a:solidFill>
            <a:srgbClr val="FFFFFF"/>
          </a:solidFill>
          <a:ln w="12700">
            <a:solidFill>
              <a:srgbClr val="E1E8ED"/>
            </a:solidFill>
            <a:prstDash val="solid"/>
          </a:ln>
          <a:effectLst>
            <a:outerShdw sx="100000" sy="100000" kx="0" ky="0" algn="bl" rotWithShape="0" blurRad="127000" dist="38100" dir="5400000">
              <a:srgbClr val="000000">
                <a:alpha val="8000"/>
              </a:srgbClr>
            </a:outerShdw>
          </a:effectLst>
        </p:spPr>
      </p:sp>
      <p:sp>
        <p:nvSpPr>
          <p:cNvPr id="32" name="Shape 25"/>
          <p:cNvSpPr/>
          <p:nvPr/>
        </p:nvSpPr>
        <p:spPr>
          <a:xfrm>
            <a:off x="8421624" y="4050792"/>
            <a:ext cx="914400" cy="2194560"/>
          </a:xfrm>
          <a:prstGeom prst="rect">
            <a:avLst/>
          </a:prstGeom>
          <a:solidFill>
            <a:srgbClr val="0E7C7B"/>
          </a:solidFill>
          <a:ln w="12700">
            <a:solidFill>
              <a:srgbClr val="0E7C7B"/>
            </a:solidFill>
            <a:prstDash val="solid"/>
          </a:ln>
        </p:spPr>
      </p:sp>
      <p:pic>
        <p:nvPicPr>
          <p:cNvPr id="33" name="Image 5" descr="preencoded.png">    </p:cNvPr>
          <p:cNvPicPr>
            <a:picLocks noChangeAspect="1"/>
          </p:cNvPicPr>
          <p:nvPr/>
        </p:nvPicPr>
        <p:blipFill>
          <a:blip r:embed="rId6"/>
          <a:stretch>
            <a:fillRect/>
          </a:stretch>
        </p:blipFill>
        <p:spPr>
          <a:xfrm>
            <a:off x="8695944" y="4965192"/>
            <a:ext cx="365760" cy="365760"/>
          </a:xfrm>
          <a:prstGeom prst="rect">
            <a:avLst/>
          </a:prstGeom>
        </p:spPr>
      </p:pic>
      <p:sp>
        <p:nvSpPr>
          <p:cNvPr id="34" name="Text 26"/>
          <p:cNvSpPr/>
          <p:nvPr/>
        </p:nvSpPr>
        <p:spPr>
          <a:xfrm>
            <a:off x="9473184" y="4325112"/>
            <a:ext cx="2514600" cy="548640"/>
          </a:xfrm>
          <a:prstGeom prst="rect">
            <a:avLst/>
          </a:prstGeom>
          <a:noFill/>
          <a:ln/>
        </p:spPr>
        <p:txBody>
          <a:bodyPr wrap="square" lIns="0" tIns="0" rIns="0" bIns="0" rtlCol="0" anchor="t"/>
          <a:lstStyle/>
          <a:p>
            <a:pPr indent="0" marL="0">
              <a:buNone/>
            </a:pPr>
            <a:r>
              <a:rPr lang="en-US" sz="1600" b="1" dirty="0">
                <a:solidFill>
                  <a:srgbClr val="0B2545"/>
                </a:solidFill>
                <a:latin typeface="Georgia" pitchFamily="34" charset="0"/>
                <a:ea typeface="Georgia" pitchFamily="34" charset="-122"/>
                <a:cs typeface="Georgia" pitchFamily="34" charset="-120"/>
              </a:rPr>
              <a:t>Doctor Dashboard</a:t>
            </a:r>
            <a:endParaRPr lang="en-US" sz="1600" dirty="0"/>
          </a:p>
        </p:txBody>
      </p:sp>
      <p:sp>
        <p:nvSpPr>
          <p:cNvPr id="35" name="Text 27"/>
          <p:cNvSpPr/>
          <p:nvPr/>
        </p:nvSpPr>
        <p:spPr>
          <a:xfrm>
            <a:off x="9473184" y="4919472"/>
            <a:ext cx="2514600" cy="123444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A clean workspace where doctors review AI suggestions and patient histories.</a:t>
            </a:r>
            <a:endParaRPr lang="en-US" sz="1250" dirty="0"/>
          </a:p>
        </p:txBody>
      </p:sp>
      <p:sp>
        <p:nvSpPr>
          <p:cNvPr id="36" name="Text 28"/>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37" name="Text 29"/>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18  /  20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201168" cy="201168"/>
          </a:xfrm>
          <a:prstGeom prst="rect">
            <a:avLst/>
          </a:prstGeom>
          <a:solidFill>
            <a:srgbClr val="FFB627"/>
          </a:solidFill>
          <a:ln w="12700">
            <a:solidFill>
              <a:srgbClr val="FFB627"/>
            </a:solidFill>
            <a:prstDash val="solid"/>
          </a:ln>
        </p:spPr>
      </p:sp>
      <p:sp>
        <p:nvSpPr>
          <p:cNvPr id="3" name="Text 1"/>
          <p:cNvSpPr/>
          <p:nvPr/>
        </p:nvSpPr>
        <p:spPr>
          <a:xfrm>
            <a:off x="822960" y="292608"/>
            <a:ext cx="10881360" cy="640080"/>
          </a:xfrm>
          <a:prstGeom prst="rect">
            <a:avLst/>
          </a:prstGeom>
          <a:noFill/>
          <a:ln/>
        </p:spPr>
        <p:txBody>
          <a:bodyPr wrap="square" lIns="0" tIns="0" rIns="0" bIns="0" rtlCol="0" anchor="ctr"/>
          <a:lstStyle/>
          <a:p>
            <a:pPr indent="0" marL="0">
              <a:buNone/>
            </a:pPr>
            <a:r>
              <a:rPr lang="en-US" sz="3200" b="1" dirty="0">
                <a:solidFill>
                  <a:srgbClr val="0B2545"/>
                </a:solidFill>
                <a:latin typeface="Georgia" pitchFamily="34" charset="0"/>
                <a:ea typeface="Georgia" pitchFamily="34" charset="-122"/>
                <a:cs typeface="Georgia" pitchFamily="34" charset="-120"/>
              </a:rPr>
              <a:t>Five Things to Take With You</a:t>
            </a:r>
            <a:endParaRPr lang="en-US" sz="3200" dirty="0"/>
          </a:p>
        </p:txBody>
      </p:sp>
      <p:sp>
        <p:nvSpPr>
          <p:cNvPr id="4" name="Text 2"/>
          <p:cNvSpPr/>
          <p:nvPr/>
        </p:nvSpPr>
        <p:spPr>
          <a:xfrm>
            <a:off x="822960" y="914400"/>
            <a:ext cx="10881360" cy="365760"/>
          </a:xfrm>
          <a:prstGeom prst="rect">
            <a:avLst/>
          </a:prstGeom>
          <a:noFill/>
          <a:ln/>
        </p:spPr>
        <p:txBody>
          <a:bodyPr wrap="square" lIns="0" tIns="0" rIns="0" bIns="0" rtlCol="0" anchor="ctr"/>
          <a:lstStyle/>
          <a:p>
            <a:pPr indent="0" marL="0">
              <a:buNone/>
            </a:pPr>
            <a:r>
              <a:rPr lang="en-US" sz="1500" i="1" dirty="0">
                <a:solidFill>
                  <a:srgbClr val="5A6878"/>
                </a:solidFill>
                <a:latin typeface="Calibri" pitchFamily="34" charset="0"/>
                <a:ea typeface="Calibri" pitchFamily="34" charset="-122"/>
                <a:cs typeface="Calibri" pitchFamily="34" charset="-120"/>
              </a:rPr>
              <a:t>If you remember nothing else, remember these</a:t>
            </a:r>
            <a:endParaRPr lang="en-US" sz="1500" dirty="0"/>
          </a:p>
        </p:txBody>
      </p:sp>
      <p:sp>
        <p:nvSpPr>
          <p:cNvPr id="5" name="Shape 3"/>
          <p:cNvSpPr/>
          <p:nvPr/>
        </p:nvSpPr>
        <p:spPr>
          <a:xfrm>
            <a:off x="457200" y="1371600"/>
            <a:ext cx="11247120" cy="0"/>
          </a:xfrm>
          <a:prstGeom prst="line">
            <a:avLst/>
          </a:prstGeom>
          <a:noFill/>
          <a:ln w="12700">
            <a:solidFill>
              <a:srgbClr val="E1E8ED"/>
            </a:solidFill>
            <a:prstDash val="solid"/>
          </a:ln>
        </p:spPr>
      </p:sp>
      <p:sp>
        <p:nvSpPr>
          <p:cNvPr id="6" name="Shape 4"/>
          <p:cNvSpPr/>
          <p:nvPr/>
        </p:nvSpPr>
        <p:spPr>
          <a:xfrm>
            <a:off x="777240" y="1737360"/>
            <a:ext cx="685800" cy="685800"/>
          </a:xfrm>
          <a:prstGeom prst="ellipse">
            <a:avLst/>
          </a:prstGeom>
          <a:solidFill>
            <a:srgbClr val="0E7C7B"/>
          </a:solidFill>
          <a:ln w="12700">
            <a:solidFill>
              <a:srgbClr val="0E7C7B"/>
            </a:solidFill>
            <a:prstDash val="solid"/>
          </a:ln>
        </p:spPr>
      </p:sp>
      <p:sp>
        <p:nvSpPr>
          <p:cNvPr id="7" name="Text 5"/>
          <p:cNvSpPr/>
          <p:nvPr/>
        </p:nvSpPr>
        <p:spPr>
          <a:xfrm>
            <a:off x="777240" y="173736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1691640" y="1737360"/>
            <a:ext cx="9784080" cy="36576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AI is not magic — it's a really good pattern-spotter.</a:t>
            </a:r>
            <a:endParaRPr lang="en-US" sz="1700" dirty="0"/>
          </a:p>
        </p:txBody>
      </p:sp>
      <p:sp>
        <p:nvSpPr>
          <p:cNvPr id="9" name="Text 7"/>
          <p:cNvSpPr/>
          <p:nvPr/>
        </p:nvSpPr>
        <p:spPr>
          <a:xfrm>
            <a:off x="1691640" y="2084832"/>
            <a:ext cx="9784080" cy="411480"/>
          </a:xfrm>
          <a:prstGeom prst="rect">
            <a:avLst/>
          </a:prstGeom>
          <a:noFill/>
          <a:ln/>
        </p:spPr>
        <p:txBody>
          <a:bodyPr wrap="square" lIns="0" tIns="0" rIns="0" bIns="0" rtlCol="0" anchor="ctr"/>
          <a:lstStyle/>
          <a:p>
            <a:pPr indent="0" marL="0">
              <a:buNone/>
            </a:pPr>
            <a:r>
              <a:rPr lang="en-US" sz="1300" i="1" dirty="0">
                <a:solidFill>
                  <a:srgbClr val="1A2332"/>
                </a:solidFill>
                <a:latin typeface="Calibri" pitchFamily="34" charset="0"/>
                <a:ea typeface="Calibri" pitchFamily="34" charset="-122"/>
                <a:cs typeface="Calibri" pitchFamily="34" charset="-120"/>
              </a:rPr>
              <a:t>It learns from millions of examples and helps doctors notice details that human eyes can miss.</a:t>
            </a:r>
            <a:endParaRPr lang="en-US" sz="1300" dirty="0"/>
          </a:p>
        </p:txBody>
      </p:sp>
      <p:sp>
        <p:nvSpPr>
          <p:cNvPr id="10" name="Shape 8"/>
          <p:cNvSpPr/>
          <p:nvPr/>
        </p:nvSpPr>
        <p:spPr>
          <a:xfrm>
            <a:off x="777240" y="2606040"/>
            <a:ext cx="685800" cy="685800"/>
          </a:xfrm>
          <a:prstGeom prst="ellipse">
            <a:avLst/>
          </a:prstGeom>
          <a:solidFill>
            <a:srgbClr val="0E7C7B"/>
          </a:solidFill>
          <a:ln w="12700">
            <a:solidFill>
              <a:srgbClr val="0E7C7B"/>
            </a:solidFill>
            <a:prstDash val="solid"/>
          </a:ln>
        </p:spPr>
      </p:sp>
      <p:sp>
        <p:nvSpPr>
          <p:cNvPr id="11" name="Text 9"/>
          <p:cNvSpPr/>
          <p:nvPr/>
        </p:nvSpPr>
        <p:spPr>
          <a:xfrm>
            <a:off x="777240" y="260604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2" name="Text 10"/>
          <p:cNvSpPr/>
          <p:nvPr/>
        </p:nvSpPr>
        <p:spPr>
          <a:xfrm>
            <a:off x="1691640" y="2606040"/>
            <a:ext cx="9784080" cy="36576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It helps doctors, not replaces them.</a:t>
            </a:r>
            <a:endParaRPr lang="en-US" sz="1700" dirty="0"/>
          </a:p>
        </p:txBody>
      </p:sp>
      <p:sp>
        <p:nvSpPr>
          <p:cNvPr id="13" name="Text 11"/>
          <p:cNvSpPr/>
          <p:nvPr/>
        </p:nvSpPr>
        <p:spPr>
          <a:xfrm>
            <a:off x="1691640" y="2953512"/>
            <a:ext cx="9784080" cy="411480"/>
          </a:xfrm>
          <a:prstGeom prst="rect">
            <a:avLst/>
          </a:prstGeom>
          <a:noFill/>
          <a:ln/>
        </p:spPr>
        <p:txBody>
          <a:bodyPr wrap="square" lIns="0" tIns="0" rIns="0" bIns="0" rtlCol="0" anchor="ctr"/>
          <a:lstStyle/>
          <a:p>
            <a:pPr indent="0" marL="0">
              <a:buNone/>
            </a:pPr>
            <a:r>
              <a:rPr lang="en-US" sz="1300" i="1" dirty="0">
                <a:solidFill>
                  <a:srgbClr val="1A2332"/>
                </a:solidFill>
                <a:latin typeface="Calibri" pitchFamily="34" charset="0"/>
                <a:ea typeface="Calibri" pitchFamily="34" charset="-122"/>
                <a:cs typeface="Calibri" pitchFamily="34" charset="-120"/>
              </a:rPr>
              <a:t>The doctor still makes every important decision. AI is a careful assistant, never the captain.</a:t>
            </a:r>
            <a:endParaRPr lang="en-US" sz="1300" dirty="0"/>
          </a:p>
        </p:txBody>
      </p:sp>
      <p:sp>
        <p:nvSpPr>
          <p:cNvPr id="14" name="Shape 12"/>
          <p:cNvSpPr/>
          <p:nvPr/>
        </p:nvSpPr>
        <p:spPr>
          <a:xfrm>
            <a:off x="777240" y="3474720"/>
            <a:ext cx="685800" cy="685800"/>
          </a:xfrm>
          <a:prstGeom prst="ellipse">
            <a:avLst/>
          </a:prstGeom>
          <a:solidFill>
            <a:srgbClr val="0E7C7B"/>
          </a:solidFill>
          <a:ln w="12700">
            <a:solidFill>
              <a:srgbClr val="0E7C7B"/>
            </a:solidFill>
            <a:prstDash val="solid"/>
          </a:ln>
        </p:spPr>
      </p:sp>
      <p:sp>
        <p:nvSpPr>
          <p:cNvPr id="15" name="Text 13"/>
          <p:cNvSpPr/>
          <p:nvPr/>
        </p:nvSpPr>
        <p:spPr>
          <a:xfrm>
            <a:off x="777240" y="347472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6" name="Text 14"/>
          <p:cNvSpPr/>
          <p:nvPr/>
        </p:nvSpPr>
        <p:spPr>
          <a:xfrm>
            <a:off x="1691640" y="3474720"/>
            <a:ext cx="9784080" cy="36576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It brings expert care to more people.</a:t>
            </a:r>
            <a:endParaRPr lang="en-US" sz="1700" dirty="0"/>
          </a:p>
        </p:txBody>
      </p:sp>
      <p:sp>
        <p:nvSpPr>
          <p:cNvPr id="17" name="Text 15"/>
          <p:cNvSpPr/>
          <p:nvPr/>
        </p:nvSpPr>
        <p:spPr>
          <a:xfrm>
            <a:off x="1691640" y="3822192"/>
            <a:ext cx="9784080" cy="411480"/>
          </a:xfrm>
          <a:prstGeom prst="rect">
            <a:avLst/>
          </a:prstGeom>
          <a:noFill/>
          <a:ln/>
        </p:spPr>
        <p:txBody>
          <a:bodyPr wrap="square" lIns="0" tIns="0" rIns="0" bIns="0" rtlCol="0" anchor="ctr"/>
          <a:lstStyle/>
          <a:p>
            <a:pPr indent="0" marL="0">
              <a:buNone/>
            </a:pPr>
            <a:r>
              <a:rPr lang="en-US" sz="1300" i="1" dirty="0">
                <a:solidFill>
                  <a:srgbClr val="1A2332"/>
                </a:solidFill>
                <a:latin typeface="Calibri" pitchFamily="34" charset="0"/>
                <a:ea typeface="Calibri" pitchFamily="34" charset="-122"/>
                <a:cs typeface="Calibri" pitchFamily="34" charset="-120"/>
              </a:rPr>
              <a:t>Especially in places where specialists are scarce or appointments take months.</a:t>
            </a:r>
            <a:endParaRPr lang="en-US" sz="1300" dirty="0"/>
          </a:p>
        </p:txBody>
      </p:sp>
      <p:sp>
        <p:nvSpPr>
          <p:cNvPr id="18" name="Shape 16"/>
          <p:cNvSpPr/>
          <p:nvPr/>
        </p:nvSpPr>
        <p:spPr>
          <a:xfrm>
            <a:off x="777240" y="4343400"/>
            <a:ext cx="685800" cy="685800"/>
          </a:xfrm>
          <a:prstGeom prst="ellipse">
            <a:avLst/>
          </a:prstGeom>
          <a:solidFill>
            <a:srgbClr val="0E7C7B"/>
          </a:solidFill>
          <a:ln w="12700">
            <a:solidFill>
              <a:srgbClr val="0E7C7B"/>
            </a:solidFill>
            <a:prstDash val="solid"/>
          </a:ln>
        </p:spPr>
      </p:sp>
      <p:sp>
        <p:nvSpPr>
          <p:cNvPr id="19" name="Text 17"/>
          <p:cNvSpPr/>
          <p:nvPr/>
        </p:nvSpPr>
        <p:spPr>
          <a:xfrm>
            <a:off x="777240" y="434340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04</a:t>
            </a:r>
            <a:endParaRPr lang="en-US" sz="1800" dirty="0"/>
          </a:p>
        </p:txBody>
      </p:sp>
      <p:sp>
        <p:nvSpPr>
          <p:cNvPr id="20" name="Text 18"/>
          <p:cNvSpPr/>
          <p:nvPr/>
        </p:nvSpPr>
        <p:spPr>
          <a:xfrm>
            <a:off x="1691640" y="4343400"/>
            <a:ext cx="9784080" cy="36576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Concerns are real and must be taken seriously.</a:t>
            </a:r>
            <a:endParaRPr lang="en-US" sz="1700" dirty="0"/>
          </a:p>
        </p:txBody>
      </p:sp>
      <p:sp>
        <p:nvSpPr>
          <p:cNvPr id="21" name="Text 19"/>
          <p:cNvSpPr/>
          <p:nvPr/>
        </p:nvSpPr>
        <p:spPr>
          <a:xfrm>
            <a:off x="1691640" y="4690872"/>
            <a:ext cx="9784080" cy="411480"/>
          </a:xfrm>
          <a:prstGeom prst="rect">
            <a:avLst/>
          </a:prstGeom>
          <a:noFill/>
          <a:ln/>
        </p:spPr>
        <p:txBody>
          <a:bodyPr wrap="square" lIns="0" tIns="0" rIns="0" bIns="0" rtlCol="0" anchor="ctr"/>
          <a:lstStyle/>
          <a:p>
            <a:pPr indent="0" marL="0">
              <a:buNone/>
            </a:pPr>
            <a:r>
              <a:rPr lang="en-US" sz="1300" i="1" dirty="0">
                <a:solidFill>
                  <a:srgbClr val="1A2332"/>
                </a:solidFill>
                <a:latin typeface="Calibri" pitchFamily="34" charset="0"/>
                <a:ea typeface="Calibri" pitchFamily="34" charset="-122"/>
                <a:cs typeface="Calibri" pitchFamily="34" charset="-120"/>
              </a:rPr>
              <a:t>Privacy, fairness, and trust are not extras — they are the heart of any good healthcare AI.</a:t>
            </a:r>
            <a:endParaRPr lang="en-US" sz="1300" dirty="0"/>
          </a:p>
        </p:txBody>
      </p:sp>
      <p:sp>
        <p:nvSpPr>
          <p:cNvPr id="22" name="Shape 20"/>
          <p:cNvSpPr/>
          <p:nvPr/>
        </p:nvSpPr>
        <p:spPr>
          <a:xfrm>
            <a:off x="777240" y="5212080"/>
            <a:ext cx="685800" cy="685800"/>
          </a:xfrm>
          <a:prstGeom prst="ellipse">
            <a:avLst/>
          </a:prstGeom>
          <a:solidFill>
            <a:srgbClr val="0E7C7B"/>
          </a:solidFill>
          <a:ln w="12700">
            <a:solidFill>
              <a:srgbClr val="0E7C7B"/>
            </a:solidFill>
            <a:prstDash val="solid"/>
          </a:ln>
        </p:spPr>
      </p:sp>
      <p:sp>
        <p:nvSpPr>
          <p:cNvPr id="23" name="Text 21"/>
          <p:cNvSpPr/>
          <p:nvPr/>
        </p:nvSpPr>
        <p:spPr>
          <a:xfrm>
            <a:off x="777240" y="521208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05</a:t>
            </a:r>
            <a:endParaRPr lang="en-US" sz="1800" dirty="0"/>
          </a:p>
        </p:txBody>
      </p:sp>
      <p:sp>
        <p:nvSpPr>
          <p:cNvPr id="24" name="Text 22"/>
          <p:cNvSpPr/>
          <p:nvPr/>
        </p:nvSpPr>
        <p:spPr>
          <a:xfrm>
            <a:off x="1691640" y="5212080"/>
            <a:ext cx="9784080" cy="365760"/>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The goal is more time and better care.</a:t>
            </a:r>
            <a:endParaRPr lang="en-US" sz="1700" dirty="0"/>
          </a:p>
        </p:txBody>
      </p:sp>
      <p:sp>
        <p:nvSpPr>
          <p:cNvPr id="25" name="Text 23"/>
          <p:cNvSpPr/>
          <p:nvPr/>
        </p:nvSpPr>
        <p:spPr>
          <a:xfrm>
            <a:off x="1691640" y="5559552"/>
            <a:ext cx="9784080" cy="411480"/>
          </a:xfrm>
          <a:prstGeom prst="rect">
            <a:avLst/>
          </a:prstGeom>
          <a:noFill/>
          <a:ln/>
        </p:spPr>
        <p:txBody>
          <a:bodyPr wrap="square" lIns="0" tIns="0" rIns="0" bIns="0" rtlCol="0" anchor="ctr"/>
          <a:lstStyle/>
          <a:p>
            <a:pPr indent="0" marL="0">
              <a:buNone/>
            </a:pPr>
            <a:r>
              <a:rPr lang="en-US" sz="1300" i="1" dirty="0">
                <a:solidFill>
                  <a:srgbClr val="1A2332"/>
                </a:solidFill>
                <a:latin typeface="Calibri" pitchFamily="34" charset="0"/>
                <a:ea typeface="Calibri" pitchFamily="34" charset="-122"/>
                <a:cs typeface="Calibri" pitchFamily="34" charset="-120"/>
              </a:rPr>
              <a:t>Less paperwork. Faster answers. Earlier detection. And more humanity, not less.</a:t>
            </a:r>
            <a:endParaRPr lang="en-US" sz="1300" dirty="0"/>
          </a:p>
        </p:txBody>
      </p:sp>
      <p:sp>
        <p:nvSpPr>
          <p:cNvPr id="26" name="Text 24"/>
          <p:cNvSpPr/>
          <p:nvPr/>
        </p:nvSpPr>
        <p:spPr>
          <a:xfrm>
            <a:off x="457200" y="6492240"/>
            <a:ext cx="5486400" cy="274320"/>
          </a:xfrm>
          <a:prstGeom prst="rect">
            <a:avLst/>
          </a:prstGeom>
          <a:noFill/>
          <a:ln/>
        </p:spPr>
        <p:txBody>
          <a:bodyPr wrap="square" lIns="0" tIns="0" rIns="0" bIns="0" rtlCol="0" anchor="ctr"/>
          <a:lstStyle/>
          <a:p>
            <a:pPr indent="0" marL="0">
              <a:buNone/>
            </a:pPr>
            <a:r>
              <a:rPr lang="en-US" sz="1000" i="1" dirty="0">
                <a:solidFill>
                  <a:srgbClr val="5A6878"/>
                </a:solidFill>
                <a:latin typeface="Calibri" pitchFamily="34" charset="0"/>
                <a:ea typeface="Calibri" pitchFamily="34" charset="-122"/>
                <a:cs typeface="Calibri" pitchFamily="34" charset="-120"/>
              </a:rPr>
              <a:t>AI in Healthcare  ·  Awareness Seminar</a:t>
            </a:r>
            <a:endParaRPr lang="en-US" sz="1000" dirty="0"/>
          </a:p>
        </p:txBody>
      </p:sp>
      <p:sp>
        <p:nvSpPr>
          <p:cNvPr id="27" name="Text 25"/>
          <p:cNvSpPr/>
          <p:nvPr/>
        </p:nvSpPr>
        <p:spPr>
          <a:xfrm>
            <a:off x="10698480" y="6492240"/>
            <a:ext cx="1097280" cy="27432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19  /  20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48640" y="548640"/>
            <a:ext cx="274320" cy="274320"/>
          </a:xfrm>
          <a:prstGeom prst="rect">
            <a:avLst/>
          </a:prstGeom>
          <a:solidFill>
            <a:srgbClr val="FFB627"/>
          </a:solidFill>
          <a:ln w="12700">
            <a:solidFill>
              <a:srgbClr val="FFB627"/>
            </a:solidFill>
            <a:prstDash val="solid"/>
          </a:ln>
        </p:spPr>
      </p:sp>
      <p:sp>
        <p:nvSpPr>
          <p:cNvPr id="3" name="Shape 1"/>
          <p:cNvSpPr/>
          <p:nvPr/>
        </p:nvSpPr>
        <p:spPr>
          <a:xfrm>
            <a:off x="914400" y="548640"/>
            <a:ext cx="274320" cy="274320"/>
          </a:xfrm>
          <a:prstGeom prst="rect">
            <a:avLst/>
          </a:prstGeom>
          <a:solidFill>
            <a:srgbClr val="17C3B2"/>
          </a:solidFill>
          <a:ln w="12700">
            <a:solidFill>
              <a:srgbClr val="17C3B2"/>
            </a:solidFill>
            <a:prstDash val="solid"/>
          </a:ln>
        </p:spPr>
      </p:sp>
      <p:sp>
        <p:nvSpPr>
          <p:cNvPr id="4" name="Shape 2"/>
          <p:cNvSpPr/>
          <p:nvPr/>
        </p:nvSpPr>
        <p:spPr>
          <a:xfrm>
            <a:off x="11338560" y="6035040"/>
            <a:ext cx="274320" cy="274320"/>
          </a:xfrm>
          <a:prstGeom prst="rect">
            <a:avLst/>
          </a:prstGeom>
          <a:solidFill>
            <a:srgbClr val="17C3B2"/>
          </a:solidFill>
          <a:ln w="12700">
            <a:solidFill>
              <a:srgbClr val="17C3B2"/>
            </a:solidFill>
            <a:prstDash val="solid"/>
          </a:ln>
        </p:spPr>
      </p:sp>
      <p:sp>
        <p:nvSpPr>
          <p:cNvPr id="5" name="Shape 3"/>
          <p:cNvSpPr/>
          <p:nvPr/>
        </p:nvSpPr>
        <p:spPr>
          <a:xfrm>
            <a:off x="10972800" y="6035040"/>
            <a:ext cx="274320" cy="274320"/>
          </a:xfrm>
          <a:prstGeom prst="rect">
            <a:avLst/>
          </a:prstGeom>
          <a:solidFill>
            <a:srgbClr val="FFB627"/>
          </a:solidFill>
          <a:ln w="12700">
            <a:solidFill>
              <a:srgbClr val="FFB627"/>
            </a:solidFill>
            <a:prstDash val="solid"/>
          </a:ln>
        </p:spPr>
      </p:sp>
      <p:pic>
        <p:nvPicPr>
          <p:cNvPr id="6" name="Image 0" descr="preencoded.png">    </p:cNvPr>
          <p:cNvPicPr>
            <a:picLocks noChangeAspect="1"/>
          </p:cNvPicPr>
          <p:nvPr/>
        </p:nvPicPr>
        <p:blipFill>
          <a:blip r:embed="rId1"/>
          <a:stretch>
            <a:fillRect/>
          </a:stretch>
        </p:blipFill>
        <p:spPr>
          <a:xfrm>
            <a:off x="5623560" y="1097280"/>
            <a:ext cx="914400" cy="914400"/>
          </a:xfrm>
          <a:prstGeom prst="rect">
            <a:avLst/>
          </a:prstGeom>
        </p:spPr>
      </p:pic>
      <p:sp>
        <p:nvSpPr>
          <p:cNvPr id="7" name="Text 4"/>
          <p:cNvSpPr/>
          <p:nvPr/>
        </p:nvSpPr>
        <p:spPr>
          <a:xfrm>
            <a:off x="457200" y="2194560"/>
            <a:ext cx="11247120" cy="1280160"/>
          </a:xfrm>
          <a:prstGeom prst="rect">
            <a:avLst/>
          </a:prstGeom>
          <a:noFill/>
          <a:ln/>
        </p:spPr>
        <p:txBody>
          <a:bodyPr wrap="square" lIns="0" tIns="0" rIns="0" bIns="0" rtlCol="0" anchor="ctr"/>
          <a:lstStyle/>
          <a:p>
            <a:pPr algn="ctr" indent="0" marL="0">
              <a:buNone/>
            </a:pPr>
            <a:r>
              <a:rPr lang="en-US" sz="8000" b="1" dirty="0">
                <a:solidFill>
                  <a:srgbClr val="FFFFFF"/>
                </a:solidFill>
                <a:latin typeface="Georgia" pitchFamily="34" charset="0"/>
                <a:ea typeface="Georgia" pitchFamily="34" charset="-122"/>
                <a:cs typeface="Georgia" pitchFamily="34" charset="-120"/>
              </a:rPr>
              <a:t>Thank You</a:t>
            </a:r>
            <a:endParaRPr lang="en-US" sz="8000" dirty="0"/>
          </a:p>
        </p:txBody>
      </p:sp>
      <p:sp>
        <p:nvSpPr>
          <p:cNvPr id="8" name="Shape 5"/>
          <p:cNvSpPr/>
          <p:nvPr/>
        </p:nvSpPr>
        <p:spPr>
          <a:xfrm>
            <a:off x="5532120" y="3611880"/>
            <a:ext cx="1097280" cy="45720"/>
          </a:xfrm>
          <a:prstGeom prst="rect">
            <a:avLst/>
          </a:prstGeom>
          <a:solidFill>
            <a:srgbClr val="FFB627"/>
          </a:solidFill>
          <a:ln w="12700">
            <a:solidFill>
              <a:srgbClr val="FFB627"/>
            </a:solidFill>
            <a:prstDash val="solid"/>
          </a:ln>
        </p:spPr>
      </p:sp>
      <p:sp>
        <p:nvSpPr>
          <p:cNvPr id="9" name="Text 6"/>
          <p:cNvSpPr/>
          <p:nvPr/>
        </p:nvSpPr>
        <p:spPr>
          <a:xfrm>
            <a:off x="457200" y="3840480"/>
            <a:ext cx="11247120" cy="457200"/>
          </a:xfrm>
          <a:prstGeom prst="rect">
            <a:avLst/>
          </a:prstGeom>
          <a:noFill/>
          <a:ln/>
        </p:spPr>
        <p:txBody>
          <a:bodyPr wrap="square" lIns="0" tIns="0" rIns="0" bIns="0" rtlCol="0" anchor="ctr"/>
          <a:lstStyle/>
          <a:p>
            <a:pPr algn="ctr" indent="0" marL="0">
              <a:buNone/>
            </a:pPr>
            <a:r>
              <a:rPr lang="en-US" sz="1900" i="1" dirty="0">
                <a:solidFill>
                  <a:srgbClr val="CBD5E1"/>
                </a:solidFill>
                <a:latin typeface="Calibri" pitchFamily="34" charset="0"/>
                <a:ea typeface="Calibri" pitchFamily="34" charset="-122"/>
                <a:cs typeface="Calibri" pitchFamily="34" charset="-120"/>
              </a:rPr>
              <a:t>The future of healthcare is not AI alone, and it is not humans alone.</a:t>
            </a:r>
            <a:endParaRPr lang="en-US" sz="1900" dirty="0"/>
          </a:p>
        </p:txBody>
      </p:sp>
      <p:sp>
        <p:nvSpPr>
          <p:cNvPr id="10" name="Text 7"/>
          <p:cNvSpPr/>
          <p:nvPr/>
        </p:nvSpPr>
        <p:spPr>
          <a:xfrm>
            <a:off x="457200" y="4297680"/>
            <a:ext cx="11247120" cy="457200"/>
          </a:xfrm>
          <a:prstGeom prst="rect">
            <a:avLst/>
          </a:prstGeom>
          <a:noFill/>
          <a:ln/>
        </p:spPr>
        <p:txBody>
          <a:bodyPr wrap="square" lIns="0" tIns="0" rIns="0" bIns="0" rtlCol="0" anchor="ctr"/>
          <a:lstStyle/>
          <a:p>
            <a:pPr algn="ctr" indent="0" marL="0">
              <a:buNone/>
            </a:pPr>
            <a:r>
              <a:rPr lang="en-US" sz="1900" i="1" dirty="0">
                <a:solidFill>
                  <a:srgbClr val="CBD5E1"/>
                </a:solidFill>
                <a:latin typeface="Calibri" pitchFamily="34" charset="0"/>
                <a:ea typeface="Calibri" pitchFamily="34" charset="-122"/>
                <a:cs typeface="Calibri" pitchFamily="34" charset="-120"/>
              </a:rPr>
              <a:t>It's the two of them, working together — for the people who need care.</a:t>
            </a:r>
            <a:endParaRPr lang="en-US" sz="1900" dirty="0"/>
          </a:p>
        </p:txBody>
      </p:sp>
      <p:sp>
        <p:nvSpPr>
          <p:cNvPr id="11" name="Text 8"/>
          <p:cNvSpPr/>
          <p:nvPr/>
        </p:nvSpPr>
        <p:spPr>
          <a:xfrm>
            <a:off x="457200" y="5212080"/>
            <a:ext cx="11247120" cy="365760"/>
          </a:xfrm>
          <a:prstGeom prst="rect">
            <a:avLst/>
          </a:prstGeom>
          <a:noFill/>
          <a:ln/>
        </p:spPr>
        <p:txBody>
          <a:bodyPr wrap="square" lIns="0" tIns="0" rIns="0" bIns="0" rtlCol="0" anchor="ctr"/>
          <a:lstStyle/>
          <a:p>
            <a:pPr algn="ctr" indent="0" marL="0">
              <a:buNone/>
            </a:pPr>
            <a:r>
              <a:rPr lang="en-US" sz="1400" dirty="0">
                <a:solidFill>
                  <a:srgbClr val="FFB627"/>
                </a:solidFill>
                <a:latin typeface="Calibri" pitchFamily="34" charset="0"/>
                <a:ea typeface="Calibri" pitchFamily="34" charset="-122"/>
                <a:cs typeface="Calibri" pitchFamily="34" charset="-120"/>
              </a:rPr>
              <a:t>Questions, thoughts, and conversations welcome.</a:t>
            </a:r>
            <a:endParaRPr lang="en-US" sz="1400" dirty="0"/>
          </a:p>
        </p:txBody>
      </p:sp>
      <p:sp>
        <p:nvSpPr>
          <p:cNvPr id="12" name="Text 9"/>
          <p:cNvSpPr/>
          <p:nvPr/>
        </p:nvSpPr>
        <p:spPr>
          <a:xfrm>
            <a:off x="457200" y="6309360"/>
            <a:ext cx="1124712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AI in Healthcare  ·  Awareness Seminar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Healthcare: A Plain-Language Guide</dc:title>
  <dc:subject>PptxGenJS Presentation</dc:subject>
  <dc:creator>AI in Healthcare — Awareness Seminar</dc:creator>
  <cp:lastModifiedBy>AI in Healthcare — Awareness Seminar</cp:lastModifiedBy>
  <cp:revision>1</cp:revision>
  <dcterms:created xsi:type="dcterms:W3CDTF">2026-04-29T21:59:36Z</dcterms:created>
  <dcterms:modified xsi:type="dcterms:W3CDTF">2026-04-29T21:59:36Z</dcterms:modified>
</cp:coreProperties>
</file>