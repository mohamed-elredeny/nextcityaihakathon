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Diagnosis Time (min)</c:v>
                  </c:pt>
                  <c:pt idx="1">
                    <c:v>Detection Sensitivity (%)</c:v>
                  </c:pt>
                  <c:pt idx="2">
                    <c:v>Patient Throughput / 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78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Diagnosis Time (min)</c:v>
                  </c:pt>
                  <c:pt idx="1">
                    <c:v>Detection Sensitivity (%)</c:v>
                  </c:pt>
                  <c:pt idx="2">
                    <c:v>Patient Throughput / day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93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6126480"/>
            <a:ext cx="2743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Healthcare</a:t>
            </a:r>
            <a:endParaRPr lang="en-US" sz="6400" dirty="0"/>
          </a:p>
        </p:txBody>
      </p:sp>
      <p:sp>
        <p:nvSpPr>
          <p:cNvPr id="7" name="Shape 4"/>
          <p:cNvSpPr/>
          <p:nvPr/>
        </p:nvSpPr>
        <p:spPr>
          <a:xfrm>
            <a:off x="5623560" y="429768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Real-World Clinical Bottlenecks to Intelligent Solutions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Seminar  ·  Computer Vision · NLP · Predictive Modeling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Senior Students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Healthcare Crisis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 where conventional medicine struggles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176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Workflows Fail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delays, errors, and bottlenecks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816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Transforms Each Scenario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456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 in Medicine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tools, and clinical 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096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for Clinical Text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meaning from notes and literature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4736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Domains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ML, genomics, drug discovery, time-series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376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Risks, Ethics &amp; Future Outlook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practitioner must understand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1554480"/>
            <a:ext cx="420624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83080"/>
            <a:ext cx="640080" cy="6400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724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LENSES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this seminar, examine every AI system through: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772400" y="352044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5528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clinical bottleneck does it solve?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772400" y="429768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5528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95528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family powers it?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772400" y="507492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5528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955280" y="5303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validation actually show?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A Field Under Pressure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healthcare needs intelligent assistance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one of the most data-rich fields in human activity, yet it remains one of the slowest to convert that data into decisions.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review thousands of pixels in a CT scan, dozens of pages of free-text notes, and millions of past cases — all under time pressure, with limited tools, and often without a second opinion.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does not replace the clinician. It augments perception, accelerates triage, and reveals patterns invisible to the human eye.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1554480"/>
            <a:ext cx="44348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55448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86968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medical errors are diagnostic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971800"/>
            <a:ext cx="44348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297180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869680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 radiologist spends per chest 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4389120"/>
            <a:ext cx="44348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43891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526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869680" y="4572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clinical data sits unused in free-text notes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Radiology Without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day in a busy hospital imaging department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JOURNEY — TRADITIONAL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2606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606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hrs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Admitted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55-year-old presents with chest pain. Chest CT ordered.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401568" y="2898648"/>
            <a:ext cx="128016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783080"/>
            <a:ext cx="2606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1783080"/>
            <a:ext cx="2606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hrs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0752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Acquired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30752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300 axial slices generated. Queued behind 40 other studies.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172200" y="2898648"/>
            <a:ext cx="128016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783080"/>
            <a:ext cx="2606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18504" y="1783080"/>
            <a:ext cx="2606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T+8 hrs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Radiologist Reads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1384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review of every slice. Subtle 4 mm nodule may be missed under fatigue.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942832" y="2898648"/>
            <a:ext cx="128016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1783080"/>
            <a:ext cx="2606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89136" y="1783080"/>
            <a:ext cx="2606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T+24 hrs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72016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Delivered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72016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report sent. Treatment delayed nearly a full day.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4480560"/>
            <a:ext cx="10607040" cy="1691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480560"/>
            <a:ext cx="91440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61772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1732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THE TRADITIONAL WORKFLOW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371600" y="498348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turnaround time — patients wait hours to a full day for results.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fatigue — accuracy drops measurably after 4–6 hours of continuous reading.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 — two radiologists may disagree on the same image.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lesions are easy to miss in dense tissue or among hundreds of slices.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Radiology With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workflow, augmented by intelligent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PATIENT — AI-AUGMENTED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2606040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hrs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Acquired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images stream into PACS. AI triage model processes within seconds.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401568" y="2898648"/>
            <a:ext cx="128016" cy="146304"/>
          </a:xfrm>
          <a:prstGeom prst="rt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783080"/>
            <a:ext cx="2606040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178308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0752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Auto-Triage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30752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flags suspicious nodules and ranks the study high-priority.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172200" y="2898648"/>
            <a:ext cx="128016" cy="146304"/>
          </a:xfrm>
          <a:prstGeom prst="rt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783080"/>
            <a:ext cx="2606040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18504" y="178308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T+30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Assisted Read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1384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sees pre-segmented findings, measurements, and confidence scores.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942832" y="2898648"/>
            <a:ext cx="128016" cy="146304"/>
          </a:xfrm>
          <a:prstGeom prst="rt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1783080"/>
            <a:ext cx="2606040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89136" y="178308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hr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72016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Sent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72016" y="2788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auto-drafts structured report. Physician verifies and signs off.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4480560"/>
            <a:ext cx="1060704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480560"/>
            <a:ext cx="91440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61772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1732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GAINS WITH AI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37160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−96%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37160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913632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3913632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detection sensitivity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55664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−40%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6455664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997696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8997696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vigilance, no fatigue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Diabetic Retinopathy Screening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blindness crisis meets a deep-learning solution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21208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Ophthalmologist Screening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retinal photograph examined manually by a trained ophthalmologist.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time: 5–10 minutes per patient.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shortage of specialists in rural areas — patients wait weeks for appointments.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cases progress to irreversible blindness before diagnosis is confirmed.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million people lose sight every year from undetected diabetic retinopathy.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212080" cy="42062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CNN-Based Retinal Screening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smartphone-mounted camera captures the retina in any clinic.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CNN classifies severity in under 10 seconds.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comparable to board-certified ophthalmologists (Gulshan et al., JAMA 2016).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FDA-approved systems such as IDx-DR are deployed in primary-care clinics worldwide.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prevents vision loss in patients who would otherwise never reach a specialist.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AI is not just faster; it expands access to expertise where none existed.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Drowning in Clinical Notes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NLP recovers 70% of the data hidden in free 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02920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73152" cy="2194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286000" y="210312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hospital generates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pages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unstructured notes per year. Manually mining them for risk factors, symptoms, or adverse events is impossible.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349240" cy="2194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Clinical Note  ·  Free Text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196596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"Pt is a 62 y/o M w/ h/o T2DM, HTN, presents w/ SOB x3 days. PMH significant for MI 2018. Started on lisinopril 10mg QD. No CP. SpO2 92% on RA."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rot="10800000">
            <a:off x="8595360" y="3840480"/>
            <a:ext cx="365760" cy="274320"/>
          </a:xfrm>
          <a:prstGeom prst="rt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4206240"/>
            <a:ext cx="534924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42793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 ·  After NLP Extraction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457200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62, Male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Diabetes, Hypertension, Prior MI (2018)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 (3 days)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Lisinopril 10 mg daily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Vitals: 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92% (room air) — flagged abnormal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023360"/>
            <a:ext cx="50292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MODERN NLP DOES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Named-entity recognition (drugs, diseases, symptoms)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&amp; uncertainty detection ('no chest pain')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coding &amp; terminology mapping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of long discharge notes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for research compliance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Quantifiable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vs. traditional workflows across three scenarios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55448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554480"/>
            <a:ext cx="283464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782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7.5×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77824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diagnosis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78240" y="347472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77824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 sensitivity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78240" y="4754880"/>
            <a:ext cx="2286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4846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3.8×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77824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 served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Medical Imaging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206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tumors, segmenting organs, classifying tissue, and assisting surgery — all driven by deep neural networks that perceive medical images at superhuman scale.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5623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623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6235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0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Vision: Techniques &amp;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libraries, and how to apply them in practice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3200400"/>
                <a:gridCol w="37490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Use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/ EfficientNet / Vision Transformer (ViT)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benign vs. malignant skin lesions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torchvision.models — load pretrained, fine-tune on labeled images.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/ nnU-Net / SegFormer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 tumors, organs, lesions in MRI / 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MONAI framework — designed for medical imaging on PyTorch.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/ Faster R-CNN / DETR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nodules in chest X-rays, polyps in colonoscopy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YOLO library or Detectron2.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MedSAM / Segment Anything Model (SAM)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interactive segmentation, few-shot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transformers; prompt with points or boxes.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Volumetric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U-Net / V-Net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Volumetric tumor measurement in CT / MRI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MONAI or NVIDIA Clara — handles DICOM volumes.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/ Diffusion (Stable Diffusion Med)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augmentation, synthetic rare-disease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Diffusers library by Hugging Face.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 monai.io  ·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 ultralytics.com  ·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 github.com/bowang-lab/MedSAM  ·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 huggingface.co/models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NLP: Techniques &amp;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understanding, and generating clinical 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9184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NLP in Medicine?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70% of patient data lives in unstructured text — discharge summaries, radiology reports, pathology notes, and the medical literature.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bridge between this text and downstream decisions: triage, coding, alerts, and research at scale.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31920" y="155448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31920" y="15544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NER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BioBERT, ClinicalBERT, SciSpacy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drugs, diseases, symptoms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huggingface.co/dmis-lab/biobert-v1.1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155448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01000" y="15544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8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Classification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8388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ClinicalBERT, Longformer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ICD-10 codes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github.com/EmilyAlsentzer/clinicalBERT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31920" y="310896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31920" y="31089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Answering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0" y="3520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BioASQ models, Med-PaLM, GPT-4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medical literature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sites.research.google/med-palm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01000" y="310896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01000" y="31089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83880" y="3520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BART, T5, Pegasus, Med-T5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discharge notes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huggingface.co/google/pegasus-pubmed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931920" y="466344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31920" y="466344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 Detection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0" y="5074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NegBio, MedSpaCy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denied symptoms in notes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github.com/medspacy/medspacy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Vision and Language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techniques shaping modern medicine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Modeling on Tabular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4688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TabNet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prediction, ICU mortality risk, readmission risk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xgboost.readthedocs.io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33672" y="15087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17373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 &amp; Bioinformatics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62272" y="24688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3, DNABERT, ESM-2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folding, variant interpretation, drug-target binding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alphafold.ebi.ac.uk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10144" y="15087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38744" y="17373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928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Discovery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4688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Networks, DiffDock, Chemprop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property prediction, docking, generative chemistry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github.com/chemprop/chemprop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822192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4050792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0624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&amp; Signals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" y="4782312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1D-CNN, LSTM, Transformer, Wav2Vec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arrhythmia detection, EEG seizure prediction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physionet.org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33672" y="3822192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62272" y="4050792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0624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93792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62272" y="4782312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Q-Networks, Policy Gradients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treatment policy, dynamic ICU dosing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github.com/google-deepmind/acme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10144" y="3822192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38744" y="4050792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20624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0264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Foundation Models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38744" y="4782312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Med-PaLM 2, GPT-4V, BiomedCLIP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reasoning, clinical chatbots, decision support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huggingface.co/microsoft/BiomedCLIP-PubMedBERT_256-vit_base_patch16_224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Medical AI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 you should know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2331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images, EHRs, FHIR records, sensors. Anonymized &amp; IRB-approved.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33672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16552" y="1737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Shape 10"/>
          <p:cNvSpPr/>
          <p:nvPr/>
        </p:nvSpPr>
        <p:spPr>
          <a:xfrm>
            <a:off x="5285232" y="1828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79592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22392" y="2331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augmentation, de-identification, class balancing.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193024" y="1737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Shape 15"/>
          <p:cNvSpPr/>
          <p:nvPr/>
        </p:nvSpPr>
        <p:spPr>
          <a:xfrm>
            <a:off x="9061704" y="1828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18288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56064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198864" y="2331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pretrained backbones; cross-validation.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40080" y="4023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25" name="Shape 20"/>
          <p:cNvSpPr/>
          <p:nvPr/>
        </p:nvSpPr>
        <p:spPr>
          <a:xfrm>
            <a:off x="1508760" y="4114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1148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0312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645920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test sets, calibration, fairness audits.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33672" y="3840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416552" y="4023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31" name="Shape 25"/>
          <p:cNvSpPr/>
          <p:nvPr/>
        </p:nvSpPr>
        <p:spPr>
          <a:xfrm>
            <a:off x="5285232" y="4114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411480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79592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Approval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422392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SaMD, CE marking, GDPR / HIPAA compliance.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10144" y="3840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8193024" y="402336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600" dirty="0"/>
          </a:p>
        </p:txBody>
      </p:sp>
      <p:sp>
        <p:nvSpPr>
          <p:cNvPr id="37" name="Shape 30"/>
          <p:cNvSpPr/>
          <p:nvPr/>
        </p:nvSpPr>
        <p:spPr>
          <a:xfrm>
            <a:off x="9061704" y="4114800"/>
            <a:ext cx="0" cy="1554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411480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56064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Deployment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9198864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/ EHR integration, continuous monitoring, drift detection.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Risks, Ethics &amp; Responsibilities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medicine demands more rigor than in any other field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&amp; Fairness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demographic underperform on others. Audit across age, sex, ethnicity.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50876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must understand why a prediction was made. Tools: Grad-CAM, SHAP, LIME, attention maps.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&amp; Security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GDPR, federated learning, differential privacy. Re-identification risk is real.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06324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Shift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one scanner / hospital may fail elsewhere. Continuous re-validation is mandatory.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61772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AI errs — the developer, the hospital, or the physician? Still being defined.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61772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'AI-assisted' — never 'AI-replaced'. The clinician is the final decision maker.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senior student should remember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augments, it does not replace.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clinical AI keeps the physician in the loop. The model is a second reader, not a final authority.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640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4871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value comes from solving real bottlenecks.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8529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wins are in turnaround time, access to expertise, and uncovering hidden patterns at population scale.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419856"/>
            <a:ext cx="640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19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37413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 dictates the technique.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7398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for images, NLP for text, gradient-boosted trees for tabular data, GNNs for molecules, transformers for everything else.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306824"/>
            <a:ext cx="640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06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2611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is harder than building.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62686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cohorts, fairness audits, prospective trials. A high test accuracy is not a deployable system.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193792"/>
            <a:ext cx="6400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93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514807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is not optional.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5138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privacy, explainability, and accountability are part of the engineering — not an afterthought.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6126480"/>
            <a:ext cx="2743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5623560" y="365760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discussion, and ideas welcome.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steps:  Explore Hugging Face medical models  ·  Try MONAI tutorials  ·  Read PhysioNet datasets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 ·  Senior Seminar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Healthcare</dc:title>
  <dc:subject>PptxGenJS Presentation</dc:subject>
  <dc:creator>AI in Healthcare Course</dc:creator>
  <cp:lastModifiedBy>AI in Healthcare Course</cp:lastModifiedBy>
  <cp:revision>1</cp:revision>
  <dcterms:created xsi:type="dcterms:W3CDTF">2026-04-29T21:45:54Z</dcterms:created>
  <dcterms:modified xsi:type="dcterms:W3CDTF">2026-04-29T21:45:54Z</dcterms:modified>
</cp:coreProperties>
</file>